
<file path=[Content_Types].xml><?xml version="1.0" encoding="utf-8"?>
<Types xmlns="http://schemas.openxmlformats.org/package/2006/content-types"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361" r:id="rId3"/>
    <p:sldId id="364" r:id="rId4"/>
    <p:sldId id="366" r:id="rId5"/>
    <p:sldId id="365" r:id="rId6"/>
    <p:sldId id="369" r:id="rId7"/>
    <p:sldId id="370" r:id="rId8"/>
    <p:sldId id="371" r:id="rId9"/>
    <p:sldId id="367" r:id="rId10"/>
    <p:sldId id="374" r:id="rId11"/>
    <p:sldId id="385" r:id="rId12"/>
    <p:sldId id="506" r:id="rId13"/>
    <p:sldId id="375" r:id="rId14"/>
    <p:sldId id="376" r:id="rId15"/>
    <p:sldId id="377" r:id="rId16"/>
    <p:sldId id="386" r:id="rId17"/>
    <p:sldId id="378" r:id="rId18"/>
    <p:sldId id="387" r:id="rId19"/>
    <p:sldId id="379" r:id="rId20"/>
    <p:sldId id="388" r:id="rId21"/>
    <p:sldId id="380" r:id="rId22"/>
    <p:sldId id="516" r:id="rId23"/>
    <p:sldId id="381" r:id="rId24"/>
    <p:sldId id="382" r:id="rId25"/>
    <p:sldId id="498" r:id="rId26"/>
    <p:sldId id="372" r:id="rId27"/>
    <p:sldId id="373" r:id="rId28"/>
    <p:sldId id="502" r:id="rId29"/>
    <p:sldId id="503" r:id="rId30"/>
    <p:sldId id="475" r:id="rId31"/>
    <p:sldId id="476" r:id="rId32"/>
    <p:sldId id="501" r:id="rId33"/>
    <p:sldId id="396" r:id="rId34"/>
    <p:sldId id="398" r:id="rId35"/>
    <p:sldId id="399" r:id="rId36"/>
    <p:sldId id="400" r:id="rId37"/>
    <p:sldId id="401" r:id="rId38"/>
    <p:sldId id="402" r:id="rId39"/>
    <p:sldId id="403" r:id="rId40"/>
    <p:sldId id="405" r:id="rId41"/>
    <p:sldId id="406" r:id="rId42"/>
    <p:sldId id="477" r:id="rId43"/>
    <p:sldId id="479" r:id="rId44"/>
    <p:sldId id="480" r:id="rId45"/>
    <p:sldId id="481" r:id="rId46"/>
    <p:sldId id="482" r:id="rId47"/>
    <p:sldId id="483" r:id="rId48"/>
    <p:sldId id="478" r:id="rId49"/>
    <p:sldId id="484" r:id="rId50"/>
    <p:sldId id="485" r:id="rId51"/>
    <p:sldId id="500" r:id="rId52"/>
    <p:sldId id="499" r:id="rId53"/>
    <p:sldId id="486" r:id="rId54"/>
    <p:sldId id="487" r:id="rId55"/>
    <p:sldId id="492" r:id="rId56"/>
    <p:sldId id="359" r:id="rId57"/>
    <p:sldId id="360" r:id="rId58"/>
    <p:sldId id="505" r:id="rId59"/>
    <p:sldId id="362" r:id="rId60"/>
    <p:sldId id="517" r:id="rId61"/>
    <p:sldId id="488" r:id="rId62"/>
    <p:sldId id="390" r:id="rId63"/>
    <p:sldId id="391" r:id="rId64"/>
    <p:sldId id="393" r:id="rId65"/>
    <p:sldId id="394" r:id="rId66"/>
    <p:sldId id="493" r:id="rId67"/>
    <p:sldId id="494" r:id="rId68"/>
    <p:sldId id="495" r:id="rId69"/>
    <p:sldId id="395" r:id="rId70"/>
    <p:sldId id="518" r:id="rId71"/>
    <p:sldId id="496" r:id="rId72"/>
    <p:sldId id="519" r:id="rId73"/>
    <p:sldId id="357" r:id="rId74"/>
    <p:sldId id="489" r:id="rId75"/>
    <p:sldId id="490" r:id="rId76"/>
    <p:sldId id="491" r:id="rId77"/>
    <p:sldId id="410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CA"/>
    <a:srgbClr val="FFA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90" autoAdjust="0"/>
  </p:normalViewPr>
  <p:slideViewPr>
    <p:cSldViewPr snapToGrid="0">
      <p:cViewPr varScale="1">
        <p:scale>
          <a:sx n="155" d="100"/>
          <a:sy n="155" d="100"/>
        </p:scale>
        <p:origin x="2706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3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1848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696039-58B3-4341-9D32-C910162BC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885EE-985D-47EA-997B-D251CE651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985A-4C37-4D1F-A437-E4A951A85D11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C6E67-587C-4C64-9FE8-C84AFAFF7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73E4C-F44F-440F-85F6-FF52404C6B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4FFD-4AF2-45F7-AED0-39B21745F7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95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5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82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08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08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168E44-8558-4F8E-998F-C8D77AAEB5C5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932811"/>
            <a:ext cx="11699087" cy="475123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/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/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/>
            </a:lvl3pPr>
            <a:lvl4pPr>
              <a:buClr>
                <a:srgbClr val="FF9B9B"/>
              </a:buClr>
              <a:buSzPct val="65000"/>
              <a:defRPr/>
            </a:lvl4pPr>
            <a:lvl5pPr>
              <a:buClr>
                <a:srgbClr val="FF9B9B"/>
              </a:buClr>
              <a:buSzPct val="60000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154505" y="71549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74128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07308" y="6394989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01A77-BF69-4415-A597-D07BB7853E0D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1139"/>
            <a:ext cx="11216640" cy="899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5565"/>
            <a:ext cx="11216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617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>
          <a:srgbClr val="FF6600"/>
        </a:buClr>
        <a:buSzPct val="80000"/>
        <a:buFont typeface="Wingdings 3" panose="05040102010807070707" pitchFamily="18" charset="2"/>
        <a:buChar char=""/>
        <a:tabLst/>
        <a:defRPr lang="en-US" sz="24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0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18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16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1400" kern="1200" noProof="0" dirty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540.png"/><Relationship Id="rId3" Type="http://schemas.openxmlformats.org/officeDocument/2006/relationships/image" Target="../media/image440.png"/><Relationship Id="rId7" Type="http://schemas.openxmlformats.org/officeDocument/2006/relationships/image" Target="../media/image480.png"/><Relationship Id="rId12" Type="http://schemas.openxmlformats.org/officeDocument/2006/relationships/image" Target="../media/image53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11" Type="http://schemas.openxmlformats.org/officeDocument/2006/relationships/image" Target="../media/image520.png"/><Relationship Id="rId5" Type="http://schemas.openxmlformats.org/officeDocument/2006/relationships/image" Target="../media/image460.png"/><Relationship Id="rId10" Type="http://schemas.openxmlformats.org/officeDocument/2006/relationships/image" Target="../media/image511.png"/><Relationship Id="rId4" Type="http://schemas.openxmlformats.org/officeDocument/2006/relationships/image" Target="../media/image450.png"/><Relationship Id="rId9" Type="http://schemas.openxmlformats.org/officeDocument/2006/relationships/image" Target="../media/image50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680.png"/><Relationship Id="rId18" Type="http://schemas.openxmlformats.org/officeDocument/2006/relationships/image" Target="../media/image730.png"/><Relationship Id="rId3" Type="http://schemas.openxmlformats.org/officeDocument/2006/relationships/image" Target="../media/image580.png"/><Relationship Id="rId7" Type="http://schemas.openxmlformats.org/officeDocument/2006/relationships/image" Target="../media/image620.png"/><Relationship Id="rId12" Type="http://schemas.openxmlformats.org/officeDocument/2006/relationships/image" Target="../media/image670.png"/><Relationship Id="rId17" Type="http://schemas.openxmlformats.org/officeDocument/2006/relationships/image" Target="../media/image720.png"/><Relationship Id="rId2" Type="http://schemas.openxmlformats.org/officeDocument/2006/relationships/image" Target="../media/image570.png"/><Relationship Id="rId16" Type="http://schemas.openxmlformats.org/officeDocument/2006/relationships/image" Target="../media/image7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11" Type="http://schemas.openxmlformats.org/officeDocument/2006/relationships/image" Target="../media/image660.png"/><Relationship Id="rId5" Type="http://schemas.openxmlformats.org/officeDocument/2006/relationships/image" Target="../media/image600.png"/><Relationship Id="rId15" Type="http://schemas.openxmlformats.org/officeDocument/2006/relationships/image" Target="../media/image700.png"/><Relationship Id="rId10" Type="http://schemas.openxmlformats.org/officeDocument/2006/relationships/image" Target="../media/image650.png"/><Relationship Id="rId19" Type="http://schemas.openxmlformats.org/officeDocument/2006/relationships/image" Target="../media/image740.png"/><Relationship Id="rId4" Type="http://schemas.openxmlformats.org/officeDocument/2006/relationships/image" Target="../media/image590.png"/><Relationship Id="rId9" Type="http://schemas.openxmlformats.org/officeDocument/2006/relationships/image" Target="../media/image640.png"/><Relationship Id="rId14" Type="http://schemas.openxmlformats.org/officeDocument/2006/relationships/image" Target="../media/image69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1.png"/><Relationship Id="rId3" Type="http://schemas.openxmlformats.org/officeDocument/2006/relationships/image" Target="../media/image760.png"/><Relationship Id="rId7" Type="http://schemas.openxmlformats.org/officeDocument/2006/relationships/image" Target="../media/image800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0.png"/><Relationship Id="rId5" Type="http://schemas.openxmlformats.org/officeDocument/2006/relationships/image" Target="../media/image780.png"/><Relationship Id="rId10" Type="http://schemas.openxmlformats.org/officeDocument/2006/relationships/image" Target="../media/image830.png"/><Relationship Id="rId4" Type="http://schemas.openxmlformats.org/officeDocument/2006/relationships/image" Target="../media/image770.png"/><Relationship Id="rId9" Type="http://schemas.openxmlformats.org/officeDocument/2006/relationships/image" Target="../media/image82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13" Type="http://schemas.openxmlformats.org/officeDocument/2006/relationships/image" Target="../media/image930.png"/><Relationship Id="rId3" Type="http://schemas.openxmlformats.org/officeDocument/2006/relationships/image" Target="../media/image850.png"/><Relationship Id="rId7" Type="http://schemas.openxmlformats.org/officeDocument/2006/relationships/image" Target="../media/image800.png"/><Relationship Id="rId12" Type="http://schemas.openxmlformats.org/officeDocument/2006/relationships/image" Target="../media/image920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11" Type="http://schemas.openxmlformats.org/officeDocument/2006/relationships/image" Target="../media/image900.png"/><Relationship Id="rId5" Type="http://schemas.openxmlformats.org/officeDocument/2006/relationships/image" Target="../media/image870.png"/><Relationship Id="rId15" Type="http://schemas.openxmlformats.org/officeDocument/2006/relationships/image" Target="../media/image950.png"/><Relationship Id="rId10" Type="http://schemas.openxmlformats.org/officeDocument/2006/relationships/image" Target="../media/image911.png"/><Relationship Id="rId4" Type="http://schemas.openxmlformats.org/officeDocument/2006/relationships/image" Target="../media/image860.png"/><Relationship Id="rId9" Type="http://schemas.openxmlformats.org/officeDocument/2006/relationships/image" Target="../media/image901.png"/><Relationship Id="rId14" Type="http://schemas.openxmlformats.org/officeDocument/2006/relationships/image" Target="../media/image9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0.png"/><Relationship Id="rId7" Type="http://schemas.openxmlformats.org/officeDocument/2006/relationships/image" Target="../media/image5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6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412.png"/><Relationship Id="rId7" Type="http://schemas.openxmlformats.org/officeDocument/2006/relationships/image" Target="../media/image183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image" Target="../media/image612.png"/><Relationship Id="rId10" Type="http://schemas.openxmlformats.org/officeDocument/2006/relationships/image" Target="../media/image1110.png"/><Relationship Id="rId4" Type="http://schemas.openxmlformats.org/officeDocument/2006/relationships/image" Target="../media/image512.png"/><Relationship Id="rId9" Type="http://schemas.openxmlformats.org/officeDocument/2006/relationships/image" Target="../media/image25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7" Type="http://schemas.openxmlformats.org/officeDocument/2006/relationships/image" Target="../media/image171.png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7" Type="http://schemas.openxmlformats.org/officeDocument/2006/relationships/image" Target="../media/image171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3" Type="http://schemas.openxmlformats.org/officeDocument/2006/relationships/image" Target="../media/image170.png"/><Relationship Id="rId7" Type="http://schemas.openxmlformats.org/officeDocument/2006/relationships/image" Target="../media/image66.png"/><Relationship Id="rId12" Type="http://schemas.openxmlformats.org/officeDocument/2006/relationships/image" Target="../media/image68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67.png"/><Relationship Id="rId5" Type="http://schemas.openxmlformats.org/officeDocument/2006/relationships/image" Target="../media/image190.png"/><Relationship Id="rId10" Type="http://schemas.openxmlformats.org/officeDocument/2006/relationships/image" Target="../media/image240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900.png"/><Relationship Id="rId7" Type="http://schemas.openxmlformats.org/officeDocument/2006/relationships/image" Target="../media/image7300.png"/><Relationship Id="rId12" Type="http://schemas.openxmlformats.org/officeDocument/2006/relationships/image" Target="../media/image7800.png"/><Relationship Id="rId2" Type="http://schemas.openxmlformats.org/officeDocument/2006/relationships/image" Target="../media/image6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0.png"/><Relationship Id="rId11" Type="http://schemas.openxmlformats.org/officeDocument/2006/relationships/image" Target="../media/image7700.png"/><Relationship Id="rId5" Type="http://schemas.openxmlformats.org/officeDocument/2006/relationships/image" Target="../media/image7110.png"/><Relationship Id="rId10" Type="http://schemas.openxmlformats.org/officeDocument/2006/relationships/image" Target="../media/image7600.png"/><Relationship Id="rId4" Type="http://schemas.openxmlformats.org/officeDocument/2006/relationships/image" Target="../media/image7001.png"/><Relationship Id="rId9" Type="http://schemas.openxmlformats.org/officeDocument/2006/relationships/image" Target="../media/image750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0.png"/><Relationship Id="rId7" Type="http://schemas.openxmlformats.org/officeDocument/2006/relationships/image" Target="../media/image38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11.png"/><Relationship Id="rId5" Type="http://schemas.openxmlformats.org/officeDocument/2006/relationships/image" Target="../media/image3600.png"/><Relationship Id="rId10" Type="http://schemas.openxmlformats.org/officeDocument/2006/relationships/image" Target="../media/image3500.png"/><Relationship Id="rId9" Type="http://schemas.openxmlformats.org/officeDocument/2006/relationships/image" Target="../media/image40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790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10" Type="http://schemas.openxmlformats.org/officeDocument/2006/relationships/image" Target="../media/image240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Relationship Id="rId9" Type="http://schemas.openxmlformats.org/officeDocument/2006/relationships/image" Target="../media/image8001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0.png"/><Relationship Id="rId7" Type="http://schemas.openxmlformats.org/officeDocument/2006/relationships/image" Target="../media/image38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11.png"/><Relationship Id="rId5" Type="http://schemas.openxmlformats.org/officeDocument/2006/relationships/image" Target="../media/image3600.png"/><Relationship Id="rId10" Type="http://schemas.openxmlformats.org/officeDocument/2006/relationships/image" Target="../media/image3500.png"/><Relationship Id="rId9" Type="http://schemas.openxmlformats.org/officeDocument/2006/relationships/image" Target="../media/image40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0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810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00.png"/><Relationship Id="rId5" Type="http://schemas.openxmlformats.org/officeDocument/2006/relationships/image" Target="../media/image13100.png"/><Relationship Id="rId4" Type="http://schemas.openxmlformats.org/officeDocument/2006/relationships/image" Target="../media/image12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00.png"/><Relationship Id="rId5" Type="http://schemas.openxmlformats.org/officeDocument/2006/relationships/image" Target="../media/image13100.png"/><Relationship Id="rId4" Type="http://schemas.openxmlformats.org/officeDocument/2006/relationships/image" Target="../media/image121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chapter/10.1007/978-3-642-14295-6_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4400" dirty="0"/>
              <a:t>Autonomous Cyber-Physical Systems:</a:t>
            </a:r>
            <a:br>
              <a:rPr lang="en-US" sz="4400" dirty="0"/>
            </a:br>
            <a:br>
              <a:rPr lang="en-US" sz="4400" dirty="0"/>
            </a:br>
            <a:r>
              <a:rPr lang="en-US" sz="2000" dirty="0"/>
              <a:t>Deductive verification + Model Checking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 2026. CS 513.</a:t>
            </a:r>
          </a:p>
          <a:p>
            <a:r>
              <a:rPr lang="en-US" dirty="0"/>
              <a:t>Instructor: Jyo Deshmukh</a:t>
            </a: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1E3D72-9EB0-4B41-9332-7D05D1FDA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890583"/>
            <a:ext cx="11699087" cy="3793457"/>
          </a:xfrm>
        </p:spPr>
        <p:txBody>
          <a:bodyPr/>
          <a:lstStyle/>
          <a:p>
            <a:r>
              <a:rPr lang="en-US" dirty="0"/>
              <a:t>A safety requirement states that a system always stays within the set of </a:t>
            </a:r>
            <a:r>
              <a:rPr lang="en-US" i="1" dirty="0"/>
              <a:t>good</a:t>
            </a:r>
            <a:r>
              <a:rPr lang="en-US" dirty="0"/>
              <a:t> states (i.e. nothing bad every happens)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Collision avoidance: the distance between a car and a pedestrian is always greater than a threshold</a:t>
            </a:r>
          </a:p>
          <a:p>
            <a:pPr lvl="1"/>
            <a:r>
              <a:rPr lang="en-US" dirty="0"/>
              <a:t>Patient’s blood glucose never drops below 80 mg/</a:t>
            </a:r>
            <a:r>
              <a:rPr lang="en-US" dirty="0" err="1"/>
              <a:t>dL</a:t>
            </a:r>
            <a:endParaRPr lang="en-US" dirty="0"/>
          </a:p>
          <a:p>
            <a:pPr lvl="1"/>
            <a:r>
              <a:rPr lang="en-US" dirty="0"/>
              <a:t>Maximum temperature specification on the battery is not exceeded </a:t>
            </a:r>
          </a:p>
          <a:p>
            <a:r>
              <a:rPr lang="en-US" dirty="0"/>
              <a:t>Safety requirements can be formalized using transition systems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E150FB-3EB5-4ECB-AE09-76FB116D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Requirements/Specifications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4454B-018F-4C73-A2A5-EBA5F035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076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055F351-481D-48D2-A947-4519ADB09E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84069" y="1476437"/>
                <a:ext cx="6141251" cy="223676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Transition System is a tuple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: Set of State Variables over finite or infinite domains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dirty="0"/>
                  <a:t>: Function mapping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to initial values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: Transition description giving code to update variables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055F351-481D-48D2-A947-4519ADB09E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84069" y="1476437"/>
                <a:ext cx="6141251" cy="2236768"/>
              </a:xfrm>
              <a:blipFill>
                <a:blip r:embed="rId2"/>
                <a:stretch>
                  <a:fillRect l="-794" t="-3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48AB7D4-E14D-4941-B12D-67ADF918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(Labelled) Transition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D2FE2-5F71-44DF-9BAB-E2CB7891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3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120AAC-F84B-4C26-BEC3-2E3327A97B5B}"/>
              </a:ext>
            </a:extLst>
          </p:cNvPr>
          <p:cNvGrpSpPr/>
          <p:nvPr/>
        </p:nvGrpSpPr>
        <p:grpSpPr>
          <a:xfrm>
            <a:off x="166680" y="1476437"/>
            <a:ext cx="5882619" cy="4200858"/>
            <a:chOff x="166680" y="1476437"/>
            <a:chExt cx="5882619" cy="420085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1AD62F0-46B1-4724-8B7D-E2E5B95F2A97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0691C71-6315-43B2-B7F2-890FCA147A53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Cambria" panose="02040503050406030204" pitchFamily="18" charset="0"/>
                  <a:ea typeface="Cambria" panose="02040503050406030204" pitchFamily="18" charset="0"/>
                </a:rPr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7A11F36B-5F54-4601-8F18-CDDA74ADF4DD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A58FDFC8-BD1E-45ED-AA20-859C6EE86F17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E415229A-17B9-445B-AC2C-0361CD3DB6E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F03E1D-1B91-46C5-AEF2-D636DB01C21B}"/>
                </a:ext>
              </a:extLst>
            </p:cNvPr>
            <p:cNvSpPr txBox="1"/>
            <p:nvPr/>
          </p:nvSpPr>
          <p:spPr>
            <a:xfrm>
              <a:off x="166680" y="2676863"/>
              <a:ext cx="1508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3BA6AAF0-817D-4CE6-8F54-CF1B41F4E68D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85F874-00B7-43CF-A30A-F999CE296BB5}"/>
                </a:ext>
              </a:extLst>
            </p:cNvPr>
            <p:cNvSpPr txBox="1"/>
            <p:nvPr/>
          </p:nvSpPr>
          <p:spPr>
            <a:xfrm>
              <a:off x="3827723" y="2360243"/>
              <a:ext cx="17687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D31183A-D8C7-46A7-A918-DE9C6BA4C178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3075201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(press==0) &amp; (x&lt;10)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24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D31183A-D8C7-46A7-A918-DE9C6BA4C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3075201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3175" t="-5882" r="-19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DB4EE09-2450-4D9B-9CE9-BFAA930B43A9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63D270B-91B6-440B-9CB0-FD23D69FD1E6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0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57E9430-99E8-4C9F-B30D-21586227A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22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9AC00F0-8BA8-499B-8AC4-0C0DAD5531CD}"/>
                    </a:ext>
                  </a:extLst>
                </p:cNvPr>
                <p:cNvSpPr txBox="1"/>
                <p:nvPr/>
              </p:nvSpPr>
              <p:spPr>
                <a:xfrm>
                  <a:off x="382794" y="3892773"/>
                  <a:ext cx="3214663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 or (x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2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24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9AC00F0-8BA8-499B-8AC4-0C0DAD5531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4" y="3892773"/>
                  <a:ext cx="3214663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3036" t="-5882" r="-2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2994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74E8E67-8148-465E-8402-E557A36658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08716" y="571331"/>
                <a:ext cx="6054868" cy="51059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: { mode, x }</a:t>
                </a:r>
              </a:p>
              <a:p>
                <a:pPr marL="0" indent="0">
                  <a:buNone/>
                </a:pPr>
                <a:r>
                  <a:rPr lang="en-US" dirty="0"/>
                  <a:t>Semantics: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off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𝐼𝑛𝑖𝑡</m:t>
                        </m:r>
                      </m:e>
                    </m:d>
                  </m:oMath>
                </a14:m>
                <a:r>
                  <a:rPr lang="en-US" dirty="0"/>
                  <a:t>: { mode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en-US" dirty="0"/>
                  <a:t> off, 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en-US" dirty="0"/>
                  <a:t> 0 }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 has an infinite number of transitions</a:t>
                </a:r>
              </a:p>
              <a:p>
                <a:pPr lvl="1"/>
                <a:r>
                  <a:rPr lang="en-US" dirty="0"/>
                  <a:t>(off, 0)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(off, 0)</a:t>
                </a:r>
              </a:p>
              <a:p>
                <a:pPr lvl="1"/>
                <a:r>
                  <a:rPr lang="en-US" dirty="0"/>
                  <a:t>(off, 0)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(on, 0)</a:t>
                </a:r>
              </a:p>
              <a:p>
                <a:pPr lvl="1"/>
                <a:r>
                  <a:rPr lang="en-US" dirty="0"/>
                  <a:t>(on, 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(on, n+1) if n &lt; 10</a:t>
                </a:r>
              </a:p>
              <a:p>
                <a:pPr lvl="1"/>
                <a:r>
                  <a:rPr lang="en-US" dirty="0"/>
                  <a:t>(on, 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(off, 0) otherwise</a:t>
                </a:r>
              </a:p>
              <a:p>
                <a:pPr marL="41148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74E8E67-8148-465E-8402-E557A3665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08716" y="571331"/>
                <a:ext cx="6054868" cy="5105963"/>
              </a:xfrm>
              <a:blipFill>
                <a:blip r:embed="rId2"/>
                <a:stretch>
                  <a:fillRect l="-2115" t="-2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EC1AC85-4DC6-41D6-A14B-3F5E889F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C8A72-8AA0-436B-A72B-EC7668DC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72BCA9E-7F4D-4210-BC96-0D5CC5FF7197}"/>
              </a:ext>
            </a:extLst>
          </p:cNvPr>
          <p:cNvGrpSpPr/>
          <p:nvPr/>
        </p:nvGrpSpPr>
        <p:grpSpPr>
          <a:xfrm>
            <a:off x="166680" y="1476437"/>
            <a:ext cx="5644220" cy="4200858"/>
            <a:chOff x="166680" y="1476437"/>
            <a:chExt cx="5644220" cy="420085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260738E-CB94-4E3C-AF01-6DF545D055C7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off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49B748E-C156-4069-A8EC-342711D02788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on</a:t>
              </a:r>
            </a:p>
          </p:txBody>
        </p:sp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A0906A12-F526-4B8E-ADDE-4D2D4E429597}"/>
                </a:ext>
              </a:extLst>
            </p:cNvPr>
            <p:cNvCxnSpPr>
              <a:cxnSpLocks/>
              <a:stCxn id="5" idx="6"/>
              <a:endCxn id="6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616CD886-D48E-4FA0-B409-A11D42A02A8B}"/>
                </a:ext>
              </a:extLst>
            </p:cNvPr>
            <p:cNvCxnSpPr>
              <a:cxnSpLocks/>
              <a:stCxn id="6" idx="2"/>
              <a:endCxn id="5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5BDC280C-AFA9-463B-A5AD-E782FF253A9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F23DEA-15EC-4D79-8A24-FE5FA30D11CD}"/>
                </a:ext>
              </a:extLst>
            </p:cNvPr>
            <p:cNvSpPr txBox="1"/>
            <p:nvPr/>
          </p:nvSpPr>
          <p:spPr>
            <a:xfrm>
              <a:off x="166680" y="2676863"/>
              <a:ext cx="1397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(press==0)?</a:t>
              </a:r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B36AF064-7CDF-46BC-A1A9-DF3F734039F3}"/>
                </a:ext>
              </a:extLst>
            </p:cNvPr>
            <p:cNvCxnSpPr>
              <a:cxnSpLocks/>
              <a:stCxn id="6" idx="6"/>
              <a:endCxn id="6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6232B4E-6167-42A0-AFEF-8F99F9503134}"/>
                </a:ext>
              </a:extLst>
            </p:cNvPr>
            <p:cNvSpPr txBox="1"/>
            <p:nvPr/>
          </p:nvSpPr>
          <p:spPr>
            <a:xfrm>
              <a:off x="3827723" y="2360243"/>
              <a:ext cx="16361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AEFD2E2-4214-41DF-898A-B52B5C104659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836802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(press==0) &amp; (x&lt;10)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AEFD2E2-4214-41DF-898A-B52B5C1046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836802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3441" t="-5882" r="-23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8897024-EDDD-40E2-A90D-2B201073F555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57E9430-99E8-4C9F-B30D-21586227AC27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dirty="0"/>
                    <a:t>0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57E9430-99E8-4C9F-B30D-21586227A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22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805599C-43D1-4B43-BC40-94B04BB957C8}"/>
                    </a:ext>
                  </a:extLst>
                </p:cNvPr>
                <p:cNvSpPr txBox="1"/>
                <p:nvPr/>
              </p:nvSpPr>
              <p:spPr>
                <a:xfrm>
                  <a:off x="382794" y="3892773"/>
                  <a:ext cx="2973058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2400" dirty="0"/>
                    <a:t>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805599C-43D1-4B43-BC40-94B04BB957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4" y="3892773"/>
                  <a:ext cx="2973058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3279" t="-5882" r="-20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5575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E0F04E-B15F-4C4C-BD17-E5673E041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2050255"/>
            <a:ext cx="11699087" cy="3633785"/>
          </a:xfrm>
        </p:spPr>
        <p:txBody>
          <a:bodyPr/>
          <a:lstStyle/>
          <a:p>
            <a:r>
              <a:rPr lang="en-US" dirty="0"/>
              <a:t>All kinds of components (synchronous, asynchronous, timed, hybrid, continuous components) have an underlying transition system</a:t>
            </a:r>
          </a:p>
          <a:p>
            <a:r>
              <a:rPr lang="en-US" dirty="0"/>
              <a:t>State in the transition system underlying a component captures any given runtime configuration of the component</a:t>
            </a:r>
          </a:p>
          <a:p>
            <a:r>
              <a:rPr lang="en-US" dirty="0"/>
              <a:t>Continuous components, Timed Processes, Hybrid Processes in general, have infinite number of states/transitions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D31B59-834D-4973-8E93-9AA63E16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Systems and state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B08B5-F624-4A64-9068-42FC5D00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18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03C4EC-8123-49C4-892A-82B0F4A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Example transitions for 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E5053-A81E-442C-AFBF-8121B57D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DEDF1B-39C6-440E-84E4-B362291C11AA}"/>
              </a:ext>
            </a:extLst>
          </p:cNvPr>
          <p:cNvSpPr/>
          <p:nvPr/>
        </p:nvSpPr>
        <p:spPr>
          <a:xfrm>
            <a:off x="397261" y="1879949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(off,0)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36D20C-C449-49A7-8695-6A50D572532D}"/>
              </a:ext>
            </a:extLst>
          </p:cNvPr>
          <p:cNvSpPr/>
          <p:nvPr/>
        </p:nvSpPr>
        <p:spPr>
          <a:xfrm>
            <a:off x="397261" y="3091221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(on,0)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A19DAE-365B-4284-9B57-94A873E0D441}"/>
              </a:ext>
            </a:extLst>
          </p:cNvPr>
          <p:cNvSpPr/>
          <p:nvPr/>
        </p:nvSpPr>
        <p:spPr>
          <a:xfrm>
            <a:off x="2635392" y="3091221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(on,1)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14A228-C6F9-4E37-9241-B344E52A4E4C}"/>
              </a:ext>
            </a:extLst>
          </p:cNvPr>
          <p:cNvSpPr/>
          <p:nvPr/>
        </p:nvSpPr>
        <p:spPr>
          <a:xfrm>
            <a:off x="2635391" y="4192354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(on,2)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26F313-94A0-4CEE-8D24-99709C830D0E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962038" y="2498093"/>
            <a:ext cx="0" cy="59312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94C14B-CB47-44A7-A9F7-7AE9130596A7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1361395" y="2407568"/>
            <a:ext cx="1439416" cy="77417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EDC06A-8590-4273-891B-52C70DEE9DC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191594" y="3709365"/>
            <a:ext cx="8574" cy="482989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BB995CA-EE77-4A65-B4A5-28AD57F6D7A0}"/>
              </a:ext>
            </a:extLst>
          </p:cNvPr>
          <p:cNvSpPr/>
          <p:nvPr/>
        </p:nvSpPr>
        <p:spPr>
          <a:xfrm>
            <a:off x="2480459" y="1916717"/>
            <a:ext cx="1439416" cy="581376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(on,100)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C581A0-EB4E-4C94-BF48-16EFA49F4DB1}"/>
              </a:ext>
            </a:extLst>
          </p:cNvPr>
          <p:cNvSpPr/>
          <p:nvPr/>
        </p:nvSpPr>
        <p:spPr>
          <a:xfrm>
            <a:off x="257265" y="4158566"/>
            <a:ext cx="1439416" cy="581376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(off,42)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CDE78F-D45B-4FFA-B24C-24BDC6349838}"/>
              </a:ext>
            </a:extLst>
          </p:cNvPr>
          <p:cNvGrpSpPr/>
          <p:nvPr/>
        </p:nvGrpSpPr>
        <p:grpSpPr>
          <a:xfrm>
            <a:off x="5866343" y="1433293"/>
            <a:ext cx="5644220" cy="4200858"/>
            <a:chOff x="166680" y="1476437"/>
            <a:chExt cx="5644220" cy="420085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05BDA1E-9A59-40C6-9804-3FC293DBD970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off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8292492-0406-4DAE-B470-87C3F2FD2841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on</a:t>
              </a:r>
            </a:p>
          </p:txBody>
        </p: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EF10C9EC-0AF3-44FB-9166-70EF361D3B20}"/>
                </a:ext>
              </a:extLst>
            </p:cNvPr>
            <p:cNvCxnSpPr>
              <a:cxnSpLocks/>
              <a:stCxn id="24" idx="6"/>
              <a:endCxn id="25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D6499F91-5E92-4230-A4C2-702F91D34BB2}"/>
                </a:ext>
              </a:extLst>
            </p:cNvPr>
            <p:cNvCxnSpPr>
              <a:cxnSpLocks/>
              <a:stCxn id="25" idx="2"/>
              <a:endCxn id="24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EB1518E7-26C8-4C19-B16A-A4676B7D09C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24C0FEC-7153-47D6-8365-04945005874C}"/>
                </a:ext>
              </a:extLst>
            </p:cNvPr>
            <p:cNvSpPr txBox="1"/>
            <p:nvPr/>
          </p:nvSpPr>
          <p:spPr>
            <a:xfrm>
              <a:off x="166680" y="2676863"/>
              <a:ext cx="1397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(press==0)?</a:t>
              </a:r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C22D6FEE-A8AB-49A0-9BC3-1E01AC5126E7}"/>
                </a:ext>
              </a:extLst>
            </p:cNvPr>
            <p:cNvCxnSpPr>
              <a:cxnSpLocks/>
              <a:stCxn id="25" idx="6"/>
              <a:endCxn id="25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C78AEF7-A908-49B2-9580-0A02134FEB86}"/>
                </a:ext>
              </a:extLst>
            </p:cNvPr>
            <p:cNvSpPr txBox="1"/>
            <p:nvPr/>
          </p:nvSpPr>
          <p:spPr>
            <a:xfrm>
              <a:off x="3827723" y="2360243"/>
              <a:ext cx="16361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5665C36-FB91-4F62-87A9-99C892611467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836802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(press==0) &amp; (x&lt;10)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5665C36-FB91-4F62-87A9-99C892611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836802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3441" t="-5882" r="-23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46910B2-7E4A-4E27-8F6B-8C3F977E6C79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BC42276-E5ED-454F-A043-8794506FF7CB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dirty="0"/>
                    <a:t>0</a:t>
                  </a: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BC42276-E5ED-454F-A043-8794506FF7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168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F5FA78D-5A43-4B60-BFAA-77F1923BE85E}"/>
                    </a:ext>
                  </a:extLst>
                </p:cNvPr>
                <p:cNvSpPr txBox="1"/>
                <p:nvPr/>
              </p:nvSpPr>
              <p:spPr>
                <a:xfrm>
                  <a:off x="382794" y="3892773"/>
                  <a:ext cx="2973058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2400" dirty="0"/>
                    <a:t>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F5FA78D-5A43-4B60-BFAA-77F1923BE8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4" y="3892773"/>
                  <a:ext cx="2973058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3285" t="-5882" r="-22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8656765-06A5-419B-85C6-900792DFAE6E}"/>
              </a:ext>
            </a:extLst>
          </p:cNvPr>
          <p:cNvCxnSpPr>
            <a:cxnSpLocks/>
            <a:stCxn id="21" idx="2"/>
            <a:endCxn id="5" idx="6"/>
          </p:cNvCxnSpPr>
          <p:nvPr/>
        </p:nvCxnSpPr>
        <p:spPr>
          <a:xfrm flipH="1" flipV="1">
            <a:off x="1526814" y="2189021"/>
            <a:ext cx="953645" cy="18384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C6E189A4-115A-4B4D-88EF-15E3E936F4B9}"/>
              </a:ext>
            </a:extLst>
          </p:cNvPr>
          <p:cNvSpPr/>
          <p:nvPr/>
        </p:nvSpPr>
        <p:spPr>
          <a:xfrm>
            <a:off x="1696681" y="5063868"/>
            <a:ext cx="1439416" cy="581376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(on,42)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0E55A5B-B34E-42DE-85A2-33A2E5BECD0C}"/>
              </a:ext>
            </a:extLst>
          </p:cNvPr>
          <p:cNvCxnSpPr>
            <a:cxnSpLocks/>
            <a:stCxn id="22" idx="5"/>
            <a:endCxn id="39" idx="1"/>
          </p:cNvCxnSpPr>
          <p:nvPr/>
        </p:nvCxnSpPr>
        <p:spPr>
          <a:xfrm>
            <a:off x="1485883" y="4654801"/>
            <a:ext cx="421596" cy="49420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AE329AC-6C52-40EB-BBB7-A9E18A90A633}"/>
              </a:ext>
            </a:extLst>
          </p:cNvPr>
          <p:cNvSpPr/>
          <p:nvPr/>
        </p:nvSpPr>
        <p:spPr>
          <a:xfrm rot="21379915">
            <a:off x="582134" y="4730044"/>
            <a:ext cx="693987" cy="330091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2DAC2D1-6267-4162-AC50-68DBB9CF62D1}"/>
              </a:ext>
            </a:extLst>
          </p:cNvPr>
          <p:cNvSpPr/>
          <p:nvPr/>
        </p:nvSpPr>
        <p:spPr>
          <a:xfrm rot="10280978">
            <a:off x="624680" y="1476523"/>
            <a:ext cx="609014" cy="451794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3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03C4EC-8123-49C4-892A-82B0F4A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TS describes all possible transitions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E5053-A81E-442C-AFBF-8121B57D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DEDF1B-39C6-440E-84E4-B362291C11AA}"/>
              </a:ext>
            </a:extLst>
          </p:cNvPr>
          <p:cNvSpPr/>
          <p:nvPr/>
        </p:nvSpPr>
        <p:spPr>
          <a:xfrm>
            <a:off x="397261" y="1879949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(off,0)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36D20C-C449-49A7-8695-6A50D572532D}"/>
              </a:ext>
            </a:extLst>
          </p:cNvPr>
          <p:cNvSpPr/>
          <p:nvPr/>
        </p:nvSpPr>
        <p:spPr>
          <a:xfrm>
            <a:off x="397261" y="3091221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(on,0)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A19DAE-365B-4284-9B57-94A873E0D441}"/>
              </a:ext>
            </a:extLst>
          </p:cNvPr>
          <p:cNvSpPr/>
          <p:nvPr/>
        </p:nvSpPr>
        <p:spPr>
          <a:xfrm>
            <a:off x="2635392" y="3091221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(on,1)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14A228-C6F9-4E37-9241-B344E52A4E4C}"/>
              </a:ext>
            </a:extLst>
          </p:cNvPr>
          <p:cNvSpPr/>
          <p:nvPr/>
        </p:nvSpPr>
        <p:spPr>
          <a:xfrm>
            <a:off x="2635391" y="4192354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(on,2)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26F313-94A0-4CEE-8D24-99709C830D0E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962038" y="2498093"/>
            <a:ext cx="0" cy="59312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94C14B-CB47-44A7-A9F7-7AE9130596A7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1361395" y="2407568"/>
            <a:ext cx="1439416" cy="77417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EDC06A-8590-4273-891B-52C70DEE9DC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191594" y="3709365"/>
            <a:ext cx="8574" cy="482989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BB995CA-EE77-4A65-B4A5-28AD57F6D7A0}"/>
              </a:ext>
            </a:extLst>
          </p:cNvPr>
          <p:cNvSpPr/>
          <p:nvPr/>
        </p:nvSpPr>
        <p:spPr>
          <a:xfrm>
            <a:off x="2480459" y="1916717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(on,100)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C581A0-EB4E-4C94-BF48-16EFA49F4DB1}"/>
              </a:ext>
            </a:extLst>
          </p:cNvPr>
          <p:cNvSpPr/>
          <p:nvPr/>
        </p:nvSpPr>
        <p:spPr>
          <a:xfrm>
            <a:off x="257265" y="4158566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(off,42)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CDE78F-D45B-4FFA-B24C-24BDC6349838}"/>
              </a:ext>
            </a:extLst>
          </p:cNvPr>
          <p:cNvGrpSpPr/>
          <p:nvPr/>
        </p:nvGrpSpPr>
        <p:grpSpPr>
          <a:xfrm>
            <a:off x="4228590" y="2336373"/>
            <a:ext cx="4043537" cy="2574260"/>
            <a:chOff x="166680" y="1476437"/>
            <a:chExt cx="5439236" cy="436037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05BDA1E-9A59-40C6-9804-3FC293DBD970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8292492-0406-4DAE-B470-87C3F2FD2841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EF10C9EC-0AF3-44FB-9166-70EF361D3B20}"/>
                </a:ext>
              </a:extLst>
            </p:cNvPr>
            <p:cNvCxnSpPr>
              <a:cxnSpLocks/>
              <a:stCxn id="24" idx="6"/>
              <a:endCxn id="25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D6499F91-5E92-4230-A4C2-702F91D34BB2}"/>
                </a:ext>
              </a:extLst>
            </p:cNvPr>
            <p:cNvCxnSpPr>
              <a:cxnSpLocks/>
              <a:stCxn id="25" idx="2"/>
              <a:endCxn id="24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EB1518E7-26C8-4C19-B16A-A4676B7D09C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24C0FEC-7153-47D6-8365-04945005874C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C22D6FEE-A8AB-49A0-9BC3-1E01AC5126E7}"/>
                </a:ext>
              </a:extLst>
            </p:cNvPr>
            <p:cNvCxnSpPr>
              <a:cxnSpLocks/>
              <a:stCxn id="25" idx="6"/>
              <a:endCxn id="25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C78AEF7-A908-49B2-9580-0A02134FEB86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5665C36-FB91-4F62-87A9-99C892611467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631818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5665C36-FB91-4F62-87A9-99C892611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631818" cy="990513"/>
                </a:xfrm>
                <a:prstGeom prst="rect">
                  <a:avLst/>
                </a:prstGeom>
                <a:blipFill>
                  <a:blip r:embed="rId3"/>
                  <a:stretch>
                    <a:fillRect l="-1558" t="-3125" r="-6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46910B2-7E4A-4E27-8F6B-8C3F977E6C79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BC42276-E5ED-454F-A043-8794506FF7CB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BC42276-E5ED-454F-A043-8794506FF7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F5FA78D-5A43-4B60-BFAA-77F1923BE85E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756884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F5FA78D-5A43-4B60-BFAA-77F1923BE8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756884" cy="990513"/>
                </a:xfrm>
                <a:prstGeom prst="rect">
                  <a:avLst/>
                </a:prstGeom>
                <a:blipFill>
                  <a:blip r:embed="rId5"/>
                  <a:stretch>
                    <a:fillRect l="-1488" t="-3125" r="-8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8656765-06A5-419B-85C6-900792DFAE6E}"/>
              </a:ext>
            </a:extLst>
          </p:cNvPr>
          <p:cNvCxnSpPr>
            <a:cxnSpLocks/>
            <a:stCxn id="21" idx="2"/>
            <a:endCxn id="5" idx="6"/>
          </p:cNvCxnSpPr>
          <p:nvPr/>
        </p:nvCxnSpPr>
        <p:spPr>
          <a:xfrm flipH="1" flipV="1">
            <a:off x="1526814" y="2189021"/>
            <a:ext cx="953645" cy="18384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C6E189A4-115A-4B4D-88EF-15E3E936F4B9}"/>
              </a:ext>
            </a:extLst>
          </p:cNvPr>
          <p:cNvSpPr/>
          <p:nvPr/>
        </p:nvSpPr>
        <p:spPr>
          <a:xfrm>
            <a:off x="1696681" y="5063868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(on,42)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0E55A5B-B34E-42DE-85A2-33A2E5BECD0C}"/>
              </a:ext>
            </a:extLst>
          </p:cNvPr>
          <p:cNvCxnSpPr>
            <a:cxnSpLocks/>
            <a:stCxn id="22" idx="5"/>
            <a:endCxn id="39" idx="1"/>
          </p:cNvCxnSpPr>
          <p:nvPr/>
        </p:nvCxnSpPr>
        <p:spPr>
          <a:xfrm>
            <a:off x="1485883" y="4654801"/>
            <a:ext cx="421596" cy="494208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AE329AC-6C52-40EB-BBB7-A9E18A90A633}"/>
              </a:ext>
            </a:extLst>
          </p:cNvPr>
          <p:cNvSpPr/>
          <p:nvPr/>
        </p:nvSpPr>
        <p:spPr>
          <a:xfrm rot="21379915">
            <a:off x="582134" y="4730044"/>
            <a:ext cx="693987" cy="330091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2DAC2D1-6267-4162-AC50-68DBB9CF62D1}"/>
              </a:ext>
            </a:extLst>
          </p:cNvPr>
          <p:cNvSpPr/>
          <p:nvPr/>
        </p:nvSpPr>
        <p:spPr>
          <a:xfrm rot="10280978">
            <a:off x="624680" y="1476523"/>
            <a:ext cx="609014" cy="451794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1">
                <a:extLst>
                  <a:ext uri="{FF2B5EF4-FFF2-40B4-BE49-F238E27FC236}">
                    <a16:creationId xmlns:a16="http://schemas.microsoft.com/office/drawing/2014/main" id="{F46E305B-908F-4FFE-B8EB-81768D7B21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08128" y="2420852"/>
                <a:ext cx="3743059" cy="186400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dirty="0"/>
                  <a:t>Transitions indicated as dotted lines can’t really happen in the component</a:t>
                </a:r>
              </a:p>
              <a:p>
                <a:r>
                  <a:rPr lang="en-US" sz="2000" dirty="0"/>
                  <a:t>But the TS will describe then, as the states of the TS are over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𝑜𝑓𝑓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int</m:t>
                    </m:r>
                  </m:oMath>
                </a14:m>
                <a:r>
                  <a:rPr lang="en-US" sz="2000" dirty="0"/>
                  <a:t>!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8" name="Content Placeholder 1">
                <a:extLst>
                  <a:ext uri="{FF2B5EF4-FFF2-40B4-BE49-F238E27FC236}">
                    <a16:creationId xmlns:a16="http://schemas.microsoft.com/office/drawing/2014/main" id="{F46E305B-908F-4FFE-B8EB-81768D7B21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08128" y="2420852"/>
                <a:ext cx="3743059" cy="1864002"/>
              </a:xfrm>
              <a:blipFill>
                <a:blip r:embed="rId6"/>
                <a:stretch>
                  <a:fillRect l="-814" t="-4575" r="-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036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EF1189C-D9F0-4803-8CC9-DF778B8F44A4}"/>
              </a:ext>
            </a:extLst>
          </p:cNvPr>
          <p:cNvSpPr/>
          <p:nvPr/>
        </p:nvSpPr>
        <p:spPr>
          <a:xfrm>
            <a:off x="6693110" y="1163049"/>
            <a:ext cx="3854907" cy="34932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8709E2-A4AF-41F8-8352-971DE58D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Reachable states of a modified switch 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12924-7917-47D6-AE08-B54F88E0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6CD26AB-E41D-43A4-A043-F69D7B83B260}"/>
              </a:ext>
            </a:extLst>
          </p:cNvPr>
          <p:cNvGrpSpPr/>
          <p:nvPr/>
        </p:nvGrpSpPr>
        <p:grpSpPr>
          <a:xfrm>
            <a:off x="830634" y="2020285"/>
            <a:ext cx="3939341" cy="2574260"/>
            <a:chOff x="166680" y="1476437"/>
            <a:chExt cx="5299075" cy="43603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97425B3-B535-4A5B-B0FE-FF4A80C48BC0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7960A4-F5F1-4D23-8753-9932013A9C42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4B387BBD-9DAF-401E-A469-EB2EA895CEF6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2D66D6BC-4496-4F8D-9779-672E6F5C4A51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559D7178-5B53-4BE8-9F05-751BF8B3D1D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3ED0DF-A0EE-4D5B-A93F-33FDBCC02267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CB7277B1-50F1-4226-B3FB-52F01F58649A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B88D72-7E85-4C99-AFD1-94A3E8051BB3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AC570C8-4BF9-4380-8561-86B05BAA0A03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AC570C8-4BF9-4380-8561-86B05BAA0A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blipFill>
                  <a:blip r:embed="rId2"/>
                  <a:stretch>
                    <a:fillRect l="-1980" t="-3125" r="-9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033B3AC-E902-4FE7-A3DC-3BF9A99D832B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226621B-C4F7-48EE-B79A-95C50392FCFF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226621B-C4F7-48EE-B79A-95C50392FC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3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4D13C21-98E1-4C75-BC64-0C4228833E0A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 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4D13C21-98E1-4C75-BC64-0C4228833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blipFill>
                  <a:blip r:embed="rId4"/>
                  <a:stretch>
                    <a:fillRect l="-1840" t="-3125" r="-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4EE57956-38BE-4C39-983C-3A3208071204}"/>
              </a:ext>
            </a:extLst>
          </p:cNvPr>
          <p:cNvSpPr/>
          <p:nvPr/>
        </p:nvSpPr>
        <p:spPr>
          <a:xfrm>
            <a:off x="6875327" y="1655858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(off,0)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6B152B0-BF23-41E1-B8C2-E4EDB0303E51}"/>
              </a:ext>
            </a:extLst>
          </p:cNvPr>
          <p:cNvSpPr/>
          <p:nvPr/>
        </p:nvSpPr>
        <p:spPr>
          <a:xfrm>
            <a:off x="6875327" y="2867130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(on,0)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79D780-C476-48F3-BDF4-7A78BAB1CB3C}"/>
              </a:ext>
            </a:extLst>
          </p:cNvPr>
          <p:cNvSpPr/>
          <p:nvPr/>
        </p:nvSpPr>
        <p:spPr>
          <a:xfrm>
            <a:off x="9113458" y="2867130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(on,1)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A740C1-A496-435D-A785-32460D1FC177}"/>
              </a:ext>
            </a:extLst>
          </p:cNvPr>
          <p:cNvSpPr/>
          <p:nvPr/>
        </p:nvSpPr>
        <p:spPr>
          <a:xfrm>
            <a:off x="9113457" y="3968263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(on,2)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1630E7-B129-4140-ABA5-EEEC81C8E855}"/>
              </a:ext>
            </a:extLst>
          </p:cNvPr>
          <p:cNvCxnSpPr>
            <a:cxnSpLocks/>
          </p:cNvCxnSpPr>
          <p:nvPr/>
        </p:nvCxnSpPr>
        <p:spPr>
          <a:xfrm>
            <a:off x="7609437" y="2297284"/>
            <a:ext cx="0" cy="59312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B73FEA-27F5-4C12-86B8-351EE43B8D17}"/>
              </a:ext>
            </a:extLst>
          </p:cNvPr>
          <p:cNvCxnSpPr>
            <a:cxnSpLocks/>
            <a:stCxn id="20" idx="1"/>
            <a:endCxn id="18" idx="5"/>
          </p:cNvCxnSpPr>
          <p:nvPr/>
        </p:nvCxnSpPr>
        <p:spPr>
          <a:xfrm flipH="1" flipV="1">
            <a:off x="7839461" y="2183477"/>
            <a:ext cx="1439416" cy="77417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A57227-97A1-4004-BB44-D2FAEF793E71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9669660" y="3485274"/>
            <a:ext cx="8574" cy="482989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18CEE48-47A3-4FA1-A869-4DBE39F31637}"/>
              </a:ext>
            </a:extLst>
          </p:cNvPr>
          <p:cNvSpPr/>
          <p:nvPr/>
        </p:nvSpPr>
        <p:spPr>
          <a:xfrm>
            <a:off x="10583294" y="1658724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(on,100)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80D29BD-0F43-401A-B7EC-10647947554F}"/>
              </a:ext>
            </a:extLst>
          </p:cNvPr>
          <p:cNvSpPr/>
          <p:nvPr/>
        </p:nvSpPr>
        <p:spPr>
          <a:xfrm>
            <a:off x="6693111" y="4793517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(off,42)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28DAA6-FB9C-4144-9BDF-7A702DC98D2D}"/>
              </a:ext>
            </a:extLst>
          </p:cNvPr>
          <p:cNvCxnSpPr>
            <a:cxnSpLocks/>
            <a:stCxn id="25" idx="2"/>
            <a:endCxn id="18" idx="6"/>
          </p:cNvCxnSpPr>
          <p:nvPr/>
        </p:nvCxnSpPr>
        <p:spPr>
          <a:xfrm flipH="1">
            <a:off x="8004880" y="1949412"/>
            <a:ext cx="2578414" cy="15518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2E6008A-861B-4987-9291-F48AA7D42B12}"/>
              </a:ext>
            </a:extLst>
          </p:cNvPr>
          <p:cNvSpPr/>
          <p:nvPr/>
        </p:nvSpPr>
        <p:spPr>
          <a:xfrm>
            <a:off x="8539707" y="4804954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(on,42)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17A8D4-F101-47F9-BB01-D898CB2DE09F}"/>
              </a:ext>
            </a:extLst>
          </p:cNvPr>
          <p:cNvCxnSpPr>
            <a:cxnSpLocks/>
            <a:stCxn id="26" idx="6"/>
            <a:endCxn id="28" idx="2"/>
          </p:cNvCxnSpPr>
          <p:nvPr/>
        </p:nvCxnSpPr>
        <p:spPr>
          <a:xfrm>
            <a:off x="8132527" y="5084205"/>
            <a:ext cx="407180" cy="11437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8D7FBEB-3F3E-4170-967A-73118CB30D02}"/>
              </a:ext>
            </a:extLst>
          </p:cNvPr>
          <p:cNvSpPr/>
          <p:nvPr/>
        </p:nvSpPr>
        <p:spPr>
          <a:xfrm rot="21379915">
            <a:off x="7001080" y="5342998"/>
            <a:ext cx="693987" cy="330091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FBA5232-2679-434F-BAE8-B9D0E5FF4B59}"/>
              </a:ext>
            </a:extLst>
          </p:cNvPr>
          <p:cNvSpPr/>
          <p:nvPr/>
        </p:nvSpPr>
        <p:spPr>
          <a:xfrm rot="10280978">
            <a:off x="7102746" y="1252432"/>
            <a:ext cx="609014" cy="451794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219540-F311-4199-83EE-4B5BB1C868FE}"/>
              </a:ext>
            </a:extLst>
          </p:cNvPr>
          <p:cNvCxnSpPr>
            <a:cxnSpLocks/>
            <a:stCxn id="21" idx="2"/>
            <a:endCxn id="18" idx="5"/>
          </p:cNvCxnSpPr>
          <p:nvPr/>
        </p:nvCxnSpPr>
        <p:spPr>
          <a:xfrm flipH="1" flipV="1">
            <a:off x="7839461" y="2183477"/>
            <a:ext cx="1273996" cy="209385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537B849-ACCF-4CC9-9F57-EC2BC063CBAD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004880" y="3176202"/>
            <a:ext cx="1108578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9FA912-B168-48DF-B948-FCA005AFDC2F}"/>
              </a:ext>
            </a:extLst>
          </p:cNvPr>
          <p:cNvCxnSpPr>
            <a:cxnSpLocks/>
          </p:cNvCxnSpPr>
          <p:nvPr/>
        </p:nvCxnSpPr>
        <p:spPr>
          <a:xfrm flipV="1">
            <a:off x="7300420" y="2252931"/>
            <a:ext cx="0" cy="590917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7D4270D-0539-4F36-B0B5-67D57E4B19E2}"/>
              </a:ext>
            </a:extLst>
          </p:cNvPr>
          <p:cNvSpPr txBox="1"/>
          <p:nvPr/>
        </p:nvSpPr>
        <p:spPr>
          <a:xfrm>
            <a:off x="6728150" y="3928435"/>
            <a:ext cx="2115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Reachable states and transitions</a:t>
            </a:r>
          </a:p>
        </p:txBody>
      </p:sp>
    </p:spTree>
    <p:extLst>
      <p:ext uri="{BB962C8B-B14F-4D97-AF65-F5344CB8AC3E}">
        <p14:creationId xmlns:p14="http://schemas.microsoft.com/office/powerpoint/2010/main" val="2667339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E303E31-878E-4267-9EAF-05DB63114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900135"/>
                <a:ext cx="11699087" cy="378390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Desirable behavior of a TS:</a:t>
                </a:r>
              </a:p>
              <a:p>
                <a:pPr lvl="1"/>
                <a:r>
                  <a:rPr lang="en-US" sz="2400" dirty="0"/>
                  <a:t>Defined in terms of acceptable (finite or infinite) sequences of states</a:t>
                </a:r>
              </a:p>
              <a:p>
                <a:pPr lvl="1"/>
                <a:r>
                  <a:rPr lang="en-US" sz="2400" dirty="0"/>
                  <a:t>If all </a:t>
                </a:r>
                <a:r>
                  <a:rPr lang="en-US" sz="2400" b="1" i="1" dirty="0"/>
                  <a:t>unacceptable </a:t>
                </a:r>
                <a:r>
                  <a:rPr lang="en-US" sz="2400" dirty="0"/>
                  <a:t>sequences of a TS are finite in length, then the property encoding </a:t>
                </a:r>
                <a:r>
                  <a:rPr lang="en-US" sz="2400" b="1" i="1" dirty="0"/>
                  <a:t>acceptable </a:t>
                </a:r>
                <a:r>
                  <a:rPr lang="en-US" sz="2400" dirty="0"/>
                  <a:t>behavior is called a </a:t>
                </a:r>
                <a:r>
                  <a:rPr lang="en-US" sz="2400" b="1" i="1" dirty="0"/>
                  <a:t>safety </a:t>
                </a:r>
                <a:r>
                  <a:rPr lang="en-US" sz="2400" dirty="0"/>
                  <a:t>property</a:t>
                </a:r>
              </a:p>
              <a:p>
                <a:r>
                  <a:rPr lang="en-US" sz="2400" dirty="0"/>
                  <a:t>Safety property can be specified by partitioning the states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into a safe/unsafe set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𝑆𝑎𝑓𝑒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𝑆𝑎𝑓𝑒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Any finite sequence that ends in a state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</m:oMath>
                </a14:m>
                <a:r>
                  <a:rPr lang="en-US" sz="2400" dirty="0"/>
                  <a:t> is a witness to undesirable behavior, or if all (infinite) sequences starting from an initial state never include a state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</m:oMath>
                </a14:m>
                <a:r>
                  <a:rPr lang="en-US" sz="2400" dirty="0"/>
                  <a:t>, then the TS is safe.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E303E31-878E-4267-9EAF-05DB63114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900135"/>
                <a:ext cx="11699087" cy="3783905"/>
              </a:xfrm>
              <a:blipFill>
                <a:blip r:embed="rId2"/>
                <a:stretch>
                  <a:fillRect l="-625" t="-2742" r="-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42EAF82-8305-410E-98E5-34D91E911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Desirable behaviors of a 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2C6A0-2D14-4DA3-98FE-8688618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139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DD73F7D-3595-488E-BF25-3C96C1B97C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3"/>
                <a:ext cx="706140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</a:t>
                </a:r>
                <a:r>
                  <a:rPr lang="en-US" b="1" i="1" dirty="0"/>
                  <a:t>invariant </a:t>
                </a:r>
                <a:r>
                  <a:rPr lang="en-US" dirty="0"/>
                  <a:t>is a Boolean expression over the state variables of a TS</a:t>
                </a:r>
              </a:p>
              <a:p>
                <a:r>
                  <a:rPr lang="en-US" dirty="0"/>
                  <a:t>A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called an invariant of TS if every reachable state of TS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An invariant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i="1" dirty="0"/>
                  <a:t>safety invariant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Examples of invariants for modified switch: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𝑚𝑜𝑑𝑒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𝑜𝑓𝑓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≤2)</m:t>
                    </m:r>
                  </m:oMath>
                </a14:m>
                <a:r>
                  <a:rPr lang="en-US" sz="2400" dirty="0"/>
                  <a:t> [note: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is an int]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≤50)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DD73F7D-3595-488E-BF25-3C96C1B97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3"/>
                <a:ext cx="7061408" cy="4351338"/>
              </a:xfrm>
              <a:blipFill>
                <a:blip r:embed="rId2"/>
                <a:stretch>
                  <a:fillRect l="-690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EEF6F3E-1A34-4E48-949C-81AC8D47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invariants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FBED7-7E3C-44EF-8948-612497ED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F217EF-F97E-4DC4-81ED-A1A8BE4F9967}"/>
              </a:ext>
            </a:extLst>
          </p:cNvPr>
          <p:cNvGrpSpPr/>
          <p:nvPr/>
        </p:nvGrpSpPr>
        <p:grpSpPr>
          <a:xfrm>
            <a:off x="7784168" y="2305234"/>
            <a:ext cx="4088100" cy="2574260"/>
            <a:chOff x="166680" y="1476437"/>
            <a:chExt cx="5499181" cy="43603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5F8095-3292-4CC5-B0BE-C48ED10DC825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7A9B28-E866-4F99-A44A-82B097402E43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Cambria" panose="02040503050406030204" pitchFamily="18" charset="0"/>
                  <a:ea typeface="Cambria" panose="02040503050406030204" pitchFamily="18" charset="0"/>
                </a:rPr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EABDACCC-A761-4B3D-B286-F8C47B00DA1A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4A7A96A5-48D0-4B70-AE76-D3B9A14B5B22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ED985507-A254-4F43-A614-524FE8F34B3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680C7F-E1C5-4266-8E01-A4F23B3095B2}"/>
                </a:ext>
              </a:extLst>
            </p:cNvPr>
            <p:cNvSpPr txBox="1"/>
            <p:nvPr/>
          </p:nvSpPr>
          <p:spPr>
            <a:xfrm>
              <a:off x="166680" y="2676864"/>
              <a:ext cx="1491217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408C5E3C-7158-4DC7-8182-054725D89DDD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1B990D7-7B7F-4024-A2B2-A1CDCD85D6D5}"/>
                </a:ext>
              </a:extLst>
            </p:cNvPr>
            <p:cNvSpPr txBox="1"/>
            <p:nvPr/>
          </p:nvSpPr>
          <p:spPr>
            <a:xfrm>
              <a:off x="3827723" y="2360243"/>
              <a:ext cx="1669672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A92B342-B5BC-4016-B7DC-BC2D4910333D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691763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(press==0) &amp; (x&lt;2)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A92B342-B5BC-4016-B7DC-BC2D491033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691763" cy="990513"/>
                </a:xfrm>
                <a:prstGeom prst="rect">
                  <a:avLst/>
                </a:prstGeom>
                <a:blipFill>
                  <a:blip r:embed="rId3"/>
                  <a:stretch>
                    <a:fillRect l="-1520" t="-4211" r="-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8EB9495-D93E-464E-9D11-515562EA38DA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4B75CC7-E747-4F41-BCE0-753D5B5F4041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0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4B75CC7-E747-4F41-BCE0-753D5B5F4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5EA3A4-7D4A-42B0-BB7A-0B4D5C8B46EB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877205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5EA3A4-7D4A-42B0-BB7A-0B4D5C8B4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877205" cy="990513"/>
                </a:xfrm>
                <a:prstGeom prst="rect">
                  <a:avLst/>
                </a:prstGeom>
                <a:blipFill>
                  <a:blip r:embed="rId5"/>
                  <a:stretch>
                    <a:fillRect l="-1425" t="-4167" r="-5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01836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DD73F7D-3595-488E-BF25-3C96C1B97C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671332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Are the following invariants?: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𝑚𝑜𝑑𝑒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𝑜𝑓𝑓</m:t>
                        </m:r>
                      </m:e>
                    </m:d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&lt;2</m:t>
                        </m:r>
                      </m:e>
                    </m:d>
                  </m:oMath>
                </a14:m>
                <a:endParaRPr lang="en-US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DD73F7D-3595-488E-BF25-3C96C1B97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6713323" cy="4351338"/>
              </a:xfrm>
              <a:blipFill>
                <a:blip r:embed="rId2"/>
                <a:stretch>
                  <a:fillRect l="-1089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EEF6F3E-1A34-4E48-949C-81AC8D47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invariants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FBED7-7E3C-44EF-8948-612497ED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F217EF-F97E-4DC4-81ED-A1A8BE4F9967}"/>
              </a:ext>
            </a:extLst>
          </p:cNvPr>
          <p:cNvGrpSpPr/>
          <p:nvPr/>
        </p:nvGrpSpPr>
        <p:grpSpPr>
          <a:xfrm>
            <a:off x="6786564" y="1723596"/>
            <a:ext cx="4936946" cy="3155898"/>
            <a:chOff x="166680" y="1476437"/>
            <a:chExt cx="5299075" cy="43603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5F8095-3292-4CC5-B0BE-C48ED10DC825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7A9B28-E866-4F99-A44A-82B097402E43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EABDACCC-A761-4B3D-B286-F8C47B00DA1A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4A7A96A5-48D0-4B70-AE76-D3B9A14B5B22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ED985507-A254-4F43-A614-524FE8F34B3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680C7F-E1C5-4266-8E01-A4F23B3095B2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408C5E3C-7158-4DC7-8182-054725D89DDD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1B990D7-7B7F-4024-A2B2-A1CDCD85D6D5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A92B342-B5BC-4016-B7DC-BC2D4910333D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A92B342-B5BC-4016-B7DC-BC2D491033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blipFill>
                  <a:blip r:embed="rId3"/>
                  <a:stretch>
                    <a:fillRect l="-1645" t="-3158" r="-9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8EB9495-D93E-464E-9D11-515562EA38DA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4B75CC7-E747-4F41-BCE0-753D5B5F4041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4B75CC7-E747-4F41-BCE0-753D5B5F4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5EA3A4-7D4A-42B0-BB7A-0B4D5C8B46EB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 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5EA3A4-7D4A-42B0-BB7A-0B4D5C8B4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blipFill>
                  <a:blip r:embed="rId5"/>
                  <a:stretch>
                    <a:fillRect l="-1529" t="-3125" r="-6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0785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6D6901-87FE-6DF0-8630-B7168ECFF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896761"/>
                <a:ext cx="11699087" cy="3787279"/>
              </a:xfrm>
            </p:spPr>
            <p:txBody>
              <a:bodyPr/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Suppose,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𝑆𝑎𝑓𝑒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  <m: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≤3</m:t>
                        </m:r>
                      </m:e>
                    </m:d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𝑆𝑎𝑓𝑒</m:t>
                        </m:r>
                      </m:e>
                    </m:acc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I.e.,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&lt;0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&gt;3}</m:t>
                    </m:r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  <a:p>
                <a:endParaRPr lang="en-US" dirty="0">
                  <a:solidFill>
                    <a:prstClr val="black"/>
                  </a:solidFill>
                </a:endParaRP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Can we verify that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i="1" dirty="0"/>
                  <a:t>safety invariant </a:t>
                </a:r>
                <a:r>
                  <a:rPr lang="en-US" dirty="0"/>
                  <a:t>for modified switch?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dirty="0"/>
                  <a:t>How do we prove it?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6D6901-87FE-6DF0-8630-B7168ECFF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896761"/>
                <a:ext cx="11699087" cy="3787279"/>
              </a:xfrm>
              <a:blipFill>
                <a:blip r:embed="rId2"/>
                <a:stretch>
                  <a:fillRect l="-417" t="-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5332A9B-1331-7BE1-1022-21042175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Proofs of Safety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25BE7-A422-E39F-2BFE-50D738AF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8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AAFE5C-A1AE-4AFF-A511-122E539A55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1278327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Given 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a property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/>
                  <a:t>, prove that all reachable states of TS satisfy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Base case: Show that all initial states satisfy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Inductive case: assume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satisfies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/>
                  <a:t>, then show that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⟦"/>
                        <m:endChr m:val="⟧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must also satisfy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AAFE5C-A1AE-4AFF-A511-122E539A55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1278327"/>
              </a:xfrm>
              <a:blipFill>
                <a:blip r:embed="rId2"/>
                <a:stretch>
                  <a:fillRect l="-208" t="-5263" b="-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AA7DE54-3788-40DE-9F2A-CF0820BB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Inductive Safety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92BEB-4580-47D8-AC85-E30851CF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C1A55F-41F5-4FD4-8071-EEB16F5912BE}"/>
              </a:ext>
            </a:extLst>
          </p:cNvPr>
          <p:cNvGrpSpPr/>
          <p:nvPr/>
        </p:nvGrpSpPr>
        <p:grpSpPr>
          <a:xfrm>
            <a:off x="3921851" y="2959841"/>
            <a:ext cx="3939341" cy="2574260"/>
            <a:chOff x="166680" y="1476437"/>
            <a:chExt cx="5299075" cy="43603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6A9C51-B18D-437C-95CC-84965D0610B6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28BE7F-C2A6-4153-B246-18635A26F701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B1D17119-CC26-4D7D-B7E1-955780BAA83B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B8156F32-E0D4-4F0C-B341-8AC67CFE9AB7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177A2407-8EF9-4141-8616-18DDC9584BA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747544-F910-4CA7-BAFA-4045169027F1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3D18B2F2-C474-4309-945A-294F8C1A0736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52CD9A-0734-4C68-9963-7F0FB321AA64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B7EAD1A-BB10-40CA-B12C-655C98A1BD7D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B7EAD1A-BB10-40CA-B12C-655C98A1B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blipFill>
                  <a:blip r:embed="rId3"/>
                  <a:stretch>
                    <a:fillRect l="-1974" t="-3125" r="-6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8FA24FD-3918-4876-A7F8-CD63B32FAEFA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4C80243-E65F-4D3D-8EAF-5C925BA149C3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4C80243-E65F-4D3D-8EAF-5C925BA149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4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2EB6CBF-8C21-4A6F-995D-0DBED3170B0C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 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2EB6CBF-8C21-4A6F-995D-0DBED3170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blipFill>
                  <a:blip r:embed="rId5"/>
                  <a:stretch>
                    <a:fillRect l="-1840" t="-3158" r="-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99258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66DE42-83C9-4B35-9CB0-EE29673C60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63949"/>
                <a:ext cx="11699087" cy="3920092"/>
              </a:xfrm>
            </p:spPr>
            <p:txBody>
              <a:bodyPr/>
              <a:lstStyle/>
              <a:p>
                <a:r>
                  <a:rPr lang="en-US" dirty="0"/>
                  <a:t>A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b="1" i="1" dirty="0"/>
                  <a:t>inductive invariant </a:t>
                </a:r>
                <a:r>
                  <a:rPr lang="en-US" dirty="0"/>
                  <a:t>of a transition system TS if </a:t>
                </a:r>
              </a:p>
              <a:p>
                <a:pPr lvl="1"/>
                <a:r>
                  <a:rPr lang="en-US" dirty="0"/>
                  <a:t>Every initial state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any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⟦"/>
                        <m:endChr m:val="⟧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By definition,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an inductive invariant, then all reachable states of TS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and hence it is also an invariant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66DE42-83C9-4B35-9CB0-EE29673C6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63949"/>
                <a:ext cx="11699087" cy="3920092"/>
              </a:xfrm>
              <a:blipFill>
                <a:blip r:embed="rId2"/>
                <a:stretch>
                  <a:fillRect l="-625" t="-2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DCC62B8-3AC3-4AE7-99DA-089730B1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Inductive Invariant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2B800-5376-4528-B489-41C174326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62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50219"/>
                <a:ext cx="11699087" cy="3933822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Consider transition system TS given by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endParaRPr lang="en-US" sz="3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: 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3200" dirty="0"/>
                  <a:t>  (else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3200" dirty="0"/>
                  <a:t> remains unchanged)</a:t>
                </a:r>
              </a:p>
              <a:p>
                <a:r>
                  <a:rPr lang="en-US" sz="3200" dirty="0"/>
                  <a:t>Is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:(0≤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an inductive invariant?</a:t>
                </a:r>
              </a:p>
              <a:p>
                <a:r>
                  <a:rPr lang="en-US" sz="3200" dirty="0"/>
                  <a:t>Base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3200" dirty="0"/>
                  <a:t> is zero, so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200" dirty="0"/>
                  <a:t> is trivially satisfied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50219"/>
                <a:ext cx="11699087" cy="3933822"/>
              </a:xfrm>
              <a:blipFill>
                <a:blip r:embed="rId2"/>
                <a:stretch>
                  <a:fillRect l="-782" t="-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353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509273"/>
                <a:ext cx="11699087" cy="417476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Inductive case: </a:t>
                </a:r>
              </a:p>
              <a:p>
                <a:pPr lvl="1"/>
                <a:r>
                  <a:rPr lang="en-US" dirty="0"/>
                  <a:t>Pick an arbitrary state (i.e., arbitrary value for state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),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Now 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Consider the transition, there are two cases: (Note: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an integer)</a:t>
                </a:r>
              </a:p>
              <a:p>
                <a:pPr lvl="2"/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after the transition,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b="0" dirty="0"/>
              </a:p>
              <a:p>
                <a:pPr lvl="2"/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400" dirty="0"/>
                  <a:t> (because guard is not true), which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r>
                  <a:rPr lang="en-US" dirty="0"/>
                  <a:t>In either case, after the update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an inductive invariant, and the proof is complete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509273"/>
                <a:ext cx="11699087" cy="4174768"/>
              </a:xfrm>
              <a:blipFill>
                <a:blip r:embed="rId2"/>
                <a:stretch>
                  <a:fillRect l="-625" t="-2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0252BD5-D0AE-404D-939E-D5638707EBA7}"/>
                  </a:ext>
                </a:extLst>
              </p:cNvPr>
              <p:cNvSpPr/>
              <p:nvPr/>
            </p:nvSpPr>
            <p:spPr>
              <a:xfrm>
                <a:off x="6743700" y="678276"/>
                <a:ext cx="458628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: 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0252BD5-D0AE-404D-939E-D5638707E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700" y="678276"/>
                <a:ext cx="4586285" cy="830997"/>
              </a:xfrm>
              <a:prstGeom prst="rect">
                <a:avLst/>
              </a:prstGeom>
              <a:blipFill>
                <a:blip r:embed="rId3"/>
                <a:stretch>
                  <a:fillRect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13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Consider transition system TS given by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3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: 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then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+1;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3200" dirty="0"/>
                  <a:t>  (else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3200" dirty="0"/>
                  <a:t> remain unchanged)</a:t>
                </a:r>
              </a:p>
              <a:p>
                <a:r>
                  <a:rPr lang="en-US" sz="3200" dirty="0"/>
                  <a:t>Is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:(0≤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an inductive invariant?</a:t>
                </a:r>
              </a:p>
              <a:p>
                <a:r>
                  <a:rPr lang="en-US" sz="3200" dirty="0"/>
                  <a:t>Base case: Initial state 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↦0,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/>
                  <a:t>), so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200" dirty="0"/>
                  <a:t> is trivially satisfied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  <a:blipFill>
                <a:blip r:embed="rId2"/>
                <a:stretch>
                  <a:fillRect l="-782" t="-2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44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Inductive case: </a:t>
                </a:r>
              </a:p>
              <a:p>
                <a:r>
                  <a:rPr lang="en-US" sz="3200" dirty="0"/>
                  <a:t>Pick an arbitrary state (i.e. arbitrary value for state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3200" dirty="0"/>
                  <a:t>),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Now assume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satisfies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200" dirty="0"/>
                  <a:t>, i.e.,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Consider the transition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200" dirty="0"/>
                  <a:t>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:r>
                  <a:rPr lang="en-US" sz="3200" dirty="0"/>
                  <a:t>What if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=0, 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200" dirty="0"/>
                  <a:t>)? Clearly,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(1,−1)</m:t>
                    </m:r>
                  </m:oMath>
                </a14:m>
                <a:r>
                  <a:rPr lang="en-US" sz="3200" dirty="0"/>
                  <a:t> does not satisfy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200" dirty="0"/>
                  <a:t>!</a:t>
                </a:r>
              </a:p>
              <a:p>
                <a:r>
                  <a:rPr lang="en-US" sz="3200" dirty="0"/>
                  <a:t>So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200" dirty="0"/>
                  <a:t> is </a:t>
                </a:r>
                <a:r>
                  <a:rPr lang="en-US" sz="3200" b="1" dirty="0"/>
                  <a:t>not </a:t>
                </a:r>
                <a:r>
                  <a:rPr lang="en-US" sz="3200" dirty="0"/>
                  <a:t>an inductive invariant for TS, and the proof fails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  <a:blipFill>
                <a:blip r:embed="rId2"/>
                <a:stretch>
                  <a:fillRect l="-782" t="-2945" r="-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84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Consider transition system TS given by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3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: 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then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+1;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3200" dirty="0"/>
                  <a:t>  (else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3200" dirty="0"/>
                  <a:t> remain unchanged)</a:t>
                </a:r>
              </a:p>
              <a:p>
                <a:r>
                  <a:rPr lang="en-US" sz="3200" dirty="0"/>
                  <a:t>Is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an inductive invariant?</a:t>
                </a:r>
              </a:p>
              <a:p>
                <a:r>
                  <a:rPr lang="en-US" sz="3200" dirty="0"/>
                  <a:t>Base case: Initial state 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↦0,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/>
                  <a:t>), so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3200" dirty="0"/>
                  <a:t> is trivially satisfied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  <a:blipFill>
                <a:blip r:embed="rId2"/>
                <a:stretch>
                  <a:fillRect l="-782" t="-2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99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Inductive case: </a:t>
                </a:r>
              </a:p>
              <a:p>
                <a:r>
                  <a:rPr lang="en-US" dirty="0"/>
                  <a:t>Pick an arbitrary state (i.e. arbitrary value for state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),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Now assume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 the transition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, else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→(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Now,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and 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−1≥0</m:t>
                    </m:r>
                  </m:oMath>
                </a14:m>
                <a:r>
                  <a:rPr lang="en-US" dirty="0"/>
                  <a:t>. Thus,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is satisfied</a:t>
                </a:r>
              </a:p>
              <a:p>
                <a:pPr lvl="1"/>
                <a:r>
                  <a:rPr lang="en-US" dirty="0"/>
                  <a:t>Else case is trivially satisfied 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lang="en-US" dirty="0"/>
                  <a:t> do not change value</a:t>
                </a:r>
              </a:p>
              <a:p>
                <a:r>
                  <a:rPr lang="en-US" dirty="0"/>
                  <a:t>In both cases,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holds, so,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is an inductive invariant!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  <a:blipFill>
                <a:blip r:embed="rId2"/>
                <a:stretch>
                  <a:fillRect l="-782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53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AF32D16-3081-4949-838D-DC85880690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7225" y="1721795"/>
                <a:ext cx="11699087" cy="3962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To establish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an invariant of TS:</a:t>
                </a:r>
              </a:p>
              <a:p>
                <a:r>
                  <a:rPr lang="en-US" dirty="0"/>
                  <a:t>Find another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marL="925830" lvl="1" indent="-514350"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(i.e., every state satisfying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must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925830" lvl="1" indent="-514350"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is an inductive invariant</a:t>
                </a:r>
              </a:p>
              <a:p>
                <a:pPr lvl="2"/>
                <a:r>
                  <a:rPr lang="en-US" dirty="0"/>
                  <a:t>Show initial states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For arbitrary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, and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⟦"/>
                        <m:endChr m:val="⟧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, show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is a sound and complete strategy for establishing safety invariants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AF32D16-3081-4949-838D-DC85880690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7225" y="1721795"/>
                <a:ext cx="11699087" cy="3962245"/>
              </a:xfrm>
              <a:blipFill>
                <a:blip r:embed="rId2"/>
                <a:stretch>
                  <a:fillRect l="-1042" t="-2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40BF5C5-D88F-402F-A285-E841028C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prove safety invariants?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93B85-3E3A-4B17-96D0-E7EDC501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464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D1C0053F-7DCD-A48B-B25E-12102721FB52}"/>
              </a:ext>
            </a:extLst>
          </p:cNvPr>
          <p:cNvSpPr/>
          <p:nvPr/>
        </p:nvSpPr>
        <p:spPr>
          <a:xfrm>
            <a:off x="8294641" y="2866779"/>
            <a:ext cx="1664902" cy="1514386"/>
          </a:xfrm>
          <a:prstGeom prst="triangle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5F62AF-F417-D69C-8ED2-251DC484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What’s an inductive invariant for this system?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CC16-5D09-179A-F1FA-A9AE4BE1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67BAC1-3BDF-BDF6-FA2F-396D3D0DB0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13" r="13232"/>
          <a:stretch/>
        </p:blipFill>
        <p:spPr>
          <a:xfrm>
            <a:off x="247135" y="1012902"/>
            <a:ext cx="5078627" cy="4472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AF58EC-DD1D-D5B3-8EE4-0C6108936665}"/>
                  </a:ext>
                </a:extLst>
              </p:cNvPr>
              <p:cNvSpPr txBox="1"/>
              <p:nvPr/>
            </p:nvSpPr>
            <p:spPr>
              <a:xfrm>
                <a:off x="6437870" y="1970532"/>
                <a:ext cx="3999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𝐼𝑛𝑖𝑡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AF58EC-DD1D-D5B3-8EE4-0C6108936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870" y="1970532"/>
                <a:ext cx="399942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8ADAB0-219A-F616-1153-4CA6F26F8225}"/>
              </a:ext>
            </a:extLst>
          </p:cNvPr>
          <p:cNvCxnSpPr>
            <a:cxnSpLocks/>
          </p:cNvCxnSpPr>
          <p:nvPr/>
        </p:nvCxnSpPr>
        <p:spPr>
          <a:xfrm flipV="1">
            <a:off x="8285205" y="2570205"/>
            <a:ext cx="0" cy="3737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5D6ECC-3BD7-F8E7-A88A-9E2A0FFD6B67}"/>
              </a:ext>
            </a:extLst>
          </p:cNvPr>
          <p:cNvCxnSpPr>
            <a:cxnSpLocks/>
          </p:cNvCxnSpPr>
          <p:nvPr/>
        </p:nvCxnSpPr>
        <p:spPr>
          <a:xfrm>
            <a:off x="6244281" y="4372233"/>
            <a:ext cx="4258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735F2F-1ED3-40E4-A78B-687E5D6BB2FC}"/>
              </a:ext>
            </a:extLst>
          </p:cNvPr>
          <p:cNvSpPr txBox="1"/>
          <p:nvPr/>
        </p:nvSpPr>
        <p:spPr>
          <a:xfrm>
            <a:off x="8038070" y="25702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539C9-22B9-E8B9-445F-78A130B8B940}"/>
              </a:ext>
            </a:extLst>
          </p:cNvPr>
          <p:cNvSpPr txBox="1"/>
          <p:nvPr/>
        </p:nvSpPr>
        <p:spPr>
          <a:xfrm>
            <a:off x="10201558" y="4362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D59A2D-A52D-D6A8-84B7-2B301D08E3F5}"/>
              </a:ext>
            </a:extLst>
          </p:cNvPr>
          <p:cNvSpPr txBox="1"/>
          <p:nvPr/>
        </p:nvSpPr>
        <p:spPr>
          <a:xfrm>
            <a:off x="7729331" y="406983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C123B1-A652-97D3-2184-B4BC722C1D47}"/>
              </a:ext>
            </a:extLst>
          </p:cNvPr>
          <p:cNvSpPr/>
          <p:nvPr/>
        </p:nvSpPr>
        <p:spPr>
          <a:xfrm>
            <a:off x="9300658" y="3082998"/>
            <a:ext cx="658885" cy="5364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Unsafe</a:t>
            </a:r>
          </a:p>
        </p:txBody>
      </p:sp>
    </p:spTree>
    <p:extLst>
      <p:ext uri="{BB962C8B-B14F-4D97-AF65-F5344CB8AC3E}">
        <p14:creationId xmlns:p14="http://schemas.microsoft.com/office/powerpoint/2010/main" val="1537521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827C74-0597-4EAE-9099-750FA2E4E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Formal system: </a:t>
            </a:r>
          </a:p>
          <a:p>
            <a:pPr lvl="1"/>
            <a:r>
              <a:rPr lang="en-US" sz="2400" dirty="0"/>
              <a:t>a set of axioms, </a:t>
            </a:r>
          </a:p>
          <a:p>
            <a:pPr lvl="1"/>
            <a:r>
              <a:rPr lang="en-US" sz="2400" dirty="0"/>
              <a:t>a grammar for specifying well-formed formulas, </a:t>
            </a:r>
          </a:p>
          <a:p>
            <a:pPr lvl="1"/>
            <a:r>
              <a:rPr lang="en-US" sz="2400" dirty="0"/>
              <a:t>a set of inference rules for deriving new true formulas from axioms</a:t>
            </a:r>
          </a:p>
          <a:p>
            <a:r>
              <a:rPr lang="en-US" sz="2400" dirty="0"/>
              <a:t>Sound: </a:t>
            </a:r>
          </a:p>
          <a:p>
            <a:pPr lvl="1"/>
            <a:r>
              <a:rPr lang="en-US" sz="2400" dirty="0"/>
              <a:t>Starting from the axioms and using inference rules of the formal system,</a:t>
            </a:r>
          </a:p>
          <a:p>
            <a:pPr lvl="1"/>
            <a:r>
              <a:rPr lang="en-US" sz="2400" dirty="0"/>
              <a:t>cannot arrive at a formula that is equivalent  to false.</a:t>
            </a:r>
          </a:p>
          <a:p>
            <a:r>
              <a:rPr lang="en-US" sz="2400" dirty="0"/>
              <a:t>Complete: Complete with respect to a property if</a:t>
            </a:r>
          </a:p>
          <a:p>
            <a:pPr lvl="1"/>
            <a:r>
              <a:rPr lang="en-US" sz="2400" dirty="0"/>
              <a:t>every formula having the property can be derived using the inference rules</a:t>
            </a:r>
          </a:p>
          <a:p>
            <a:r>
              <a:rPr lang="en-US" sz="2400" dirty="0"/>
              <a:t>Proof rule for proving safety for a transition system is sound and complete: </a:t>
            </a:r>
          </a:p>
          <a:p>
            <a:pPr lvl="1"/>
            <a:r>
              <a:rPr lang="en-US" sz="2400" dirty="0"/>
              <a:t>Sound: If a (safe) inductive invariant exists, then the system is indeed safe</a:t>
            </a:r>
          </a:p>
          <a:p>
            <a:pPr lvl="1"/>
            <a:r>
              <a:rPr lang="en-US" sz="2400" dirty="0"/>
              <a:t>Complete: If the system is safe, an inductive invariant must exist </a:t>
            </a:r>
          </a:p>
          <a:p>
            <a:pPr lvl="2"/>
            <a:r>
              <a:rPr lang="en-US" sz="2400" dirty="0"/>
              <a:t>May still be hard/undecidable to find!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36E106-BAA5-4F90-9E03-6CDAB249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Soundness and Completeness of Safety with Inductive Invariants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884F5-7AB6-45D3-8555-0F6FD0BE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135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AAFE5C-A1AE-4AFF-A511-122E539A55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94139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Let’s try the inductive invariant: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𝑚𝑜𝑑𝑒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𝑚𝑜𝑑𝑒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𝑜𝑛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⇒(0≤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≤2)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AAFE5C-A1AE-4AFF-A511-122E539A55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941399"/>
              </a:xfrm>
              <a:blipFill>
                <a:blip r:embed="rId2"/>
                <a:stretch>
                  <a:fillRect l="-208" t="-55844" b="-17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AA7DE54-3788-40DE-9F2A-CF0820BB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Proof for Switch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92BEB-4580-47D8-AC85-E30851CF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C1A55F-41F5-4FD4-8071-EEB16F5912BE}"/>
              </a:ext>
            </a:extLst>
          </p:cNvPr>
          <p:cNvGrpSpPr/>
          <p:nvPr/>
        </p:nvGrpSpPr>
        <p:grpSpPr>
          <a:xfrm>
            <a:off x="7818287" y="2580656"/>
            <a:ext cx="3939341" cy="2574260"/>
            <a:chOff x="166680" y="1476437"/>
            <a:chExt cx="5299075" cy="43603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6A9C51-B18D-437C-95CC-84965D0610B6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28BE7F-C2A6-4153-B246-18635A26F701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B1D17119-CC26-4D7D-B7E1-955780BAA83B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B8156F32-E0D4-4F0C-B341-8AC67CFE9AB7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177A2407-8EF9-4141-8616-18DDC9584BA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747544-F910-4CA7-BAFA-4045169027F1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3D18B2F2-C474-4309-945A-294F8C1A0736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52CD9A-0734-4C68-9963-7F0FB321AA64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B7EAD1A-BB10-40CA-B12C-655C98A1BD7D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B7EAD1A-BB10-40CA-B12C-655C98A1B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blipFill>
                  <a:blip r:embed="rId3"/>
                  <a:stretch>
                    <a:fillRect l="-1974" t="-3125" r="-6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8FA24FD-3918-4876-A7F8-CD63B32FAEFA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4C80243-E65F-4D3D-8EAF-5C925BA149C3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4C80243-E65F-4D3D-8EAF-5C925BA149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4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2EB6CBF-8C21-4A6F-995D-0DBED3170B0C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 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2EB6CBF-8C21-4A6F-995D-0DBED3170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blipFill>
                  <a:blip r:embed="rId5"/>
                  <a:stretch>
                    <a:fillRect l="-1840" t="-3158" r="-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49F6BD73-E5C4-4B4B-84E1-22BF6BB9DC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044" y="2175497"/>
                <a:ext cx="7373047" cy="34951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↦0, 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𝑚𝑜𝑑𝑒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𝑜𝑓𝑓</m:t>
                    </m:r>
                  </m:oMath>
                </a14:m>
                <a:endParaRPr lang="ar-AE" sz="1600" dirty="0">
                  <a:solidFill>
                    <a:schemeClr val="accent1"/>
                  </a:solidFill>
                </a:endParaRP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Base case: </a:t>
                </a:r>
                <a:r>
                  <a:rPr lang="ar-AE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𝑜𝑓𝑓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trivially satisfies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Inductive hypothesis: assume that a state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satisfies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Inductive step: prove that any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accent1"/>
                    </a:solidFill>
                  </a:rPr>
                  <a:t>s.t.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⟦"/>
                        <m:endChr m:val="⟧"/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satisfies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sz="1600" dirty="0">
                    <a:solidFill>
                      <a:schemeClr val="accent1"/>
                    </a:solidFill>
                  </a:rPr>
                  <a:t>Case I: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𝑜𝑓𝑓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>
                    <a:solidFill>
                      <a:schemeClr val="accent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𝑜𝑓𝑓</m:t>
                    </m:r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1200" dirty="0">
                    <a:solidFill>
                      <a:schemeClr val="accent1"/>
                    </a:solidFill>
                  </a:rPr>
                  <a:t> [trivial]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>
                    <a:solidFill>
                      <a:schemeClr val="accent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12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r>
                  <a:rPr lang="en-US" sz="1200" dirty="0">
                    <a:solidFill>
                      <a:schemeClr val="accent1"/>
                    </a:solidFill>
                  </a:rPr>
                  <a:t> [satisfies second conjunct in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1200" dirty="0">
                    <a:solidFill>
                      <a:schemeClr val="accent1"/>
                    </a:solidFill>
                  </a:rPr>
                  <a:t>]</a:t>
                </a:r>
              </a:p>
              <a:p>
                <a:pPr lvl="1"/>
                <a:r>
                  <a:rPr lang="en-US" sz="1600" dirty="0">
                    <a:solidFill>
                      <a:schemeClr val="accent1"/>
                    </a:solidFill>
                  </a:rPr>
                  <a:t>Case II: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, this implies that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+1≤2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, so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satisfies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lvl="2"/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𝑜𝑓𝑓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otherwise, this again implies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satisfies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is an inductive invariant</a:t>
                </a: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Further,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(note that every state satisfying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will satisfy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)</a:t>
                </a: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is an invariant of the TS!</a:t>
                </a:r>
              </a:p>
            </p:txBody>
          </p:sp>
        </mc:Choice>
        <mc:Fallback xmlns="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49F6BD73-E5C4-4B4B-84E1-22BF6BB9D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44" y="2175497"/>
                <a:ext cx="7373047" cy="34951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71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A374BB-617B-4E13-9F80-7B852B79C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Automatic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0A93C-11FF-4671-B918-E8BE5837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49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3384D1A-93DA-456E-ABD0-D12AF418B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795" y="1109469"/>
                <a:ext cx="11699087" cy="115801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A state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of a transition system is </a:t>
                </a:r>
                <a:r>
                  <a:rPr lang="en-US" sz="2400" b="1" i="1" dirty="0"/>
                  <a:t>reachable</a:t>
                </a:r>
                <a:r>
                  <a:rPr lang="en-US" sz="2400" dirty="0"/>
                  <a:t> if there is an execution starting in some initial state that ends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Algorithm to compute reachable states from a given set of initial states (just BFS):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3384D1A-93DA-456E-ABD0-D12AF418B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795" y="1109469"/>
                <a:ext cx="11699087" cy="1158013"/>
              </a:xfrm>
              <a:blipFill>
                <a:blip r:embed="rId2"/>
                <a:stretch>
                  <a:fillRect l="-417" t="-10000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9E9C6A6-9F30-4E82-BCF5-4560988F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31E36-5508-4B9A-B63C-F513233C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06C723-731C-4B96-90C2-3E79873E06F0}"/>
                  </a:ext>
                </a:extLst>
              </p:cNvPr>
              <p:cNvSpPr txBox="1"/>
              <p:nvPr/>
            </p:nvSpPr>
            <p:spPr>
              <a:xfrm>
                <a:off x="5740563" y="2339022"/>
                <a:ext cx="6043319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Procedure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ComputeReach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(TS)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⟦"/>
                        <m:endChr m:val="⟧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𝐼𝑛𝑖𝑡</m:t>
                        </m:r>
                      </m:e>
                    </m:d>
                  </m:oMath>
                </a14:m>
                <a:r>
                  <a:rPr lang="en-US" sz="2000" dirty="0"/>
                  <a:t>, k:=1;</a:t>
                </a:r>
              </a:p>
              <a:p>
                <a:pPr lvl="1"/>
                <a:r>
                  <a:rPr lang="en-US" sz="2000" b="1" dirty="0"/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	Temp :=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</a:t>
                </a:r>
                <a:r>
                  <a:rPr lang="en-US" sz="2000" b="1" dirty="0" err="1"/>
                  <a:t>ForEach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		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⟦"/>
                        <m:endChr m:val="⟧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/>
                  <a:t>)  Temp :=  Temp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	</a:t>
                </a:r>
                <a:r>
                  <a:rPr lang="en-US" sz="2000" b="1" dirty="0" err="1"/>
                  <a:t>EndForEach</a:t>
                </a:r>
                <a:endParaRPr lang="en-US" sz="2000" b="1" dirty="0"/>
              </a:p>
              <a:p>
                <a:pPr lvl="1"/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sz="2000" dirty="0"/>
                  <a:t> Temp,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:=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b="1" dirty="0" err="1"/>
                  <a:t>EndWhile</a:t>
                </a:r>
                <a:endParaRPr lang="en-US" sz="2000" b="1" dirty="0"/>
              </a:p>
              <a:p>
                <a:pPr lvl="1"/>
                <a:r>
                  <a:rPr lang="en-US" sz="2000" b="1" dirty="0"/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lvl="1"/>
                <a:r>
                  <a:rPr lang="en-US" sz="2000" b="1" dirty="0" err="1"/>
                  <a:t>EndProcedure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06C723-731C-4B96-90C2-3E79873E0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563" y="2339022"/>
                <a:ext cx="6043319" cy="3477875"/>
              </a:xfrm>
              <a:prstGeom prst="rect">
                <a:avLst/>
              </a:prstGeom>
              <a:blipFill>
                <a:blip r:embed="rId3"/>
                <a:stretch>
                  <a:fillRect l="-1110" t="-1053" b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C80AFA-B0A0-4CE8-A5D5-A2DCF78B13BF}"/>
                  </a:ext>
                </a:extLst>
              </p:cNvPr>
              <p:cNvSpPr txBox="1"/>
              <p:nvPr/>
            </p:nvSpPr>
            <p:spPr>
              <a:xfrm>
                <a:off x="166681" y="2890278"/>
                <a:ext cx="488388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1800" dirty="0"/>
                  <a:t>To get a proof of safety, do reachability computation, and if </a:t>
                </a:r>
                <a:r>
                  <a:rPr lang="en-US" sz="1800" b="1" dirty="0" err="1"/>
                  <a:t>ComputeReach</a:t>
                </a:r>
                <a:r>
                  <a:rPr lang="en-US" sz="1800" dirty="0"/>
                  <a:t>(TS)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1800" dirty="0"/>
                  <a:t>, then the TS is safe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C80AFA-B0A0-4CE8-A5D5-A2DCF78B1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1" y="2890278"/>
                <a:ext cx="4883884" cy="1200329"/>
              </a:xfrm>
              <a:prstGeom prst="rect">
                <a:avLst/>
              </a:prstGeom>
              <a:blipFill>
                <a:blip r:embed="rId4"/>
                <a:stretch>
                  <a:fillRect t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51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D422931-FBAE-4C63-9AB9-B05C50E53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prove that all reachable states of TS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Recall </a:t>
                </a:r>
                <a:r>
                  <a:rPr lang="en-US" b="1" dirty="0" err="1"/>
                  <a:t>ComputeReach</a:t>
                </a:r>
                <a:r>
                  <a:rPr lang="en-US" dirty="0"/>
                  <a:t>(TS), it actually gives an inductive definition of reachable states</a:t>
                </a:r>
              </a:p>
              <a:p>
                <a:pPr lvl="1"/>
                <a:r>
                  <a:rPr lang="en-US" dirty="0"/>
                  <a:t>All states specified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dirty="0"/>
                  <a:t> are reachable using 0 transitions</a:t>
                </a:r>
              </a:p>
              <a:p>
                <a:pPr lvl="1"/>
                <a:r>
                  <a:rPr lang="en-US" dirty="0"/>
                  <a:t>If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is reachable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transitions,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is a transition in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is reachable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transitions</a:t>
                </a:r>
              </a:p>
              <a:p>
                <a:pPr lvl="1"/>
                <a:r>
                  <a:rPr lang="en-US" dirty="0"/>
                  <a:t>Reachable = Reachable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transitions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D422931-FBAE-4C63-9AB9-B05C50E53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5ED68D8-C028-4CB4-B811-5BB349A91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Reachability to compute invariants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84E6D-6965-4F39-963F-CD4D13AF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217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EC38055-A62D-48F6-BF02-75A3DDB65A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discrete-timed, finite-state systems : </a:t>
                </a:r>
              </a:p>
              <a:p>
                <a:pPr lvl="1"/>
                <a:r>
                  <a:rPr lang="en-US" dirty="0"/>
                  <a:t>Reachable set of states can be exactly computed</a:t>
                </a:r>
              </a:p>
              <a:p>
                <a:pPr lvl="1"/>
                <a:r>
                  <a:rPr lang="en-US" dirty="0"/>
                  <a:t>Could be expensive if the number of states is large (state-space explosion problem)</a:t>
                </a:r>
              </a:p>
              <a:p>
                <a:r>
                  <a:rPr lang="en-US" dirty="0"/>
                  <a:t>Use abstraction to </a:t>
                </a:r>
                <a:r>
                  <a:rPr lang="en-US" i="1" dirty="0"/>
                  <a:t>compress </a:t>
                </a:r>
                <a:r>
                  <a:rPr lang="en-US" dirty="0"/>
                  <a:t>reachable state space</a:t>
                </a:r>
              </a:p>
              <a:p>
                <a:pPr lvl="2"/>
                <a:r>
                  <a:rPr lang="en-US" dirty="0"/>
                  <a:t>If counterexample not found in abstract state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no counterexample exists</a:t>
                </a:r>
              </a:p>
              <a:p>
                <a:pPr lvl="2"/>
                <a:r>
                  <a:rPr lang="en-US" dirty="0"/>
                  <a:t>If counterexample found in abstract state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need to check if counterexample is real (and if not </a:t>
                </a:r>
                <a:r>
                  <a:rPr lang="en-US" i="1" dirty="0"/>
                  <a:t>refine</a:t>
                </a:r>
                <a:r>
                  <a:rPr lang="en-US" dirty="0"/>
                  <a:t> the state space)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EC38055-A62D-48F6-BF02-75A3DDB65A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DD4D471-EB23-4EF9-90A2-D08083C3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FBF1E-5095-4B80-A608-0F88D0FC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855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222038-81D3-403E-AE75-01955F1C1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2420857"/>
            <a:ext cx="11699087" cy="3263183"/>
          </a:xfrm>
        </p:spPr>
        <p:txBody>
          <a:bodyPr/>
          <a:lstStyle/>
          <a:p>
            <a:r>
              <a:rPr lang="en-US" dirty="0"/>
              <a:t>Timed, Continuous (Linear &amp; Nonlinear), Hybrid processes: reachable sets are harder to compute: undecidable in general</a:t>
            </a:r>
          </a:p>
          <a:p>
            <a:r>
              <a:rPr lang="en-US" dirty="0"/>
              <a:t>Various approaches have been researched over last 25 years (we will look at this later)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319946-7F9F-4EEF-A2E9-DB6E627C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for general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F9CD6-DC5A-4393-814D-E94CEFBC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23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30C4EF-B1B8-4D11-8028-0DEBC11E9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Coming up with invariants and proofs requires considerable human ingenuity!</a:t>
            </a:r>
          </a:p>
          <a:p>
            <a:r>
              <a:rPr lang="en-US" sz="2400" dirty="0"/>
              <a:t>Initial techniques for </a:t>
            </a:r>
            <a:r>
              <a:rPr lang="en-US" sz="2400" i="1" dirty="0"/>
              <a:t>formal verification </a:t>
            </a:r>
            <a:r>
              <a:rPr lang="en-US" sz="2400" dirty="0"/>
              <a:t>i.e. rigorously establishing program correctness were all largely manual</a:t>
            </a:r>
          </a:p>
          <a:p>
            <a:r>
              <a:rPr lang="en-US" sz="2400" i="1" dirty="0"/>
              <a:t>Model checking</a:t>
            </a:r>
            <a:r>
              <a:rPr lang="en-US" sz="2400" dirty="0"/>
              <a:t> (invented around 1981-82) was the first approach at trying to automate the process of </a:t>
            </a:r>
            <a:r>
              <a:rPr lang="en-US" sz="2400" i="1" dirty="0"/>
              <a:t>proving</a:t>
            </a:r>
            <a:r>
              <a:rPr lang="en-US" sz="2400" dirty="0"/>
              <a:t> program correctness</a:t>
            </a:r>
          </a:p>
          <a:p>
            <a:endParaRPr lang="en-US" sz="2400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D87DC-3712-41CB-8720-B8DFD7EB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 &amp; Automatic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9F441-0F52-4362-8261-36854787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22063C-238A-4CFA-990F-F4D326BE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346" y="3587745"/>
            <a:ext cx="1572222" cy="2096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590222-D1EB-4D75-9D6B-03830DC82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13" y="3587744"/>
            <a:ext cx="1612769" cy="20962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84A3B4-2236-487E-B66F-38D428E22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532" y="3587743"/>
            <a:ext cx="1630750" cy="20962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CA306A-935D-4514-9050-08A8E86F0442}"/>
              </a:ext>
            </a:extLst>
          </p:cNvPr>
          <p:cNvSpPr txBox="1"/>
          <p:nvPr/>
        </p:nvSpPr>
        <p:spPr>
          <a:xfrm>
            <a:off x="7383010" y="3493972"/>
            <a:ext cx="32480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checking inventors, </a:t>
            </a:r>
          </a:p>
          <a:p>
            <a:r>
              <a:rPr lang="en-US" dirty="0"/>
              <a:t>ACM 2007 Turing Award winners</a:t>
            </a:r>
          </a:p>
          <a:p>
            <a:endParaRPr lang="en-US" dirty="0"/>
          </a:p>
          <a:p>
            <a:r>
              <a:rPr lang="en-US" dirty="0"/>
              <a:t>(L to R)</a:t>
            </a:r>
          </a:p>
          <a:p>
            <a:r>
              <a:rPr lang="en-US" dirty="0"/>
              <a:t>E. Allen Emerson</a:t>
            </a:r>
          </a:p>
          <a:p>
            <a:r>
              <a:rPr lang="en-US" dirty="0"/>
              <a:t>Ed Clarke</a:t>
            </a:r>
          </a:p>
          <a:p>
            <a:r>
              <a:rPr lang="en-US" dirty="0"/>
              <a:t>Josef Sifakis</a:t>
            </a:r>
          </a:p>
        </p:txBody>
      </p:sp>
    </p:spTree>
    <p:extLst>
      <p:ext uri="{BB962C8B-B14F-4D97-AF65-F5344CB8AC3E}">
        <p14:creationId xmlns:p14="http://schemas.microsoft.com/office/powerpoint/2010/main" val="4196597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453D0F-B8D1-4D68-B4CB-EE199A6B3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4794632"/>
          </a:xfrm>
        </p:spPr>
        <p:txBody>
          <a:bodyPr>
            <a:normAutofit/>
          </a:bodyPr>
          <a:lstStyle/>
          <a:p>
            <a:r>
              <a:rPr lang="en-US" dirty="0"/>
              <a:t>Checking if all behaviors of the system model are contained within the behaviors specified by a property specification</a:t>
            </a:r>
          </a:p>
          <a:p>
            <a:r>
              <a:rPr lang="en-US" dirty="0"/>
              <a:t>E.g. specifications: </a:t>
            </a:r>
          </a:p>
          <a:p>
            <a:pPr lvl="1"/>
            <a:r>
              <a:rPr lang="en-US" dirty="0"/>
              <a:t>When adaptive cruise control is engaged, the speed of the car is between 20 and 60mph</a:t>
            </a:r>
          </a:p>
          <a:p>
            <a:pPr lvl="1"/>
            <a:r>
              <a:rPr lang="en-US" dirty="0"/>
              <a:t>Always, if the drone detects an obstacle along its current flight path, it makes a call to the re-planning module within 1 second </a:t>
            </a:r>
          </a:p>
          <a:p>
            <a:pPr lvl="1"/>
            <a:r>
              <a:rPr lang="en-US" dirty="0"/>
              <a:t>No two robots can be within 2 meters of each other </a:t>
            </a:r>
          </a:p>
          <a:p>
            <a:r>
              <a:rPr lang="en-US" dirty="0"/>
              <a:t>First algorithm for model checking used “</a:t>
            </a:r>
            <a:r>
              <a:rPr lang="en-US" dirty="0" err="1"/>
              <a:t>Kripke</a:t>
            </a:r>
            <a:r>
              <a:rPr lang="en-US" dirty="0"/>
              <a:t> Structures” as models (a kind of labeled transition system), and CTL for specifications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1F1109-6DEB-44B1-9470-1D70C252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model checking?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90B1A-0206-43A8-A223-3E9F6075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783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B9BB9E-F7B6-4987-A259-C66DF06B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Detour to Branching-Time Logics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C24FA-664E-4E4E-B4A6-6CC3C240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285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183FB6-5CDE-4B09-AB93-C3613A58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LTL was a linear-time logic where we reason about traces</a:t>
            </a:r>
          </a:p>
          <a:p>
            <a:r>
              <a:rPr lang="en-US" dirty="0"/>
              <a:t>CTL is a logic where we reason over the tree of executions generated by a program, also known as the </a:t>
            </a:r>
            <a:r>
              <a:rPr lang="en-US" i="1" dirty="0"/>
              <a:t>computation tree</a:t>
            </a:r>
            <a:endParaRPr lang="en-US" dirty="0"/>
          </a:p>
          <a:p>
            <a:r>
              <a:rPr lang="en-US" dirty="0"/>
              <a:t>We care about CTL because:</a:t>
            </a:r>
          </a:p>
          <a:p>
            <a:pPr lvl="1"/>
            <a:r>
              <a:rPr lang="en-US" dirty="0"/>
              <a:t> There are some properties that cannot be expressed in LTL, but can be expressed in CTL: From every system state, there is a system execution that takes it back to the initial state (also known as the reset property)</a:t>
            </a:r>
          </a:p>
          <a:p>
            <a:pPr lvl="1"/>
            <a:r>
              <a:rPr lang="en-US" dirty="0"/>
              <a:t>To understand </a:t>
            </a:r>
            <a:r>
              <a:rPr lang="en-US" dirty="0" err="1"/>
              <a:t>pCTL</a:t>
            </a:r>
            <a:r>
              <a:rPr lang="en-US" dirty="0"/>
              <a:t> (Probabilistic CTL), it’s good if you understand CTL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Can express interesting properties for multi-agent systems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DD350D-5867-4F26-9E9E-B67A2A31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Tree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9BD4F-A084-44A4-A698-C3B0B4E9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915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F1D6DA-28FC-4CFE-9492-8826EE954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7094" y="1277926"/>
            <a:ext cx="3752900" cy="4445007"/>
          </a:xfrm>
        </p:spPr>
        <p:txBody>
          <a:bodyPr>
            <a:normAutofit/>
          </a:bodyPr>
          <a:lstStyle/>
          <a:p>
            <a:r>
              <a:rPr lang="en-US" dirty="0"/>
              <a:t>We saw computation trees when understanding semantics of asynchronous processes</a:t>
            </a:r>
          </a:p>
          <a:p>
            <a:r>
              <a:rPr lang="en-US" dirty="0"/>
              <a:t>Basically a tree that considers “all possibilities” in a reactive program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B85A36-75B3-4F0F-9B76-5E3FD5C7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F33D9-FDE7-4266-BAC9-A02B0F763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7BEFC1-C120-47B7-801B-156FBDF4E43C}"/>
              </a:ext>
            </a:extLst>
          </p:cNvPr>
          <p:cNvGrpSpPr/>
          <p:nvPr/>
        </p:nvGrpSpPr>
        <p:grpSpPr>
          <a:xfrm>
            <a:off x="192005" y="1147454"/>
            <a:ext cx="3211206" cy="1255135"/>
            <a:chOff x="1206584" y="1703718"/>
            <a:chExt cx="3719414" cy="181819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F506EE5-C532-4BBA-913F-CBAAB77121C7}"/>
                </a:ext>
              </a:extLst>
            </p:cNvPr>
            <p:cNvSpPr/>
            <p:nvPr/>
          </p:nvSpPr>
          <p:spPr>
            <a:xfrm>
              <a:off x="1206585" y="1723597"/>
              <a:ext cx="3719413" cy="1757440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169416-0BEA-4999-8784-9BDDE478AF97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4" y="2341759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72F582B-0CCF-46C6-8F35-7E74AAD7ABFA}"/>
                </a:ext>
              </a:extLst>
            </p:cNvPr>
            <p:cNvSpPr txBox="1"/>
            <p:nvPr/>
          </p:nvSpPr>
          <p:spPr>
            <a:xfrm>
              <a:off x="1481058" y="1703718"/>
              <a:ext cx="3222109" cy="507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nat</a:t>
              </a:r>
              <a:r>
                <a:rPr lang="en-US" sz="2400" dirty="0"/>
                <a:t> x := 0; bool y:=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E495F7A-33FE-424A-9804-3A01DC7BB3F5}"/>
                    </a:ext>
                  </a:extLst>
                </p:cNvPr>
                <p:cNvSpPr txBox="1"/>
                <p:nvPr/>
              </p:nvSpPr>
              <p:spPr>
                <a:xfrm>
                  <a:off x="1270896" y="2390399"/>
                  <a:ext cx="3147471" cy="5078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400" dirty="0"/>
                    <a:t>  x := (x + 1) mod 2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E495F7A-33FE-424A-9804-3A01DC7BB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896" y="2390399"/>
                  <a:ext cx="3147471" cy="507848"/>
                </a:xfrm>
                <a:prstGeom prst="rect">
                  <a:avLst/>
                </a:prstGeom>
                <a:blipFill>
                  <a:blip r:embed="rId2"/>
                  <a:stretch>
                    <a:fillRect l="-3596" t="-13793" r="-2472" b="-689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06EBCB3-8EAA-431B-9FF7-0EC255C4AE8A}"/>
                    </a:ext>
                  </a:extLst>
                </p:cNvPr>
                <p:cNvSpPr txBox="1"/>
                <p:nvPr/>
              </p:nvSpPr>
              <p:spPr>
                <a:xfrm>
                  <a:off x="1263098" y="2853142"/>
                  <a:ext cx="3155269" cy="6687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400" dirty="0"/>
                    <a:t> y: = 1-y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06EBCB3-8EAA-431B-9FF7-0EC255C4A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098" y="2853142"/>
                  <a:ext cx="3155269" cy="668770"/>
                </a:xfrm>
                <a:prstGeom prst="rect">
                  <a:avLst/>
                </a:prstGeom>
                <a:blipFill>
                  <a:blip r:embed="rId3"/>
                  <a:stretch>
                    <a:fillRect l="-3587" t="-10526" r="-246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2561C67-80A1-4C3A-8045-8945CB75C0B6}"/>
              </a:ext>
            </a:extLst>
          </p:cNvPr>
          <p:cNvGrpSpPr/>
          <p:nvPr/>
        </p:nvGrpSpPr>
        <p:grpSpPr>
          <a:xfrm>
            <a:off x="192005" y="2989333"/>
            <a:ext cx="3288870" cy="2196748"/>
            <a:chOff x="3702969" y="1557568"/>
            <a:chExt cx="3288870" cy="21967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8E55583-5AB6-43A3-A74E-308BA0EB95A4}"/>
                    </a:ext>
                  </a:extLst>
                </p:cNvPr>
                <p:cNvSpPr/>
                <p:nvPr/>
              </p:nvSpPr>
              <p:spPr>
                <a:xfrm>
                  <a:off x="4063849" y="1761312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8E55583-5AB6-43A3-A74E-308BA0EB95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3849" y="1761312"/>
                  <a:ext cx="1001031" cy="544223"/>
                </a:xfrm>
                <a:prstGeom prst="ellipse">
                  <a:avLst/>
                </a:prstGeom>
                <a:blipFill>
                  <a:blip r:embed="rId4"/>
                  <a:stretch>
                    <a:fillRect b="-4255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09F698C-BDF6-4916-864A-51E6FD9470CF}"/>
                    </a:ext>
                  </a:extLst>
                </p:cNvPr>
                <p:cNvSpPr/>
                <p:nvPr/>
              </p:nvSpPr>
              <p:spPr>
                <a:xfrm flipH="1">
                  <a:off x="4063849" y="3210093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(1,0)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09F698C-BDF6-4916-864A-51E6FD9470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063849" y="3210093"/>
                  <a:ext cx="1001031" cy="544223"/>
                </a:xfrm>
                <a:prstGeom prst="ellipse">
                  <a:avLst/>
                </a:prstGeom>
                <a:blipFill>
                  <a:blip r:embed="rId5"/>
                  <a:stretch>
                    <a:fillRect b="-4211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AE65B84-74F1-4B13-8823-CB6C1E713753}"/>
                </a:ext>
              </a:extLst>
            </p:cNvPr>
            <p:cNvSpPr/>
            <p:nvPr/>
          </p:nvSpPr>
          <p:spPr>
            <a:xfrm>
              <a:off x="3702969" y="2107201"/>
              <a:ext cx="363920" cy="1341237"/>
            </a:xfrm>
            <a:custGeom>
              <a:avLst/>
              <a:gdLst>
                <a:gd name="connsiteX0" fmla="*/ 324176 w 388913"/>
                <a:gd name="connsiteY0" fmla="*/ 2023009 h 2023009"/>
                <a:gd name="connsiteX1" fmla="*/ 495 w 388913"/>
                <a:gd name="connsiteY1" fmla="*/ 922492 h 2023009"/>
                <a:gd name="connsiteX2" fmla="*/ 388913 w 388913"/>
                <a:gd name="connsiteY2" fmla="*/ 0 h 2023009"/>
                <a:gd name="connsiteX0" fmla="*/ 388418 w 388418"/>
                <a:gd name="connsiteY0" fmla="*/ 2063469 h 2063469"/>
                <a:gd name="connsiteX1" fmla="*/ 0 w 388418"/>
                <a:gd name="connsiteY1" fmla="*/ 922492 h 2063469"/>
                <a:gd name="connsiteX2" fmla="*/ 388418 w 388418"/>
                <a:gd name="connsiteY2" fmla="*/ 0 h 206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8418" h="2063469">
                  <a:moveTo>
                    <a:pt x="388418" y="2063469"/>
                  </a:moveTo>
                  <a:cubicBezTo>
                    <a:pt x="221182" y="1681794"/>
                    <a:pt x="0" y="1266403"/>
                    <a:pt x="0" y="922492"/>
                  </a:cubicBezTo>
                  <a:cubicBezTo>
                    <a:pt x="0" y="578581"/>
                    <a:pt x="199603" y="292662"/>
                    <a:pt x="388418" y="0"/>
                  </a:cubicBezTo>
                </a:path>
              </a:pathLst>
            </a:cu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4E09898-A92A-4A8D-95BC-507D1C012336}"/>
                    </a:ext>
                  </a:extLst>
                </p:cNvPr>
                <p:cNvSpPr/>
                <p:nvPr/>
              </p:nvSpPr>
              <p:spPr>
                <a:xfrm>
                  <a:off x="5626889" y="1761312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(0,1)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4E09898-A92A-4A8D-95BC-507D1C0123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6889" y="1761312"/>
                  <a:ext cx="1001031" cy="544223"/>
                </a:xfrm>
                <a:prstGeom prst="ellipse">
                  <a:avLst/>
                </a:prstGeom>
                <a:blipFill>
                  <a:blip r:embed="rId6"/>
                  <a:stretch>
                    <a:fillRect b="-4255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7C7DF7A5-D75D-4973-A38B-AB94632D5552}"/>
                    </a:ext>
                  </a:extLst>
                </p:cNvPr>
                <p:cNvSpPr/>
                <p:nvPr/>
              </p:nvSpPr>
              <p:spPr>
                <a:xfrm>
                  <a:off x="5626888" y="3160838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(1,1)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7C7DF7A5-D75D-4973-A38B-AB94632D55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6888" y="3160838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 b="-4211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4A64CE5-3A17-4711-A474-67F7C5E93844}"/>
                </a:ext>
              </a:extLst>
            </p:cNvPr>
            <p:cNvCxnSpPr>
              <a:stCxn id="5" idx="6"/>
              <a:endCxn id="26" idx="2"/>
            </p:cNvCxnSpPr>
            <p:nvPr/>
          </p:nvCxnSpPr>
          <p:spPr>
            <a:xfrm>
              <a:off x="5064880" y="2033424"/>
              <a:ext cx="562009" cy="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92B0C52-7882-4865-BBB7-6A31705CC099}"/>
                </a:ext>
              </a:extLst>
            </p:cNvPr>
            <p:cNvCxnSpPr>
              <a:cxnSpLocks/>
              <a:stCxn id="5" idx="4"/>
            </p:cNvCxnSpPr>
            <p:nvPr/>
          </p:nvCxnSpPr>
          <p:spPr>
            <a:xfrm>
              <a:off x="4564365" y="2305535"/>
              <a:ext cx="0" cy="855303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901FBB3-157F-43A5-A755-174B5F7F4C1F}"/>
                </a:ext>
              </a:extLst>
            </p:cNvPr>
            <p:cNvCxnSpPr>
              <a:cxnSpLocks/>
              <a:stCxn id="26" idx="4"/>
              <a:endCxn id="27" idx="0"/>
            </p:cNvCxnSpPr>
            <p:nvPr/>
          </p:nvCxnSpPr>
          <p:spPr>
            <a:xfrm flipH="1">
              <a:off x="6127404" y="2305535"/>
              <a:ext cx="1" cy="855303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E26AAE3-40F0-4E2E-9DC3-E709E05F056B}"/>
                </a:ext>
              </a:extLst>
            </p:cNvPr>
            <p:cNvSpPr/>
            <p:nvPr/>
          </p:nvSpPr>
          <p:spPr>
            <a:xfrm flipH="1">
              <a:off x="6627919" y="2048014"/>
              <a:ext cx="363920" cy="1341237"/>
            </a:xfrm>
            <a:custGeom>
              <a:avLst/>
              <a:gdLst>
                <a:gd name="connsiteX0" fmla="*/ 324176 w 388913"/>
                <a:gd name="connsiteY0" fmla="*/ 2023009 h 2023009"/>
                <a:gd name="connsiteX1" fmla="*/ 495 w 388913"/>
                <a:gd name="connsiteY1" fmla="*/ 922492 h 2023009"/>
                <a:gd name="connsiteX2" fmla="*/ 388913 w 388913"/>
                <a:gd name="connsiteY2" fmla="*/ 0 h 2023009"/>
                <a:gd name="connsiteX0" fmla="*/ 388418 w 388418"/>
                <a:gd name="connsiteY0" fmla="*/ 2063469 h 2063469"/>
                <a:gd name="connsiteX1" fmla="*/ 0 w 388418"/>
                <a:gd name="connsiteY1" fmla="*/ 922492 h 2063469"/>
                <a:gd name="connsiteX2" fmla="*/ 388418 w 388418"/>
                <a:gd name="connsiteY2" fmla="*/ 0 h 206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8418" h="2063469">
                  <a:moveTo>
                    <a:pt x="388418" y="2063469"/>
                  </a:moveTo>
                  <a:cubicBezTo>
                    <a:pt x="221182" y="1681794"/>
                    <a:pt x="0" y="1266403"/>
                    <a:pt x="0" y="922492"/>
                  </a:cubicBezTo>
                  <a:cubicBezTo>
                    <a:pt x="0" y="578581"/>
                    <a:pt x="199603" y="292662"/>
                    <a:pt x="388418" y="0"/>
                  </a:cubicBezTo>
                </a:path>
              </a:pathLst>
            </a:cu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A4A36A1-A751-4D73-AAEB-DB6812B99EA1}"/>
                </a:ext>
              </a:extLst>
            </p:cNvPr>
            <p:cNvSpPr/>
            <p:nvPr/>
          </p:nvSpPr>
          <p:spPr>
            <a:xfrm>
              <a:off x="4844375" y="1557568"/>
              <a:ext cx="904672" cy="221976"/>
            </a:xfrm>
            <a:custGeom>
              <a:avLst/>
              <a:gdLst>
                <a:gd name="connsiteX0" fmla="*/ 875490 w 875490"/>
                <a:gd name="connsiteY0" fmla="*/ 138909 h 138909"/>
                <a:gd name="connsiteX1" fmla="*/ 398834 w 875490"/>
                <a:gd name="connsiteY1" fmla="*/ 2722 h 138909"/>
                <a:gd name="connsiteX2" fmla="*/ 0 w 875490"/>
                <a:gd name="connsiteY2" fmla="*/ 61088 h 138909"/>
                <a:gd name="connsiteX0" fmla="*/ 875490 w 875490"/>
                <a:gd name="connsiteY0" fmla="*/ 456886 h 456886"/>
                <a:gd name="connsiteX1" fmla="*/ 483557 w 875490"/>
                <a:gd name="connsiteY1" fmla="*/ 344 h 456886"/>
                <a:gd name="connsiteX2" fmla="*/ 0 w 875490"/>
                <a:gd name="connsiteY2" fmla="*/ 379065 h 456886"/>
                <a:gd name="connsiteX0" fmla="*/ 950801 w 950801"/>
                <a:gd name="connsiteY0" fmla="*/ 578721 h 578722"/>
                <a:gd name="connsiteX1" fmla="*/ 483557 w 950801"/>
                <a:gd name="connsiteY1" fmla="*/ 2046 h 578722"/>
                <a:gd name="connsiteX2" fmla="*/ 0 w 950801"/>
                <a:gd name="connsiteY2" fmla="*/ 380767 h 578722"/>
                <a:gd name="connsiteX0" fmla="*/ 875489 w 875489"/>
                <a:gd name="connsiteY0" fmla="*/ 456889 h 456888"/>
                <a:gd name="connsiteX1" fmla="*/ 483557 w 875489"/>
                <a:gd name="connsiteY1" fmla="*/ 346 h 456888"/>
                <a:gd name="connsiteX2" fmla="*/ 0 w 875489"/>
                <a:gd name="connsiteY2" fmla="*/ 379067 h 456888"/>
                <a:gd name="connsiteX0" fmla="*/ 875489 w 875489"/>
                <a:gd name="connsiteY0" fmla="*/ 456889 h 456888"/>
                <a:gd name="connsiteX1" fmla="*/ 483557 w 875489"/>
                <a:gd name="connsiteY1" fmla="*/ 346 h 456888"/>
                <a:gd name="connsiteX2" fmla="*/ 0 w 875489"/>
                <a:gd name="connsiteY2" fmla="*/ 379067 h 45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5489" h="456888">
                  <a:moveTo>
                    <a:pt x="875489" y="456889"/>
                  </a:moveTo>
                  <a:cubicBezTo>
                    <a:pt x="757187" y="114969"/>
                    <a:pt x="629472" y="13316"/>
                    <a:pt x="483557" y="346"/>
                  </a:cubicBezTo>
                  <a:cubicBezTo>
                    <a:pt x="337642" y="-12624"/>
                    <a:pt x="126459" y="343399"/>
                    <a:pt x="0" y="379067"/>
                  </a:cubicBezTo>
                </a:path>
              </a:pathLst>
            </a:custGeom>
            <a:ln w="31750">
              <a:solidFill>
                <a:srgbClr val="0070C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8562DF75-7EB3-4352-9E83-A57EDEC26BB0}"/>
              </a:ext>
            </a:extLst>
          </p:cNvPr>
          <p:cNvSpPr txBox="1"/>
          <p:nvPr/>
        </p:nvSpPr>
        <p:spPr>
          <a:xfrm>
            <a:off x="847537" y="2349472"/>
            <a:ext cx="1308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Process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C37712-2E14-4BAC-8649-5F90254281EA}"/>
              </a:ext>
            </a:extLst>
          </p:cNvPr>
          <p:cNvSpPr txBox="1"/>
          <p:nvPr/>
        </p:nvSpPr>
        <p:spPr>
          <a:xfrm>
            <a:off x="166680" y="5214298"/>
            <a:ext cx="3226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Finite State machine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16EA145-F589-4F7D-B0A7-7C438BF0088A}"/>
              </a:ext>
            </a:extLst>
          </p:cNvPr>
          <p:cNvCxnSpPr>
            <a:cxnSpLocks/>
          </p:cNvCxnSpPr>
          <p:nvPr/>
        </p:nvCxnSpPr>
        <p:spPr>
          <a:xfrm>
            <a:off x="247530" y="2989333"/>
            <a:ext cx="408337" cy="314511"/>
          </a:xfrm>
          <a:prstGeom prst="straightConnector1">
            <a:avLst/>
          </a:prstGeom>
          <a:ln w="3175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7E3CB75-5D57-4CCF-88B7-0B5EFBDDF8B7}"/>
                  </a:ext>
                </a:extLst>
              </p:cNvPr>
              <p:cNvSpPr/>
              <p:nvPr/>
            </p:nvSpPr>
            <p:spPr>
              <a:xfrm>
                <a:off x="5184731" y="1209202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7E3CB75-5D57-4CCF-88B7-0B5EFBDDF8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731" y="1209202"/>
                <a:ext cx="1001031" cy="544223"/>
              </a:xfrm>
              <a:prstGeom prst="ellipse">
                <a:avLst/>
              </a:prstGeom>
              <a:blipFill>
                <a:blip r:embed="rId8"/>
                <a:stretch>
                  <a:fillRect b="-3158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EEED4AFD-CB88-40B4-A297-ED6EB354D117}"/>
                  </a:ext>
                </a:extLst>
              </p:cNvPr>
              <p:cNvSpPr/>
              <p:nvPr/>
            </p:nvSpPr>
            <p:spPr>
              <a:xfrm>
                <a:off x="6052010" y="2260141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EEED4AFD-CB88-40B4-A297-ED6EB354D1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010" y="2260141"/>
                <a:ext cx="1001031" cy="544223"/>
              </a:xfrm>
              <a:prstGeom prst="ellipse">
                <a:avLst/>
              </a:prstGeom>
              <a:blipFill>
                <a:blip r:embed="rId9"/>
                <a:stretch>
                  <a:fillRect b="-42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AD9BA6C-032A-4754-8231-D8B85E42553D}"/>
                  </a:ext>
                </a:extLst>
              </p:cNvPr>
              <p:cNvSpPr/>
              <p:nvPr/>
            </p:nvSpPr>
            <p:spPr>
              <a:xfrm flipH="1">
                <a:off x="4412252" y="2338970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(1,0)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AD9BA6C-032A-4754-8231-D8B85E4255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12252" y="2338970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 b="-42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7AB0BE3-FFAB-42AC-8CD0-0AC154A5411F}"/>
              </a:ext>
            </a:extLst>
          </p:cNvPr>
          <p:cNvCxnSpPr>
            <a:cxnSpLocks/>
            <a:stCxn id="72" idx="3"/>
            <a:endCxn id="74" idx="0"/>
          </p:cNvCxnSpPr>
          <p:nvPr/>
        </p:nvCxnSpPr>
        <p:spPr>
          <a:xfrm flipH="1">
            <a:off x="4912767" y="1673725"/>
            <a:ext cx="418562" cy="66524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36683E7-1F0B-45C5-B30F-5E89D41EC7A9}"/>
              </a:ext>
            </a:extLst>
          </p:cNvPr>
          <p:cNvCxnSpPr>
            <a:cxnSpLocks/>
            <a:stCxn id="72" idx="5"/>
            <a:endCxn id="73" idx="0"/>
          </p:cNvCxnSpPr>
          <p:nvPr/>
        </p:nvCxnSpPr>
        <p:spPr>
          <a:xfrm>
            <a:off x="6039164" y="1673725"/>
            <a:ext cx="513362" cy="586416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17CACEFD-37F7-4F3F-816B-8183193EA670}"/>
                  </a:ext>
                </a:extLst>
              </p:cNvPr>
              <p:cNvSpPr/>
              <p:nvPr/>
            </p:nvSpPr>
            <p:spPr>
              <a:xfrm flipH="1">
                <a:off x="5551494" y="3509414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17CACEFD-37F7-4F3F-816B-8183193EA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51494" y="3509414"/>
                <a:ext cx="1001031" cy="544223"/>
              </a:xfrm>
              <a:prstGeom prst="ellipse">
                <a:avLst/>
              </a:prstGeom>
              <a:blipFill>
                <a:blip r:embed="rId11"/>
                <a:stretch>
                  <a:fillRect b="-42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9998366-46FB-4C4E-8E2B-752B276FF701}"/>
                  </a:ext>
                </a:extLst>
              </p:cNvPr>
              <p:cNvSpPr/>
              <p:nvPr/>
            </p:nvSpPr>
            <p:spPr>
              <a:xfrm flipH="1">
                <a:off x="6970328" y="3522771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9998366-46FB-4C4E-8E2B-752B276FF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70328" y="3522771"/>
                <a:ext cx="1001031" cy="544223"/>
              </a:xfrm>
              <a:prstGeom prst="ellipse">
                <a:avLst/>
              </a:prstGeom>
              <a:blipFill>
                <a:blip r:embed="rId12"/>
                <a:stretch>
                  <a:fillRect b="-42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46F5C1BA-0BD5-4ACE-A677-FA1E9D998368}"/>
                  </a:ext>
                </a:extLst>
              </p:cNvPr>
              <p:cNvSpPr/>
              <p:nvPr/>
            </p:nvSpPr>
            <p:spPr>
              <a:xfrm flipH="1">
                <a:off x="3998519" y="3485701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46F5C1BA-0BD5-4ACE-A677-FA1E9D9983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98519" y="3485701"/>
                <a:ext cx="1001031" cy="544223"/>
              </a:xfrm>
              <a:prstGeom prst="ellipse">
                <a:avLst/>
              </a:prstGeom>
              <a:blipFill>
                <a:blip r:embed="rId13"/>
                <a:stretch>
                  <a:fillRect b="-42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667246B-E34B-4ABC-8721-5B7383E46E43}"/>
              </a:ext>
            </a:extLst>
          </p:cNvPr>
          <p:cNvCxnSpPr>
            <a:cxnSpLocks/>
            <a:endCxn id="85" idx="0"/>
          </p:cNvCxnSpPr>
          <p:nvPr/>
        </p:nvCxnSpPr>
        <p:spPr>
          <a:xfrm flipH="1">
            <a:off x="4499034" y="2872692"/>
            <a:ext cx="191880" cy="613009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6E85BDF-F8AD-443D-A92E-CDD4A4155EC3}"/>
              </a:ext>
            </a:extLst>
          </p:cNvPr>
          <p:cNvCxnSpPr>
            <a:cxnSpLocks/>
            <a:stCxn id="73" idx="3"/>
            <a:endCxn id="83" idx="0"/>
          </p:cNvCxnSpPr>
          <p:nvPr/>
        </p:nvCxnSpPr>
        <p:spPr>
          <a:xfrm flipH="1">
            <a:off x="6052009" y="2724664"/>
            <a:ext cx="146599" cy="784750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F5949CE-1FFF-4984-BB9F-A67EC6952EF0}"/>
              </a:ext>
            </a:extLst>
          </p:cNvPr>
          <p:cNvCxnSpPr>
            <a:cxnSpLocks/>
            <a:stCxn id="73" idx="5"/>
            <a:endCxn id="84" idx="0"/>
          </p:cNvCxnSpPr>
          <p:nvPr/>
        </p:nvCxnSpPr>
        <p:spPr>
          <a:xfrm>
            <a:off x="6906443" y="2724664"/>
            <a:ext cx="564400" cy="798107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A0C96FD-3827-464E-8BC1-E9622387125F}"/>
              </a:ext>
            </a:extLst>
          </p:cNvPr>
          <p:cNvCxnSpPr>
            <a:cxnSpLocks/>
          </p:cNvCxnSpPr>
          <p:nvPr/>
        </p:nvCxnSpPr>
        <p:spPr>
          <a:xfrm flipH="1">
            <a:off x="4037844" y="3979594"/>
            <a:ext cx="191880" cy="613009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D8CBD9A-8A71-4FD7-BC35-775430A520E4}"/>
              </a:ext>
            </a:extLst>
          </p:cNvPr>
          <p:cNvCxnSpPr>
            <a:cxnSpLocks/>
          </p:cNvCxnSpPr>
          <p:nvPr/>
        </p:nvCxnSpPr>
        <p:spPr>
          <a:xfrm>
            <a:off x="4693330" y="4006187"/>
            <a:ext cx="187407" cy="635671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AB4B9BE-3498-4D74-835A-A3EC4CE0C6C6}"/>
              </a:ext>
            </a:extLst>
          </p:cNvPr>
          <p:cNvCxnSpPr>
            <a:cxnSpLocks/>
          </p:cNvCxnSpPr>
          <p:nvPr/>
        </p:nvCxnSpPr>
        <p:spPr>
          <a:xfrm flipH="1">
            <a:off x="5570466" y="4033881"/>
            <a:ext cx="191880" cy="613009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A02B854-DE99-40EE-9B29-1409F1436066}"/>
              </a:ext>
            </a:extLst>
          </p:cNvPr>
          <p:cNvCxnSpPr>
            <a:cxnSpLocks/>
          </p:cNvCxnSpPr>
          <p:nvPr/>
        </p:nvCxnSpPr>
        <p:spPr>
          <a:xfrm>
            <a:off x="6225952" y="4060474"/>
            <a:ext cx="187407" cy="635671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2D4C843-D54E-49A0-BFA5-D8F26A3990E0}"/>
              </a:ext>
            </a:extLst>
          </p:cNvPr>
          <p:cNvCxnSpPr>
            <a:cxnSpLocks/>
          </p:cNvCxnSpPr>
          <p:nvPr/>
        </p:nvCxnSpPr>
        <p:spPr>
          <a:xfrm>
            <a:off x="7441054" y="4066994"/>
            <a:ext cx="187407" cy="635671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4665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91B077-F03F-4C13-BA42-F8CC9686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Syntax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F8A3F-46BC-4D18-9676-4F7748EF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6B051A9-2529-4B55-8C2E-FE38DC4808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2564" y="1070610"/>
              <a:ext cx="11506872" cy="46863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0419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272701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34075">
                      <a:extLst>
                        <a:ext uri="{9D8B030D-6E8A-4147-A177-3AD203B41FA5}">
                          <a16:colId xmlns:a16="http://schemas.microsoft.com/office/drawing/2014/main" val="1035336446"/>
                        </a:ext>
                      </a:extLst>
                    </a:gridCol>
                    <a:gridCol w="71053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Syntax of CTL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¬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Prop. in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𝐴𝑃</m:t>
                              </m:r>
                            </m:oMath>
                          </a14:m>
                          <a:r>
                            <a:rPr lang="en-US" sz="2000" dirty="0"/>
                            <a:t>, negation, conjunction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𝐄𝐗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dirty="0"/>
                            <a:t>xists </a:t>
                          </a:r>
                          <a:r>
                            <a:rPr lang="en-US" sz="2000" dirty="0" err="1"/>
                            <a:t>Ne</a:t>
                          </a:r>
                          <a:r>
                            <a:rPr lang="en-US" sz="2000" b="1" dirty="0" err="1"/>
                            <a:t>X</a:t>
                          </a:r>
                          <a:r>
                            <a:rPr lang="en-US" sz="2000" dirty="0" err="1"/>
                            <a:t>t</a:t>
                          </a:r>
                          <a:r>
                            <a:rPr lang="en-US" sz="2000" dirty="0"/>
                            <a:t>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𝐄𝐅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dirty="0"/>
                            <a:t>xists a </a:t>
                          </a:r>
                          <a:r>
                            <a:rPr lang="en-US" sz="2000" b="1" dirty="0"/>
                            <a:t>F</a:t>
                          </a:r>
                          <a:r>
                            <a:rPr lang="en-US" sz="2000" dirty="0"/>
                            <a:t>uture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𝐄𝐆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b="0" dirty="0"/>
                            <a:t>xists an execution where  </a:t>
                          </a:r>
                          <a:r>
                            <a:rPr lang="en-US" sz="2000" b="1" dirty="0"/>
                            <a:t>G</a:t>
                          </a:r>
                          <a:r>
                            <a:rPr lang="en-US" sz="2000" dirty="0"/>
                            <a:t>lobally in all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b="0" dirty="0"/>
                            <a:t>xists an execution where in all steps </a:t>
                          </a:r>
                          <a:r>
                            <a:rPr lang="en-US" sz="2000" b="1" dirty="0"/>
                            <a:t>U</a:t>
                          </a:r>
                          <a:r>
                            <a:rPr lang="en-US" sz="2000" dirty="0"/>
                            <a:t>ntil in some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𝐀𝐗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In </a:t>
                          </a:r>
                          <a:r>
                            <a:rPr lang="en-US" sz="2000" b="1" dirty="0"/>
                            <a:t>A</a:t>
                          </a:r>
                          <a:r>
                            <a:rPr lang="en-US" sz="2000" dirty="0"/>
                            <a:t>ll </a:t>
                          </a:r>
                          <a:r>
                            <a:rPr lang="en-US" sz="2000" dirty="0" err="1"/>
                            <a:t>Ne</a:t>
                          </a:r>
                          <a:r>
                            <a:rPr lang="en-US" sz="2000" b="1" dirty="0" err="1"/>
                            <a:t>X</a:t>
                          </a:r>
                          <a:r>
                            <a:rPr lang="en-US" sz="2000" dirty="0" err="1"/>
                            <a:t>t</a:t>
                          </a:r>
                          <a:r>
                            <a:rPr lang="en-US" sz="2000" dirty="0"/>
                            <a:t>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764734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𝐀𝐅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</a:t>
                          </a:r>
                          <a:r>
                            <a:rPr lang="en-US" sz="2000" b="1" dirty="0"/>
                            <a:t> A</a:t>
                          </a:r>
                          <a:r>
                            <a:rPr lang="en-US" sz="2000" b="0" dirty="0"/>
                            <a:t>ll possible future paths, there is a</a:t>
                          </a:r>
                          <a:r>
                            <a:rPr lang="en-US" sz="2000" dirty="0"/>
                            <a:t> future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46278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𝐀𝐆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</a:t>
                          </a:r>
                          <a:r>
                            <a:rPr lang="en-US" sz="2000" b="1" dirty="0"/>
                            <a:t> A</a:t>
                          </a:r>
                          <a:r>
                            <a:rPr lang="en-US" sz="2000" b="0" dirty="0"/>
                            <a:t>ll</a:t>
                          </a:r>
                          <a:r>
                            <a:rPr lang="en-US" sz="2000" b="1" dirty="0"/>
                            <a:t> </a:t>
                          </a:r>
                          <a:r>
                            <a:rPr lang="en-US" sz="2000" b="0" dirty="0"/>
                            <a:t>possible future paths, </a:t>
                          </a:r>
                          <a:r>
                            <a:rPr lang="en-US" sz="2000" b="1" dirty="0"/>
                            <a:t>G</a:t>
                          </a:r>
                          <a:r>
                            <a:rPr lang="en-US" sz="2000" dirty="0"/>
                            <a:t>lobally in all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285800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 </a:t>
                          </a:r>
                          <a:r>
                            <a:rPr lang="en-US" sz="2000" b="1" dirty="0"/>
                            <a:t>A</a:t>
                          </a:r>
                          <a:r>
                            <a:rPr lang="en-US" sz="2000" b="0" dirty="0"/>
                            <a:t>ll possible future executions, in all steps </a:t>
                          </a:r>
                          <a:r>
                            <a:rPr lang="en-US" sz="2000" b="1" dirty="0"/>
                            <a:t>U</a:t>
                          </a:r>
                          <a:r>
                            <a:rPr lang="en-US" sz="2000" dirty="0"/>
                            <a:t>ntil in some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48503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6B051A9-2529-4B55-8C2E-FE38DC4808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1857297"/>
                  </p:ext>
                </p:extLst>
              </p:nvPr>
            </p:nvGraphicFramePr>
            <p:xfrm>
              <a:off x="342564" y="1070610"/>
              <a:ext cx="11506872" cy="46863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0419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272701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34075">
                      <a:extLst>
                        <a:ext uri="{9D8B030D-6E8A-4147-A177-3AD203B41FA5}">
                          <a16:colId xmlns:a16="http://schemas.microsoft.com/office/drawing/2014/main" val="1035336446"/>
                        </a:ext>
                      </a:extLst>
                    </a:gridCol>
                    <a:gridCol w="71053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Syntax of CTL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5" t="-125333" r="-910160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125333" r="-279911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007" t="-125333" r="-86" b="-8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225333" r="-279911" b="-7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dirty="0"/>
                            <a:t>xists </a:t>
                          </a:r>
                          <a:r>
                            <a:rPr lang="en-US" sz="2000" dirty="0" err="1"/>
                            <a:t>Ne</a:t>
                          </a:r>
                          <a:r>
                            <a:rPr lang="en-US" sz="2000" b="1" dirty="0" err="1"/>
                            <a:t>X</a:t>
                          </a:r>
                          <a:r>
                            <a:rPr lang="en-US" sz="2000" dirty="0" err="1"/>
                            <a:t>t</a:t>
                          </a:r>
                          <a:r>
                            <a:rPr lang="en-US" sz="2000" dirty="0"/>
                            <a:t>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325333" r="-279911" b="-6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dirty="0"/>
                            <a:t>xists a </a:t>
                          </a:r>
                          <a:r>
                            <a:rPr lang="en-US" sz="2000" b="1" dirty="0"/>
                            <a:t>F</a:t>
                          </a:r>
                          <a:r>
                            <a:rPr lang="en-US" sz="2000" dirty="0"/>
                            <a:t>uture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425333" r="-279911" b="-5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b="0" dirty="0"/>
                            <a:t>xists an execution where  </a:t>
                          </a:r>
                          <a:r>
                            <a:rPr lang="en-US" sz="2000" b="1" dirty="0"/>
                            <a:t>G</a:t>
                          </a:r>
                          <a:r>
                            <a:rPr lang="en-US" sz="2000" dirty="0"/>
                            <a:t>lobally in all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518421" r="-279911" b="-4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b="0" dirty="0"/>
                            <a:t>xists an execution where in all steps </a:t>
                          </a:r>
                          <a:r>
                            <a:rPr lang="en-US" sz="2000" b="1" dirty="0"/>
                            <a:t>U</a:t>
                          </a:r>
                          <a:r>
                            <a:rPr lang="en-US" sz="2000" dirty="0"/>
                            <a:t>ntil in some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626667" r="-279911" b="-3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In </a:t>
                          </a:r>
                          <a:r>
                            <a:rPr lang="en-US" sz="2000" b="1" dirty="0"/>
                            <a:t>A</a:t>
                          </a:r>
                          <a:r>
                            <a:rPr lang="en-US" sz="2000" dirty="0"/>
                            <a:t>ll </a:t>
                          </a:r>
                          <a:r>
                            <a:rPr lang="en-US" sz="2000" dirty="0" err="1"/>
                            <a:t>Ne</a:t>
                          </a:r>
                          <a:r>
                            <a:rPr lang="en-US" sz="2000" b="1" dirty="0" err="1"/>
                            <a:t>X</a:t>
                          </a:r>
                          <a:r>
                            <a:rPr lang="en-US" sz="2000" dirty="0" err="1"/>
                            <a:t>t</a:t>
                          </a:r>
                          <a:r>
                            <a:rPr lang="en-US" sz="2000" dirty="0"/>
                            <a:t>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764734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726667" r="-279911" b="-2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</a:t>
                          </a:r>
                          <a:r>
                            <a:rPr lang="en-US" sz="2000" b="1" dirty="0"/>
                            <a:t> A</a:t>
                          </a:r>
                          <a:r>
                            <a:rPr lang="en-US" sz="2000" b="0" dirty="0"/>
                            <a:t>ll possible future paths, there is a</a:t>
                          </a:r>
                          <a:r>
                            <a:rPr lang="en-US" sz="2000" dirty="0"/>
                            <a:t> future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46278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826667" r="-279911" b="-1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</a:t>
                          </a:r>
                          <a:r>
                            <a:rPr lang="en-US" sz="2000" b="1" dirty="0"/>
                            <a:t> A</a:t>
                          </a:r>
                          <a:r>
                            <a:rPr lang="en-US" sz="2000" b="0" dirty="0"/>
                            <a:t>ll</a:t>
                          </a:r>
                          <a:r>
                            <a:rPr lang="en-US" sz="2000" b="1" dirty="0"/>
                            <a:t> </a:t>
                          </a:r>
                          <a:r>
                            <a:rPr lang="en-US" sz="2000" b="0" dirty="0"/>
                            <a:t>possible future paths, </a:t>
                          </a:r>
                          <a:r>
                            <a:rPr lang="en-US" sz="2000" b="1" dirty="0"/>
                            <a:t>G</a:t>
                          </a:r>
                          <a:r>
                            <a:rPr lang="en-US" sz="2000" dirty="0"/>
                            <a:t>lobally in all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285800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926667" r="-279911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 </a:t>
                          </a:r>
                          <a:r>
                            <a:rPr lang="en-US" sz="2000" b="1" dirty="0"/>
                            <a:t>A</a:t>
                          </a:r>
                          <a:r>
                            <a:rPr lang="en-US" sz="2000" b="0" dirty="0"/>
                            <a:t>ll possible future executions, in all steps </a:t>
                          </a:r>
                          <a:r>
                            <a:rPr lang="en-US" sz="2000" b="1" dirty="0"/>
                            <a:t>U</a:t>
                          </a:r>
                          <a:r>
                            <a:rPr lang="en-US" sz="2000" dirty="0"/>
                            <a:t>ntil in some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485036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46798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63A8CB-C52D-43DF-9E76-3D36A856B9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2626453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Path properties: </a:t>
                </a:r>
                <a:r>
                  <a:rPr lang="en-US" dirty="0"/>
                  <a:t>properties of any given path or execution in the program</a:t>
                </a:r>
              </a:p>
              <a:p>
                <a:r>
                  <a:rPr lang="en-US" i="1" dirty="0"/>
                  <a:t>Quantification over runs: </a:t>
                </a:r>
                <a:r>
                  <a:rPr lang="en-US" dirty="0"/>
                  <a:t>Checking if a property holds over </a:t>
                </a:r>
                <a:r>
                  <a:rPr lang="en-US" b="1" dirty="0"/>
                  <a:t>all </a:t>
                </a:r>
                <a:r>
                  <a:rPr lang="en-US" dirty="0"/>
                  <a:t>paths or over </a:t>
                </a:r>
                <a:r>
                  <a:rPr lang="en-US" b="1" dirty="0"/>
                  <a:t>some </a:t>
                </a:r>
                <a:r>
                  <a:rPr lang="en-US" dirty="0"/>
                  <a:t>path</a:t>
                </a:r>
                <a:endParaRPr lang="en-US" i="1" dirty="0"/>
              </a:p>
              <a:p>
                <a:r>
                  <a:rPr lang="en-US" dirty="0"/>
                  <a:t>Example CTL operator: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4000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sz="4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63A8CB-C52D-43DF-9E76-3D36A856B9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2626453"/>
              </a:xfrm>
              <a:blipFill>
                <a:blip r:embed="rId2"/>
                <a:stretch>
                  <a:fillRect l="-625" t="-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F291D39-53C2-49E2-BC48-D7FC19F5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semantics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A0C40-A237-4AE5-A046-94952032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F502E-4DC5-441F-BC24-F468772D1423}"/>
              </a:ext>
            </a:extLst>
          </p:cNvPr>
          <p:cNvSpPr txBox="1"/>
          <p:nvPr/>
        </p:nvSpPr>
        <p:spPr>
          <a:xfrm>
            <a:off x="2149812" y="4842860"/>
            <a:ext cx="3122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For </a:t>
            </a:r>
            <a:r>
              <a:rPr lang="en-US" sz="3200" b="1" dirty="0"/>
              <a:t>A</a:t>
            </a:r>
            <a:r>
              <a:rPr lang="en-US" sz="3200" dirty="0"/>
              <a:t>ll executions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DD76E-DCAE-411C-85F7-5CF161EF34E8}"/>
              </a:ext>
            </a:extLst>
          </p:cNvPr>
          <p:cNvSpPr txBox="1"/>
          <p:nvPr/>
        </p:nvSpPr>
        <p:spPr>
          <a:xfrm>
            <a:off x="6016224" y="4842860"/>
            <a:ext cx="54058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Eventually/In Some </a:t>
            </a:r>
            <a:r>
              <a:rPr lang="en-US" sz="3200" b="1" dirty="0"/>
              <a:t>F</a:t>
            </a:r>
            <a:r>
              <a:rPr lang="en-US" sz="3200" dirty="0"/>
              <a:t>uture step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C059F70-3827-4503-8DDA-39873EF298B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447125" y="3835098"/>
            <a:ext cx="1113182" cy="902342"/>
          </a:xfrm>
          <a:prstGeom prst="bentConnector3">
            <a:avLst>
              <a:gd name="adj1" fmla="val 50000"/>
            </a:avLst>
          </a:prstGeom>
          <a:ln w="317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BB7F30A-61E1-4D25-A709-2CF0E66F727B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29353" y="3835098"/>
            <a:ext cx="1113182" cy="902342"/>
          </a:xfrm>
          <a:prstGeom prst="bentConnector3">
            <a:avLst>
              <a:gd name="adj1" fmla="val 50000"/>
            </a:avLst>
          </a:prstGeom>
          <a:ln w="317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713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3DBA92-B3EA-47F8-9CB9-2670BA7B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Semantics through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EB68C-F97F-4C2F-A090-7F3E6DC0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9A0C18D-5967-481E-BFCB-41BBE90817C6}"/>
              </a:ext>
            </a:extLst>
          </p:cNvPr>
          <p:cNvGrpSpPr/>
          <p:nvPr/>
        </p:nvGrpSpPr>
        <p:grpSpPr>
          <a:xfrm>
            <a:off x="467379" y="1754589"/>
            <a:ext cx="3287498" cy="3513668"/>
            <a:chOff x="467379" y="1754589"/>
            <a:chExt cx="3287498" cy="351366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6567E04-7226-42CD-AAA0-1FFAC4FC5E7D}"/>
                </a:ext>
              </a:extLst>
            </p:cNvPr>
            <p:cNvGrpSpPr/>
            <p:nvPr/>
          </p:nvGrpSpPr>
          <p:grpSpPr>
            <a:xfrm>
              <a:off x="467379" y="1754589"/>
              <a:ext cx="3287498" cy="2394873"/>
              <a:chOff x="331192" y="2240972"/>
              <a:chExt cx="3287498" cy="23948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7EF9B0F1-74E7-4497-B133-2CD09B89BA6A}"/>
                      </a:ext>
                    </a:extLst>
                  </p:cNvPr>
                  <p:cNvSpPr/>
                  <p:nvPr/>
                </p:nvSpPr>
                <p:spPr>
                  <a:xfrm>
                    <a:off x="1776919" y="2240972"/>
                    <a:ext cx="826851" cy="778828"/>
                  </a:xfrm>
                  <a:prstGeom prst="ellipse">
                    <a:avLst/>
                  </a:prstGeom>
                  <a:noFill/>
                  <a:ln w="349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7EF9B0F1-74E7-4497-B133-2CD09B89BA6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6919" y="2240972"/>
                    <a:ext cx="826851" cy="778828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492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697BE07C-48DA-49B1-A0E9-47C26F589AB0}"/>
                      </a:ext>
                    </a:extLst>
                  </p:cNvPr>
                  <p:cNvSpPr/>
                  <p:nvPr/>
                </p:nvSpPr>
                <p:spPr>
                  <a:xfrm>
                    <a:off x="843063" y="3857017"/>
                    <a:ext cx="826851" cy="778828"/>
                  </a:xfrm>
                  <a:prstGeom prst="ellipse">
                    <a:avLst/>
                  </a:prstGeom>
                  <a:noFill/>
                  <a:ln w="349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3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697BE07C-48DA-49B1-A0E9-47C26F589A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3063" y="3857017"/>
                    <a:ext cx="826851" cy="778828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3492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452103C0-EC8B-4B0A-97E2-492C724AE668}"/>
                      </a:ext>
                    </a:extLst>
                  </p:cNvPr>
                  <p:cNvSpPr/>
                  <p:nvPr/>
                </p:nvSpPr>
                <p:spPr>
                  <a:xfrm>
                    <a:off x="2791839" y="3779195"/>
                    <a:ext cx="826851" cy="778828"/>
                  </a:xfrm>
                  <a:prstGeom prst="ellipse">
                    <a:avLst/>
                  </a:prstGeom>
                  <a:noFill/>
                  <a:ln w="349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452103C0-EC8B-4B0A-97E2-492C724AE6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91839" y="3779195"/>
                    <a:ext cx="826851" cy="778828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3492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B9F45831-B4C8-4B2B-A1F4-4B22CEC4296B}"/>
                  </a:ext>
                </a:extLst>
              </p:cNvPr>
              <p:cNvCxnSpPr>
                <a:cxnSpLocks/>
                <a:stCxn id="5" idx="3"/>
                <a:endCxn id="6" idx="0"/>
              </p:cNvCxnSpPr>
              <p:nvPr/>
            </p:nvCxnSpPr>
            <p:spPr>
              <a:xfrm flipH="1">
                <a:off x="1256489" y="2905743"/>
                <a:ext cx="641520" cy="9512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A0225BC-9B76-4978-AFC9-29343D139ED7}"/>
                  </a:ext>
                </a:extLst>
              </p:cNvPr>
              <p:cNvCxnSpPr>
                <a:cxnSpLocks/>
                <a:stCxn id="5" idx="5"/>
                <a:endCxn id="7" idx="0"/>
              </p:cNvCxnSpPr>
              <p:nvPr/>
            </p:nvCxnSpPr>
            <p:spPr>
              <a:xfrm>
                <a:off x="2482680" y="2905743"/>
                <a:ext cx="722585" cy="87345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B638E614-4D03-4901-9D8D-79A7A4CC9B72}"/>
                      </a:ext>
                    </a:extLst>
                  </p:cNvPr>
                  <p:cNvSpPr txBox="1"/>
                  <p:nvPr/>
                </p:nvSpPr>
                <p:spPr>
                  <a:xfrm>
                    <a:off x="331192" y="3876221"/>
                    <a:ext cx="511871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3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B638E614-4D03-4901-9D8D-79A7A4CC9B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192" y="3876221"/>
                    <a:ext cx="511871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25704A2-43D5-4D6C-9A6E-EED4DC1C947F}"/>
                      </a:ext>
                    </a:extLst>
                  </p:cNvPr>
                  <p:cNvSpPr txBox="1"/>
                  <p:nvPr/>
                </p:nvSpPr>
                <p:spPr>
                  <a:xfrm>
                    <a:off x="2307808" y="3838201"/>
                    <a:ext cx="511871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3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25704A2-43D5-4D6C-9A6E-EED4DC1C94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7808" y="3838201"/>
                    <a:ext cx="511871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2D2EA2D-5A3C-4188-B4ED-2918158F19AE}"/>
                    </a:ext>
                  </a:extLst>
                </p:cNvPr>
                <p:cNvSpPr txBox="1"/>
                <p:nvPr/>
              </p:nvSpPr>
              <p:spPr>
                <a:xfrm>
                  <a:off x="1676530" y="4621926"/>
                  <a:ext cx="125149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1" i="0" smtClean="0">
                            <a:latin typeface="Cambria Math" panose="02040503050406030204" pitchFamily="18" charset="0"/>
                          </a:rPr>
                          <m:t>𝐀𝐗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2D2EA2D-5A3C-4188-B4ED-2918158F1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530" y="4621926"/>
                  <a:ext cx="1251496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AF6341B-CB3C-4314-8E49-D7B77685431E}"/>
              </a:ext>
            </a:extLst>
          </p:cNvPr>
          <p:cNvGrpSpPr/>
          <p:nvPr/>
        </p:nvGrpSpPr>
        <p:grpSpPr>
          <a:xfrm>
            <a:off x="4589662" y="1606492"/>
            <a:ext cx="2775627" cy="3490651"/>
            <a:chOff x="6060331" y="1658649"/>
            <a:chExt cx="2775627" cy="34906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AA96CF0-6385-454E-8258-9CDC2AC6A3E3}"/>
                    </a:ext>
                  </a:extLst>
                </p:cNvPr>
                <p:cNvSpPr/>
                <p:nvPr/>
              </p:nvSpPr>
              <p:spPr>
                <a:xfrm>
                  <a:off x="6994187" y="1658649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AA96CF0-6385-454E-8258-9CDC2AC6A3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4187" y="1658649"/>
                  <a:ext cx="826851" cy="778828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871D0F7-4132-4370-A5CF-E8CD92B86315}"/>
                    </a:ext>
                  </a:extLst>
                </p:cNvPr>
                <p:cNvSpPr/>
                <p:nvPr/>
              </p:nvSpPr>
              <p:spPr>
                <a:xfrm>
                  <a:off x="6060331" y="3274694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871D0F7-4132-4370-A5CF-E8CD92B86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0331" y="3274694"/>
                  <a:ext cx="826851" cy="778828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5868AEA-E7CE-4D9E-90C7-E93BA15CE8C9}"/>
                    </a:ext>
                  </a:extLst>
                </p:cNvPr>
                <p:cNvSpPr/>
                <p:nvPr/>
              </p:nvSpPr>
              <p:spPr>
                <a:xfrm>
                  <a:off x="8009107" y="3196872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5868AEA-E7CE-4D9E-90C7-E93BA15CE8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9107" y="3196872"/>
                  <a:ext cx="826851" cy="778828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EEC21BB-DB30-4E3C-B8A7-A8542ACDA04E}"/>
                </a:ext>
              </a:extLst>
            </p:cNvPr>
            <p:cNvCxnSpPr>
              <a:cxnSpLocks/>
              <a:stCxn id="22" idx="3"/>
              <a:endCxn id="23" idx="0"/>
            </p:cNvCxnSpPr>
            <p:nvPr/>
          </p:nvCxnSpPr>
          <p:spPr>
            <a:xfrm flipH="1">
              <a:off x="6473757" y="2323420"/>
              <a:ext cx="641520" cy="951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62137AF-BD84-4288-8C6B-67913D48E209}"/>
                </a:ext>
              </a:extLst>
            </p:cNvPr>
            <p:cNvCxnSpPr>
              <a:cxnSpLocks/>
              <a:stCxn id="22" idx="5"/>
              <a:endCxn id="24" idx="0"/>
            </p:cNvCxnSpPr>
            <p:nvPr/>
          </p:nvCxnSpPr>
          <p:spPr>
            <a:xfrm>
              <a:off x="7699948" y="2323420"/>
              <a:ext cx="722585" cy="8734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434CA98-D544-422F-B29A-CBDC59E824D0}"/>
                    </a:ext>
                  </a:extLst>
                </p:cNvPr>
                <p:cNvSpPr txBox="1"/>
                <p:nvPr/>
              </p:nvSpPr>
              <p:spPr>
                <a:xfrm>
                  <a:off x="6824371" y="3331919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434CA98-D544-422F-B29A-CBDC59E824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4371" y="3331919"/>
                  <a:ext cx="511871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D276CA-6F96-4264-B1D7-051723C553C9}"/>
                    </a:ext>
                  </a:extLst>
                </p:cNvPr>
                <p:cNvSpPr txBox="1"/>
                <p:nvPr/>
              </p:nvSpPr>
              <p:spPr>
                <a:xfrm>
                  <a:off x="6868110" y="4502969"/>
                  <a:ext cx="121302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1" i="0" smtClean="0">
                            <a:latin typeface="Cambria Math" panose="02040503050406030204" pitchFamily="18" charset="0"/>
                          </a:rPr>
                          <m:t>𝐄𝐗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D276CA-6F96-4264-B1D7-051723C553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8110" y="4502969"/>
                  <a:ext cx="1213024" cy="6463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BE8C268-7540-480D-92EA-69D4115BF8A9}"/>
              </a:ext>
            </a:extLst>
          </p:cNvPr>
          <p:cNvGrpSpPr/>
          <p:nvPr/>
        </p:nvGrpSpPr>
        <p:grpSpPr>
          <a:xfrm>
            <a:off x="8130435" y="1547486"/>
            <a:ext cx="3396841" cy="3492552"/>
            <a:chOff x="5602384" y="1658649"/>
            <a:chExt cx="3233574" cy="34925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0A9184BB-81AE-4795-93E8-3793A9457A2B}"/>
                    </a:ext>
                  </a:extLst>
                </p:cNvPr>
                <p:cNvSpPr/>
                <p:nvPr/>
              </p:nvSpPr>
              <p:spPr>
                <a:xfrm>
                  <a:off x="6994187" y="1658649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0A9184BB-81AE-4795-93E8-3793A9457A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4187" y="1658649"/>
                  <a:ext cx="826851" cy="778828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C32BA35A-B75B-480B-9CD4-66606C03824C}"/>
                    </a:ext>
                  </a:extLst>
                </p:cNvPr>
                <p:cNvSpPr/>
                <p:nvPr/>
              </p:nvSpPr>
              <p:spPr>
                <a:xfrm>
                  <a:off x="6060331" y="3274694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C32BA35A-B75B-480B-9CD4-66606C0382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0331" y="3274694"/>
                  <a:ext cx="826851" cy="778828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4990C4A-B873-4B4E-AA3E-F567CA59AC4E}"/>
                    </a:ext>
                  </a:extLst>
                </p:cNvPr>
                <p:cNvSpPr/>
                <p:nvPr/>
              </p:nvSpPr>
              <p:spPr>
                <a:xfrm>
                  <a:off x="8009107" y="3196872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4990C4A-B873-4B4E-AA3E-F567CA59AC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9107" y="3196872"/>
                  <a:ext cx="826851" cy="778828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E69BE72-DC14-4B84-88EE-EA4DCCF6BD99}"/>
                </a:ext>
              </a:extLst>
            </p:cNvPr>
            <p:cNvCxnSpPr>
              <a:cxnSpLocks/>
              <a:stCxn id="34" idx="3"/>
              <a:endCxn id="35" idx="0"/>
            </p:cNvCxnSpPr>
            <p:nvPr/>
          </p:nvCxnSpPr>
          <p:spPr>
            <a:xfrm flipH="1">
              <a:off x="6473757" y="2323420"/>
              <a:ext cx="641520" cy="951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EED60CF-581C-45CD-AFBB-BFBC9CB9EF2C}"/>
                </a:ext>
              </a:extLst>
            </p:cNvPr>
            <p:cNvCxnSpPr>
              <a:cxnSpLocks/>
              <a:stCxn id="34" idx="5"/>
              <a:endCxn id="36" idx="0"/>
            </p:cNvCxnSpPr>
            <p:nvPr/>
          </p:nvCxnSpPr>
          <p:spPr>
            <a:xfrm>
              <a:off x="7699948" y="2323420"/>
              <a:ext cx="722585" cy="8734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7BBEDCF-6B1B-4AB1-AB4B-1DCF25DA6028}"/>
                    </a:ext>
                  </a:extLst>
                </p:cNvPr>
                <p:cNvSpPr txBox="1"/>
                <p:nvPr/>
              </p:nvSpPr>
              <p:spPr>
                <a:xfrm>
                  <a:off x="5602384" y="3111587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7BBEDCF-6B1B-4AB1-AB4B-1DCF25DA6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2384" y="3111587"/>
                  <a:ext cx="511871" cy="58477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28D15EF-3896-4A47-ACDA-B034113AFEAB}"/>
                    </a:ext>
                  </a:extLst>
                </p:cNvPr>
                <p:cNvSpPr txBox="1"/>
                <p:nvPr/>
              </p:nvSpPr>
              <p:spPr>
                <a:xfrm>
                  <a:off x="6145350" y="4504870"/>
                  <a:ext cx="269060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1" i="0" smtClean="0">
                            <a:latin typeface="Cambria Math" panose="02040503050406030204" pitchFamily="18" charset="0"/>
                          </a:rPr>
                          <m:t>𝐀𝐗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3600" b="1" i="0" smtClean="0">
                            <a:latin typeface="Cambria Math" panose="02040503050406030204" pitchFamily="18" charset="0"/>
                          </a:rPr>
                          <m:t>𝐄𝐗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28D15EF-3896-4A47-ACDA-B034113AFE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5350" y="4504870"/>
                  <a:ext cx="2690608" cy="6463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6C80F7-6487-4E0F-BB3B-75D9F68F238F}"/>
                  </a:ext>
                </a:extLst>
              </p:cNvPr>
              <p:cNvSpPr txBox="1"/>
              <p:nvPr/>
            </p:nvSpPr>
            <p:spPr>
              <a:xfrm>
                <a:off x="10209616" y="2949353"/>
                <a:ext cx="53771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6C80F7-6487-4E0F-BB3B-75D9F68F2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616" y="2949353"/>
                <a:ext cx="537716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5544526-CF97-463E-8551-4410365202B6}"/>
                  </a:ext>
                </a:extLst>
              </p:cNvPr>
              <p:cNvSpPr txBox="1"/>
              <p:nvPr/>
            </p:nvSpPr>
            <p:spPr>
              <a:xfrm>
                <a:off x="10193981" y="3400701"/>
                <a:ext cx="51129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5544526-CF97-463E-8551-441036520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981" y="3400701"/>
                <a:ext cx="511294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941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E2400E-84BA-4444-8E0D-C8BE4D30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semantics through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13EA6-C2A3-41F2-B44C-562548CC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415DB-4FD0-4AA4-9DE9-2A3217701570}"/>
                  </a:ext>
                </a:extLst>
              </p:cNvPr>
              <p:cNvSpPr txBox="1"/>
              <p:nvPr/>
            </p:nvSpPr>
            <p:spPr>
              <a:xfrm>
                <a:off x="3267920" y="1571425"/>
                <a:ext cx="2774884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𝐀𝐅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Along all</a:t>
                </a:r>
              </a:p>
              <a:p>
                <a:r>
                  <a:rPr lang="en-US" sz="2800" dirty="0"/>
                  <a:t>Paths, There is some future step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holds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415DB-4FD0-4AA4-9DE9-2A3217701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920" y="1571425"/>
                <a:ext cx="2774884" cy="1815882"/>
              </a:xfrm>
              <a:prstGeom prst="rect">
                <a:avLst/>
              </a:prstGeom>
              <a:blipFill>
                <a:blip r:embed="rId2"/>
                <a:stretch>
                  <a:fillRect l="-4396" t="-3356" r="-2857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8533630-E8EB-4C73-8F29-2716E0FE1E21}"/>
              </a:ext>
            </a:extLst>
          </p:cNvPr>
          <p:cNvGrpSpPr/>
          <p:nvPr/>
        </p:nvGrpSpPr>
        <p:grpSpPr>
          <a:xfrm>
            <a:off x="166680" y="1515623"/>
            <a:ext cx="4318632" cy="3859382"/>
            <a:chOff x="1400198" y="1308085"/>
            <a:chExt cx="4517742" cy="38593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52FABD7-103D-4F8B-8C4F-648DA3DBA400}"/>
                    </a:ext>
                  </a:extLst>
                </p:cNvPr>
                <p:cNvSpPr/>
                <p:nvPr/>
              </p:nvSpPr>
              <p:spPr>
                <a:xfrm>
                  <a:off x="2479157" y="1308085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52FABD7-103D-4F8B-8C4F-648DA3DBA4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157" y="1308085"/>
                  <a:ext cx="826851" cy="778828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B247C8-BF7D-4E32-B198-79D7ABFB6870}"/>
                </a:ext>
              </a:extLst>
            </p:cNvPr>
            <p:cNvSpPr/>
            <p:nvPr/>
          </p:nvSpPr>
          <p:spPr>
            <a:xfrm>
              <a:off x="1853408" y="2432176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666487-1D75-4921-9D20-0BD8E4A2D21A}"/>
                </a:ext>
              </a:extLst>
            </p:cNvPr>
            <p:cNvSpPr/>
            <p:nvPr/>
          </p:nvSpPr>
          <p:spPr>
            <a:xfrm>
              <a:off x="3518330" y="2271828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6C6160-5BC8-4D9B-AA02-8CA53F110501}"/>
                </a:ext>
              </a:extLst>
            </p:cNvPr>
            <p:cNvCxnSpPr>
              <a:cxnSpLocks/>
              <a:stCxn id="8" idx="3"/>
              <a:endCxn id="9" idx="0"/>
            </p:cNvCxnSpPr>
            <p:nvPr/>
          </p:nvCxnSpPr>
          <p:spPr>
            <a:xfrm flipH="1">
              <a:off x="2266834" y="1972856"/>
              <a:ext cx="333413" cy="45932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A4FD98D-45BA-4362-B8B4-5FADE7CC3720}"/>
                </a:ext>
              </a:extLst>
            </p:cNvPr>
            <p:cNvCxnSpPr>
              <a:cxnSpLocks/>
              <a:stCxn id="8" idx="5"/>
              <a:endCxn id="10" idx="1"/>
            </p:cNvCxnSpPr>
            <p:nvPr/>
          </p:nvCxnSpPr>
          <p:spPr>
            <a:xfrm>
              <a:off x="3184918" y="1972856"/>
              <a:ext cx="454502" cy="4130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0E58183-F01C-457F-ABBE-81BD2CFF83B8}"/>
                    </a:ext>
                  </a:extLst>
                </p:cNvPr>
                <p:cNvSpPr txBox="1"/>
                <p:nvPr/>
              </p:nvSpPr>
              <p:spPr>
                <a:xfrm>
                  <a:off x="1400198" y="2441562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0E58183-F01C-457F-ABBE-81BD2CFF8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198" y="2441562"/>
                  <a:ext cx="511871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3C57ED9-795D-4753-A39B-B64F54AA0E14}"/>
                </a:ext>
              </a:extLst>
            </p:cNvPr>
            <p:cNvSpPr/>
            <p:nvPr/>
          </p:nvSpPr>
          <p:spPr>
            <a:xfrm>
              <a:off x="2636833" y="3296511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FC3A39B-F7CC-4929-979A-B48E77DC7EA4}"/>
                </a:ext>
              </a:extLst>
            </p:cNvPr>
            <p:cNvSpPr/>
            <p:nvPr/>
          </p:nvSpPr>
          <p:spPr>
            <a:xfrm>
              <a:off x="4506371" y="3294026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73781F9-5EBC-409F-8C69-ED54A176D454}"/>
                </a:ext>
              </a:extLst>
            </p:cNvPr>
            <p:cNvCxnSpPr>
              <a:cxnSpLocks/>
              <a:stCxn id="10" idx="5"/>
              <a:endCxn id="25" idx="1"/>
            </p:cNvCxnSpPr>
            <p:nvPr/>
          </p:nvCxnSpPr>
          <p:spPr>
            <a:xfrm>
              <a:off x="4224091" y="2936599"/>
              <a:ext cx="403370" cy="4714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119A94D-A3B5-4952-A3BC-4A4C1938C099}"/>
                </a:ext>
              </a:extLst>
            </p:cNvPr>
            <p:cNvCxnSpPr>
              <a:cxnSpLocks/>
              <a:stCxn id="10" idx="3"/>
              <a:endCxn id="24" idx="7"/>
            </p:cNvCxnSpPr>
            <p:nvPr/>
          </p:nvCxnSpPr>
          <p:spPr>
            <a:xfrm flipH="1">
              <a:off x="3342594" y="2936599"/>
              <a:ext cx="296826" cy="4739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FB7A3EC-2B44-47BC-9506-ED3468DD8679}"/>
                </a:ext>
              </a:extLst>
            </p:cNvPr>
            <p:cNvSpPr/>
            <p:nvPr/>
          </p:nvSpPr>
          <p:spPr>
            <a:xfrm>
              <a:off x="3634977" y="4388639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3C9DE36-B4D7-4DC7-AE73-05833AE8129D}"/>
                </a:ext>
              </a:extLst>
            </p:cNvPr>
            <p:cNvSpPr/>
            <p:nvPr/>
          </p:nvSpPr>
          <p:spPr>
            <a:xfrm>
              <a:off x="5091089" y="4356816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4AD15CF-F60D-42B1-9380-88CA8BCEBEA8}"/>
                </a:ext>
              </a:extLst>
            </p:cNvPr>
            <p:cNvCxnSpPr>
              <a:cxnSpLocks/>
              <a:stCxn id="25" idx="5"/>
              <a:endCxn id="60" idx="0"/>
            </p:cNvCxnSpPr>
            <p:nvPr/>
          </p:nvCxnSpPr>
          <p:spPr>
            <a:xfrm>
              <a:off x="5212132" y="3958797"/>
              <a:ext cx="292383" cy="3980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338F746-4ED4-4627-82FB-8362BDC53BE8}"/>
                </a:ext>
              </a:extLst>
            </p:cNvPr>
            <p:cNvCxnSpPr>
              <a:cxnSpLocks/>
              <a:stCxn id="25" idx="3"/>
              <a:endCxn id="59" idx="7"/>
            </p:cNvCxnSpPr>
            <p:nvPr/>
          </p:nvCxnSpPr>
          <p:spPr>
            <a:xfrm flipH="1">
              <a:off x="4340738" y="3958797"/>
              <a:ext cx="286723" cy="5438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8D81B86-F197-4FD1-B503-A75CD8D00EAE}"/>
                    </a:ext>
                  </a:extLst>
                </p:cNvPr>
                <p:cNvSpPr txBox="1"/>
                <p:nvPr/>
              </p:nvSpPr>
              <p:spPr>
                <a:xfrm>
                  <a:off x="2877168" y="4064428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8D81B86-F197-4FD1-B503-A75CD8D00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7168" y="4064428"/>
                  <a:ext cx="511871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68B8275E-694C-4424-9E94-850B31882DF2}"/>
                    </a:ext>
                  </a:extLst>
                </p:cNvPr>
                <p:cNvSpPr txBox="1"/>
                <p:nvPr/>
              </p:nvSpPr>
              <p:spPr>
                <a:xfrm>
                  <a:off x="4371525" y="4453678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68B8275E-694C-4424-9E94-850B31882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1525" y="4453678"/>
                  <a:ext cx="511871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57D868-2DC5-4F5E-87C0-E9F9F22A2DAA}"/>
                  </a:ext>
                </a:extLst>
              </p:cNvPr>
              <p:cNvSpPr txBox="1"/>
              <p:nvPr/>
            </p:nvSpPr>
            <p:spPr>
              <a:xfrm>
                <a:off x="4415695" y="4721767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57D868-2DC5-4F5E-87C0-E9F9F22A2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695" y="4721767"/>
                <a:ext cx="511871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2E14511-AF26-441D-9E80-C4F72EFB6997}"/>
              </a:ext>
            </a:extLst>
          </p:cNvPr>
          <p:cNvGrpSpPr/>
          <p:nvPr/>
        </p:nvGrpSpPr>
        <p:grpSpPr>
          <a:xfrm>
            <a:off x="7729182" y="1438030"/>
            <a:ext cx="4529500" cy="3859382"/>
            <a:chOff x="6736332" y="1251799"/>
            <a:chExt cx="4529500" cy="38593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D4CCFCC0-763E-4774-8846-84BFBC71B4AF}"/>
                    </a:ext>
                  </a:extLst>
                </p:cNvPr>
                <p:cNvSpPr/>
                <p:nvPr/>
              </p:nvSpPr>
              <p:spPr>
                <a:xfrm>
                  <a:off x="7362081" y="1251799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D4CCFCC0-763E-4774-8846-84BFBC71B4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2081" y="1251799"/>
                  <a:ext cx="826851" cy="778828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85000DB6-DEAD-436D-8F64-7B48F46ACEB9}"/>
                </a:ext>
              </a:extLst>
            </p:cNvPr>
            <p:cNvSpPr/>
            <p:nvPr/>
          </p:nvSpPr>
          <p:spPr>
            <a:xfrm>
              <a:off x="6736332" y="2375890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61280B9-9E4A-4EBC-9666-DC8403D5EDAB}"/>
                </a:ext>
              </a:extLst>
            </p:cNvPr>
            <p:cNvSpPr/>
            <p:nvPr/>
          </p:nvSpPr>
          <p:spPr>
            <a:xfrm>
              <a:off x="8401254" y="2215542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D54DA1A1-82BE-403F-8635-C971E74D1466}"/>
                </a:ext>
              </a:extLst>
            </p:cNvPr>
            <p:cNvCxnSpPr>
              <a:cxnSpLocks/>
              <a:stCxn id="88" idx="3"/>
              <a:endCxn id="89" idx="0"/>
            </p:cNvCxnSpPr>
            <p:nvPr/>
          </p:nvCxnSpPr>
          <p:spPr>
            <a:xfrm flipH="1">
              <a:off x="7149758" y="1916570"/>
              <a:ext cx="333413" cy="45932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4149037E-BD4A-4B2A-83F3-9F1A19DCD6FB}"/>
                </a:ext>
              </a:extLst>
            </p:cNvPr>
            <p:cNvCxnSpPr>
              <a:cxnSpLocks/>
              <a:stCxn id="88" idx="5"/>
              <a:endCxn id="90" idx="1"/>
            </p:cNvCxnSpPr>
            <p:nvPr/>
          </p:nvCxnSpPr>
          <p:spPr>
            <a:xfrm>
              <a:off x="8067842" y="1916570"/>
              <a:ext cx="454502" cy="4130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6B1820E-8F0F-4B89-9E5A-3031CF101828}"/>
                </a:ext>
              </a:extLst>
            </p:cNvPr>
            <p:cNvSpPr/>
            <p:nvPr/>
          </p:nvSpPr>
          <p:spPr>
            <a:xfrm>
              <a:off x="7519757" y="3240225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F247A7D4-6C6F-4586-AD9E-27BD57BB4BA2}"/>
                </a:ext>
              </a:extLst>
            </p:cNvPr>
            <p:cNvSpPr/>
            <p:nvPr/>
          </p:nvSpPr>
          <p:spPr>
            <a:xfrm>
              <a:off x="9389295" y="3237740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C4D0BC2A-8792-4E6F-921F-507D820AD711}"/>
                </a:ext>
              </a:extLst>
            </p:cNvPr>
            <p:cNvCxnSpPr>
              <a:cxnSpLocks/>
              <a:stCxn id="90" idx="5"/>
              <a:endCxn id="95" idx="1"/>
            </p:cNvCxnSpPr>
            <p:nvPr/>
          </p:nvCxnSpPr>
          <p:spPr>
            <a:xfrm>
              <a:off x="9107015" y="2880313"/>
              <a:ext cx="403370" cy="4714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885EB675-7E01-428F-BD47-0E3CC5633C78}"/>
                </a:ext>
              </a:extLst>
            </p:cNvPr>
            <p:cNvCxnSpPr>
              <a:cxnSpLocks/>
              <a:stCxn id="90" idx="3"/>
              <a:endCxn id="94" idx="7"/>
            </p:cNvCxnSpPr>
            <p:nvPr/>
          </p:nvCxnSpPr>
          <p:spPr>
            <a:xfrm flipH="1">
              <a:off x="8225518" y="2880313"/>
              <a:ext cx="296826" cy="4739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3A5DC27-B1C5-4734-916C-38250E6F6F7C}"/>
                </a:ext>
              </a:extLst>
            </p:cNvPr>
            <p:cNvSpPr/>
            <p:nvPr/>
          </p:nvSpPr>
          <p:spPr>
            <a:xfrm>
              <a:off x="8517901" y="4332353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A4CD76C1-327B-4A34-AAF5-E05C8A45D617}"/>
                </a:ext>
              </a:extLst>
            </p:cNvPr>
            <p:cNvSpPr/>
            <p:nvPr/>
          </p:nvSpPr>
          <p:spPr>
            <a:xfrm>
              <a:off x="9974013" y="4300530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18F8EDF9-2DEE-4A79-8823-7D59B8317A91}"/>
                </a:ext>
              </a:extLst>
            </p:cNvPr>
            <p:cNvCxnSpPr>
              <a:cxnSpLocks/>
              <a:stCxn id="95" idx="5"/>
              <a:endCxn id="99" idx="0"/>
            </p:cNvCxnSpPr>
            <p:nvPr/>
          </p:nvCxnSpPr>
          <p:spPr>
            <a:xfrm>
              <a:off x="10095056" y="3902511"/>
              <a:ext cx="292383" cy="3980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50FF057-1B3C-48D9-BF1D-AAEBFFE1DE58}"/>
                </a:ext>
              </a:extLst>
            </p:cNvPr>
            <p:cNvCxnSpPr>
              <a:cxnSpLocks/>
              <a:stCxn id="95" idx="3"/>
              <a:endCxn id="98" idx="7"/>
            </p:cNvCxnSpPr>
            <p:nvPr/>
          </p:nvCxnSpPr>
          <p:spPr>
            <a:xfrm flipH="1">
              <a:off x="9223662" y="3902511"/>
              <a:ext cx="286723" cy="5438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E23FF47-A68B-4353-A648-8824804BE006}"/>
                    </a:ext>
                  </a:extLst>
                </p:cNvPr>
                <p:cNvSpPr txBox="1"/>
                <p:nvPr/>
              </p:nvSpPr>
              <p:spPr>
                <a:xfrm>
                  <a:off x="10753961" y="3868903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E23FF47-A68B-4353-A648-8824804BE0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3961" y="3868903"/>
                  <a:ext cx="511871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D274B7E-8217-4641-AA2D-439BE61A73DA}"/>
                  </a:ext>
                </a:extLst>
              </p:cNvPr>
              <p:cNvSpPr txBox="1"/>
              <p:nvPr/>
            </p:nvSpPr>
            <p:spPr>
              <a:xfrm>
                <a:off x="5803374" y="3642606"/>
                <a:ext cx="2774884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Along some</a:t>
                </a:r>
              </a:p>
              <a:p>
                <a:r>
                  <a:rPr lang="en-US" sz="2800" dirty="0"/>
                  <a:t>path, there is some future step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holds</a:t>
                </a: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D274B7E-8217-4641-AA2D-439BE61A7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374" y="3642606"/>
                <a:ext cx="2774884" cy="1815882"/>
              </a:xfrm>
              <a:prstGeom prst="rect">
                <a:avLst/>
              </a:prstGeom>
              <a:blipFill>
                <a:blip r:embed="rId10"/>
                <a:stretch>
                  <a:fillRect l="-4615" t="-3367" r="-3516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1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E2400E-84BA-4444-8E0D-C8BE4D30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semantics through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13EA6-C2A3-41F2-B44C-562548CC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415DB-4FD0-4AA4-9DE9-2A3217701570}"/>
                  </a:ext>
                </a:extLst>
              </p:cNvPr>
              <p:cNvSpPr txBox="1"/>
              <p:nvPr/>
            </p:nvSpPr>
            <p:spPr>
              <a:xfrm>
                <a:off x="3077026" y="1350253"/>
                <a:ext cx="309223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𝐀𝐆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Across all</a:t>
                </a:r>
              </a:p>
              <a:p>
                <a:r>
                  <a:rPr lang="en-US" sz="2800" dirty="0"/>
                  <a:t>paths, and for every successor in the path,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holds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415DB-4FD0-4AA4-9DE9-2A3217701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26" y="1350253"/>
                <a:ext cx="3092230" cy="1815882"/>
              </a:xfrm>
              <a:prstGeom prst="rect">
                <a:avLst/>
              </a:prstGeom>
              <a:blipFill>
                <a:blip r:embed="rId2"/>
                <a:stretch>
                  <a:fillRect l="-4142" t="-3020" r="-57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8533630-E8EB-4C73-8F29-2716E0FE1E21}"/>
              </a:ext>
            </a:extLst>
          </p:cNvPr>
          <p:cNvGrpSpPr/>
          <p:nvPr/>
        </p:nvGrpSpPr>
        <p:grpSpPr>
          <a:xfrm>
            <a:off x="208341" y="1551458"/>
            <a:ext cx="4318632" cy="3859382"/>
            <a:chOff x="1400198" y="1308085"/>
            <a:chExt cx="4517742" cy="38593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52FABD7-103D-4F8B-8C4F-648DA3DBA400}"/>
                    </a:ext>
                  </a:extLst>
                </p:cNvPr>
                <p:cNvSpPr/>
                <p:nvPr/>
              </p:nvSpPr>
              <p:spPr>
                <a:xfrm>
                  <a:off x="2479157" y="1308085"/>
                  <a:ext cx="826851" cy="778828"/>
                </a:xfrm>
                <a:prstGeom prst="ellips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52FABD7-103D-4F8B-8C4F-648DA3DBA4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157" y="1308085"/>
                  <a:ext cx="826851" cy="778828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B247C8-BF7D-4E32-B198-79D7ABFB6870}"/>
                </a:ext>
              </a:extLst>
            </p:cNvPr>
            <p:cNvSpPr/>
            <p:nvPr/>
          </p:nvSpPr>
          <p:spPr>
            <a:xfrm>
              <a:off x="1853408" y="2432176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666487-1D75-4921-9D20-0BD8E4A2D21A}"/>
                </a:ext>
              </a:extLst>
            </p:cNvPr>
            <p:cNvSpPr/>
            <p:nvPr/>
          </p:nvSpPr>
          <p:spPr>
            <a:xfrm>
              <a:off x="3518330" y="2271828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6C6160-5BC8-4D9B-AA02-8CA53F110501}"/>
                </a:ext>
              </a:extLst>
            </p:cNvPr>
            <p:cNvCxnSpPr>
              <a:cxnSpLocks/>
              <a:stCxn id="8" idx="3"/>
              <a:endCxn id="9" idx="0"/>
            </p:cNvCxnSpPr>
            <p:nvPr/>
          </p:nvCxnSpPr>
          <p:spPr>
            <a:xfrm flipH="1">
              <a:off x="2266834" y="1972856"/>
              <a:ext cx="333413" cy="45932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A4FD98D-45BA-4362-B8B4-5FADE7CC3720}"/>
                </a:ext>
              </a:extLst>
            </p:cNvPr>
            <p:cNvCxnSpPr>
              <a:cxnSpLocks/>
              <a:stCxn id="8" idx="5"/>
              <a:endCxn id="10" idx="1"/>
            </p:cNvCxnSpPr>
            <p:nvPr/>
          </p:nvCxnSpPr>
          <p:spPr>
            <a:xfrm>
              <a:off x="3184918" y="1972856"/>
              <a:ext cx="454502" cy="4130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0E58183-F01C-457F-ABBE-81BD2CFF83B8}"/>
                    </a:ext>
                  </a:extLst>
                </p:cNvPr>
                <p:cNvSpPr txBox="1"/>
                <p:nvPr/>
              </p:nvSpPr>
              <p:spPr>
                <a:xfrm>
                  <a:off x="1400198" y="2441562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0E58183-F01C-457F-ABBE-81BD2CFF8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198" y="2441562"/>
                  <a:ext cx="511871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3C57ED9-795D-4753-A39B-B64F54AA0E14}"/>
                </a:ext>
              </a:extLst>
            </p:cNvPr>
            <p:cNvSpPr/>
            <p:nvPr/>
          </p:nvSpPr>
          <p:spPr>
            <a:xfrm>
              <a:off x="2636833" y="3296511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FC3A39B-F7CC-4929-979A-B48E77DC7EA4}"/>
                </a:ext>
              </a:extLst>
            </p:cNvPr>
            <p:cNvSpPr/>
            <p:nvPr/>
          </p:nvSpPr>
          <p:spPr>
            <a:xfrm>
              <a:off x="4506371" y="3294026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73781F9-5EBC-409F-8C69-ED54A176D454}"/>
                </a:ext>
              </a:extLst>
            </p:cNvPr>
            <p:cNvCxnSpPr>
              <a:cxnSpLocks/>
              <a:stCxn id="10" idx="5"/>
              <a:endCxn id="25" idx="1"/>
            </p:cNvCxnSpPr>
            <p:nvPr/>
          </p:nvCxnSpPr>
          <p:spPr>
            <a:xfrm>
              <a:off x="4224091" y="2936599"/>
              <a:ext cx="403370" cy="4714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119A94D-A3B5-4952-A3BC-4A4C1938C099}"/>
                </a:ext>
              </a:extLst>
            </p:cNvPr>
            <p:cNvCxnSpPr>
              <a:cxnSpLocks/>
              <a:stCxn id="10" idx="3"/>
              <a:endCxn id="24" idx="7"/>
            </p:cNvCxnSpPr>
            <p:nvPr/>
          </p:nvCxnSpPr>
          <p:spPr>
            <a:xfrm flipH="1">
              <a:off x="3342594" y="2936599"/>
              <a:ext cx="296826" cy="4739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FB7A3EC-2B44-47BC-9506-ED3468DD8679}"/>
                </a:ext>
              </a:extLst>
            </p:cNvPr>
            <p:cNvSpPr/>
            <p:nvPr/>
          </p:nvSpPr>
          <p:spPr>
            <a:xfrm>
              <a:off x="3634977" y="4388639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3C9DE36-B4D7-4DC7-AE73-05833AE8129D}"/>
                </a:ext>
              </a:extLst>
            </p:cNvPr>
            <p:cNvSpPr/>
            <p:nvPr/>
          </p:nvSpPr>
          <p:spPr>
            <a:xfrm>
              <a:off x="5091089" y="4356816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4AD15CF-F60D-42B1-9380-88CA8BCEBEA8}"/>
                </a:ext>
              </a:extLst>
            </p:cNvPr>
            <p:cNvCxnSpPr>
              <a:cxnSpLocks/>
              <a:stCxn id="25" idx="5"/>
              <a:endCxn id="60" idx="0"/>
            </p:cNvCxnSpPr>
            <p:nvPr/>
          </p:nvCxnSpPr>
          <p:spPr>
            <a:xfrm>
              <a:off x="5212132" y="3958797"/>
              <a:ext cx="292383" cy="3980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338F746-4ED4-4627-82FB-8362BDC53BE8}"/>
                </a:ext>
              </a:extLst>
            </p:cNvPr>
            <p:cNvCxnSpPr>
              <a:cxnSpLocks/>
              <a:stCxn id="25" idx="3"/>
              <a:endCxn id="59" idx="7"/>
            </p:cNvCxnSpPr>
            <p:nvPr/>
          </p:nvCxnSpPr>
          <p:spPr>
            <a:xfrm flipH="1">
              <a:off x="4340738" y="3958797"/>
              <a:ext cx="286723" cy="5438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8D81B86-F197-4FD1-B503-A75CD8D00EAE}"/>
                    </a:ext>
                  </a:extLst>
                </p:cNvPr>
                <p:cNvSpPr txBox="1"/>
                <p:nvPr/>
              </p:nvSpPr>
              <p:spPr>
                <a:xfrm>
                  <a:off x="2094803" y="3374022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8D81B86-F197-4FD1-B503-A75CD8D00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803" y="3374022"/>
                  <a:ext cx="511871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68B8275E-694C-4424-9E94-850B31882DF2}"/>
                    </a:ext>
                  </a:extLst>
                </p:cNvPr>
                <p:cNvSpPr txBox="1"/>
                <p:nvPr/>
              </p:nvSpPr>
              <p:spPr>
                <a:xfrm>
                  <a:off x="4371525" y="4453678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68B8275E-694C-4424-9E94-850B31882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1525" y="4453678"/>
                  <a:ext cx="511871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57D868-2DC5-4F5E-87C0-E9F9F22A2DAA}"/>
                  </a:ext>
                </a:extLst>
              </p:cNvPr>
              <p:cNvSpPr txBox="1"/>
              <p:nvPr/>
            </p:nvSpPr>
            <p:spPr>
              <a:xfrm>
                <a:off x="4415695" y="4721767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57D868-2DC5-4F5E-87C0-E9F9F22A2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695" y="4721767"/>
                <a:ext cx="511871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D4CCFCC0-763E-4774-8846-84BFBC71B4AF}"/>
                  </a:ext>
                </a:extLst>
              </p:cNvPr>
              <p:cNvSpPr/>
              <p:nvPr/>
            </p:nvSpPr>
            <p:spPr>
              <a:xfrm>
                <a:off x="8354931" y="1438030"/>
                <a:ext cx="826851" cy="778828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D4CCFCC0-763E-4774-8846-84BFBC71B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931" y="1438030"/>
                <a:ext cx="826851" cy="77882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349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Oval 88">
            <a:extLst>
              <a:ext uri="{FF2B5EF4-FFF2-40B4-BE49-F238E27FC236}">
                <a16:creationId xmlns:a16="http://schemas.microsoft.com/office/drawing/2014/main" id="{85000DB6-DEAD-436D-8F64-7B48F46ACEB9}"/>
              </a:ext>
            </a:extLst>
          </p:cNvPr>
          <p:cNvSpPr/>
          <p:nvPr/>
        </p:nvSpPr>
        <p:spPr>
          <a:xfrm>
            <a:off x="7729182" y="2562121"/>
            <a:ext cx="826851" cy="778828"/>
          </a:xfrm>
          <a:prstGeom prst="ellipse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61280B9-9E4A-4EBC-9666-DC8403D5EDAB}"/>
              </a:ext>
            </a:extLst>
          </p:cNvPr>
          <p:cNvSpPr/>
          <p:nvPr/>
        </p:nvSpPr>
        <p:spPr>
          <a:xfrm>
            <a:off x="9394104" y="2401773"/>
            <a:ext cx="826851" cy="77882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54DA1A1-82BE-403F-8635-C971E74D1466}"/>
              </a:ext>
            </a:extLst>
          </p:cNvPr>
          <p:cNvCxnSpPr>
            <a:cxnSpLocks/>
            <a:stCxn id="88" idx="3"/>
            <a:endCxn id="89" idx="0"/>
          </p:cNvCxnSpPr>
          <p:nvPr/>
        </p:nvCxnSpPr>
        <p:spPr>
          <a:xfrm flipH="1">
            <a:off x="8142608" y="2102801"/>
            <a:ext cx="333413" cy="45932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149037E-BD4A-4B2A-83F3-9F1A19DCD6FB}"/>
              </a:ext>
            </a:extLst>
          </p:cNvPr>
          <p:cNvCxnSpPr>
            <a:cxnSpLocks/>
            <a:stCxn id="88" idx="5"/>
            <a:endCxn id="90" idx="1"/>
          </p:cNvCxnSpPr>
          <p:nvPr/>
        </p:nvCxnSpPr>
        <p:spPr>
          <a:xfrm>
            <a:off x="9060692" y="2102801"/>
            <a:ext cx="454502" cy="41302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86B1820E-8F0F-4B89-9E5A-3031CF101828}"/>
              </a:ext>
            </a:extLst>
          </p:cNvPr>
          <p:cNvSpPr/>
          <p:nvPr/>
        </p:nvSpPr>
        <p:spPr>
          <a:xfrm>
            <a:off x="8512607" y="3426456"/>
            <a:ext cx="826851" cy="778828"/>
          </a:xfrm>
          <a:prstGeom prst="ellipse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247A7D4-6C6F-4586-AD9E-27BD57BB4BA2}"/>
              </a:ext>
            </a:extLst>
          </p:cNvPr>
          <p:cNvSpPr/>
          <p:nvPr/>
        </p:nvSpPr>
        <p:spPr>
          <a:xfrm>
            <a:off x="10382145" y="3423971"/>
            <a:ext cx="826851" cy="77882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4D0BC2A-8792-4E6F-921F-507D820AD711}"/>
              </a:ext>
            </a:extLst>
          </p:cNvPr>
          <p:cNvCxnSpPr>
            <a:cxnSpLocks/>
            <a:stCxn id="90" idx="5"/>
            <a:endCxn id="95" idx="1"/>
          </p:cNvCxnSpPr>
          <p:nvPr/>
        </p:nvCxnSpPr>
        <p:spPr>
          <a:xfrm>
            <a:off x="10099865" y="3066544"/>
            <a:ext cx="403370" cy="47148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85EB675-7E01-428F-BD47-0E3CC5633C78}"/>
              </a:ext>
            </a:extLst>
          </p:cNvPr>
          <p:cNvCxnSpPr>
            <a:cxnSpLocks/>
            <a:stCxn id="90" idx="3"/>
            <a:endCxn id="94" idx="7"/>
          </p:cNvCxnSpPr>
          <p:nvPr/>
        </p:nvCxnSpPr>
        <p:spPr>
          <a:xfrm flipH="1">
            <a:off x="9218368" y="3066544"/>
            <a:ext cx="296826" cy="47396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E3A5DC27-B1C5-4734-916C-38250E6F6F7C}"/>
              </a:ext>
            </a:extLst>
          </p:cNvPr>
          <p:cNvSpPr/>
          <p:nvPr/>
        </p:nvSpPr>
        <p:spPr>
          <a:xfrm>
            <a:off x="9510751" y="4518584"/>
            <a:ext cx="826851" cy="778828"/>
          </a:xfrm>
          <a:prstGeom prst="ellipse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A4CD76C1-327B-4A34-AAF5-E05C8A45D617}"/>
              </a:ext>
            </a:extLst>
          </p:cNvPr>
          <p:cNvSpPr/>
          <p:nvPr/>
        </p:nvSpPr>
        <p:spPr>
          <a:xfrm>
            <a:off x="10966863" y="4486761"/>
            <a:ext cx="826851" cy="77882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8F8EDF9-2DEE-4A79-8823-7D59B8317A91}"/>
              </a:ext>
            </a:extLst>
          </p:cNvPr>
          <p:cNvCxnSpPr>
            <a:cxnSpLocks/>
            <a:stCxn id="95" idx="5"/>
            <a:endCxn id="99" idx="0"/>
          </p:cNvCxnSpPr>
          <p:nvPr/>
        </p:nvCxnSpPr>
        <p:spPr>
          <a:xfrm>
            <a:off x="11087906" y="4088742"/>
            <a:ext cx="292383" cy="39801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50FF057-1B3C-48D9-BF1D-AAEBFFE1DE58}"/>
              </a:ext>
            </a:extLst>
          </p:cNvPr>
          <p:cNvCxnSpPr>
            <a:cxnSpLocks/>
            <a:stCxn id="95" idx="3"/>
            <a:endCxn id="98" idx="7"/>
          </p:cNvCxnSpPr>
          <p:nvPr/>
        </p:nvCxnSpPr>
        <p:spPr>
          <a:xfrm flipH="1">
            <a:off x="10216512" y="4088742"/>
            <a:ext cx="286723" cy="54389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E23FF47-A68B-4353-A648-8824804BE006}"/>
                  </a:ext>
                </a:extLst>
              </p:cNvPr>
              <p:cNvSpPr txBox="1"/>
              <p:nvPr/>
            </p:nvSpPr>
            <p:spPr>
              <a:xfrm>
                <a:off x="11488555" y="3933809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E23FF47-A68B-4353-A648-8824804BE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555" y="3933809"/>
                <a:ext cx="511871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D274B7E-8217-4641-AA2D-439BE61A73DA}"/>
                  </a:ext>
                </a:extLst>
              </p:cNvPr>
              <p:cNvSpPr txBox="1"/>
              <p:nvPr/>
            </p:nvSpPr>
            <p:spPr>
              <a:xfrm>
                <a:off x="6058945" y="3604088"/>
                <a:ext cx="2774884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Along some</a:t>
                </a:r>
              </a:p>
              <a:p>
                <a:r>
                  <a:rPr lang="en-US" sz="2800" dirty="0"/>
                  <a:t>path,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always holds</a:t>
                </a: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D274B7E-8217-4641-AA2D-439BE61A7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945" y="3604088"/>
                <a:ext cx="2774884" cy="1815882"/>
              </a:xfrm>
              <a:prstGeom prst="rect">
                <a:avLst/>
              </a:prstGeom>
              <a:blipFill>
                <a:blip r:embed="rId10"/>
                <a:stretch>
                  <a:fillRect l="-4615" t="-30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AC045E-EA3A-4FE9-A22E-FD6EF6C9F805}"/>
                  </a:ext>
                </a:extLst>
              </p:cNvPr>
              <p:cNvSpPr txBox="1"/>
              <p:nvPr/>
            </p:nvSpPr>
            <p:spPr>
              <a:xfrm>
                <a:off x="2721686" y="3536613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AC045E-EA3A-4FE9-A22E-FD6EF6C9F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686" y="3536613"/>
                <a:ext cx="511871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EFE678-D178-4CD2-8F1A-E81C664D2E41}"/>
                  </a:ext>
                </a:extLst>
              </p:cNvPr>
              <p:cNvSpPr txBox="1"/>
              <p:nvPr/>
            </p:nvSpPr>
            <p:spPr>
              <a:xfrm>
                <a:off x="1838385" y="2538159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EFE678-D178-4CD2-8F1A-E81C664D2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85" y="2538159"/>
                <a:ext cx="511871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CDE3C2-9A16-4A34-B638-1E82E59461BA}"/>
                  </a:ext>
                </a:extLst>
              </p:cNvPr>
              <p:cNvSpPr txBox="1"/>
              <p:nvPr/>
            </p:nvSpPr>
            <p:spPr>
              <a:xfrm>
                <a:off x="700798" y="1568727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CDE3C2-9A16-4A34-B638-1E82E594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98" y="1568727"/>
                <a:ext cx="511871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6D48C02-AB22-4482-A38D-919B6E484389}"/>
                  </a:ext>
                </a:extLst>
              </p:cNvPr>
              <p:cNvSpPr txBox="1"/>
              <p:nvPr/>
            </p:nvSpPr>
            <p:spPr>
              <a:xfrm>
                <a:off x="10831163" y="2887584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6D48C02-AB22-4482-A38D-919B6E484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1163" y="2887584"/>
                <a:ext cx="511871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1B37337-7BA1-41B4-9093-4CB632AC105A}"/>
                  </a:ext>
                </a:extLst>
              </p:cNvPr>
              <p:cNvSpPr txBox="1"/>
              <p:nvPr/>
            </p:nvSpPr>
            <p:spPr>
              <a:xfrm>
                <a:off x="10019853" y="2016927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1B37337-7BA1-41B4-9093-4CB632AC1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9853" y="2016927"/>
                <a:ext cx="511871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1605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3F75B0C-430A-43F4-8E46-7489DAB03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226825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𝐀𝐆𝐄𝐅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𝐀𝐆𝐀𝐅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𝐄𝐆𝐀𝐅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𝐀𝐆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𝐄𝐗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3F75B0C-430A-43F4-8E46-7489DAB03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226825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5207575-54BF-4F72-A2E1-36FFD349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Operator fun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CC4D-54F0-4171-8F07-49240B21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114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832DB31-021E-4C82-91B4-EE20A7DC3B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424270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Checking if a given state machine (program) satisfies a CTL formula can be done quite efficiently (linear in the size of the machine and the property)</a:t>
                </a:r>
              </a:p>
              <a:p>
                <a:r>
                  <a:rPr lang="en-US" dirty="0"/>
                  <a:t>Native CTL cannot express fairness properties</a:t>
                </a:r>
              </a:p>
              <a:p>
                <a:pPr lvl="1"/>
                <a:r>
                  <a:rPr lang="en-US" dirty="0"/>
                  <a:t>Extension Fair CTL can express fairness</a:t>
                </a:r>
              </a:p>
              <a:p>
                <a:r>
                  <a:rPr lang="en-US" dirty="0"/>
                  <a:t>CTL</a:t>
                </a:r>
                <a:r>
                  <a:rPr lang="en-US" baseline="30000" dirty="0"/>
                  <a:t>* </a:t>
                </a:r>
                <a:r>
                  <a:rPr lang="en-US" dirty="0"/>
                  <a:t> is a logic that combines CTL and LTL: You can have formulas like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CTL: Less used than LTL, but an important logic in the history of temporal logic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832DB31-021E-4C82-91B4-EE20A7DC3B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4242709"/>
              </a:xfrm>
              <a:blipFill>
                <a:blip r:embed="rId2"/>
                <a:stretch>
                  <a:fillRect l="-625" t="-2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2081E89-6E40-44E0-8C62-3A23FBC0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88" y="430374"/>
            <a:ext cx="10920419" cy="778828"/>
          </a:xfrm>
        </p:spPr>
        <p:txBody>
          <a:bodyPr/>
          <a:lstStyle/>
          <a:p>
            <a:r>
              <a:rPr lang="en-US" dirty="0"/>
              <a:t>CTL advantages and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32586-8FE3-48D3-BABA-937CDB72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3779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258499-C740-40F5-9C33-01E9E1C08A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Atomic proposition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Label each state that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: Label a 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𝐄𝐗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 any successor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: Label a state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 all of its successors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: Label all states satisfying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Until there is no change: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Add</a:t>
                </a:r>
                <a:r>
                  <a:rPr lang="en-US" dirty="0"/>
                  <a:t> states with label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 it has a successor labeled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258499-C740-40F5-9C33-01E9E1C08A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2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36976F4-1D3A-42A9-8B39-AE9E9504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model 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7FE63-D982-4830-A895-1314FA0C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488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BF72EF-8B9B-4076-8DC0-750D20FC4B1E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BF72EF-8B9B-4076-8DC0-750D20FC4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227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/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7120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/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/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1053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/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/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/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7880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/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/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/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A7ECF2-B7FE-4F74-B32F-B2A2D0FACBE5}"/>
                  </a:ext>
                </a:extLst>
              </p:cNvPr>
              <p:cNvSpPr txBox="1"/>
              <p:nvPr/>
            </p:nvSpPr>
            <p:spPr>
              <a:xfrm>
                <a:off x="5411772" y="2557375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A7ECF2-B7FE-4F74-B32F-B2A2D0FAC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772" y="2557375"/>
                <a:ext cx="1098378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01FFDE-14E6-422A-B2C1-4D35B9726C7A}"/>
                  </a:ext>
                </a:extLst>
              </p:cNvPr>
              <p:cNvSpPr txBox="1"/>
              <p:nvPr/>
            </p:nvSpPr>
            <p:spPr>
              <a:xfrm>
                <a:off x="6176864" y="906350"/>
                <a:ext cx="559069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 more states with at least one successor green!</a:t>
                </a:r>
              </a:p>
              <a:p>
                <a:r>
                  <a:rPr lang="en-US" dirty="0"/>
                  <a:t>Check the states you have: if it contains the initial state, then the model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green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01FFDE-14E6-422A-B2C1-4D35B9726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864" y="906350"/>
                <a:ext cx="5590695" cy="1200329"/>
              </a:xfrm>
              <a:prstGeom prst="rect">
                <a:avLst/>
              </a:prstGeom>
              <a:blipFill>
                <a:blip r:embed="rId8"/>
                <a:stretch>
                  <a:fillRect l="-872" t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54244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258499-C740-40F5-9C33-01E9E1C08A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: Label all states satisfying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Until there is no change: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Add </a:t>
                </a:r>
                <a:r>
                  <a:rPr lang="en-US" dirty="0"/>
                  <a:t>states with label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 all its successors are labeled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: Label all states satisfying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Until there is no change: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:r>
                  <a:rPr lang="en-US" dirty="0">
                    <a:solidFill>
                      <a:srgbClr val="FF0000"/>
                    </a:solidFill>
                  </a:rPr>
                  <a:t>Remove</a:t>
                </a:r>
                <a:r>
                  <a:rPr lang="en-US" dirty="0"/>
                  <a:t> label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from a state if it does not have any successor 		labeled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258499-C740-40F5-9C33-01E9E1C08A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36976F4-1D3A-42A9-8B39-AE9E9504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model 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7FE63-D982-4830-A895-1314FA0C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479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BF72EF-8B9B-4076-8DC0-750D20FC4B1E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BF72EF-8B9B-4076-8DC0-750D20FC4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8876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/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/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/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843249-FE6C-484D-A7DC-987C75A2070D}"/>
                  </a:ext>
                </a:extLst>
              </p:cNvPr>
              <p:cNvSpPr txBox="1"/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843249-FE6C-484D-A7DC-987C75A20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2171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BF72EF-8B9B-4076-8DC0-750D20FC4B1E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BF72EF-8B9B-4076-8DC0-750D20FC4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8876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/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/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/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843249-FE6C-484D-A7DC-987C75A2070D}"/>
                  </a:ext>
                </a:extLst>
              </p:cNvPr>
              <p:cNvSpPr txBox="1"/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trike="sngStrik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trike="sngStrik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strike="sngStrik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843249-FE6C-484D-A7DC-987C75A20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32D19-4568-49B0-9673-AC3D1DCD4F39}"/>
                  </a:ext>
                </a:extLst>
              </p:cNvPr>
              <p:cNvSpPr txBox="1"/>
              <p:nvPr/>
            </p:nvSpPr>
            <p:spPr>
              <a:xfrm>
                <a:off x="6035903" y="942934"/>
                <a:ext cx="547105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Cannot remove any more states as all remaining states have at least one green successor!</a:t>
                </a:r>
              </a:p>
              <a:p>
                <a:r>
                  <a:rPr lang="en-US" dirty="0"/>
                  <a:t>Check the states you are left with: if it contains the initial state, then the model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green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32D19-4568-49B0-9673-AC3D1DCD4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903" y="942934"/>
                <a:ext cx="5471054" cy="1477328"/>
              </a:xfrm>
              <a:prstGeom prst="rect">
                <a:avLst/>
              </a:prstGeom>
              <a:blipFill>
                <a:blip r:embed="rId8"/>
                <a:stretch>
                  <a:fillRect l="-891" t="-2479" r="-1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50711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/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/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/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A7ECF2-B7FE-4F74-B32F-B2A2D0FACBE5}"/>
                  </a:ext>
                </a:extLst>
              </p:cNvPr>
              <p:cNvSpPr txBox="1"/>
              <p:nvPr/>
            </p:nvSpPr>
            <p:spPr>
              <a:xfrm>
                <a:off x="5411772" y="2557375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A7ECF2-B7FE-4F74-B32F-B2A2D0FAC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772" y="2557375"/>
                <a:ext cx="109837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le 2">
                <a:extLst>
                  <a:ext uri="{FF2B5EF4-FFF2-40B4-BE49-F238E27FC236}">
                    <a16:creationId xmlns:a16="http://schemas.microsoft.com/office/drawing/2014/main" id="{2AF6E82F-56A5-4EA5-92CE-B7AF9B8876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7946" y="318965"/>
                <a:ext cx="10920419" cy="77882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rgbClr val="C00000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b="1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green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: What if bottom state was not green?</a:t>
                </a:r>
              </a:p>
            </p:txBody>
          </p:sp>
        </mc:Choice>
        <mc:Fallback xmlns="">
          <p:sp>
            <p:nvSpPr>
              <p:cNvPr id="32" name="Title 2">
                <a:extLst>
                  <a:ext uri="{FF2B5EF4-FFF2-40B4-BE49-F238E27FC236}">
                    <a16:creationId xmlns:a16="http://schemas.microsoft.com/office/drawing/2014/main" id="{2AF6E82F-56A5-4EA5-92CE-B7AF9B887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46" y="318965"/>
                <a:ext cx="10920419" cy="778828"/>
              </a:xfrm>
              <a:prstGeom prst="rect">
                <a:avLst/>
              </a:prstGeom>
              <a:blipFill>
                <a:blip r:embed="rId6"/>
                <a:stretch>
                  <a:fillRect t="-17969" r="-614" b="-30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0176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green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: What if bottom state was not green?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2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/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/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/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843249-FE6C-484D-A7DC-987C75A2070D}"/>
                  </a:ext>
                </a:extLst>
              </p:cNvPr>
              <p:cNvSpPr txBox="1"/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trike="sngStrik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trike="sngStrik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strike="sngStrik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843249-FE6C-484D-A7DC-987C75A20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32D19-4568-49B0-9673-AC3D1DCD4F39}"/>
                  </a:ext>
                </a:extLst>
              </p:cNvPr>
              <p:cNvSpPr txBox="1"/>
              <p:nvPr/>
            </p:nvSpPr>
            <p:spPr>
              <a:xfrm>
                <a:off x="6343985" y="4162761"/>
                <a:ext cx="547105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Cannot remove any more states as all remaining states have at least one green successor!</a:t>
                </a:r>
              </a:p>
              <a:p>
                <a:r>
                  <a:rPr lang="en-US" dirty="0"/>
                  <a:t>Check the states you are left with: if it contains the initial state, then the model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green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32D19-4568-49B0-9673-AC3D1DCD4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985" y="4162761"/>
                <a:ext cx="5471054" cy="1477328"/>
              </a:xfrm>
              <a:prstGeom prst="rect">
                <a:avLst/>
              </a:prstGeom>
              <a:blipFill>
                <a:blip r:embed="rId7"/>
                <a:stretch>
                  <a:fillRect l="-1003" t="-2479" r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2868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850460-8082-4EF9-BD1F-D635AFB4ED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5227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b="0" i="0" dirty="0"/>
                  <a:t>similar to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: similar to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(with the caveat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needs to be satisfied on every state that has a successor to a state marked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𝐄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Fixpoint = point at which there is no change,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 the operation of adding/removing states as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pPr lvl="1"/>
                <a:r>
                  <a:rPr lang="en-US" sz="2000" dirty="0"/>
                  <a:t>Fixpoint  = Point at which you can no longer add/remove states</a:t>
                </a:r>
              </a:p>
              <a:p>
                <a:r>
                  <a:rPr lang="en-US" dirty="0"/>
                  <a:t>Least fixpoint = When adding states, smallest set you can get? </a:t>
                </a:r>
              </a:p>
              <a:p>
                <a:pPr lvl="1"/>
                <a:r>
                  <a:rPr lang="en-US" sz="2000" dirty="0"/>
                  <a:t>You can always add all the states: not very useful</a:t>
                </a:r>
              </a:p>
              <a:p>
                <a:r>
                  <a:rPr lang="en-US" dirty="0"/>
                  <a:t>Greatest fixpoint = When removing states, largest set you can get?</a:t>
                </a:r>
              </a:p>
              <a:p>
                <a:pPr lvl="1"/>
                <a:r>
                  <a:rPr lang="en-US" sz="2000" dirty="0"/>
                  <a:t>You can always remove all the states: not very useful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850460-8082-4EF9-BD1F-D635AFB4ED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5227" y="1332703"/>
                <a:ext cx="11699087" cy="4351338"/>
              </a:xfrm>
              <a:blipFill>
                <a:blip r:embed="rId2"/>
                <a:stretch>
                  <a:fillRect l="-417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4020FDA-710F-4A11-85E5-E380E25F7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Greatest and least fixpoints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1CD4B-AD23-448C-8D16-B7A21426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5579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F22E83-25D9-4DCC-A64E-BEEC90405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based on Fixpoint computation</a:t>
            </a:r>
          </a:p>
          <a:p>
            <a:r>
              <a:rPr lang="en-US" dirty="0"/>
              <a:t>Many improvements to CTL model checking over the years (with the help of symbolic algorithms to accelerate fixpoint computation, represent sets of states, etc.)</a:t>
            </a:r>
          </a:p>
          <a:p>
            <a:r>
              <a:rPr lang="en-US" dirty="0"/>
              <a:t>Bounded model checking: </a:t>
            </a:r>
          </a:p>
          <a:p>
            <a:pPr lvl="1"/>
            <a:r>
              <a:rPr lang="en-US" dirty="0"/>
              <a:t>Don’t check the entire state space using a “backward reachability” algorithm, but instead go forward in time from the initial state</a:t>
            </a:r>
          </a:p>
          <a:p>
            <a:pPr lvl="1"/>
            <a:r>
              <a:rPr lang="en-US" dirty="0"/>
              <a:t>Use of SAT solvers to check feasibility of paths to failure states</a:t>
            </a:r>
          </a:p>
          <a:p>
            <a:r>
              <a:rPr lang="en-US" dirty="0"/>
              <a:t>Many good model checkers: </a:t>
            </a:r>
            <a:r>
              <a:rPr lang="en-US" dirty="0" err="1"/>
              <a:t>NuSMV</a:t>
            </a:r>
            <a:r>
              <a:rPr lang="en-US" dirty="0"/>
              <a:t>, CBMC, etc.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1B93C2-77C7-410C-A5BB-263DCBA49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model checking in a nutshell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6D3F3-06BC-45BD-956B-3D92117C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6724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552E0F-E6EC-4749-9450-10DBFACBE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LTL model 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12A1B-27C6-4366-9781-81C09001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4126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083C93-FBA2-4166-8785-B1DE1052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420237"/>
            <a:ext cx="11699087" cy="4263803"/>
          </a:xfrm>
        </p:spPr>
        <p:txBody>
          <a:bodyPr>
            <a:normAutofit/>
          </a:bodyPr>
          <a:lstStyle/>
          <a:p>
            <a:r>
              <a:rPr lang="en-US" dirty="0"/>
              <a:t>Most programmers have used regular expressions</a:t>
            </a:r>
          </a:p>
          <a:p>
            <a:r>
              <a:rPr lang="en-US" dirty="0"/>
              <a:t>Formally, regular expressions specify acceptable sequences of </a:t>
            </a:r>
            <a:r>
              <a:rPr lang="en-US" b="1" i="1" dirty="0"/>
              <a:t>finite</a:t>
            </a:r>
            <a:r>
              <a:rPr lang="en-US" b="1" dirty="0"/>
              <a:t> </a:t>
            </a:r>
            <a:r>
              <a:rPr lang="en-US" dirty="0"/>
              <a:t>length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[a-z][a-z 0-9] : strings starting with a lowercase letter (a-z) followed by </a:t>
            </a:r>
            <a:r>
              <a:rPr lang="en-US" b="1" i="1" dirty="0"/>
              <a:t>one </a:t>
            </a:r>
            <a:r>
              <a:rPr lang="en-US" dirty="0"/>
              <a:t>lowercase letter or number</a:t>
            </a:r>
          </a:p>
          <a:p>
            <a:pPr lvl="1"/>
            <a:r>
              <a:rPr lang="en-US" dirty="0"/>
              <a:t>[a-z][0-9]*[a-z] : strings starting with a lowercase letter, followed by </a:t>
            </a:r>
            <a:r>
              <a:rPr lang="en-US" b="1" i="1" dirty="0"/>
              <a:t>finitely many </a:t>
            </a:r>
            <a:r>
              <a:rPr lang="en-US" dirty="0"/>
              <a:t>numbers followed by a lowercase letter</a:t>
            </a:r>
          </a:p>
          <a:p>
            <a:pPr marL="41148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03C47C-4A32-4515-994F-98937C53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to automata and formal languages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59FF2-789D-4166-85A2-C2A52E80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9067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6D2139-DA86-4367-A97E-60D44CF07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544223"/>
          </a:xfrm>
        </p:spPr>
        <p:txBody>
          <a:bodyPr>
            <a:normAutofit/>
          </a:bodyPr>
          <a:lstStyle/>
          <a:p>
            <a:r>
              <a:rPr lang="en-US" dirty="0"/>
              <a:t>Famous equivalence between finite state automata and regular expressions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9E3D7F-99AC-45AB-B47C-9BF23185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automata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09FFA-2044-44D0-BFF4-B313D77B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/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/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D19FDA-2E25-433E-827C-CCEBC87EA9E7}"/>
              </a:ext>
            </a:extLst>
          </p:cNvPr>
          <p:cNvCxnSpPr>
            <a:cxnSpLocks/>
            <a:stCxn id="16" idx="5"/>
            <a:endCxn id="31" idx="1"/>
          </p:cNvCxnSpPr>
          <p:nvPr/>
        </p:nvCxnSpPr>
        <p:spPr>
          <a:xfrm>
            <a:off x="1558441" y="3074128"/>
            <a:ext cx="684470" cy="46577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2E248BC-BFD2-4496-A4D8-C404AD0C6C91}"/>
              </a:ext>
            </a:extLst>
          </p:cNvPr>
          <p:cNvSpPr txBox="1"/>
          <p:nvPr/>
        </p:nvSpPr>
        <p:spPr>
          <a:xfrm>
            <a:off x="1254511" y="3153828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/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A7206A-2A26-4D18-B9D8-3F863EFB3972}"/>
              </a:ext>
            </a:extLst>
          </p:cNvPr>
          <p:cNvCxnSpPr>
            <a:cxnSpLocks/>
            <a:stCxn id="31" idx="7"/>
            <a:endCxn id="17" idx="3"/>
          </p:cNvCxnSpPr>
          <p:nvPr/>
        </p:nvCxnSpPr>
        <p:spPr>
          <a:xfrm flipV="1">
            <a:off x="2950746" y="3025335"/>
            <a:ext cx="771342" cy="514564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C7B7F68-9024-4A4C-B443-AF27B5ECFD50}"/>
              </a:ext>
            </a:extLst>
          </p:cNvPr>
          <p:cNvSpPr txBox="1"/>
          <p:nvPr/>
        </p:nvSpPr>
        <p:spPr>
          <a:xfrm>
            <a:off x="3356199" y="3286945"/>
            <a:ext cx="1173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a-z,0-9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D55472-CB6E-4EE0-B06A-11F20E9301DD}"/>
              </a:ext>
            </a:extLst>
          </p:cNvPr>
          <p:cNvSpPr/>
          <p:nvPr/>
        </p:nvSpPr>
        <p:spPr>
          <a:xfrm>
            <a:off x="1619599" y="4737101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[a-z][a-z 0-9 ]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/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9200630-9024-4819-A5F0-851C95084A3D}"/>
              </a:ext>
            </a:extLst>
          </p:cNvPr>
          <p:cNvCxnSpPr>
            <a:cxnSpLocks/>
          </p:cNvCxnSpPr>
          <p:nvPr/>
        </p:nvCxnSpPr>
        <p:spPr>
          <a:xfrm>
            <a:off x="461691" y="2342347"/>
            <a:ext cx="342235" cy="372227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175D19D-EB12-421A-9E6B-918C5B652554}"/>
                  </a:ext>
                </a:extLst>
              </p:cNvPr>
              <p:cNvSpPr/>
              <p:nvPr/>
            </p:nvSpPr>
            <p:spPr>
              <a:xfrm>
                <a:off x="7094370" y="2668846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175D19D-EB12-421A-9E6B-918C5B652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70" y="2668846"/>
                <a:ext cx="1001031" cy="54422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D6F9F74-FFE3-46C5-974C-07DDE5759EC8}"/>
                  </a:ext>
                </a:extLst>
              </p:cNvPr>
              <p:cNvSpPr/>
              <p:nvPr/>
            </p:nvSpPr>
            <p:spPr>
              <a:xfrm>
                <a:off x="9965852" y="2637980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D6F9F74-FFE3-46C5-974C-07DDE5759E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852" y="2637980"/>
                <a:ext cx="1001031" cy="5232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73617C4-0907-4623-90F7-BA5831A582B9}"/>
              </a:ext>
            </a:extLst>
          </p:cNvPr>
          <p:cNvCxnSpPr>
            <a:cxnSpLocks/>
            <a:stCxn id="38" idx="5"/>
            <a:endCxn id="42" idx="1"/>
          </p:cNvCxnSpPr>
          <p:nvPr/>
        </p:nvCxnSpPr>
        <p:spPr>
          <a:xfrm>
            <a:off x="7948803" y="3133369"/>
            <a:ext cx="684470" cy="46577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54A7FD-3950-4761-ACD9-6A0ACFFD3D58}"/>
              </a:ext>
            </a:extLst>
          </p:cNvPr>
          <p:cNvSpPr txBox="1"/>
          <p:nvPr/>
        </p:nvSpPr>
        <p:spPr>
          <a:xfrm>
            <a:off x="8075402" y="2846736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F3A0A11-3FA5-44E1-98A8-624EF8CF1591}"/>
                  </a:ext>
                </a:extLst>
              </p:cNvPr>
              <p:cNvSpPr/>
              <p:nvPr/>
            </p:nvSpPr>
            <p:spPr>
              <a:xfrm>
                <a:off x="8486675" y="3519440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F3A0A11-3FA5-44E1-98A8-624EF8CF1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675" y="3519440"/>
                <a:ext cx="1001031" cy="54422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57B32A5-68D8-4EB3-929D-22D2D1CF9A08}"/>
              </a:ext>
            </a:extLst>
          </p:cNvPr>
          <p:cNvCxnSpPr>
            <a:cxnSpLocks/>
            <a:stCxn id="42" idx="7"/>
            <a:endCxn id="39" idx="3"/>
          </p:cNvCxnSpPr>
          <p:nvPr/>
        </p:nvCxnSpPr>
        <p:spPr>
          <a:xfrm flipV="1">
            <a:off x="9341108" y="3084576"/>
            <a:ext cx="771342" cy="514564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E48E0D6-491D-4CD6-AF14-38554D90F9A4}"/>
              </a:ext>
            </a:extLst>
          </p:cNvPr>
          <p:cNvSpPr txBox="1"/>
          <p:nvPr/>
        </p:nvSpPr>
        <p:spPr>
          <a:xfrm>
            <a:off x="9633471" y="3268331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60BF7D4-8B41-4652-A6C1-8F5DA2B2C379}"/>
              </a:ext>
            </a:extLst>
          </p:cNvPr>
          <p:cNvSpPr/>
          <p:nvPr/>
        </p:nvSpPr>
        <p:spPr>
          <a:xfrm>
            <a:off x="8633273" y="3985211"/>
            <a:ext cx="675569" cy="589737"/>
          </a:xfrm>
          <a:prstGeom prst="arc">
            <a:avLst>
              <a:gd name="adj1" fmla="val 18757459"/>
              <a:gd name="adj2" fmla="val 14249514"/>
            </a:avLst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97495C-0C2A-410B-9C7B-B9D4739675CB}"/>
              </a:ext>
            </a:extLst>
          </p:cNvPr>
          <p:cNvSpPr txBox="1"/>
          <p:nvPr/>
        </p:nvSpPr>
        <p:spPr>
          <a:xfrm>
            <a:off x="8656811" y="4574948"/>
            <a:ext cx="660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0-9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DB52020-B980-4DE5-BAD5-356F52F15300}"/>
              </a:ext>
            </a:extLst>
          </p:cNvPr>
          <p:cNvSpPr/>
          <p:nvPr/>
        </p:nvSpPr>
        <p:spPr>
          <a:xfrm>
            <a:off x="9708797" y="4999763"/>
            <a:ext cx="24320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[a-z][0-9]*[a-z]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CE24692-079D-49A4-9027-6AF5A197F805}"/>
                  </a:ext>
                </a:extLst>
              </p:cNvPr>
              <p:cNvSpPr txBox="1"/>
              <p:nvPr/>
            </p:nvSpPr>
            <p:spPr>
              <a:xfrm>
                <a:off x="8557399" y="2078643"/>
                <a:ext cx="7275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CE24692-079D-49A4-9027-6AF5A197F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399" y="2078643"/>
                <a:ext cx="72750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7E5770-0D94-4EE6-9218-19863F50A356}"/>
              </a:ext>
            </a:extLst>
          </p:cNvPr>
          <p:cNvCxnSpPr>
            <a:cxnSpLocks/>
          </p:cNvCxnSpPr>
          <p:nvPr/>
        </p:nvCxnSpPr>
        <p:spPr>
          <a:xfrm>
            <a:off x="6835536" y="2418519"/>
            <a:ext cx="342235" cy="372227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F7BC3EFE-22B1-4D22-8FC4-6B6BCEC6E5EE}"/>
              </a:ext>
            </a:extLst>
          </p:cNvPr>
          <p:cNvSpPr/>
          <p:nvPr/>
        </p:nvSpPr>
        <p:spPr>
          <a:xfrm>
            <a:off x="4164527" y="4308345"/>
            <a:ext cx="730782" cy="583836"/>
          </a:xfrm>
          <a:prstGeom prst="ellips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6A8F091-6242-4444-91E4-01F2E4CD8962}"/>
              </a:ext>
            </a:extLst>
          </p:cNvPr>
          <p:cNvSpPr/>
          <p:nvPr/>
        </p:nvSpPr>
        <p:spPr>
          <a:xfrm>
            <a:off x="4164527" y="5016551"/>
            <a:ext cx="730782" cy="583836"/>
          </a:xfrm>
          <a:prstGeom prst="ellipse">
            <a:avLst/>
          </a:prstGeom>
          <a:ln w="9525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66790F-8DC5-493B-BABB-8531D5037BC4}"/>
              </a:ext>
            </a:extLst>
          </p:cNvPr>
          <p:cNvSpPr txBox="1"/>
          <p:nvPr/>
        </p:nvSpPr>
        <p:spPr>
          <a:xfrm>
            <a:off x="5041875" y="4369430"/>
            <a:ext cx="822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State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FC99A8-B5B1-462C-A244-B63CBA541C0E}"/>
              </a:ext>
            </a:extLst>
          </p:cNvPr>
          <p:cNvSpPr txBox="1"/>
          <p:nvPr/>
        </p:nvSpPr>
        <p:spPr>
          <a:xfrm>
            <a:off x="4973866" y="4940522"/>
            <a:ext cx="1416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Accepting</a:t>
            </a:r>
          </a:p>
          <a:p>
            <a:r>
              <a:rPr lang="en-US" sz="2400" dirty="0"/>
              <a:t>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/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rc 68">
            <a:extLst>
              <a:ext uri="{FF2B5EF4-FFF2-40B4-BE49-F238E27FC236}">
                <a16:creationId xmlns:a16="http://schemas.microsoft.com/office/drawing/2014/main" id="{10BB2DEA-3B23-4273-91CE-7383E9C881FC}"/>
              </a:ext>
            </a:extLst>
          </p:cNvPr>
          <p:cNvSpPr/>
          <p:nvPr/>
        </p:nvSpPr>
        <p:spPr>
          <a:xfrm>
            <a:off x="7252025" y="4308345"/>
            <a:ext cx="675569" cy="589737"/>
          </a:xfrm>
          <a:prstGeom prst="arc">
            <a:avLst>
              <a:gd name="adj1" fmla="val 18757459"/>
              <a:gd name="adj2" fmla="val 14249514"/>
            </a:avLst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57F564-CB1E-469D-A51F-0BA93497D8C7}"/>
              </a:ext>
            </a:extLst>
          </p:cNvPr>
          <p:cNvSpPr txBox="1"/>
          <p:nvPr/>
        </p:nvSpPr>
        <p:spPr>
          <a:xfrm>
            <a:off x="7447428" y="484542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1A7657-F485-4F23-8BEB-0FA7E0F70137}"/>
              </a:ext>
            </a:extLst>
          </p:cNvPr>
          <p:cNvCxnSpPr>
            <a:cxnSpLocks/>
            <a:stCxn id="38" idx="4"/>
            <a:endCxn id="68" idx="0"/>
          </p:cNvCxnSpPr>
          <p:nvPr/>
        </p:nvCxnSpPr>
        <p:spPr>
          <a:xfrm flipH="1">
            <a:off x="7589811" y="3213069"/>
            <a:ext cx="5075" cy="63500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938CB48-2CEA-4AD0-9910-B631545BF3BA}"/>
              </a:ext>
            </a:extLst>
          </p:cNvPr>
          <p:cNvSpPr txBox="1"/>
          <p:nvPr/>
        </p:nvSpPr>
        <p:spPr>
          <a:xfrm>
            <a:off x="6879065" y="3224491"/>
            <a:ext cx="660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0-9</a:t>
            </a:r>
          </a:p>
        </p:txBody>
      </p:sp>
    </p:spTree>
    <p:extLst>
      <p:ext uri="{BB962C8B-B14F-4D97-AF65-F5344CB8AC3E}">
        <p14:creationId xmlns:p14="http://schemas.microsoft.com/office/powerpoint/2010/main" val="349617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AC06B4-6427-4F3F-B1B8-634BEDF0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How does a finite state automaton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BE69-5761-469D-B163-5BAF97F0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58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Starts at 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if it receives a letter in a-z,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11480" lvl="1" indent="0">
                  <a:buNone/>
                </a:pPr>
                <a:r>
                  <a:rPr lang="en-US" sz="2400" dirty="0"/>
                  <a:t>	 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if it receives a number in 0-9,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	    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(as it received a-z)</a:t>
                </a:r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, no matter what it gets,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an accepting state where computation halts</a:t>
                </a:r>
              </a:p>
              <a:p>
                <a:r>
                  <a:rPr lang="en-US" sz="2400" dirty="0"/>
                  <a:t>Any string that takes the machine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b="1" i="1" dirty="0"/>
                  <a:t>accepted </a:t>
                </a:r>
                <a:r>
                  <a:rPr lang="en-US" sz="2400" dirty="0"/>
                  <a:t>by the machine</a:t>
                </a:r>
              </a:p>
            </p:txBody>
          </p:sp>
        </mc:Choice>
        <mc:Fallback xmlns="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  <a:blipFill>
                <a:blip r:embed="rId2"/>
                <a:stretch>
                  <a:fillRect l="-487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BC1FB-2A7B-4C79-A4C7-EA2A121617EC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891527A-B8BF-4CF8-BEF7-A711B6792D0F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AF46033-11B1-465D-A4D9-F408765773A4}"/>
                  </a:ext>
                </a:extLst>
              </p:cNvPr>
              <p:cNvCxnSpPr>
                <a:cxnSpLocks/>
                <a:stCxn id="21" idx="5"/>
                <a:endCxn id="25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311B65-F7FA-4EEE-A92B-E33397DC11F0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B7191B8-86DC-49E0-BB5F-4B4E185AFFEE}"/>
                  </a:ext>
                </a:extLst>
              </p:cNvPr>
              <p:cNvCxnSpPr>
                <a:cxnSpLocks/>
                <a:stCxn id="25" idx="7"/>
                <a:endCxn id="22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229FC3-4375-4852-900E-4B0A58986354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0247D44F-8B5D-427A-B318-1A6EAB894129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F3EBA3-0267-49FC-B4E6-341789F3F6AE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9BCAAC4-5EFE-4A74-8B6A-81BABC111F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5EDC9B5E-3C26-4342-B2F1-12924CE9E761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AF2494-68FF-4C19-A972-5C4A935369ED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CB26735-7F6B-4805-9335-55E0A4777D93}"/>
                </a:ext>
              </a:extLst>
            </p:cNvPr>
            <p:cNvCxnSpPr>
              <a:cxnSpLocks/>
              <a:stCxn id="21" idx="4"/>
              <a:endCxn id="3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E8629B-8A3F-448E-901B-9D05FC8838DC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8755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What strings are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	ab, </a:t>
                </a:r>
                <a:r>
                  <a:rPr lang="en-US" dirty="0" err="1"/>
                  <a:t>zy</a:t>
                </a:r>
                <a:r>
                  <a:rPr lang="en-US" dirty="0"/>
                  <a:t>, s2r, q123s, u3123123v, etc.</a:t>
                </a:r>
              </a:p>
              <a:p>
                <a:r>
                  <a:rPr lang="en-US" dirty="0"/>
                  <a:t>What strings are not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	2b, 334a, etc.</a:t>
                </a:r>
              </a:p>
              <a:p>
                <a:r>
                  <a:rPr lang="en-US" dirty="0"/>
                  <a:t>The set of all strings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called its </a:t>
                </a:r>
                <a:r>
                  <a:rPr lang="en-US" b="1" i="1" dirty="0"/>
                  <a:t>language </a:t>
                </a:r>
              </a:p>
              <a:p>
                <a:r>
                  <a:rPr lang="en-US" dirty="0"/>
                  <a:t>The language of a finite state automaton consists of strings, each of which can be arbitrarily long, </a:t>
                </a:r>
                <a:r>
                  <a:rPr lang="en-US" b="1" i="1" dirty="0"/>
                  <a:t>but finite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  <a:blipFill>
                <a:blip r:embed="rId2"/>
                <a:stretch>
                  <a:fillRect l="-1047" t="-2384" b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D079E8-14A8-40E5-82F4-D6E9A6BA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a finite state automaton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6E17F-B6D6-4509-A7F7-F658EEFD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59</a:t>
            </a:fld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426099-D9DF-4DD9-8B9E-F815EA48BD1E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ABDBF34-4188-4DDD-8F9C-042A65FDF80C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C9D4A1F-2EA0-4D17-B7A9-4A8E1950E89D}"/>
                  </a:ext>
                </a:extLst>
              </p:cNvPr>
              <p:cNvCxnSpPr>
                <a:cxnSpLocks/>
                <a:stCxn id="48" idx="5"/>
                <a:endCxn id="52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F91012-645B-47B9-B60A-9EB1420E5EE8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1F1A5D6-82DB-4802-B113-9F7BFC697E68}"/>
                  </a:ext>
                </a:extLst>
              </p:cNvPr>
              <p:cNvCxnSpPr>
                <a:cxnSpLocks/>
                <a:stCxn id="52" idx="7"/>
                <a:endCxn id="49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C309EB2-0181-4277-91A1-F8856703C6B1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2474F16D-1A54-430C-8261-BCFEBD730F4D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4EFD36-A098-4542-9FF6-A443ADD8A043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D44A5F6D-7EB1-402A-92FE-8128EC51B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F74149BD-D399-4B44-8F8E-C30705A68486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A173454-9F0C-4991-8738-790885483BBA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B2CD811-E2D8-4CE7-85FF-34CE12A5EF2F}"/>
                </a:ext>
              </a:extLst>
            </p:cNvPr>
            <p:cNvCxnSpPr>
              <a:cxnSpLocks/>
              <a:stCxn id="48" idx="4"/>
              <a:endCxn id="4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1F5B68F-214F-488B-85F9-F5F2E806A754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51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1E3D72-9EB0-4B41-9332-7D05D1FDA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safety requirement states that a system always stays within the set of </a:t>
            </a:r>
            <a:r>
              <a:rPr lang="en-US" i="1" dirty="0"/>
              <a:t>good</a:t>
            </a:r>
            <a:r>
              <a:rPr lang="en-US" dirty="0"/>
              <a:t> states (i.e. nothing bad every happens)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Collision avoidance: the distance between a car and a pedestrian is always greater than a threshold</a:t>
            </a:r>
          </a:p>
          <a:p>
            <a:pPr lvl="1"/>
            <a:r>
              <a:rPr lang="en-US" dirty="0"/>
              <a:t>Patient’s blood glucose never drops below 80 mg/</a:t>
            </a:r>
            <a:r>
              <a:rPr lang="en-US" dirty="0" err="1"/>
              <a:t>dL</a:t>
            </a:r>
            <a:endParaRPr lang="en-US" dirty="0"/>
          </a:p>
          <a:p>
            <a:pPr lvl="1"/>
            <a:r>
              <a:rPr lang="en-US" dirty="0"/>
              <a:t>Maximum temperature specification on the battery is not exceeded </a:t>
            </a:r>
          </a:p>
          <a:p>
            <a:r>
              <a:rPr lang="en-US" dirty="0"/>
              <a:t>Safety requirements can be formalized using monitors</a:t>
            </a:r>
          </a:p>
          <a:p>
            <a:pPr lvl="1"/>
            <a:r>
              <a:rPr lang="en-US" dirty="0"/>
              <a:t>Monitor issues an error whenever safety requirement is violated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E150FB-3EB5-4ECB-AE09-76FB116D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Requirements/Specifications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4454B-018F-4C73-A2A5-EBA5F035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033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17A5437-B009-4B9D-9E5B-C47F222291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9095" y="1825653"/>
                <a:ext cx="7867131" cy="3016895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We can express behaviors of individual system traces using LTL</a:t>
                </a:r>
              </a:p>
              <a:p>
                <a:r>
                  <a:rPr lang="en-US" sz="2000" dirty="0"/>
                  <a:t>A system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starting from some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satisfies an LTL requirement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/>
                  <a:t> if </a:t>
                </a:r>
                <a:r>
                  <a:rPr lang="en-US" sz="2000" b="1" i="1" dirty="0"/>
                  <a:t>all system behaviors </a:t>
                </a:r>
                <a:r>
                  <a:rPr lang="en-US" sz="2000" dirty="0"/>
                  <a:t>starting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satisfy the requirement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b="0" dirty="0"/>
              </a:p>
              <a:p>
                <a:r>
                  <a:rPr lang="en-US" sz="2000" dirty="0"/>
                  <a:t>Denoted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E.g., a system is safe w.r.t. a safety requirement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/>
                  <a:t> if all behaviors satisfy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Does (</a:t>
                </a:r>
                <a:r>
                  <a:rPr lang="en-US" sz="2000" b="1" dirty="0"/>
                  <a:t>Blinker, </a:t>
                </a:r>
                <a:r>
                  <a:rPr lang="en-US" sz="2000" dirty="0"/>
                  <a:t>(x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en-US" sz="2000" dirty="0"/>
                  <a:t>0,y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en-US" sz="2000" dirty="0"/>
                  <a:t>0))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sz="2000" dirty="0"/>
                  <a:t>(x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0)?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17A5437-B009-4B9D-9E5B-C47F222291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9095" y="1825653"/>
                <a:ext cx="7867131" cy="3016895"/>
              </a:xfrm>
              <a:blipFill>
                <a:blip r:embed="rId2"/>
                <a:stretch>
                  <a:fillRect l="-388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55847E7-98E6-41B8-896D-D219F91C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LTL is a language for expressing system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D4F51-7F6B-4769-8D04-73987461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61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0C4A74-E382-40C6-BBD1-1FA633CF2B8C}"/>
              </a:ext>
            </a:extLst>
          </p:cNvPr>
          <p:cNvGrpSpPr/>
          <p:nvPr/>
        </p:nvGrpSpPr>
        <p:grpSpPr>
          <a:xfrm>
            <a:off x="578199" y="1857384"/>
            <a:ext cx="3211205" cy="2463764"/>
            <a:chOff x="1206585" y="1723597"/>
            <a:chExt cx="3719413" cy="27102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FF4BD86-884E-4A71-A6A2-2035EDA992F8}"/>
                </a:ext>
              </a:extLst>
            </p:cNvPr>
            <p:cNvSpPr/>
            <p:nvPr/>
          </p:nvSpPr>
          <p:spPr>
            <a:xfrm>
              <a:off x="1206585" y="1723597"/>
              <a:ext cx="3719413" cy="2710224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145BFCE-2799-4375-8852-4DDF1C7B4D90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361619-0388-41DC-A0DB-2295970A8F90}"/>
                </a:ext>
              </a:extLst>
            </p:cNvPr>
            <p:cNvSpPr txBox="1"/>
            <p:nvPr/>
          </p:nvSpPr>
          <p:spPr>
            <a:xfrm>
              <a:off x="1484210" y="1888296"/>
              <a:ext cx="3222109" cy="50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nat</a:t>
              </a:r>
              <a:r>
                <a:rPr lang="en-US" sz="2400" dirty="0"/>
                <a:t> x := 0; bool y:=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232E73E-72DD-4ECC-989A-8384A9A3C70C}"/>
                    </a:ext>
                  </a:extLst>
                </p:cNvPr>
                <p:cNvSpPr txBox="1"/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800" dirty="0"/>
                    <a:t>  x := x + 1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232E73E-72DD-4ECC-989A-8384A9A3C7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blipFill>
                  <a:blip r:embed="rId3"/>
                  <a:stretch>
                    <a:fillRect l="-6646" t="-11765" r="-5063" b="-341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A5B16D3-C3EC-4D19-A753-4F9F53959A89}"/>
                    </a:ext>
                  </a:extLst>
                </p:cNvPr>
                <p:cNvSpPr txBox="1"/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800" dirty="0"/>
                </a:p>
                <a:p>
                  <a:r>
                    <a:rPr lang="en-US" sz="2800" dirty="0"/>
                    <a:t>    	y: = 1-y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A5B16D3-C3EC-4D19-A753-4F9F53959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blipFill>
                  <a:blip r:embed="rId4"/>
                  <a:stretch>
                    <a:fillRect l="-5915" t="-6410" r="-4507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A9939DE-A823-4248-B571-A0401C5B0551}"/>
              </a:ext>
            </a:extLst>
          </p:cNvPr>
          <p:cNvSpPr txBox="1"/>
          <p:nvPr/>
        </p:nvSpPr>
        <p:spPr>
          <a:xfrm>
            <a:off x="1569081" y="4319328"/>
            <a:ext cx="122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Blinker</a:t>
            </a:r>
          </a:p>
        </p:txBody>
      </p:sp>
    </p:spTree>
    <p:extLst>
      <p:ext uri="{BB962C8B-B14F-4D97-AF65-F5344CB8AC3E}">
        <p14:creationId xmlns:p14="http://schemas.microsoft.com/office/powerpoint/2010/main" val="36755370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083C93-FBA2-4166-8785-B1DE1052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811707"/>
            <a:ext cx="11699087" cy="3872333"/>
          </a:xfrm>
        </p:spPr>
        <p:txBody>
          <a:bodyPr>
            <a:normAutofit/>
          </a:bodyPr>
          <a:lstStyle/>
          <a:p>
            <a:r>
              <a:rPr lang="en-US" dirty="0"/>
              <a:t>A safety monitor classifies system behaviors into good and bad</a:t>
            </a:r>
          </a:p>
          <a:p>
            <a:r>
              <a:rPr lang="en-US" dirty="0"/>
              <a:t>Can we use a monitor to classify </a:t>
            </a:r>
            <a:r>
              <a:rPr lang="en-US" b="1" dirty="0"/>
              <a:t>infinite</a:t>
            </a:r>
            <a:r>
              <a:rPr lang="en-US" dirty="0"/>
              <a:t> behaviors into good or bad?</a:t>
            </a:r>
          </a:p>
          <a:p>
            <a:r>
              <a:rPr lang="en-US" dirty="0"/>
              <a:t>Yes, using theoretical model of </a:t>
            </a:r>
            <a:r>
              <a:rPr lang="en-US" dirty="0" err="1"/>
              <a:t>Büchi</a:t>
            </a:r>
            <a:r>
              <a:rPr lang="en-US" dirty="0"/>
              <a:t> automata proposed by J. Richard </a:t>
            </a:r>
            <a:r>
              <a:rPr lang="en-US" dirty="0" err="1"/>
              <a:t>Büchi</a:t>
            </a:r>
            <a:r>
              <a:rPr lang="en-US" dirty="0"/>
              <a:t> in 1960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03C47C-4A32-4515-994F-98937C53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Monitors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59FF2-789D-4166-85A2-C2A52E80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0325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552041-6713-4A8E-BF02-4C7C6B868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130346"/>
            <a:ext cx="11699087" cy="706490"/>
          </a:xfrm>
        </p:spPr>
        <p:txBody>
          <a:bodyPr/>
          <a:lstStyle/>
          <a:p>
            <a:r>
              <a:rPr lang="en-US" dirty="0"/>
              <a:t>Extension of finite state automata to accept infinite strings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automaton: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63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166680" y="1677172"/>
            <a:ext cx="5126619" cy="2335827"/>
            <a:chOff x="2975013" y="2147605"/>
            <a:chExt cx="5126619" cy="23358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1AEA05E-E402-4B1D-8FA3-A23B30A4F5A5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6CDBBD7-6F78-482F-A039-83289AF6AACF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0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4476" y="2032550"/>
                <a:ext cx="6744563" cy="35563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States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Input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with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Final state: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  <a:p>
                <a:r>
                  <a:rPr lang="en-US" sz="2400" dirty="0"/>
                  <a:t>Given trace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400" dirty="0"/>
                  <a:t> (infinite sequence of symbols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400" dirty="0"/>
                  <a:t> is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if there exists a path from 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appears infinitely often</a:t>
                </a: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476" y="2032550"/>
                <a:ext cx="6744563" cy="3556399"/>
              </a:xfrm>
              <a:prstGeom prst="rect">
                <a:avLst/>
              </a:prstGeom>
              <a:blipFill>
                <a:blip r:embed="rId7"/>
                <a:stretch>
                  <a:fillRect l="-723" t="-2055" r="-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/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1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blipFill>
                <a:blip r:embed="rId9"/>
                <a:stretch>
                  <a:fillRect t="-10465" r="-1018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/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0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blipFill>
                <a:blip r:embed="rId10"/>
                <a:stretch>
                  <a:fillRect t="-11765" r="-10778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7ED37A4-701D-C109-C63D-8F04350B512B}"/>
                  </a:ext>
                </a:extLst>
              </p:cNvPr>
              <p:cNvSpPr/>
              <p:nvPr/>
            </p:nvSpPr>
            <p:spPr>
              <a:xfrm>
                <a:off x="2445756" y="4383043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7ED37A4-701D-C109-C63D-8F04350B51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756" y="4383043"/>
                <a:ext cx="1001031" cy="544223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FA84B-5952-44D7-7714-0DBE2497EA07}"/>
              </a:ext>
            </a:extLst>
          </p:cNvPr>
          <p:cNvCxnSpPr>
            <a:cxnSpLocks/>
            <a:endCxn id="7" idx="6"/>
          </p:cNvCxnSpPr>
          <p:nvPr/>
        </p:nvCxnSpPr>
        <p:spPr>
          <a:xfrm flipH="1">
            <a:off x="3446787" y="3854225"/>
            <a:ext cx="1290586" cy="80093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A1683C-B19B-4541-76AA-4A80E2296ACB}"/>
              </a:ext>
            </a:extLst>
          </p:cNvPr>
          <p:cNvSpPr/>
          <p:nvPr/>
        </p:nvSpPr>
        <p:spPr>
          <a:xfrm rot="4906972" flipH="1" flipV="1">
            <a:off x="1973906" y="4445454"/>
            <a:ext cx="580181" cy="691959"/>
          </a:xfrm>
          <a:custGeom>
            <a:avLst/>
            <a:gdLst>
              <a:gd name="connsiteX0" fmla="*/ 215715 w 742225"/>
              <a:gd name="connsiteY0" fmla="*/ 717019 h 717019"/>
              <a:gd name="connsiteX1" fmla="*/ 5322 w 742225"/>
              <a:gd name="connsiteY1" fmla="*/ 449982 h 717019"/>
              <a:gd name="connsiteX2" fmla="*/ 94334 w 742225"/>
              <a:gd name="connsiteY2" fmla="*/ 85840 h 717019"/>
              <a:gd name="connsiteX3" fmla="*/ 426108 w 742225"/>
              <a:gd name="connsiteY3" fmla="*/ 4920 h 717019"/>
              <a:gd name="connsiteX4" fmla="*/ 701237 w 742225"/>
              <a:gd name="connsiteY4" fmla="*/ 182945 h 717019"/>
              <a:gd name="connsiteX5" fmla="*/ 733605 w 742225"/>
              <a:gd name="connsiteY5" fmla="*/ 514718 h 717019"/>
              <a:gd name="connsiteX6" fmla="*/ 628409 w 742225"/>
              <a:gd name="connsiteY6" fmla="*/ 652283 h 717019"/>
              <a:gd name="connsiteX0" fmla="*/ 210699 w 737209"/>
              <a:gd name="connsiteY0" fmla="*/ 722892 h 722892"/>
              <a:gd name="connsiteX1" fmla="*/ 306 w 737209"/>
              <a:gd name="connsiteY1" fmla="*/ 455855 h 722892"/>
              <a:gd name="connsiteX2" fmla="*/ 170239 w 737209"/>
              <a:gd name="connsiteY2" fmla="*/ 67437 h 722892"/>
              <a:gd name="connsiteX3" fmla="*/ 421092 w 737209"/>
              <a:gd name="connsiteY3" fmla="*/ 10793 h 722892"/>
              <a:gd name="connsiteX4" fmla="*/ 696221 w 737209"/>
              <a:gd name="connsiteY4" fmla="*/ 188818 h 722892"/>
              <a:gd name="connsiteX5" fmla="*/ 728589 w 737209"/>
              <a:gd name="connsiteY5" fmla="*/ 520591 h 722892"/>
              <a:gd name="connsiteX6" fmla="*/ 623393 w 737209"/>
              <a:gd name="connsiteY6" fmla="*/ 658156 h 722892"/>
              <a:gd name="connsiteX0" fmla="*/ 210675 w 740044"/>
              <a:gd name="connsiteY0" fmla="*/ 743338 h 743338"/>
              <a:gd name="connsiteX1" fmla="*/ 282 w 740044"/>
              <a:gd name="connsiteY1" fmla="*/ 476301 h 743338"/>
              <a:gd name="connsiteX2" fmla="*/ 170215 w 740044"/>
              <a:gd name="connsiteY2" fmla="*/ 87883 h 743338"/>
              <a:gd name="connsiteX3" fmla="*/ 364424 w 740044"/>
              <a:gd name="connsiteY3" fmla="*/ 6963 h 743338"/>
              <a:gd name="connsiteX4" fmla="*/ 696197 w 740044"/>
              <a:gd name="connsiteY4" fmla="*/ 209264 h 743338"/>
              <a:gd name="connsiteX5" fmla="*/ 728565 w 740044"/>
              <a:gd name="connsiteY5" fmla="*/ 541037 h 743338"/>
              <a:gd name="connsiteX6" fmla="*/ 623369 w 740044"/>
              <a:gd name="connsiteY6" fmla="*/ 678602 h 743338"/>
              <a:gd name="connsiteX0" fmla="*/ 210675 w 728565"/>
              <a:gd name="connsiteY0" fmla="*/ 740650 h 740650"/>
              <a:gd name="connsiteX1" fmla="*/ 282 w 728565"/>
              <a:gd name="connsiteY1" fmla="*/ 473613 h 740650"/>
              <a:gd name="connsiteX2" fmla="*/ 170215 w 728565"/>
              <a:gd name="connsiteY2" fmla="*/ 85195 h 740650"/>
              <a:gd name="connsiteX3" fmla="*/ 364424 w 728565"/>
              <a:gd name="connsiteY3" fmla="*/ 4275 h 740650"/>
              <a:gd name="connsiteX4" fmla="*/ 623369 w 728565"/>
              <a:gd name="connsiteY4" fmla="*/ 166116 h 740650"/>
              <a:gd name="connsiteX5" fmla="*/ 728565 w 728565"/>
              <a:gd name="connsiteY5" fmla="*/ 538349 h 740650"/>
              <a:gd name="connsiteX6" fmla="*/ 623369 w 728565"/>
              <a:gd name="connsiteY6" fmla="*/ 675914 h 740650"/>
              <a:gd name="connsiteX0" fmla="*/ 210675 w 760933"/>
              <a:gd name="connsiteY0" fmla="*/ 740650 h 740650"/>
              <a:gd name="connsiteX1" fmla="*/ 282 w 760933"/>
              <a:gd name="connsiteY1" fmla="*/ 473613 h 740650"/>
              <a:gd name="connsiteX2" fmla="*/ 170215 w 760933"/>
              <a:gd name="connsiteY2" fmla="*/ 85195 h 740650"/>
              <a:gd name="connsiteX3" fmla="*/ 364424 w 760933"/>
              <a:gd name="connsiteY3" fmla="*/ 4275 h 740650"/>
              <a:gd name="connsiteX4" fmla="*/ 623369 w 760933"/>
              <a:gd name="connsiteY4" fmla="*/ 166116 h 740650"/>
              <a:gd name="connsiteX5" fmla="*/ 760933 w 760933"/>
              <a:gd name="connsiteY5" fmla="*/ 376509 h 740650"/>
              <a:gd name="connsiteX6" fmla="*/ 623369 w 760933"/>
              <a:gd name="connsiteY6" fmla="*/ 675914 h 740650"/>
              <a:gd name="connsiteX0" fmla="*/ 138127 w 688385"/>
              <a:gd name="connsiteY0" fmla="*/ 739184 h 739184"/>
              <a:gd name="connsiteX1" fmla="*/ 562 w 688385"/>
              <a:gd name="connsiteY1" fmla="*/ 350767 h 739184"/>
              <a:gd name="connsiteX2" fmla="*/ 97667 w 688385"/>
              <a:gd name="connsiteY2" fmla="*/ 83729 h 739184"/>
              <a:gd name="connsiteX3" fmla="*/ 291876 w 688385"/>
              <a:gd name="connsiteY3" fmla="*/ 2809 h 739184"/>
              <a:gd name="connsiteX4" fmla="*/ 550821 w 688385"/>
              <a:gd name="connsiteY4" fmla="*/ 164650 h 739184"/>
              <a:gd name="connsiteX5" fmla="*/ 688385 w 688385"/>
              <a:gd name="connsiteY5" fmla="*/ 375043 h 739184"/>
              <a:gd name="connsiteX6" fmla="*/ 550821 w 688385"/>
              <a:gd name="connsiteY6" fmla="*/ 674448 h 739184"/>
              <a:gd name="connsiteX0" fmla="*/ 218751 w 769009"/>
              <a:gd name="connsiteY0" fmla="*/ 739184 h 739184"/>
              <a:gd name="connsiteX1" fmla="*/ 266 w 769009"/>
              <a:gd name="connsiteY1" fmla="*/ 350767 h 739184"/>
              <a:gd name="connsiteX2" fmla="*/ 178291 w 769009"/>
              <a:gd name="connsiteY2" fmla="*/ 83729 h 739184"/>
              <a:gd name="connsiteX3" fmla="*/ 372500 w 769009"/>
              <a:gd name="connsiteY3" fmla="*/ 2809 h 739184"/>
              <a:gd name="connsiteX4" fmla="*/ 631445 w 769009"/>
              <a:gd name="connsiteY4" fmla="*/ 164650 h 739184"/>
              <a:gd name="connsiteX5" fmla="*/ 769009 w 769009"/>
              <a:gd name="connsiteY5" fmla="*/ 375043 h 739184"/>
              <a:gd name="connsiteX6" fmla="*/ 631445 w 769009"/>
              <a:gd name="connsiteY6" fmla="*/ 674448 h 739184"/>
              <a:gd name="connsiteX0" fmla="*/ 222731 w 772989"/>
              <a:gd name="connsiteY0" fmla="*/ 736827 h 736827"/>
              <a:gd name="connsiteX1" fmla="*/ 4246 w 772989"/>
              <a:gd name="connsiteY1" fmla="*/ 348410 h 736827"/>
              <a:gd name="connsiteX2" fmla="*/ 101350 w 772989"/>
              <a:gd name="connsiteY2" fmla="*/ 121832 h 736827"/>
              <a:gd name="connsiteX3" fmla="*/ 376480 w 772989"/>
              <a:gd name="connsiteY3" fmla="*/ 452 h 736827"/>
              <a:gd name="connsiteX4" fmla="*/ 635425 w 772989"/>
              <a:gd name="connsiteY4" fmla="*/ 162293 h 736827"/>
              <a:gd name="connsiteX5" fmla="*/ 772989 w 772989"/>
              <a:gd name="connsiteY5" fmla="*/ 372686 h 736827"/>
              <a:gd name="connsiteX6" fmla="*/ 635425 w 772989"/>
              <a:gd name="connsiteY6" fmla="*/ 672091 h 736827"/>
              <a:gd name="connsiteX0" fmla="*/ 253971 w 804229"/>
              <a:gd name="connsiteY0" fmla="*/ 736969 h 736969"/>
              <a:gd name="connsiteX1" fmla="*/ 3118 w 804229"/>
              <a:gd name="connsiteY1" fmla="*/ 461841 h 736969"/>
              <a:gd name="connsiteX2" fmla="*/ 132590 w 804229"/>
              <a:gd name="connsiteY2" fmla="*/ 121974 h 736969"/>
              <a:gd name="connsiteX3" fmla="*/ 407720 w 804229"/>
              <a:gd name="connsiteY3" fmla="*/ 594 h 736969"/>
              <a:gd name="connsiteX4" fmla="*/ 666665 w 804229"/>
              <a:gd name="connsiteY4" fmla="*/ 162435 h 736969"/>
              <a:gd name="connsiteX5" fmla="*/ 804229 w 804229"/>
              <a:gd name="connsiteY5" fmla="*/ 372828 h 736969"/>
              <a:gd name="connsiteX6" fmla="*/ 666665 w 804229"/>
              <a:gd name="connsiteY6" fmla="*/ 672233 h 736969"/>
              <a:gd name="connsiteX0" fmla="*/ 253971 w 739493"/>
              <a:gd name="connsiteY0" fmla="*/ 736969 h 736969"/>
              <a:gd name="connsiteX1" fmla="*/ 3118 w 739493"/>
              <a:gd name="connsiteY1" fmla="*/ 461841 h 736969"/>
              <a:gd name="connsiteX2" fmla="*/ 132590 w 739493"/>
              <a:gd name="connsiteY2" fmla="*/ 121974 h 736969"/>
              <a:gd name="connsiteX3" fmla="*/ 407720 w 739493"/>
              <a:gd name="connsiteY3" fmla="*/ 594 h 736969"/>
              <a:gd name="connsiteX4" fmla="*/ 666665 w 739493"/>
              <a:gd name="connsiteY4" fmla="*/ 162435 h 736969"/>
              <a:gd name="connsiteX5" fmla="*/ 739493 w 739493"/>
              <a:gd name="connsiteY5" fmla="*/ 469932 h 736969"/>
              <a:gd name="connsiteX6" fmla="*/ 666665 w 739493"/>
              <a:gd name="connsiteY6" fmla="*/ 672233 h 736969"/>
              <a:gd name="connsiteX0" fmla="*/ 253971 w 747593"/>
              <a:gd name="connsiteY0" fmla="*/ 736969 h 736969"/>
              <a:gd name="connsiteX1" fmla="*/ 3118 w 747593"/>
              <a:gd name="connsiteY1" fmla="*/ 461841 h 736969"/>
              <a:gd name="connsiteX2" fmla="*/ 132590 w 747593"/>
              <a:gd name="connsiteY2" fmla="*/ 121974 h 736969"/>
              <a:gd name="connsiteX3" fmla="*/ 407720 w 747593"/>
              <a:gd name="connsiteY3" fmla="*/ 594 h 736969"/>
              <a:gd name="connsiteX4" fmla="*/ 666665 w 747593"/>
              <a:gd name="connsiteY4" fmla="*/ 162435 h 736969"/>
              <a:gd name="connsiteX5" fmla="*/ 739493 w 747593"/>
              <a:gd name="connsiteY5" fmla="*/ 469932 h 736969"/>
              <a:gd name="connsiteX6" fmla="*/ 504824 w 747593"/>
              <a:gd name="connsiteY6" fmla="*/ 639865 h 736969"/>
              <a:gd name="connsiteX0" fmla="*/ 313237 w 750215"/>
              <a:gd name="connsiteY0" fmla="*/ 639865 h 639865"/>
              <a:gd name="connsiteX1" fmla="*/ 5740 w 750215"/>
              <a:gd name="connsiteY1" fmla="*/ 461841 h 639865"/>
              <a:gd name="connsiteX2" fmla="*/ 135212 w 750215"/>
              <a:gd name="connsiteY2" fmla="*/ 121974 h 639865"/>
              <a:gd name="connsiteX3" fmla="*/ 410342 w 750215"/>
              <a:gd name="connsiteY3" fmla="*/ 594 h 639865"/>
              <a:gd name="connsiteX4" fmla="*/ 669287 w 750215"/>
              <a:gd name="connsiteY4" fmla="*/ 162435 h 639865"/>
              <a:gd name="connsiteX5" fmla="*/ 742115 w 750215"/>
              <a:gd name="connsiteY5" fmla="*/ 469932 h 639865"/>
              <a:gd name="connsiteX6" fmla="*/ 507446 w 750215"/>
              <a:gd name="connsiteY6" fmla="*/ 639865 h 639865"/>
              <a:gd name="connsiteX0" fmla="*/ 313237 w 798541"/>
              <a:gd name="connsiteY0" fmla="*/ 639865 h 704601"/>
              <a:gd name="connsiteX1" fmla="*/ 5740 w 798541"/>
              <a:gd name="connsiteY1" fmla="*/ 461841 h 704601"/>
              <a:gd name="connsiteX2" fmla="*/ 135212 w 798541"/>
              <a:gd name="connsiteY2" fmla="*/ 121974 h 704601"/>
              <a:gd name="connsiteX3" fmla="*/ 410342 w 798541"/>
              <a:gd name="connsiteY3" fmla="*/ 594 h 704601"/>
              <a:gd name="connsiteX4" fmla="*/ 669287 w 798541"/>
              <a:gd name="connsiteY4" fmla="*/ 162435 h 704601"/>
              <a:gd name="connsiteX5" fmla="*/ 742115 w 798541"/>
              <a:gd name="connsiteY5" fmla="*/ 469932 h 704601"/>
              <a:gd name="connsiteX6" fmla="*/ 782576 w 798541"/>
              <a:gd name="connsiteY6" fmla="*/ 704601 h 704601"/>
              <a:gd name="connsiteX0" fmla="*/ 313237 w 742181"/>
              <a:gd name="connsiteY0" fmla="*/ 639865 h 696509"/>
              <a:gd name="connsiteX1" fmla="*/ 5740 w 742181"/>
              <a:gd name="connsiteY1" fmla="*/ 461841 h 696509"/>
              <a:gd name="connsiteX2" fmla="*/ 135212 w 742181"/>
              <a:gd name="connsiteY2" fmla="*/ 121974 h 696509"/>
              <a:gd name="connsiteX3" fmla="*/ 410342 w 742181"/>
              <a:gd name="connsiteY3" fmla="*/ 594 h 696509"/>
              <a:gd name="connsiteX4" fmla="*/ 669287 w 742181"/>
              <a:gd name="connsiteY4" fmla="*/ 162435 h 696509"/>
              <a:gd name="connsiteX5" fmla="*/ 742115 w 742181"/>
              <a:gd name="connsiteY5" fmla="*/ 469932 h 696509"/>
              <a:gd name="connsiteX6" fmla="*/ 661195 w 742181"/>
              <a:gd name="connsiteY6" fmla="*/ 696509 h 696509"/>
              <a:gd name="connsiteX0" fmla="*/ 220343 w 738299"/>
              <a:gd name="connsiteY0" fmla="*/ 777430 h 777430"/>
              <a:gd name="connsiteX1" fmla="*/ 1858 w 738299"/>
              <a:gd name="connsiteY1" fmla="*/ 461841 h 777430"/>
              <a:gd name="connsiteX2" fmla="*/ 131330 w 738299"/>
              <a:gd name="connsiteY2" fmla="*/ 121974 h 777430"/>
              <a:gd name="connsiteX3" fmla="*/ 406460 w 738299"/>
              <a:gd name="connsiteY3" fmla="*/ 594 h 777430"/>
              <a:gd name="connsiteX4" fmla="*/ 665405 w 738299"/>
              <a:gd name="connsiteY4" fmla="*/ 162435 h 777430"/>
              <a:gd name="connsiteX5" fmla="*/ 738233 w 738299"/>
              <a:gd name="connsiteY5" fmla="*/ 469932 h 777430"/>
              <a:gd name="connsiteX6" fmla="*/ 657313 w 738299"/>
              <a:gd name="connsiteY6" fmla="*/ 696509 h 777430"/>
              <a:gd name="connsiteX0" fmla="*/ 180963 w 698919"/>
              <a:gd name="connsiteY0" fmla="*/ 777360 h 777360"/>
              <a:gd name="connsiteX1" fmla="*/ 2938 w 698919"/>
              <a:gd name="connsiteY1" fmla="*/ 413219 h 777360"/>
              <a:gd name="connsiteX2" fmla="*/ 91950 w 698919"/>
              <a:gd name="connsiteY2" fmla="*/ 121904 h 777360"/>
              <a:gd name="connsiteX3" fmla="*/ 367080 w 698919"/>
              <a:gd name="connsiteY3" fmla="*/ 524 h 777360"/>
              <a:gd name="connsiteX4" fmla="*/ 626025 w 698919"/>
              <a:gd name="connsiteY4" fmla="*/ 162365 h 777360"/>
              <a:gd name="connsiteX5" fmla="*/ 698853 w 698919"/>
              <a:gd name="connsiteY5" fmla="*/ 469862 h 777360"/>
              <a:gd name="connsiteX6" fmla="*/ 617933 w 698919"/>
              <a:gd name="connsiteY6" fmla="*/ 696439 h 77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19" h="777360">
                <a:moveTo>
                  <a:pt x="180963" y="777360"/>
                </a:moveTo>
                <a:cubicBezTo>
                  <a:pt x="85881" y="696439"/>
                  <a:pt x="17773" y="522462"/>
                  <a:pt x="2938" y="413219"/>
                </a:cubicBezTo>
                <a:cubicBezTo>
                  <a:pt x="-11897" y="303976"/>
                  <a:pt x="31260" y="190687"/>
                  <a:pt x="91950" y="121904"/>
                </a:cubicBezTo>
                <a:cubicBezTo>
                  <a:pt x="152640" y="53122"/>
                  <a:pt x="278068" y="-6220"/>
                  <a:pt x="367080" y="524"/>
                </a:cubicBezTo>
                <a:cubicBezTo>
                  <a:pt x="456093" y="7268"/>
                  <a:pt x="570729" y="84142"/>
                  <a:pt x="626025" y="162365"/>
                </a:cubicBezTo>
                <a:cubicBezTo>
                  <a:pt x="681321" y="240588"/>
                  <a:pt x="700202" y="380850"/>
                  <a:pt x="698853" y="469862"/>
                </a:cubicBezTo>
                <a:cubicBezTo>
                  <a:pt x="697504" y="558874"/>
                  <a:pt x="664462" y="666768"/>
                  <a:pt x="617933" y="696439"/>
                </a:cubicBezTo>
              </a:path>
            </a:pathLst>
          </a:cu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22410B-3536-7566-01B7-2F1689CF8BA0}"/>
                  </a:ext>
                </a:extLst>
              </p:cNvPr>
              <p:cNvSpPr txBox="1"/>
              <p:nvPr/>
            </p:nvSpPr>
            <p:spPr>
              <a:xfrm>
                <a:off x="455082" y="4529823"/>
                <a:ext cx="15252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0|1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22410B-3536-7566-01B7-2F1689CF8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82" y="4529823"/>
                <a:ext cx="152522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1B6FA1-A77F-C051-7026-131B7BE41E82}"/>
                  </a:ext>
                </a:extLst>
              </p:cNvPr>
              <p:cNvSpPr txBox="1"/>
              <p:nvPr/>
            </p:nvSpPr>
            <p:spPr>
              <a:xfrm>
                <a:off x="3728634" y="4170319"/>
                <a:ext cx="15855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1B6FA1-A77F-C051-7026-131B7BE41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634" y="4170319"/>
                <a:ext cx="1585552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2187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64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254141" y="1078361"/>
            <a:ext cx="5159186" cy="2120755"/>
            <a:chOff x="2975013" y="2147605"/>
            <a:chExt cx="5159186" cy="21207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/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923" y="4754636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23" y="4754636"/>
                <a:ext cx="4879943" cy="1003707"/>
              </a:xfrm>
              <a:prstGeom prst="rect">
                <a:avLst/>
              </a:prstGeom>
              <a:blipFill>
                <a:blip r:embed="rId8"/>
                <a:stretch>
                  <a:fillRect l="-999" t="-5455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33355" y="1448473"/>
                <a:ext cx="6390946" cy="4304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Note that this is a nondeterministic </a:t>
                </a:r>
                <a:r>
                  <a:rPr lang="en-US" dirty="0" err="1"/>
                  <a:t>Büchi</a:t>
                </a:r>
                <a:r>
                  <a:rPr lang="en-US" dirty="0"/>
                  <a:t> automaton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accepts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if </a:t>
                </a:r>
                <a:r>
                  <a:rPr lang="en-US" b="1" i="1" dirty="0"/>
                  <a:t>there exists a path </a:t>
                </a:r>
                <a:r>
                  <a:rPr lang="en-US" dirty="0"/>
                  <a:t>along which a state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appears infinitely often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355" y="1448473"/>
                <a:ext cx="6390946" cy="4304963"/>
              </a:xfrm>
              <a:prstGeom prst="rect">
                <a:avLst/>
              </a:prstGeom>
              <a:blipFill>
                <a:blip r:embed="rId9"/>
                <a:stretch>
                  <a:fillRect l="-1240" t="-2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6D85EF-1ACC-467C-B347-19BD1D6F4681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965856" y="2927005"/>
            <a:ext cx="2413873" cy="1050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F69BF6E-47CB-4282-91ED-7E2297C314C9}"/>
              </a:ext>
            </a:extLst>
          </p:cNvPr>
          <p:cNvSpPr/>
          <p:nvPr/>
        </p:nvSpPr>
        <p:spPr>
          <a:xfrm>
            <a:off x="5445894" y="3979051"/>
            <a:ext cx="56867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Fun fact: there is no deterministic </a:t>
            </a:r>
            <a:r>
              <a:rPr lang="en-US" sz="2400" dirty="0" err="1"/>
              <a:t>Büchi</a:t>
            </a:r>
            <a:r>
              <a:rPr lang="en-US" sz="2400" dirty="0"/>
              <a:t> automaton that accepts this language</a:t>
            </a:r>
            <a:endParaRPr lang="en-US" sz="240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419D7A5-3B37-4203-9EA5-6CCBEC0F0155}"/>
                  </a:ext>
                </a:extLst>
              </p:cNvPr>
              <p:cNvSpPr/>
              <p:nvPr/>
            </p:nvSpPr>
            <p:spPr>
              <a:xfrm>
                <a:off x="2588628" y="3727934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419D7A5-3B37-4203-9EA5-6CCBEC0F0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628" y="3727934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308C53-AF45-4120-8784-B9ECFDE4576F}"/>
              </a:ext>
            </a:extLst>
          </p:cNvPr>
          <p:cNvCxnSpPr>
            <a:cxnSpLocks/>
            <a:stCxn id="6" idx="4"/>
            <a:endCxn id="7" idx="6"/>
          </p:cNvCxnSpPr>
          <p:nvPr/>
        </p:nvCxnSpPr>
        <p:spPr>
          <a:xfrm flipH="1">
            <a:off x="3589659" y="3199116"/>
            <a:ext cx="1290586" cy="80093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6188B87-0834-45EB-89BA-8B94DB7846A2}"/>
              </a:ext>
            </a:extLst>
          </p:cNvPr>
          <p:cNvSpPr/>
          <p:nvPr/>
        </p:nvSpPr>
        <p:spPr>
          <a:xfrm rot="4906972" flipH="1" flipV="1">
            <a:off x="2116778" y="3790345"/>
            <a:ext cx="580181" cy="691959"/>
          </a:xfrm>
          <a:custGeom>
            <a:avLst/>
            <a:gdLst>
              <a:gd name="connsiteX0" fmla="*/ 215715 w 742225"/>
              <a:gd name="connsiteY0" fmla="*/ 717019 h 717019"/>
              <a:gd name="connsiteX1" fmla="*/ 5322 w 742225"/>
              <a:gd name="connsiteY1" fmla="*/ 449982 h 717019"/>
              <a:gd name="connsiteX2" fmla="*/ 94334 w 742225"/>
              <a:gd name="connsiteY2" fmla="*/ 85840 h 717019"/>
              <a:gd name="connsiteX3" fmla="*/ 426108 w 742225"/>
              <a:gd name="connsiteY3" fmla="*/ 4920 h 717019"/>
              <a:gd name="connsiteX4" fmla="*/ 701237 w 742225"/>
              <a:gd name="connsiteY4" fmla="*/ 182945 h 717019"/>
              <a:gd name="connsiteX5" fmla="*/ 733605 w 742225"/>
              <a:gd name="connsiteY5" fmla="*/ 514718 h 717019"/>
              <a:gd name="connsiteX6" fmla="*/ 628409 w 742225"/>
              <a:gd name="connsiteY6" fmla="*/ 652283 h 717019"/>
              <a:gd name="connsiteX0" fmla="*/ 210699 w 737209"/>
              <a:gd name="connsiteY0" fmla="*/ 722892 h 722892"/>
              <a:gd name="connsiteX1" fmla="*/ 306 w 737209"/>
              <a:gd name="connsiteY1" fmla="*/ 455855 h 722892"/>
              <a:gd name="connsiteX2" fmla="*/ 170239 w 737209"/>
              <a:gd name="connsiteY2" fmla="*/ 67437 h 722892"/>
              <a:gd name="connsiteX3" fmla="*/ 421092 w 737209"/>
              <a:gd name="connsiteY3" fmla="*/ 10793 h 722892"/>
              <a:gd name="connsiteX4" fmla="*/ 696221 w 737209"/>
              <a:gd name="connsiteY4" fmla="*/ 188818 h 722892"/>
              <a:gd name="connsiteX5" fmla="*/ 728589 w 737209"/>
              <a:gd name="connsiteY5" fmla="*/ 520591 h 722892"/>
              <a:gd name="connsiteX6" fmla="*/ 623393 w 737209"/>
              <a:gd name="connsiteY6" fmla="*/ 658156 h 722892"/>
              <a:gd name="connsiteX0" fmla="*/ 210675 w 740044"/>
              <a:gd name="connsiteY0" fmla="*/ 743338 h 743338"/>
              <a:gd name="connsiteX1" fmla="*/ 282 w 740044"/>
              <a:gd name="connsiteY1" fmla="*/ 476301 h 743338"/>
              <a:gd name="connsiteX2" fmla="*/ 170215 w 740044"/>
              <a:gd name="connsiteY2" fmla="*/ 87883 h 743338"/>
              <a:gd name="connsiteX3" fmla="*/ 364424 w 740044"/>
              <a:gd name="connsiteY3" fmla="*/ 6963 h 743338"/>
              <a:gd name="connsiteX4" fmla="*/ 696197 w 740044"/>
              <a:gd name="connsiteY4" fmla="*/ 209264 h 743338"/>
              <a:gd name="connsiteX5" fmla="*/ 728565 w 740044"/>
              <a:gd name="connsiteY5" fmla="*/ 541037 h 743338"/>
              <a:gd name="connsiteX6" fmla="*/ 623369 w 740044"/>
              <a:gd name="connsiteY6" fmla="*/ 678602 h 743338"/>
              <a:gd name="connsiteX0" fmla="*/ 210675 w 728565"/>
              <a:gd name="connsiteY0" fmla="*/ 740650 h 740650"/>
              <a:gd name="connsiteX1" fmla="*/ 282 w 728565"/>
              <a:gd name="connsiteY1" fmla="*/ 473613 h 740650"/>
              <a:gd name="connsiteX2" fmla="*/ 170215 w 728565"/>
              <a:gd name="connsiteY2" fmla="*/ 85195 h 740650"/>
              <a:gd name="connsiteX3" fmla="*/ 364424 w 728565"/>
              <a:gd name="connsiteY3" fmla="*/ 4275 h 740650"/>
              <a:gd name="connsiteX4" fmla="*/ 623369 w 728565"/>
              <a:gd name="connsiteY4" fmla="*/ 166116 h 740650"/>
              <a:gd name="connsiteX5" fmla="*/ 728565 w 728565"/>
              <a:gd name="connsiteY5" fmla="*/ 538349 h 740650"/>
              <a:gd name="connsiteX6" fmla="*/ 623369 w 728565"/>
              <a:gd name="connsiteY6" fmla="*/ 675914 h 740650"/>
              <a:gd name="connsiteX0" fmla="*/ 210675 w 760933"/>
              <a:gd name="connsiteY0" fmla="*/ 740650 h 740650"/>
              <a:gd name="connsiteX1" fmla="*/ 282 w 760933"/>
              <a:gd name="connsiteY1" fmla="*/ 473613 h 740650"/>
              <a:gd name="connsiteX2" fmla="*/ 170215 w 760933"/>
              <a:gd name="connsiteY2" fmla="*/ 85195 h 740650"/>
              <a:gd name="connsiteX3" fmla="*/ 364424 w 760933"/>
              <a:gd name="connsiteY3" fmla="*/ 4275 h 740650"/>
              <a:gd name="connsiteX4" fmla="*/ 623369 w 760933"/>
              <a:gd name="connsiteY4" fmla="*/ 166116 h 740650"/>
              <a:gd name="connsiteX5" fmla="*/ 760933 w 760933"/>
              <a:gd name="connsiteY5" fmla="*/ 376509 h 740650"/>
              <a:gd name="connsiteX6" fmla="*/ 623369 w 760933"/>
              <a:gd name="connsiteY6" fmla="*/ 675914 h 740650"/>
              <a:gd name="connsiteX0" fmla="*/ 138127 w 688385"/>
              <a:gd name="connsiteY0" fmla="*/ 739184 h 739184"/>
              <a:gd name="connsiteX1" fmla="*/ 562 w 688385"/>
              <a:gd name="connsiteY1" fmla="*/ 350767 h 739184"/>
              <a:gd name="connsiteX2" fmla="*/ 97667 w 688385"/>
              <a:gd name="connsiteY2" fmla="*/ 83729 h 739184"/>
              <a:gd name="connsiteX3" fmla="*/ 291876 w 688385"/>
              <a:gd name="connsiteY3" fmla="*/ 2809 h 739184"/>
              <a:gd name="connsiteX4" fmla="*/ 550821 w 688385"/>
              <a:gd name="connsiteY4" fmla="*/ 164650 h 739184"/>
              <a:gd name="connsiteX5" fmla="*/ 688385 w 688385"/>
              <a:gd name="connsiteY5" fmla="*/ 375043 h 739184"/>
              <a:gd name="connsiteX6" fmla="*/ 550821 w 688385"/>
              <a:gd name="connsiteY6" fmla="*/ 674448 h 739184"/>
              <a:gd name="connsiteX0" fmla="*/ 218751 w 769009"/>
              <a:gd name="connsiteY0" fmla="*/ 739184 h 739184"/>
              <a:gd name="connsiteX1" fmla="*/ 266 w 769009"/>
              <a:gd name="connsiteY1" fmla="*/ 350767 h 739184"/>
              <a:gd name="connsiteX2" fmla="*/ 178291 w 769009"/>
              <a:gd name="connsiteY2" fmla="*/ 83729 h 739184"/>
              <a:gd name="connsiteX3" fmla="*/ 372500 w 769009"/>
              <a:gd name="connsiteY3" fmla="*/ 2809 h 739184"/>
              <a:gd name="connsiteX4" fmla="*/ 631445 w 769009"/>
              <a:gd name="connsiteY4" fmla="*/ 164650 h 739184"/>
              <a:gd name="connsiteX5" fmla="*/ 769009 w 769009"/>
              <a:gd name="connsiteY5" fmla="*/ 375043 h 739184"/>
              <a:gd name="connsiteX6" fmla="*/ 631445 w 769009"/>
              <a:gd name="connsiteY6" fmla="*/ 674448 h 739184"/>
              <a:gd name="connsiteX0" fmla="*/ 222731 w 772989"/>
              <a:gd name="connsiteY0" fmla="*/ 736827 h 736827"/>
              <a:gd name="connsiteX1" fmla="*/ 4246 w 772989"/>
              <a:gd name="connsiteY1" fmla="*/ 348410 h 736827"/>
              <a:gd name="connsiteX2" fmla="*/ 101350 w 772989"/>
              <a:gd name="connsiteY2" fmla="*/ 121832 h 736827"/>
              <a:gd name="connsiteX3" fmla="*/ 376480 w 772989"/>
              <a:gd name="connsiteY3" fmla="*/ 452 h 736827"/>
              <a:gd name="connsiteX4" fmla="*/ 635425 w 772989"/>
              <a:gd name="connsiteY4" fmla="*/ 162293 h 736827"/>
              <a:gd name="connsiteX5" fmla="*/ 772989 w 772989"/>
              <a:gd name="connsiteY5" fmla="*/ 372686 h 736827"/>
              <a:gd name="connsiteX6" fmla="*/ 635425 w 772989"/>
              <a:gd name="connsiteY6" fmla="*/ 672091 h 736827"/>
              <a:gd name="connsiteX0" fmla="*/ 253971 w 804229"/>
              <a:gd name="connsiteY0" fmla="*/ 736969 h 736969"/>
              <a:gd name="connsiteX1" fmla="*/ 3118 w 804229"/>
              <a:gd name="connsiteY1" fmla="*/ 461841 h 736969"/>
              <a:gd name="connsiteX2" fmla="*/ 132590 w 804229"/>
              <a:gd name="connsiteY2" fmla="*/ 121974 h 736969"/>
              <a:gd name="connsiteX3" fmla="*/ 407720 w 804229"/>
              <a:gd name="connsiteY3" fmla="*/ 594 h 736969"/>
              <a:gd name="connsiteX4" fmla="*/ 666665 w 804229"/>
              <a:gd name="connsiteY4" fmla="*/ 162435 h 736969"/>
              <a:gd name="connsiteX5" fmla="*/ 804229 w 804229"/>
              <a:gd name="connsiteY5" fmla="*/ 372828 h 736969"/>
              <a:gd name="connsiteX6" fmla="*/ 666665 w 804229"/>
              <a:gd name="connsiteY6" fmla="*/ 672233 h 736969"/>
              <a:gd name="connsiteX0" fmla="*/ 253971 w 739493"/>
              <a:gd name="connsiteY0" fmla="*/ 736969 h 736969"/>
              <a:gd name="connsiteX1" fmla="*/ 3118 w 739493"/>
              <a:gd name="connsiteY1" fmla="*/ 461841 h 736969"/>
              <a:gd name="connsiteX2" fmla="*/ 132590 w 739493"/>
              <a:gd name="connsiteY2" fmla="*/ 121974 h 736969"/>
              <a:gd name="connsiteX3" fmla="*/ 407720 w 739493"/>
              <a:gd name="connsiteY3" fmla="*/ 594 h 736969"/>
              <a:gd name="connsiteX4" fmla="*/ 666665 w 739493"/>
              <a:gd name="connsiteY4" fmla="*/ 162435 h 736969"/>
              <a:gd name="connsiteX5" fmla="*/ 739493 w 739493"/>
              <a:gd name="connsiteY5" fmla="*/ 469932 h 736969"/>
              <a:gd name="connsiteX6" fmla="*/ 666665 w 739493"/>
              <a:gd name="connsiteY6" fmla="*/ 672233 h 736969"/>
              <a:gd name="connsiteX0" fmla="*/ 253971 w 747593"/>
              <a:gd name="connsiteY0" fmla="*/ 736969 h 736969"/>
              <a:gd name="connsiteX1" fmla="*/ 3118 w 747593"/>
              <a:gd name="connsiteY1" fmla="*/ 461841 h 736969"/>
              <a:gd name="connsiteX2" fmla="*/ 132590 w 747593"/>
              <a:gd name="connsiteY2" fmla="*/ 121974 h 736969"/>
              <a:gd name="connsiteX3" fmla="*/ 407720 w 747593"/>
              <a:gd name="connsiteY3" fmla="*/ 594 h 736969"/>
              <a:gd name="connsiteX4" fmla="*/ 666665 w 747593"/>
              <a:gd name="connsiteY4" fmla="*/ 162435 h 736969"/>
              <a:gd name="connsiteX5" fmla="*/ 739493 w 747593"/>
              <a:gd name="connsiteY5" fmla="*/ 469932 h 736969"/>
              <a:gd name="connsiteX6" fmla="*/ 504824 w 747593"/>
              <a:gd name="connsiteY6" fmla="*/ 639865 h 736969"/>
              <a:gd name="connsiteX0" fmla="*/ 313237 w 750215"/>
              <a:gd name="connsiteY0" fmla="*/ 639865 h 639865"/>
              <a:gd name="connsiteX1" fmla="*/ 5740 w 750215"/>
              <a:gd name="connsiteY1" fmla="*/ 461841 h 639865"/>
              <a:gd name="connsiteX2" fmla="*/ 135212 w 750215"/>
              <a:gd name="connsiteY2" fmla="*/ 121974 h 639865"/>
              <a:gd name="connsiteX3" fmla="*/ 410342 w 750215"/>
              <a:gd name="connsiteY3" fmla="*/ 594 h 639865"/>
              <a:gd name="connsiteX4" fmla="*/ 669287 w 750215"/>
              <a:gd name="connsiteY4" fmla="*/ 162435 h 639865"/>
              <a:gd name="connsiteX5" fmla="*/ 742115 w 750215"/>
              <a:gd name="connsiteY5" fmla="*/ 469932 h 639865"/>
              <a:gd name="connsiteX6" fmla="*/ 507446 w 750215"/>
              <a:gd name="connsiteY6" fmla="*/ 639865 h 639865"/>
              <a:gd name="connsiteX0" fmla="*/ 313237 w 798541"/>
              <a:gd name="connsiteY0" fmla="*/ 639865 h 704601"/>
              <a:gd name="connsiteX1" fmla="*/ 5740 w 798541"/>
              <a:gd name="connsiteY1" fmla="*/ 461841 h 704601"/>
              <a:gd name="connsiteX2" fmla="*/ 135212 w 798541"/>
              <a:gd name="connsiteY2" fmla="*/ 121974 h 704601"/>
              <a:gd name="connsiteX3" fmla="*/ 410342 w 798541"/>
              <a:gd name="connsiteY3" fmla="*/ 594 h 704601"/>
              <a:gd name="connsiteX4" fmla="*/ 669287 w 798541"/>
              <a:gd name="connsiteY4" fmla="*/ 162435 h 704601"/>
              <a:gd name="connsiteX5" fmla="*/ 742115 w 798541"/>
              <a:gd name="connsiteY5" fmla="*/ 469932 h 704601"/>
              <a:gd name="connsiteX6" fmla="*/ 782576 w 798541"/>
              <a:gd name="connsiteY6" fmla="*/ 704601 h 704601"/>
              <a:gd name="connsiteX0" fmla="*/ 313237 w 742181"/>
              <a:gd name="connsiteY0" fmla="*/ 639865 h 696509"/>
              <a:gd name="connsiteX1" fmla="*/ 5740 w 742181"/>
              <a:gd name="connsiteY1" fmla="*/ 461841 h 696509"/>
              <a:gd name="connsiteX2" fmla="*/ 135212 w 742181"/>
              <a:gd name="connsiteY2" fmla="*/ 121974 h 696509"/>
              <a:gd name="connsiteX3" fmla="*/ 410342 w 742181"/>
              <a:gd name="connsiteY3" fmla="*/ 594 h 696509"/>
              <a:gd name="connsiteX4" fmla="*/ 669287 w 742181"/>
              <a:gd name="connsiteY4" fmla="*/ 162435 h 696509"/>
              <a:gd name="connsiteX5" fmla="*/ 742115 w 742181"/>
              <a:gd name="connsiteY5" fmla="*/ 469932 h 696509"/>
              <a:gd name="connsiteX6" fmla="*/ 661195 w 742181"/>
              <a:gd name="connsiteY6" fmla="*/ 696509 h 696509"/>
              <a:gd name="connsiteX0" fmla="*/ 220343 w 738299"/>
              <a:gd name="connsiteY0" fmla="*/ 777430 h 777430"/>
              <a:gd name="connsiteX1" fmla="*/ 1858 w 738299"/>
              <a:gd name="connsiteY1" fmla="*/ 461841 h 777430"/>
              <a:gd name="connsiteX2" fmla="*/ 131330 w 738299"/>
              <a:gd name="connsiteY2" fmla="*/ 121974 h 777430"/>
              <a:gd name="connsiteX3" fmla="*/ 406460 w 738299"/>
              <a:gd name="connsiteY3" fmla="*/ 594 h 777430"/>
              <a:gd name="connsiteX4" fmla="*/ 665405 w 738299"/>
              <a:gd name="connsiteY4" fmla="*/ 162435 h 777430"/>
              <a:gd name="connsiteX5" fmla="*/ 738233 w 738299"/>
              <a:gd name="connsiteY5" fmla="*/ 469932 h 777430"/>
              <a:gd name="connsiteX6" fmla="*/ 657313 w 738299"/>
              <a:gd name="connsiteY6" fmla="*/ 696509 h 777430"/>
              <a:gd name="connsiteX0" fmla="*/ 180963 w 698919"/>
              <a:gd name="connsiteY0" fmla="*/ 777360 h 777360"/>
              <a:gd name="connsiteX1" fmla="*/ 2938 w 698919"/>
              <a:gd name="connsiteY1" fmla="*/ 413219 h 777360"/>
              <a:gd name="connsiteX2" fmla="*/ 91950 w 698919"/>
              <a:gd name="connsiteY2" fmla="*/ 121904 h 777360"/>
              <a:gd name="connsiteX3" fmla="*/ 367080 w 698919"/>
              <a:gd name="connsiteY3" fmla="*/ 524 h 777360"/>
              <a:gd name="connsiteX4" fmla="*/ 626025 w 698919"/>
              <a:gd name="connsiteY4" fmla="*/ 162365 h 777360"/>
              <a:gd name="connsiteX5" fmla="*/ 698853 w 698919"/>
              <a:gd name="connsiteY5" fmla="*/ 469862 h 777360"/>
              <a:gd name="connsiteX6" fmla="*/ 617933 w 698919"/>
              <a:gd name="connsiteY6" fmla="*/ 696439 h 77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19" h="777360">
                <a:moveTo>
                  <a:pt x="180963" y="777360"/>
                </a:moveTo>
                <a:cubicBezTo>
                  <a:pt x="85881" y="696439"/>
                  <a:pt x="17773" y="522462"/>
                  <a:pt x="2938" y="413219"/>
                </a:cubicBezTo>
                <a:cubicBezTo>
                  <a:pt x="-11897" y="303976"/>
                  <a:pt x="31260" y="190687"/>
                  <a:pt x="91950" y="121904"/>
                </a:cubicBezTo>
                <a:cubicBezTo>
                  <a:pt x="152640" y="53122"/>
                  <a:pt x="278068" y="-6220"/>
                  <a:pt x="367080" y="524"/>
                </a:cubicBezTo>
                <a:cubicBezTo>
                  <a:pt x="456093" y="7268"/>
                  <a:pt x="570729" y="84142"/>
                  <a:pt x="626025" y="162365"/>
                </a:cubicBezTo>
                <a:cubicBezTo>
                  <a:pt x="681321" y="240588"/>
                  <a:pt x="700202" y="380850"/>
                  <a:pt x="698853" y="469862"/>
                </a:cubicBezTo>
                <a:cubicBezTo>
                  <a:pt x="697504" y="558874"/>
                  <a:pt x="664462" y="666768"/>
                  <a:pt x="617933" y="696439"/>
                </a:cubicBezTo>
              </a:path>
            </a:pathLst>
          </a:cu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41C5F3-0281-432B-B07D-172819181D5C}"/>
                  </a:ext>
                </a:extLst>
              </p:cNvPr>
              <p:cNvSpPr txBox="1"/>
              <p:nvPr/>
            </p:nvSpPr>
            <p:spPr>
              <a:xfrm>
                <a:off x="597954" y="3874714"/>
                <a:ext cx="15252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0|1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41C5F3-0281-432B-B07D-172819181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54" y="3874714"/>
                <a:ext cx="152522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70D713-341D-40DE-8313-19A11284ADD8}"/>
                  </a:ext>
                </a:extLst>
              </p:cNvPr>
              <p:cNvSpPr txBox="1"/>
              <p:nvPr/>
            </p:nvSpPr>
            <p:spPr>
              <a:xfrm>
                <a:off x="3871506" y="3515210"/>
                <a:ext cx="15855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70D713-341D-40DE-8313-19A11284A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506" y="3515210"/>
                <a:ext cx="1585552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37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</p:spPr>
            <p:txBody>
              <a:bodyPr/>
              <a:lstStyle/>
              <a:p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Infinite strings where:</a:t>
                </a:r>
              </a:p>
              <a:p>
                <a:pPr lvl="1"/>
                <a:r>
                  <a:rPr lang="en-US" dirty="0"/>
                  <a:t>Always when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/>
                  <a:t>, in some future step,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or x is never 1</a:t>
                </a:r>
              </a:p>
              <a:p>
                <a:pPr lvl="1"/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r>
                      <a:rPr lang="mr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must be followed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  <a:blipFill>
                <a:blip r:embed="rId2"/>
                <a:stretch>
                  <a:fillRect l="-799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D77A11A-60B4-4362-8358-886D712A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B1D70-7207-43E0-8BC7-B9453593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29E8EA-FD7C-44CE-B96C-C3E80CBFAB86}"/>
              </a:ext>
            </a:extLst>
          </p:cNvPr>
          <p:cNvGrpSpPr/>
          <p:nvPr/>
        </p:nvGrpSpPr>
        <p:grpSpPr>
          <a:xfrm>
            <a:off x="138799" y="1111257"/>
            <a:ext cx="5118246" cy="2433772"/>
            <a:chOff x="2947132" y="2049660"/>
            <a:chExt cx="5118246" cy="2433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/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E63B181-685E-4806-8000-54E034177D2A}"/>
                </a:ext>
              </a:extLst>
            </p:cNvPr>
            <p:cNvCxnSpPr>
              <a:cxnSpLocks/>
            </p:cNvCxnSpPr>
            <p:nvPr/>
          </p:nvCxnSpPr>
          <p:spPr>
            <a:xfrm>
              <a:off x="2947132" y="4036214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9858346-68F8-4C9E-AAB2-4F0E67F85F44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EB7AAB5-628B-4099-9ABB-0DA172EDB023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D62C5E-ECEF-468D-901E-1DB300FF5970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868A533-1DA4-4685-AEDD-8435CA4E08F1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/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a14:m>
                  <a:r>
                    <a:rPr lang="en-US" sz="2800" dirty="0"/>
                    <a:t> |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blipFill>
                  <a:blip r:embed="rId6"/>
                  <a:stretch>
                    <a:fillRect t="-5732" r="-8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/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 &amp;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blipFill>
                  <a:blip r:embed="rId7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/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/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  <a:blipFill>
                <a:blip r:embed="rId10"/>
                <a:stretch>
                  <a:fillRect l="-1000" t="-7273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/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04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552041-6713-4A8E-BF02-4C7C6B868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130346"/>
            <a:ext cx="11699087" cy="706490"/>
          </a:xfrm>
        </p:spPr>
        <p:txBody>
          <a:bodyPr/>
          <a:lstStyle/>
          <a:p>
            <a:r>
              <a:rPr lang="en-US" dirty="0"/>
              <a:t>Language of an automaton: set of all strings accepted by the automaton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and LTL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66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166680" y="1677172"/>
            <a:ext cx="5126619" cy="2335827"/>
            <a:chOff x="2975013" y="2147605"/>
            <a:chExt cx="5126619" cy="23358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1AEA05E-E402-4B1D-8FA3-A23B30A4F5A5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6CDBBD7-6F78-482F-A039-83289AF6AACF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0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Content Placeholder 1">
            <a:extLst>
              <a:ext uri="{FF2B5EF4-FFF2-40B4-BE49-F238E27FC236}">
                <a16:creationId xmlns:a16="http://schemas.microsoft.com/office/drawing/2014/main" id="{16FD0E49-E738-46FB-8E04-C8FBA470C6B7}"/>
              </a:ext>
            </a:extLst>
          </p:cNvPr>
          <p:cNvSpPr txBox="1">
            <a:spLocks/>
          </p:cNvSpPr>
          <p:nvPr/>
        </p:nvSpPr>
        <p:spPr>
          <a:xfrm>
            <a:off x="5349706" y="1629765"/>
            <a:ext cx="6744563" cy="2804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20323" y="2332077"/>
                <a:ext cx="4879893" cy="10691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LTL formula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323" y="2332077"/>
                <a:ext cx="4879893" cy="1069193"/>
              </a:xfrm>
              <a:prstGeom prst="rect">
                <a:avLst/>
              </a:prstGeom>
              <a:blipFill>
                <a:blip r:embed="rId7"/>
                <a:stretch>
                  <a:fillRect l="-1625" t="-9714" b="-9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/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1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blipFill>
                <a:blip r:embed="rId9"/>
                <a:stretch>
                  <a:fillRect t="-10465" r="-1018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/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0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blipFill>
                <a:blip r:embed="rId10"/>
                <a:stretch>
                  <a:fillRect t="-11765" r="-10778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55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67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254141" y="1078361"/>
            <a:ext cx="5159186" cy="2120755"/>
            <a:chOff x="2975013" y="2147605"/>
            <a:chExt cx="5159186" cy="21207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/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356" y="3830358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56" y="3830358"/>
                <a:ext cx="4879943" cy="1003707"/>
              </a:xfrm>
              <a:prstGeom prst="rect">
                <a:avLst/>
              </a:prstGeom>
              <a:blipFill>
                <a:blip r:embed="rId8"/>
                <a:stretch>
                  <a:fillRect l="-1000" t="-5455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03983" y="1078361"/>
                <a:ext cx="4985909" cy="4304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 </a:t>
                </a:r>
              </a:p>
              <a:p>
                <a:r>
                  <a:rPr lang="en-US" dirty="0"/>
                  <a:t>LTL formula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983" y="1078361"/>
                <a:ext cx="4985909" cy="4304963"/>
              </a:xfrm>
              <a:prstGeom prst="rect">
                <a:avLst/>
              </a:prstGeom>
              <a:blipFill>
                <a:blip r:embed="rId9"/>
                <a:stretch>
                  <a:fillRect l="-2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6D85EF-1ACC-467C-B347-19BD1D6F4681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965856" y="2927005"/>
            <a:ext cx="2413873" cy="1050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28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LTL formula: </a:t>
                </a:r>
              </a:p>
              <a:p>
                <a:pPr marL="18288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I.e. always when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/>
                  <a:t>, in some future step,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r>
                      <a:rPr lang="mr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must be followed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  <a:blipFill>
                <a:blip r:embed="rId2"/>
                <a:stretch>
                  <a:fillRect l="-209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D77A11A-60B4-4362-8358-886D712A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B1D70-7207-43E0-8BC7-B9453593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29E8EA-FD7C-44CE-B96C-C3E80CBFAB86}"/>
              </a:ext>
            </a:extLst>
          </p:cNvPr>
          <p:cNvGrpSpPr/>
          <p:nvPr/>
        </p:nvGrpSpPr>
        <p:grpSpPr>
          <a:xfrm>
            <a:off x="138799" y="1111257"/>
            <a:ext cx="5118246" cy="2433772"/>
            <a:chOff x="2947132" y="2049660"/>
            <a:chExt cx="5118246" cy="2433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/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E63B181-685E-4806-8000-54E034177D2A}"/>
                </a:ext>
              </a:extLst>
            </p:cNvPr>
            <p:cNvCxnSpPr>
              <a:cxnSpLocks/>
            </p:cNvCxnSpPr>
            <p:nvPr/>
          </p:nvCxnSpPr>
          <p:spPr>
            <a:xfrm>
              <a:off x="2947132" y="4036214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9858346-68F8-4C9E-AAB2-4F0E67F85F44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EB7AAB5-628B-4099-9ABB-0DA172EDB023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D62C5E-ECEF-468D-901E-1DB300FF5970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868A533-1DA4-4685-AEDD-8435CA4E08F1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/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a14:m>
                  <a:r>
                    <a:rPr lang="en-US" sz="2800" dirty="0"/>
                    <a:t> |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blipFill>
                  <a:blip r:embed="rId6"/>
                  <a:stretch>
                    <a:fillRect t="-5732" r="-8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/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 &amp;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blipFill>
                  <a:blip r:embed="rId7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/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/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  <a:blipFill>
                <a:blip r:embed="rId10"/>
                <a:stretch>
                  <a:fillRect l="-1000" t="-7273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/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12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EB444EA-D2E8-4066-ADD7-D6CD2324C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2363821"/>
                <a:ext cx="11769071" cy="30740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Theoretical result: Every LTL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can be converted to a </a:t>
                </a:r>
                <a:r>
                  <a:rPr lang="en-US" dirty="0" err="1"/>
                  <a:t>Büchi</a:t>
                </a:r>
                <a:r>
                  <a:rPr lang="en-US" dirty="0"/>
                  <a:t> monitor/automaton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en-US" dirty="0"/>
                  <a:t> is generally exponential in the size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; blow-up unavoidable in general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EB444EA-D2E8-4066-ADD7-D6CD2324C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2363821"/>
                <a:ext cx="11769071" cy="3074027"/>
              </a:xfrm>
              <a:blipFill>
                <a:blip r:embed="rId2"/>
                <a:stretch>
                  <a:fillRect l="-621" t="-3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2BFAF98-54A9-4568-90B0-EA4ED4D1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Büchi</a:t>
            </a:r>
            <a:r>
              <a:rPr lang="en-US" dirty="0"/>
              <a:t> monitors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1E830-2D88-4E52-A81F-074161B3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1532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EF6CD3D-8087-EBCB-4DF8-9B82FE7EF8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Runtime monitoring: return a verdict based on only a finite portion of the trace</a:t>
                </a:r>
              </a:p>
              <a:p>
                <a:r>
                  <a:rPr lang="en-US" dirty="0"/>
                  <a:t>Some kinds of formulas can be monitored on finite traces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(¬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Finitely satisfiable: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Finitely refutable: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Some formulas can never return a verdict on finite traces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EF6CD3D-8087-EBCB-4DF8-9B82FE7EF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9D0AE8B-1E68-9600-A92B-766F6870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Büchi monitors for runtime monitoring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6E3B-11D1-65CB-462B-F03D20D4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0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99F4456-DC0D-4E53-9BA4-3289B49241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581665"/>
                <a:ext cx="12115800" cy="4102376"/>
              </a:xfrm>
            </p:spPr>
            <p:txBody>
              <a:bodyPr/>
              <a:lstStyle/>
              <a:p>
                <a:r>
                  <a:rPr lang="en-US" dirty="0"/>
                  <a:t>Construct composition of the original transition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the </a:t>
                </a:r>
                <a:r>
                  <a:rPr lang="en-US" dirty="0" err="1"/>
                  <a:t>Büchi</a:t>
                </a:r>
                <a:r>
                  <a:rPr lang="en-US" dirty="0"/>
                  <a:t> monitor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If there are cycles in the </a:t>
                </a:r>
                <a:r>
                  <a:rPr lang="en-US" i="1" dirty="0"/>
                  <a:t>product automaton </a:t>
                </a:r>
                <a:r>
                  <a:rPr lang="en-US" dirty="0"/>
                  <a:t>that visit the states specified by the Büchi condition, then we have found a violation</a:t>
                </a:r>
              </a:p>
              <a:p>
                <a:r>
                  <a:rPr lang="en-US" dirty="0"/>
                  <a:t>Reachable cycles in process composition correspond to counterexamples!</a:t>
                </a:r>
              </a:p>
              <a:p>
                <a:r>
                  <a:rPr lang="en-US" dirty="0"/>
                  <a:t>Implemented in many verification tools (e.g. the SPIN model checker developed at NASA JPL)</a:t>
                </a:r>
              </a:p>
              <a:p>
                <a:r>
                  <a:rPr lang="en-US" dirty="0"/>
                  <a:t>Many open-source tools to translate LTL properties to Büchi monitors: quite popular in the robotics domain [Spot, LTL2BA, …]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99F4456-DC0D-4E53-9BA4-3289B49241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581665"/>
                <a:ext cx="12115800" cy="4102376"/>
              </a:xfrm>
              <a:blipFill>
                <a:blip r:embed="rId2"/>
                <a:stretch>
                  <a:fillRect l="-402" t="-2080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3209AE3-65D4-4C5D-8680-7944FBBA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Model 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B9358-5503-49A1-ABD4-A11F2BA0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1073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E7AA8D-B526-4B9A-1065-84AEF045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C62539-93A0-6AC6-9EE5-6B4C5CCE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LTL model checking for Blinker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021C5-BDAA-94AA-8347-EE997D20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7551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8E9583-79D8-475B-B686-7636D81B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Processes &amp; Fairness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174A7-1E54-4BE9-BBA9-B0C4748D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73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692C5A-B8BB-40E0-973E-2E4BDF7378E1}"/>
              </a:ext>
            </a:extLst>
          </p:cNvPr>
          <p:cNvGrpSpPr/>
          <p:nvPr/>
        </p:nvGrpSpPr>
        <p:grpSpPr>
          <a:xfrm>
            <a:off x="586291" y="1849292"/>
            <a:ext cx="3211205" cy="2463764"/>
            <a:chOff x="1206585" y="1723597"/>
            <a:chExt cx="3719413" cy="271022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8DDCF0-5937-4478-8727-BFD18F92DDA5}"/>
                </a:ext>
              </a:extLst>
            </p:cNvPr>
            <p:cNvSpPr/>
            <p:nvPr/>
          </p:nvSpPr>
          <p:spPr>
            <a:xfrm>
              <a:off x="1206585" y="1723597"/>
              <a:ext cx="3719413" cy="2710224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69E4D36-E8D2-4163-BBF6-18EBD45C5DBC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7D3B20-40BD-4A29-A4F0-725F94B2D719}"/>
                </a:ext>
              </a:extLst>
            </p:cNvPr>
            <p:cNvSpPr txBox="1"/>
            <p:nvPr/>
          </p:nvSpPr>
          <p:spPr>
            <a:xfrm>
              <a:off x="1484210" y="1888296"/>
              <a:ext cx="3222109" cy="50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nat</a:t>
              </a:r>
              <a:r>
                <a:rPr lang="en-US" sz="2400" dirty="0"/>
                <a:t> x := 0; bool y:=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AEE2A0A-6205-4377-A7B8-F18ED299B0F5}"/>
                    </a:ext>
                  </a:extLst>
                </p:cNvPr>
                <p:cNvSpPr txBox="1"/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800" dirty="0"/>
                    <a:t>  x := x + 1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AEE2A0A-6205-4377-A7B8-F18ED299B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blipFill>
                  <a:blip r:embed="rId2"/>
                  <a:stretch>
                    <a:fillRect l="-6329" t="-10465" r="-538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9FE9F2-333A-40FA-A5A5-C315A2DFFBDE}"/>
                    </a:ext>
                  </a:extLst>
                </p:cNvPr>
                <p:cNvSpPr txBox="1"/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800" dirty="0"/>
                </a:p>
                <a:p>
                  <a:r>
                    <a:rPr lang="en-US" sz="2800" dirty="0"/>
                    <a:t>    	y: = 1-y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9FE9F2-333A-40FA-A5A5-C315A2DFFB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blipFill>
                  <a:blip r:embed="rId3"/>
                  <a:stretch>
                    <a:fillRect l="-5634" t="-5732" r="-4789" b="-17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5EFC7A7-20DF-483D-8784-5FC2BFEB2B7C}"/>
              </a:ext>
            </a:extLst>
          </p:cNvPr>
          <p:cNvSpPr txBox="1"/>
          <p:nvPr/>
        </p:nvSpPr>
        <p:spPr>
          <a:xfrm>
            <a:off x="1577173" y="4311236"/>
            <a:ext cx="122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Blinker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1">
                <a:extLst>
                  <a:ext uri="{FF2B5EF4-FFF2-40B4-BE49-F238E27FC236}">
                    <a16:creationId xmlns:a16="http://schemas.microsoft.com/office/drawing/2014/main" id="{CC2035F6-4A37-4275-9FFD-2BB3913BB2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37331" y="1332703"/>
                <a:ext cx="752843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Liveness property: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10)</a:t>
                </a:r>
                <a:endParaRPr lang="en-US" b="1" dirty="0"/>
              </a:p>
              <a:p>
                <a:pPr lvl="1"/>
                <a:r>
                  <a:rPr lang="en-US" dirty="0"/>
                  <a:t>Is this property guaranteed to hold?</a:t>
                </a:r>
              </a:p>
              <a:p>
                <a:pPr lvl="1"/>
                <a:r>
                  <a:rPr lang="en-US" dirty="0"/>
                  <a:t>No, task A may be executed less than 10 times.</a:t>
                </a:r>
              </a:p>
              <a:p>
                <a:r>
                  <a:rPr lang="en-US" dirty="0"/>
                  <a:t>Liveness Property: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dirty="0"/>
                  <a:t> y (eventually y is 1)</a:t>
                </a:r>
              </a:p>
              <a:p>
                <a:pPr lvl="1"/>
                <a:r>
                  <a:rPr lang="en-US" dirty="0"/>
                  <a:t>Is this property guaranteed to hold?</a:t>
                </a:r>
              </a:p>
              <a:p>
                <a:pPr lvl="1"/>
                <a:r>
                  <a:rPr lang="en-US" dirty="0"/>
                  <a:t>No, task B may never be selected for execution!</a:t>
                </a:r>
              </a:p>
              <a:p>
                <a:r>
                  <a:rPr lang="en-US" dirty="0"/>
                  <a:t>But, this seems like a very unrealistic or broken scheduler!</a:t>
                </a:r>
              </a:p>
              <a:p>
                <a:r>
                  <a:rPr lang="en-US" dirty="0"/>
                  <a:t>For infinite executions involving multiple tasks, it is important for the execution to be </a:t>
                </a:r>
                <a:r>
                  <a:rPr lang="en-US" i="1" dirty="0"/>
                  <a:t>fair</a:t>
                </a:r>
                <a:r>
                  <a:rPr lang="en-US" dirty="0"/>
                  <a:t> to each task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5" name="Content Placeholder 1">
                <a:extLst>
                  <a:ext uri="{FF2B5EF4-FFF2-40B4-BE49-F238E27FC236}">
                    <a16:creationId xmlns:a16="http://schemas.microsoft.com/office/drawing/2014/main" id="{CC2035F6-4A37-4275-9FFD-2BB3913BB2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37331" y="1332703"/>
                <a:ext cx="7528437" cy="4351338"/>
              </a:xfrm>
              <a:blipFill>
                <a:blip r:embed="rId4"/>
                <a:stretch>
                  <a:fillRect l="-648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67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96B205-A777-4426-A942-7DA750B3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2269" y="1332703"/>
            <a:ext cx="7973499" cy="4351338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i="1" dirty="0"/>
              <a:t>fairness assumption </a:t>
            </a:r>
            <a:r>
              <a:rPr lang="en-US" dirty="0"/>
              <a:t>is a property that encodes the meaning of what it means for an infinite execution to be fair with respect to a task.</a:t>
            </a:r>
          </a:p>
          <a:p>
            <a:r>
              <a:rPr lang="en-US" b="1" dirty="0"/>
              <a:t>Weak fairness: </a:t>
            </a:r>
            <a:r>
              <a:rPr lang="en-US" dirty="0"/>
              <a:t>If a task is persistently enabled, then it is repeatedly executed.</a:t>
            </a:r>
          </a:p>
          <a:p>
            <a:pPr lvl="1"/>
            <a:r>
              <a:rPr lang="en-US" dirty="0"/>
              <a:t>I.e. if after some point the task guard is always true, then the task is infinitely often executed.</a:t>
            </a:r>
          </a:p>
          <a:p>
            <a:r>
              <a:rPr lang="en-US" b="1" dirty="0"/>
              <a:t>Strong fairness</a:t>
            </a:r>
            <a:r>
              <a:rPr lang="en-US" dirty="0"/>
              <a:t>: If a task is repeatedly enabled, then it is repeatedly executed.</a:t>
            </a:r>
          </a:p>
          <a:p>
            <a:pPr lvl="1"/>
            <a:r>
              <a:rPr lang="en-US" dirty="0"/>
              <a:t>I.e. if the task guard is infinitely often true, then the task is infinitely often executed.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05320C-1ECD-413E-87EC-6B273F66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vs. Strong fairness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8F2A5-A276-4209-B6C3-85057505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20A5B5-8B46-4328-8B07-BD58C57ECB78}"/>
              </a:ext>
            </a:extLst>
          </p:cNvPr>
          <p:cNvGrpSpPr/>
          <p:nvPr/>
        </p:nvGrpSpPr>
        <p:grpSpPr>
          <a:xfrm>
            <a:off x="390969" y="1873568"/>
            <a:ext cx="3211205" cy="2463764"/>
            <a:chOff x="1206585" y="1723597"/>
            <a:chExt cx="3719413" cy="27102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DDF437-9A66-4686-A07C-9ED49112A3F5}"/>
                </a:ext>
              </a:extLst>
            </p:cNvPr>
            <p:cNvSpPr/>
            <p:nvPr/>
          </p:nvSpPr>
          <p:spPr>
            <a:xfrm>
              <a:off x="1206585" y="1723597"/>
              <a:ext cx="3719413" cy="2710224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5FC8B01-4D34-4DBA-A0F9-F3DE12CA5E7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5288AF-11FB-4D89-BEB3-C279BE4DC817}"/>
                </a:ext>
              </a:extLst>
            </p:cNvPr>
            <p:cNvSpPr txBox="1"/>
            <p:nvPr/>
          </p:nvSpPr>
          <p:spPr>
            <a:xfrm>
              <a:off x="1484210" y="1888296"/>
              <a:ext cx="3222109" cy="50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nat</a:t>
              </a:r>
              <a:r>
                <a:rPr lang="en-US" sz="2400" dirty="0"/>
                <a:t> x := 0; bool y:=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3502C7F-4F24-46A4-A771-168070C2CEC0}"/>
                    </a:ext>
                  </a:extLst>
                </p:cNvPr>
                <p:cNvSpPr txBox="1"/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800" dirty="0"/>
                    <a:t>  x := x + 1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3502C7F-4F24-46A4-A771-168070C2CE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blipFill>
                  <a:blip r:embed="rId2"/>
                  <a:stretch>
                    <a:fillRect l="-6329" t="-10465" r="-538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A57EE97-E5B6-4980-AFAF-F3727DA5744D}"/>
                    </a:ext>
                  </a:extLst>
                </p:cNvPr>
                <p:cNvSpPr txBox="1"/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800" dirty="0"/>
                </a:p>
                <a:p>
                  <a:r>
                    <a:rPr lang="en-US" sz="2800" dirty="0"/>
                    <a:t>    	y: = 1-y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A57EE97-E5B6-4980-AFAF-F3727DA574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blipFill>
                  <a:blip r:embed="rId3"/>
                  <a:stretch>
                    <a:fillRect l="-5634" t="-5732" r="-4789" b="-17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AD1DEE5-BFB2-4360-A817-8BD12E49E1ED}"/>
              </a:ext>
            </a:extLst>
          </p:cNvPr>
          <p:cNvSpPr txBox="1"/>
          <p:nvPr/>
        </p:nvSpPr>
        <p:spPr>
          <a:xfrm>
            <a:off x="1272689" y="4384337"/>
            <a:ext cx="122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Blinker</a:t>
            </a:r>
          </a:p>
        </p:txBody>
      </p:sp>
    </p:spTree>
    <p:extLst>
      <p:ext uri="{BB962C8B-B14F-4D97-AF65-F5344CB8AC3E}">
        <p14:creationId xmlns:p14="http://schemas.microsoft.com/office/powerpoint/2010/main" val="23458941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95608AB-2AA4-48EB-8BB2-D1FB7B880C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729" y="1332703"/>
                <a:ext cx="793303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Fairness assumptions can be expressed in LTL!</a:t>
                </a:r>
              </a:p>
              <a:p>
                <a:r>
                  <a:rPr lang="en-US" dirty="0"/>
                  <a:t>Add a new variable </a:t>
                </a:r>
                <a:r>
                  <a:rPr lang="en-US" i="1" dirty="0"/>
                  <a:t>taken </a:t>
                </a:r>
                <a:r>
                  <a:rPr lang="en-US" dirty="0"/>
                  <a:t>that takes value ‘A’, ‘B’</a:t>
                </a:r>
              </a:p>
              <a:p>
                <a:r>
                  <a:rPr lang="en-US" dirty="0"/>
                  <a:t>Weak fairness: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𝑔𝑢𝑎𝑟𝑑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dirty="0"/>
                  <a:t>(taken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))</a:t>
                </a:r>
              </a:p>
              <a:p>
                <a:r>
                  <a:rPr lang="en-US" dirty="0"/>
                  <a:t>Task A: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𝑔𝑢𝑎𝑟𝑑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, so this simplifies to: </a:t>
                </a:r>
                <a:r>
                  <a:rPr lang="en-US" dirty="0" err="1"/>
                  <a:t>wf</a:t>
                </a:r>
                <a:r>
                  <a:rPr lang="en-US" dirty="0"/>
                  <a:t>(A)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dirty="0"/>
                  <a:t>(taken=A)</a:t>
                </a:r>
              </a:p>
              <a:p>
                <a:r>
                  <a:rPr lang="en-US" dirty="0"/>
                  <a:t>Task B: </a:t>
                </a:r>
                <a:r>
                  <a:rPr lang="en-US" dirty="0" err="1"/>
                  <a:t>wf</a:t>
                </a:r>
                <a:r>
                  <a:rPr lang="en-US" dirty="0"/>
                  <a:t>(B)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(even(x))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(taken=B)</a:t>
                </a:r>
              </a:p>
              <a:p>
                <a:r>
                  <a:rPr lang="en-US" dirty="0"/>
                  <a:t>Does (</a:t>
                </a:r>
                <a:r>
                  <a:rPr lang="en-US" dirty="0" err="1"/>
                  <a:t>wf</a:t>
                </a:r>
                <a:r>
                  <a:rPr lang="en-US" dirty="0"/>
                  <a:t>(A)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wf</a:t>
                </a:r>
                <a:r>
                  <a:rPr lang="en-US" dirty="0"/>
                  <a:t>(B))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10)? </a:t>
                </a:r>
              </a:p>
              <a:p>
                <a:pPr lvl="1"/>
                <a:r>
                  <a:rPr lang="en-US" b="1" dirty="0"/>
                  <a:t>Yes!</a:t>
                </a:r>
              </a:p>
              <a:p>
                <a:r>
                  <a:rPr lang="en-US" dirty="0"/>
                  <a:t>Does (</a:t>
                </a:r>
                <a:r>
                  <a:rPr lang="en-US" dirty="0" err="1"/>
                  <a:t>wf</a:t>
                </a:r>
                <a:r>
                  <a:rPr lang="en-US" dirty="0"/>
                  <a:t>(A)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wf</a:t>
                </a:r>
                <a:r>
                  <a:rPr lang="en-US" dirty="0"/>
                  <a:t>(B))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y?</a:t>
                </a:r>
              </a:p>
              <a:p>
                <a:pPr lvl="1"/>
                <a:r>
                  <a:rPr lang="en-US" b="1" dirty="0"/>
                  <a:t>No!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95608AB-2AA4-48EB-8BB2-D1FB7B880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729" y="1332703"/>
                <a:ext cx="7933039" cy="4351338"/>
              </a:xfrm>
              <a:blipFill>
                <a:blip r:embed="rId2"/>
                <a:stretch>
                  <a:fillRect l="-615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CEAEB44-B2D0-4E62-9D2A-4EA7325A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Expressing fairness assumptions in LTL: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46B17-D3DE-407A-97E7-C96B412A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01B6B38-8599-47E3-A968-B0F7028F80D8}"/>
              </a:ext>
            </a:extLst>
          </p:cNvPr>
          <p:cNvGrpSpPr/>
          <p:nvPr/>
        </p:nvGrpSpPr>
        <p:grpSpPr>
          <a:xfrm>
            <a:off x="355157" y="1399921"/>
            <a:ext cx="3247017" cy="2362876"/>
            <a:chOff x="1165105" y="1723597"/>
            <a:chExt cx="3760893" cy="21457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7F525F-A808-41B2-8871-5502B3052D56}"/>
                </a:ext>
              </a:extLst>
            </p:cNvPr>
            <p:cNvSpPr/>
            <p:nvPr/>
          </p:nvSpPr>
          <p:spPr>
            <a:xfrm>
              <a:off x="1206585" y="1723597"/>
              <a:ext cx="3719413" cy="2145788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E462D1-9CDC-4B15-B2CA-5FAF6E0602FE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AF07B6-7024-473C-9729-7C6C65BA671C}"/>
                    </a:ext>
                  </a:extLst>
                </p:cNvPr>
                <p:cNvSpPr txBox="1"/>
                <p:nvPr/>
              </p:nvSpPr>
              <p:spPr>
                <a:xfrm>
                  <a:off x="1206585" y="1730318"/>
                  <a:ext cx="3639198" cy="4259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err="1"/>
                    <a:t>nat</a:t>
                  </a:r>
                  <a:r>
                    <a:rPr lang="en-US" sz="2400" dirty="0"/>
                    <a:t> x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:= 0</m:t>
                      </m:r>
                    </m:oMath>
                  </a14:m>
                  <a:r>
                    <a:rPr lang="en-US" sz="2400" dirty="0"/>
                    <a:t>; bool y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:= 0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AF07B6-7024-473C-9729-7C6C65BA6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585" y="1730318"/>
                  <a:ext cx="3639198" cy="425959"/>
                </a:xfrm>
                <a:prstGeom prst="rect">
                  <a:avLst/>
                </a:prstGeom>
                <a:blipFill>
                  <a:blip r:embed="rId3"/>
                  <a:stretch>
                    <a:fillRect l="-2907" t="-1039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00FAA58-FDBD-4C65-A48D-248D4CF37EAA}"/>
                    </a:ext>
                  </a:extLst>
                </p:cNvPr>
                <p:cNvSpPr txBox="1"/>
                <p:nvPr/>
              </p:nvSpPr>
              <p:spPr>
                <a:xfrm>
                  <a:off x="1165105" y="2689102"/>
                  <a:ext cx="3567849" cy="4259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400" dirty="0"/>
                    <a:t>  x := x + 1; taken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2400" dirty="0"/>
                    <a:t>A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00FAA58-FDBD-4C65-A48D-248D4CF37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105" y="2689102"/>
                  <a:ext cx="3567849" cy="425959"/>
                </a:xfrm>
                <a:prstGeom prst="rect">
                  <a:avLst/>
                </a:prstGeom>
                <a:blipFill>
                  <a:blip r:embed="rId4"/>
                  <a:stretch>
                    <a:fillRect l="-2964" t="-10390" r="-79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CEDD44-EE8B-4793-A313-A4F01C864682}"/>
                    </a:ext>
                  </a:extLst>
                </p:cNvPr>
                <p:cNvSpPr txBox="1"/>
                <p:nvPr/>
              </p:nvSpPr>
              <p:spPr>
                <a:xfrm>
                  <a:off x="1204975" y="3027485"/>
                  <a:ext cx="3719413" cy="7667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400" dirty="0"/>
                </a:p>
                <a:p>
                  <a:r>
                    <a:rPr lang="en-US" sz="2400" dirty="0"/>
                    <a:t>         y: = 1-y; taken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≔</m:t>
                      </m:r>
                    </m:oMath>
                  </a14:m>
                  <a:r>
                    <a:rPr lang="en-US" sz="2400" dirty="0"/>
                    <a:t> B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CEDD44-EE8B-4793-A313-A4F01C864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975" y="3027485"/>
                  <a:ext cx="3719413" cy="766726"/>
                </a:xfrm>
                <a:prstGeom prst="rect">
                  <a:avLst/>
                </a:prstGeom>
                <a:blipFill>
                  <a:blip r:embed="rId5"/>
                  <a:stretch>
                    <a:fillRect l="-3036" t="-5755" r="-1898" b="-136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9D1802D-3209-4D97-ACBA-6B160E632AE1}"/>
              </a:ext>
            </a:extLst>
          </p:cNvPr>
          <p:cNvSpPr txBox="1"/>
          <p:nvPr/>
        </p:nvSpPr>
        <p:spPr>
          <a:xfrm>
            <a:off x="1151308" y="3754601"/>
            <a:ext cx="122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Blinker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4D2538-571A-4B30-94F3-5957F750076C}"/>
                  </a:ext>
                </a:extLst>
              </p:cNvPr>
              <p:cNvSpPr txBox="1"/>
              <p:nvPr/>
            </p:nvSpPr>
            <p:spPr>
              <a:xfrm>
                <a:off x="355157" y="1754724"/>
                <a:ext cx="26012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{A,B,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} taken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4D2538-571A-4B30-94F3-5957F7500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57" y="1754724"/>
                <a:ext cx="2601225" cy="461665"/>
              </a:xfrm>
              <a:prstGeom prst="rect">
                <a:avLst/>
              </a:prstGeom>
              <a:blipFill>
                <a:blip r:embed="rId6"/>
                <a:stretch>
                  <a:fillRect l="-351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15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95608AB-2AA4-48EB-8BB2-D1FB7B880C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729" y="1332702"/>
                <a:ext cx="7933039" cy="340922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Strong fairness: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𝑔𝑢𝑎𝑟𝑑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dirty="0"/>
                  <a:t>(taken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))</a:t>
                </a:r>
              </a:p>
              <a:p>
                <a:r>
                  <a:rPr lang="en-US" dirty="0"/>
                  <a:t>Task A: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𝑔𝑢𝑎𝑟𝑑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, so this simplifies to: sf(A)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dirty="0"/>
                  <a:t>(taken=A)</a:t>
                </a:r>
              </a:p>
              <a:p>
                <a:r>
                  <a:rPr lang="en-US" dirty="0"/>
                  <a:t>Task B: sf(B)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(even(x))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(taken=B)</a:t>
                </a:r>
              </a:p>
              <a:p>
                <a:r>
                  <a:rPr lang="en-US" dirty="0"/>
                  <a:t>Does (sf(A)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sf(B))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0)? </a:t>
                </a:r>
              </a:p>
              <a:p>
                <a:pPr lvl="1"/>
                <a:r>
                  <a:rPr lang="en-US" b="1" dirty="0"/>
                  <a:t>Yes!</a:t>
                </a:r>
              </a:p>
              <a:p>
                <a:r>
                  <a:rPr lang="en-US" dirty="0"/>
                  <a:t>Does (sf(A)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sf(B))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y?</a:t>
                </a:r>
              </a:p>
              <a:p>
                <a:pPr lvl="1"/>
                <a:r>
                  <a:rPr lang="en-US" b="1" dirty="0"/>
                  <a:t>Yes!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95608AB-2AA4-48EB-8BB2-D1FB7B880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729" y="1332702"/>
                <a:ext cx="7933039" cy="3409229"/>
              </a:xfrm>
              <a:blipFill>
                <a:blip r:embed="rId2"/>
                <a:stretch>
                  <a:fillRect l="-615" t="-2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CEAEB44-B2D0-4E62-9D2A-4EA7325A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Expressing fairness assumptions in LTL: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46B17-D3DE-407A-97E7-C96B412A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01B6B38-8599-47E3-A968-B0F7028F80D8}"/>
              </a:ext>
            </a:extLst>
          </p:cNvPr>
          <p:cNvGrpSpPr/>
          <p:nvPr/>
        </p:nvGrpSpPr>
        <p:grpSpPr>
          <a:xfrm>
            <a:off x="355157" y="1399921"/>
            <a:ext cx="3247017" cy="2362876"/>
            <a:chOff x="1165105" y="1723597"/>
            <a:chExt cx="3760893" cy="21457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7F525F-A808-41B2-8871-5502B3052D56}"/>
                </a:ext>
              </a:extLst>
            </p:cNvPr>
            <p:cNvSpPr/>
            <p:nvPr/>
          </p:nvSpPr>
          <p:spPr>
            <a:xfrm>
              <a:off x="1206585" y="1723597"/>
              <a:ext cx="3719413" cy="2145788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E462D1-9CDC-4B15-B2CA-5FAF6E0602FE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AF07B6-7024-473C-9729-7C6C65BA671C}"/>
                    </a:ext>
                  </a:extLst>
                </p:cNvPr>
                <p:cNvSpPr txBox="1"/>
                <p:nvPr/>
              </p:nvSpPr>
              <p:spPr>
                <a:xfrm>
                  <a:off x="1206585" y="1730318"/>
                  <a:ext cx="3639198" cy="4259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err="1"/>
                    <a:t>nat</a:t>
                  </a:r>
                  <a:r>
                    <a:rPr lang="en-US" sz="2400" dirty="0"/>
                    <a:t> x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:= 0</m:t>
                      </m:r>
                    </m:oMath>
                  </a14:m>
                  <a:r>
                    <a:rPr lang="en-US" sz="2400" dirty="0"/>
                    <a:t>; bool y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:= 0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AF07B6-7024-473C-9729-7C6C65BA6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585" y="1730318"/>
                  <a:ext cx="3639198" cy="425959"/>
                </a:xfrm>
                <a:prstGeom prst="rect">
                  <a:avLst/>
                </a:prstGeom>
                <a:blipFill>
                  <a:blip r:embed="rId3"/>
                  <a:stretch>
                    <a:fillRect l="-2907" t="-1039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00FAA58-FDBD-4C65-A48D-248D4CF37EAA}"/>
                    </a:ext>
                  </a:extLst>
                </p:cNvPr>
                <p:cNvSpPr txBox="1"/>
                <p:nvPr/>
              </p:nvSpPr>
              <p:spPr>
                <a:xfrm>
                  <a:off x="1165105" y="2689102"/>
                  <a:ext cx="3567849" cy="4259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400" dirty="0"/>
                    <a:t>  x := x + 1; taken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2400" dirty="0"/>
                    <a:t>A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00FAA58-FDBD-4C65-A48D-248D4CF37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105" y="2689102"/>
                  <a:ext cx="3567849" cy="425959"/>
                </a:xfrm>
                <a:prstGeom prst="rect">
                  <a:avLst/>
                </a:prstGeom>
                <a:blipFill>
                  <a:blip r:embed="rId4"/>
                  <a:stretch>
                    <a:fillRect l="-2964" t="-10390" r="-79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CEDD44-EE8B-4793-A313-A4F01C864682}"/>
                    </a:ext>
                  </a:extLst>
                </p:cNvPr>
                <p:cNvSpPr txBox="1"/>
                <p:nvPr/>
              </p:nvSpPr>
              <p:spPr>
                <a:xfrm>
                  <a:off x="1204975" y="3027485"/>
                  <a:ext cx="3719413" cy="7667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400" dirty="0"/>
                </a:p>
                <a:p>
                  <a:r>
                    <a:rPr lang="en-US" sz="2400" dirty="0"/>
                    <a:t>         y: = 1-y; taken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≔</m:t>
                      </m:r>
                    </m:oMath>
                  </a14:m>
                  <a:r>
                    <a:rPr lang="en-US" sz="2400" dirty="0"/>
                    <a:t> B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CEDD44-EE8B-4793-A313-A4F01C864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975" y="3027485"/>
                  <a:ext cx="3719413" cy="766726"/>
                </a:xfrm>
                <a:prstGeom prst="rect">
                  <a:avLst/>
                </a:prstGeom>
                <a:blipFill>
                  <a:blip r:embed="rId5"/>
                  <a:stretch>
                    <a:fillRect l="-3036" t="-5755" r="-1898" b="-136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9D1802D-3209-4D97-ACBA-6B160E632AE1}"/>
              </a:ext>
            </a:extLst>
          </p:cNvPr>
          <p:cNvSpPr txBox="1"/>
          <p:nvPr/>
        </p:nvSpPr>
        <p:spPr>
          <a:xfrm>
            <a:off x="1151308" y="3754601"/>
            <a:ext cx="122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Blinker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4D2538-571A-4B30-94F3-5957F750076C}"/>
                  </a:ext>
                </a:extLst>
              </p:cNvPr>
              <p:cNvSpPr txBox="1"/>
              <p:nvPr/>
            </p:nvSpPr>
            <p:spPr>
              <a:xfrm>
                <a:off x="355157" y="1754724"/>
                <a:ext cx="26012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{A,B,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} taken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4D2538-571A-4B30-94F3-5957F7500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57" y="1754724"/>
                <a:ext cx="2601225" cy="461665"/>
              </a:xfrm>
              <a:prstGeom prst="rect">
                <a:avLst/>
              </a:prstGeom>
              <a:blipFill>
                <a:blip r:embed="rId6"/>
                <a:stretch>
                  <a:fillRect l="-351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A82523F-B2A8-4C60-93FD-19CD9B72883E}"/>
              </a:ext>
            </a:extLst>
          </p:cNvPr>
          <p:cNvSpPr/>
          <p:nvPr/>
        </p:nvSpPr>
        <p:spPr>
          <a:xfrm>
            <a:off x="486880" y="4664565"/>
            <a:ext cx="11378887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a process satisfies a liveness requirement under weak fairness, it satisfies it under strong fairness, but converse is not true in general.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Weak = scheduler is less stringent, so if liveness holds when scheduler gives more freedom, then liveness will hold when scheduler gives less freedom.</a:t>
            </a:r>
          </a:p>
        </p:txBody>
      </p:sp>
    </p:spTree>
    <p:extLst>
      <p:ext uri="{BB962C8B-B14F-4D97-AF65-F5344CB8AC3E}">
        <p14:creationId xmlns:p14="http://schemas.microsoft.com/office/powerpoint/2010/main" val="107818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157007-FD10-46D2-B23C-11C167C67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Breach : </a:t>
            </a:r>
            <a:r>
              <a:rPr lang="en-US" sz="1200" dirty="0">
                <a:solidFill>
                  <a:srgbClr val="FF0000"/>
                </a:solidFill>
                <a:hlinkClick r:id="rId2"/>
              </a:rPr>
              <a:t>https://link.springer.com/chapter/10.1007/978-3-642-14295-6_17</a:t>
            </a:r>
            <a:endParaRPr lang="en-US" sz="12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 err="1"/>
              <a:t>Prajna</a:t>
            </a:r>
            <a:r>
              <a:rPr lang="en-US" sz="1200" dirty="0"/>
              <a:t>, S., &amp; </a:t>
            </a:r>
            <a:r>
              <a:rPr lang="en-US" sz="1200" dirty="0" err="1"/>
              <a:t>Jadbabaie</a:t>
            </a:r>
            <a:r>
              <a:rPr lang="en-US" sz="1200" dirty="0"/>
              <a:t>, A. (2004, March). Safety verification of hybrid systems using barrier certificates. In </a:t>
            </a:r>
            <a:r>
              <a:rPr lang="en-US" sz="1200" i="1" dirty="0"/>
              <a:t>International Workshop on Hybrid Systems: Computation and Control</a:t>
            </a:r>
            <a:r>
              <a:rPr lang="en-US" sz="1200" dirty="0"/>
              <a:t> (pp. 477-492).</a:t>
            </a:r>
          </a:p>
          <a:p>
            <a:pPr>
              <a:buFont typeface="+mj-lt"/>
              <a:buAutoNum type="arabicPeriod"/>
            </a:pPr>
            <a:r>
              <a:rPr lang="en-US" sz="1200" dirty="0" err="1"/>
              <a:t>Duggirala</a:t>
            </a:r>
            <a:r>
              <a:rPr lang="en-US" sz="1200" dirty="0"/>
              <a:t>, </a:t>
            </a:r>
            <a:r>
              <a:rPr lang="en-US" sz="1200" dirty="0" err="1"/>
              <a:t>Parasara</a:t>
            </a:r>
            <a:r>
              <a:rPr lang="en-US" sz="1200" dirty="0"/>
              <a:t> Sridhar, et al. "C2E2: a verification tool for </a:t>
            </a:r>
            <a:r>
              <a:rPr lang="en-US" sz="1200" dirty="0" err="1"/>
              <a:t>stateflow</a:t>
            </a:r>
            <a:r>
              <a:rPr lang="en-US" sz="1200" dirty="0"/>
              <a:t> models." </a:t>
            </a:r>
            <a:r>
              <a:rPr lang="en-US" sz="1200" i="1" dirty="0"/>
              <a:t>International Conference on Tools and Algorithms for the Construction and Analysis of Systems</a:t>
            </a:r>
            <a:r>
              <a:rPr lang="en-US" sz="1200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Frehse, Goran, Colas Le </a:t>
            </a:r>
            <a:r>
              <a:rPr lang="en-US" sz="1200" dirty="0" err="1"/>
              <a:t>Guernic</a:t>
            </a:r>
            <a:r>
              <a:rPr lang="en-US" sz="1200" dirty="0"/>
              <a:t>, Alexandre Donzé, Scott Cotton, </a:t>
            </a:r>
            <a:r>
              <a:rPr lang="en-US" sz="1200" dirty="0" err="1"/>
              <a:t>Rajarshi</a:t>
            </a:r>
            <a:r>
              <a:rPr lang="en-US" sz="1200" dirty="0"/>
              <a:t> Ray, Olivier </a:t>
            </a:r>
            <a:r>
              <a:rPr lang="en-US" sz="1200" dirty="0" err="1"/>
              <a:t>Lebeltel</a:t>
            </a:r>
            <a:r>
              <a:rPr lang="en-US" sz="1200" dirty="0"/>
              <a:t>, Rodolfo </a:t>
            </a:r>
            <a:r>
              <a:rPr lang="en-US" sz="1200" dirty="0" err="1"/>
              <a:t>Ripado</a:t>
            </a:r>
            <a:r>
              <a:rPr lang="en-US" sz="1200" dirty="0"/>
              <a:t>, Antoine Girard, Thao Dang, and Oded Maler. "</a:t>
            </a:r>
            <a:r>
              <a:rPr lang="en-US" sz="1200" dirty="0" err="1"/>
              <a:t>SpaceEx</a:t>
            </a:r>
            <a:r>
              <a:rPr lang="en-US" sz="1200" dirty="0"/>
              <a:t>: Scalable verification of hybrid systems."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, pp. 379-395. Springer, Berlin, Heidelberg, 2011.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Chen, Xin, Erika </a:t>
            </a:r>
            <a:r>
              <a:rPr lang="en-US" sz="1200" dirty="0" err="1"/>
              <a:t>Ábrahám</a:t>
            </a:r>
            <a:r>
              <a:rPr lang="en-US" sz="1200" dirty="0"/>
              <a:t>, and Sriram </a:t>
            </a:r>
            <a:r>
              <a:rPr lang="en-US" sz="1200" dirty="0" err="1"/>
              <a:t>Sankaranarayanan</a:t>
            </a:r>
            <a:r>
              <a:rPr lang="en-US" sz="1200" dirty="0"/>
              <a:t>. "Flow*: An analyzer for non-linear hybrid systems."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, pp. 258-263. Springer, Berlin, Heidelberg, 2013.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Frehse, Goran. "</a:t>
            </a:r>
            <a:r>
              <a:rPr lang="en-US" sz="1200" dirty="0" err="1"/>
              <a:t>PHAVer</a:t>
            </a:r>
            <a:r>
              <a:rPr lang="en-US" sz="1200" dirty="0"/>
              <a:t>: Algorithmic verification of hybrid systems past </a:t>
            </a:r>
            <a:r>
              <a:rPr lang="en-US" sz="1200" dirty="0" err="1"/>
              <a:t>HyTech</a:t>
            </a:r>
            <a:r>
              <a:rPr lang="en-US" sz="1200" dirty="0"/>
              <a:t>." </a:t>
            </a:r>
            <a:r>
              <a:rPr lang="en-US" sz="1200" i="1" dirty="0"/>
              <a:t>International workshop on hybrid systems: computation and control</a:t>
            </a:r>
            <a:r>
              <a:rPr lang="en-US" sz="1200" dirty="0"/>
              <a:t>. Springer, Berlin, Heidelberg, 2005</a:t>
            </a:r>
          </a:p>
          <a:p>
            <a:pPr>
              <a:buFont typeface="+mj-lt"/>
              <a:buAutoNum type="arabicPeriod"/>
            </a:pPr>
            <a:r>
              <a:rPr lang="en-US" sz="1200" dirty="0" err="1"/>
              <a:t>Asarin</a:t>
            </a:r>
            <a:r>
              <a:rPr lang="en-US" sz="1200" dirty="0"/>
              <a:t>, E., Dang, T., &amp; Maler, O. (2002, July). The d/</a:t>
            </a:r>
            <a:r>
              <a:rPr lang="en-US" sz="1200" dirty="0" err="1"/>
              <a:t>dt</a:t>
            </a:r>
            <a:r>
              <a:rPr lang="en-US" sz="1200" dirty="0"/>
              <a:t> tool for verification of hybrid systems.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 (pp. 365-370). Springer, Berlin, Heidelberg.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Fan, </a:t>
            </a:r>
            <a:r>
              <a:rPr lang="en-US" sz="1200" dirty="0" err="1"/>
              <a:t>Chuchu</a:t>
            </a:r>
            <a:r>
              <a:rPr lang="en-US" sz="1200" dirty="0"/>
              <a:t>, Bolun Qi, </a:t>
            </a:r>
            <a:r>
              <a:rPr lang="en-US" sz="1200" dirty="0" err="1"/>
              <a:t>Sayan</a:t>
            </a:r>
            <a:r>
              <a:rPr lang="en-US" sz="1200" dirty="0"/>
              <a:t> </a:t>
            </a:r>
            <a:r>
              <a:rPr lang="en-US" sz="1200" dirty="0" err="1"/>
              <a:t>Mitra</a:t>
            </a:r>
            <a:r>
              <a:rPr lang="en-US" sz="1200" dirty="0"/>
              <a:t>, Mahesh Viswanathan, and </a:t>
            </a:r>
            <a:r>
              <a:rPr lang="en-US" sz="1200" dirty="0" err="1"/>
              <a:t>Parasara</a:t>
            </a:r>
            <a:r>
              <a:rPr lang="en-US" sz="1200" dirty="0"/>
              <a:t> Sridhar </a:t>
            </a:r>
            <a:r>
              <a:rPr lang="en-US" sz="1200" dirty="0" err="1"/>
              <a:t>Duggirala</a:t>
            </a:r>
            <a:r>
              <a:rPr lang="en-US" sz="1200" dirty="0"/>
              <a:t>. "Automatic reachability analysis for nonlinear hybrid models with C2E2."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, pp. 531-538. Springer, Cham, 2016.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Donzé, Alexandre, and Oded Maler. "Systematic simulation using sensitivity analysis." In </a:t>
            </a:r>
            <a:r>
              <a:rPr lang="en-US" sz="1200" i="1" dirty="0"/>
              <a:t>International Workshop on Hybrid Systems: Computation and Control</a:t>
            </a:r>
            <a:r>
              <a:rPr lang="en-US" sz="1200" dirty="0"/>
              <a:t>, pp. 174-189. Springer, Berlin, Heidelberg, 2007</a:t>
            </a:r>
            <a:endParaRPr lang="en-US" sz="12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2D671-731B-41FA-9AC5-734BEBC4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CD441-B642-4940-AE7C-07E06CC5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28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22626</TotalTime>
  <Words>6264</Words>
  <Application>Microsoft Office PowerPoint</Application>
  <PresentationFormat>Widescreen</PresentationFormat>
  <Paragraphs>860</Paragraphs>
  <Slides>77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6" baseType="lpstr">
      <vt:lpstr>Arial</vt:lpstr>
      <vt:lpstr>Calibri</vt:lpstr>
      <vt:lpstr>Cambria</vt:lpstr>
      <vt:lpstr>Cambria Math</vt:lpstr>
      <vt:lpstr>Garamond</vt:lpstr>
      <vt:lpstr>Times New Roman</vt:lpstr>
      <vt:lpstr>Wingdings</vt:lpstr>
      <vt:lpstr>Wingdings 3</vt:lpstr>
      <vt:lpstr>Office Theme</vt:lpstr>
      <vt:lpstr>Autonomous Cyber-Physical Systems:  Deductive verification + Model Checking</vt:lpstr>
      <vt:lpstr>Safety Requirements/Specifications</vt:lpstr>
      <vt:lpstr>(Labelled) Transition System</vt:lpstr>
      <vt:lpstr>Example of a TS</vt:lpstr>
      <vt:lpstr>Transition Systems and state</vt:lpstr>
      <vt:lpstr>Example transitions for TS</vt:lpstr>
      <vt:lpstr>TS describes all possible transitions</vt:lpstr>
      <vt:lpstr>Reachable states of a modified switch TS</vt:lpstr>
      <vt:lpstr>Desirable behaviors of a TS</vt:lpstr>
      <vt:lpstr>Safety invariants </vt:lpstr>
      <vt:lpstr>Safety invariants </vt:lpstr>
      <vt:lpstr>Proofs of Safety</vt:lpstr>
      <vt:lpstr>Inductive Safety Proof</vt:lpstr>
      <vt:lpstr>Inductive Invariant</vt:lpstr>
      <vt:lpstr>Proving inductive invariants: I</vt:lpstr>
      <vt:lpstr>Proving inductive invariants: I</vt:lpstr>
      <vt:lpstr>Proving inductive invariants: II</vt:lpstr>
      <vt:lpstr>Proving inductive invariants: II</vt:lpstr>
      <vt:lpstr>Proving inductive invariants: III</vt:lpstr>
      <vt:lpstr>Proving inductive invariants: III</vt:lpstr>
      <vt:lpstr>How do we prove safety invariants?</vt:lpstr>
      <vt:lpstr>What’s an inductive invariant for this system?</vt:lpstr>
      <vt:lpstr>Soundness and Completeness of Safety with Inductive Invariants</vt:lpstr>
      <vt:lpstr>Safety Proof for Switch</vt:lpstr>
      <vt:lpstr>PowerPoint Presentation</vt:lpstr>
      <vt:lpstr>Reachability</vt:lpstr>
      <vt:lpstr>Reachability to compute invariants</vt:lpstr>
      <vt:lpstr>Reachability</vt:lpstr>
      <vt:lpstr>Reachability for general processes</vt:lpstr>
      <vt:lpstr>Model checking &amp; Automatic Verification</vt:lpstr>
      <vt:lpstr>What is model checking? </vt:lpstr>
      <vt:lpstr>PowerPoint Presentation</vt:lpstr>
      <vt:lpstr>Computation Tree Logic</vt:lpstr>
      <vt:lpstr>Computation Tree</vt:lpstr>
      <vt:lpstr>CTL Syntax</vt:lpstr>
      <vt:lpstr>CTL semantics</vt:lpstr>
      <vt:lpstr>CTL Semantics through examples</vt:lpstr>
      <vt:lpstr>CTL semantics through examples</vt:lpstr>
      <vt:lpstr>CTL semantics through examples</vt:lpstr>
      <vt:lpstr>CTL Operator fun</vt:lpstr>
      <vt:lpstr>CTL advantages and limitations</vt:lpstr>
      <vt:lpstr>CTL model checking</vt:lpstr>
      <vt:lpstr>EFgreen</vt:lpstr>
      <vt:lpstr>EFgreen</vt:lpstr>
      <vt:lpstr>EFgreen</vt:lpstr>
      <vt:lpstr>EFgreen</vt:lpstr>
      <vt:lpstr>EFgreen</vt:lpstr>
      <vt:lpstr>CTL model checking</vt:lpstr>
      <vt:lpstr>EGgreen</vt:lpstr>
      <vt:lpstr>EGgreen</vt:lpstr>
      <vt:lpstr>PowerPoint Presentation</vt:lpstr>
      <vt:lpstr>EGgreen  : What if bottom state was not green?</vt:lpstr>
      <vt:lpstr>Greatest and least fixpoints</vt:lpstr>
      <vt:lpstr>CTL model checking in a nutshell </vt:lpstr>
      <vt:lpstr>PowerPoint Presentation</vt:lpstr>
      <vt:lpstr>Detour to automata and formal languages</vt:lpstr>
      <vt:lpstr>Finite state automata</vt:lpstr>
      <vt:lpstr>How does a finite state automaton work?</vt:lpstr>
      <vt:lpstr>Language of a finite state automaton</vt:lpstr>
      <vt:lpstr>Safety Requirements/Specifications</vt:lpstr>
      <vt:lpstr>LTL is a language for expressing system requirements</vt:lpstr>
      <vt:lpstr>LTL Monitors </vt:lpstr>
      <vt:lpstr>Büchi automaton: Example 1</vt:lpstr>
      <vt:lpstr>Büchi automaton Example 2</vt:lpstr>
      <vt:lpstr>Büchi automaton Example 3</vt:lpstr>
      <vt:lpstr>Büchi automaton and LTL</vt:lpstr>
      <vt:lpstr>Büchi automaton Example 2</vt:lpstr>
      <vt:lpstr>Büchi automaton Example 3</vt:lpstr>
      <vt:lpstr>Using Büchi monitors</vt:lpstr>
      <vt:lpstr>Büchi monitors for runtime monitoring</vt:lpstr>
      <vt:lpstr>LTL Model checking</vt:lpstr>
      <vt:lpstr>Example of LTL model checking for Blinker</vt:lpstr>
      <vt:lpstr>Processes &amp; Fairness</vt:lpstr>
      <vt:lpstr>Weak vs. Strong fairness</vt:lpstr>
      <vt:lpstr>Expressing fairness assumptions in LTL: I</vt:lpstr>
      <vt:lpstr>Expressing fairness assumptions in LTL: II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373</cp:revision>
  <dcterms:created xsi:type="dcterms:W3CDTF">2018-01-04T23:14:16Z</dcterms:created>
  <dcterms:modified xsi:type="dcterms:W3CDTF">2026-10-13T22:21:26Z</dcterms:modified>
</cp:coreProperties>
</file>