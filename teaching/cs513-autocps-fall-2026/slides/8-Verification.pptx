
<file path=[Content_Types].xml><?xml version="1.0" encoding="utf-8"?>
<Types xmlns="http://schemas.openxmlformats.org/package/2006/content-types">
  <Default Extension="pdf" ContentType="application/pd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1"/>
  </p:notesMasterIdLst>
  <p:handoutMasterIdLst>
    <p:handoutMasterId r:id="rId132"/>
  </p:handoutMasterIdLst>
  <p:sldIdLst>
    <p:sldId id="256" r:id="rId2"/>
    <p:sldId id="361" r:id="rId3"/>
    <p:sldId id="364" r:id="rId4"/>
    <p:sldId id="366" r:id="rId5"/>
    <p:sldId id="365" r:id="rId6"/>
    <p:sldId id="369" r:id="rId7"/>
    <p:sldId id="370" r:id="rId8"/>
    <p:sldId id="371" r:id="rId9"/>
    <p:sldId id="367" r:id="rId10"/>
    <p:sldId id="374" r:id="rId11"/>
    <p:sldId id="385" r:id="rId12"/>
    <p:sldId id="506" r:id="rId13"/>
    <p:sldId id="375" r:id="rId14"/>
    <p:sldId id="376" r:id="rId15"/>
    <p:sldId id="377" r:id="rId16"/>
    <p:sldId id="386" r:id="rId17"/>
    <p:sldId id="378" r:id="rId18"/>
    <p:sldId id="387" r:id="rId19"/>
    <p:sldId id="379" r:id="rId20"/>
    <p:sldId id="388" r:id="rId21"/>
    <p:sldId id="380" r:id="rId22"/>
    <p:sldId id="516" r:id="rId23"/>
    <p:sldId id="381" r:id="rId24"/>
    <p:sldId id="382" r:id="rId25"/>
    <p:sldId id="498" r:id="rId26"/>
    <p:sldId id="372" r:id="rId27"/>
    <p:sldId id="373" r:id="rId28"/>
    <p:sldId id="502" r:id="rId29"/>
    <p:sldId id="503" r:id="rId30"/>
    <p:sldId id="475" r:id="rId31"/>
    <p:sldId id="476" r:id="rId32"/>
    <p:sldId id="501" r:id="rId33"/>
    <p:sldId id="396" r:id="rId34"/>
    <p:sldId id="398" r:id="rId35"/>
    <p:sldId id="399" r:id="rId36"/>
    <p:sldId id="400" r:id="rId37"/>
    <p:sldId id="401" r:id="rId38"/>
    <p:sldId id="402" r:id="rId39"/>
    <p:sldId id="403" r:id="rId40"/>
    <p:sldId id="405" r:id="rId41"/>
    <p:sldId id="406" r:id="rId42"/>
    <p:sldId id="477" r:id="rId43"/>
    <p:sldId id="479" r:id="rId44"/>
    <p:sldId id="480" r:id="rId45"/>
    <p:sldId id="481" r:id="rId46"/>
    <p:sldId id="482" r:id="rId47"/>
    <p:sldId id="483" r:id="rId48"/>
    <p:sldId id="478" r:id="rId49"/>
    <p:sldId id="484" r:id="rId50"/>
    <p:sldId id="485" r:id="rId51"/>
    <p:sldId id="500" r:id="rId52"/>
    <p:sldId id="499" r:id="rId53"/>
    <p:sldId id="486" r:id="rId54"/>
    <p:sldId id="487" r:id="rId55"/>
    <p:sldId id="492" r:id="rId56"/>
    <p:sldId id="359" r:id="rId57"/>
    <p:sldId id="360" r:id="rId58"/>
    <p:sldId id="505" r:id="rId59"/>
    <p:sldId id="362" r:id="rId60"/>
    <p:sldId id="517" r:id="rId61"/>
    <p:sldId id="488" r:id="rId62"/>
    <p:sldId id="390" r:id="rId63"/>
    <p:sldId id="391" r:id="rId64"/>
    <p:sldId id="393" r:id="rId65"/>
    <p:sldId id="394" r:id="rId66"/>
    <p:sldId id="493" r:id="rId67"/>
    <p:sldId id="494" r:id="rId68"/>
    <p:sldId id="495" r:id="rId69"/>
    <p:sldId id="395" r:id="rId70"/>
    <p:sldId id="518" r:id="rId71"/>
    <p:sldId id="496" r:id="rId72"/>
    <p:sldId id="519" r:id="rId73"/>
    <p:sldId id="357" r:id="rId74"/>
    <p:sldId id="489" r:id="rId75"/>
    <p:sldId id="490" r:id="rId76"/>
    <p:sldId id="491" r:id="rId77"/>
    <p:sldId id="497" r:id="rId78"/>
    <p:sldId id="448" r:id="rId79"/>
    <p:sldId id="449" r:id="rId80"/>
    <p:sldId id="450" r:id="rId81"/>
    <p:sldId id="451" r:id="rId82"/>
    <p:sldId id="520" r:id="rId83"/>
    <p:sldId id="521" r:id="rId84"/>
    <p:sldId id="452" r:id="rId85"/>
    <p:sldId id="436" r:id="rId86"/>
    <p:sldId id="437" r:id="rId87"/>
    <p:sldId id="438" r:id="rId88"/>
    <p:sldId id="435" r:id="rId89"/>
    <p:sldId id="439" r:id="rId90"/>
    <p:sldId id="440" r:id="rId91"/>
    <p:sldId id="441" r:id="rId92"/>
    <p:sldId id="444" r:id="rId93"/>
    <p:sldId id="442" r:id="rId94"/>
    <p:sldId id="445" r:id="rId95"/>
    <p:sldId id="443" r:id="rId96"/>
    <p:sldId id="446" r:id="rId97"/>
    <p:sldId id="447" r:id="rId98"/>
    <p:sldId id="275" r:id="rId99"/>
    <p:sldId id="423" r:id="rId100"/>
    <p:sldId id="522" r:id="rId101"/>
    <p:sldId id="424" r:id="rId102"/>
    <p:sldId id="523" r:id="rId103"/>
    <p:sldId id="524" r:id="rId104"/>
    <p:sldId id="425" r:id="rId105"/>
    <p:sldId id="525" r:id="rId106"/>
    <p:sldId id="426" r:id="rId107"/>
    <p:sldId id="285" r:id="rId108"/>
    <p:sldId id="287" r:id="rId109"/>
    <p:sldId id="288" r:id="rId110"/>
    <p:sldId id="456" r:id="rId111"/>
    <p:sldId id="292" r:id="rId112"/>
    <p:sldId id="293" r:id="rId113"/>
    <p:sldId id="294" r:id="rId114"/>
    <p:sldId id="295" r:id="rId115"/>
    <p:sldId id="296" r:id="rId116"/>
    <p:sldId id="453" r:id="rId117"/>
    <p:sldId id="408" r:id="rId118"/>
    <p:sldId id="291" r:id="rId119"/>
    <p:sldId id="507" r:id="rId120"/>
    <p:sldId id="508" r:id="rId121"/>
    <p:sldId id="509" r:id="rId122"/>
    <p:sldId id="510" r:id="rId123"/>
    <p:sldId id="511" r:id="rId124"/>
    <p:sldId id="512" r:id="rId125"/>
    <p:sldId id="513" r:id="rId126"/>
    <p:sldId id="514" r:id="rId127"/>
    <p:sldId id="515" r:id="rId128"/>
    <p:sldId id="415" r:id="rId129"/>
    <p:sldId id="410" r:id="rId1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9CA"/>
    <a:srgbClr val="FFA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90" autoAdjust="0"/>
  </p:normalViewPr>
  <p:slideViewPr>
    <p:cSldViewPr snapToGrid="0">
      <p:cViewPr varScale="1">
        <p:scale>
          <a:sx n="155" d="100"/>
          <a:sy n="155" d="100"/>
        </p:scale>
        <p:origin x="2706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930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0" d="100"/>
          <a:sy n="50" d="100"/>
        </p:scale>
        <p:origin x="1848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notesMaster" Target="notesMasters/notesMaster1.xml"/><Relationship Id="rId136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F696039-58B3-4341-9D32-C910162BC5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E885EE-985D-47EA-997B-D251CE65165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9B985A-4C37-4D1F-A437-E4A951A85D11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8C6E67-587C-4C64-9FE8-C84AFAFF7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373E4C-F44F-440F-85F6-FF52404C6B0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7B4FFD-4AF2-45F7-AED0-39B21745F7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95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560" units="cm"/>
          <inkml:channel name="Y" type="integer" max="1440" units="cm"/>
          <inkml:channel name="T" type="integer" max="2.14748E9" units="dev"/>
        </inkml:traceFormat>
        <inkml:channelProperties>
          <inkml:channelProperty channel="X" name="resolution" value="82.84789" units="1/cm"/>
          <inkml:channelProperty channel="Y" name="resolution" value="82.75862" units="1/cm"/>
          <inkml:channelProperty channel="T" name="resolution" value="1" units="1/dev"/>
        </inkml:channelProperties>
      </inkml:inkSource>
      <inkml:timestamp xml:id="ts0" timeString="2022-10-24T22:00:39.13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19579 3903 0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0C23F-98B7-41D4-A9FA-15A275A51486}" type="datetimeFigureOut">
              <a:rPr lang="en-US" smtClean="0"/>
              <a:t>10/13/2026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86B107-AA8F-4C65-A94C-468C6EEC3A1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469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55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582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008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0089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86B107-AA8F-4C65-A94C-468C6EEC3A14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68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d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B7E2-702A-452F-97D4-1A328EF1EA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9C4EA2-83F7-4E6C-AB21-9BB929BCB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168E44-8558-4F8E-998F-C8D77AAEB5C5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482199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012751-8584-4D78-8A04-57CCF3033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932811"/>
            <a:ext cx="11699087" cy="475123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defRPr/>
            </a:lvl1pPr>
            <a:lvl2pPr marL="685800" indent="-274320"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defRPr/>
            </a:lvl2pPr>
            <a:lvl3pPr marL="1143000" indent="-228600"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defRPr/>
            </a:lvl3pPr>
            <a:lvl4pPr>
              <a:buClr>
                <a:srgbClr val="FF9B9B"/>
              </a:buClr>
              <a:buSzPct val="65000"/>
              <a:defRPr/>
            </a:lvl4pPr>
            <a:lvl5pPr>
              <a:buClr>
                <a:srgbClr val="FF9B9B"/>
              </a:buClr>
              <a:buSzPct val="60000"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</a:p>
        </p:txBody>
      </p:sp>
      <p:pic>
        <p:nvPicPr>
          <p:cNvPr id="12" name="Picture 11" descr="Small Use Shield_GoldOnTrans.eps">
            <a:extLst>
              <a:ext uri="{FF2B5EF4-FFF2-40B4-BE49-F238E27FC236}">
                <a16:creationId xmlns:a16="http://schemas.microsoft.com/office/drawing/2014/main" id="{92F43934-0A3D-49F8-91A5-85B8E80B2CF8}"/>
              </a:ext>
            </a:extLst>
          </p:cNvPr>
          <p:cNvPicPr>
            <a:picLocks noChangeAspect="1"/>
          </p:cNvPicPr>
          <p:nvPr userDrawn="1"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3"/>
              <a:stretch>
                <a:fillRect/>
              </a:stretch>
            </p:blipFill>
          </mc:Choice>
          <mc:Fallback>
            <p:blipFill>
              <a:blip r:embed="rId4"/>
              <a:stretch>
                <a:fillRect/>
              </a:stretch>
            </p:blipFill>
          </mc:Fallback>
        </mc:AlternateContent>
        <p:spPr>
          <a:xfrm>
            <a:off x="11154505" y="71549"/>
            <a:ext cx="997652" cy="748239"/>
          </a:xfrm>
          <a:prstGeom prst="rect">
            <a:avLst/>
          </a:prstGeom>
        </p:spPr>
      </p:pic>
      <p:sp>
        <p:nvSpPr>
          <p:cNvPr id="17" name="Title 16">
            <a:extLst>
              <a:ext uri="{FF2B5EF4-FFF2-40B4-BE49-F238E27FC236}">
                <a16:creationId xmlns:a16="http://schemas.microsoft.com/office/drawing/2014/main" id="{0225637C-4B87-49CB-8E13-7BBB7557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1" y="74128"/>
            <a:ext cx="10920419" cy="77882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5EEB33-40EB-466D-AC3B-A66CC4D1B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07308" y="6394989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01A77-BF69-4415-A597-D07BB7853E0D}"/>
              </a:ext>
            </a:extLst>
          </p:cNvPr>
          <p:cNvSpPr txBox="1"/>
          <p:nvPr userDrawn="1"/>
        </p:nvSpPr>
        <p:spPr>
          <a:xfrm>
            <a:off x="0" y="6150114"/>
            <a:ext cx="5712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USC </a:t>
            </a:r>
            <a:r>
              <a:rPr lang="en-US" sz="18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Viterbi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School of Engineering</a:t>
            </a:r>
          </a:p>
          <a:p>
            <a:pPr defTabSz="457200"/>
            <a:r>
              <a:rPr lang="en-US" sz="1050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		</a:t>
            </a:r>
            <a:r>
              <a:rPr lang="en-US" sz="1050" i="1" dirty="0">
                <a:solidFill>
                  <a:srgbClr val="C00000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260536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CD2EA5-422A-467D-930A-41ED577F5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31139"/>
            <a:ext cx="11216640" cy="899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F7593A-9F1B-49A8-8A0B-64E38BAE7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345565"/>
            <a:ext cx="112166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Edit Master text styles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1600200" marR="0" lvl="3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057400" marR="0" lvl="4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99A7D7-077E-40D7-B42D-CE08C31841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2617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AAD378-655A-49C6-813C-9FD132EF744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20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marR="0" indent="-22860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>
          <a:srgbClr val="FF6600"/>
        </a:buClr>
        <a:buSzPct val="80000"/>
        <a:buFont typeface="Wingdings 3" panose="05040102010807070707" pitchFamily="18" charset="2"/>
        <a:buChar char=""/>
        <a:tabLst/>
        <a:defRPr lang="en-US" sz="2400" kern="1200" noProof="0" dirty="0" smtClean="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2000" kern="1200" noProof="0" dirty="0" smtClean="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1800" kern="1200" noProof="0" dirty="0" smtClean="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1600" kern="1200" noProof="0" dirty="0" smtClean="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>
          <a:schemeClr val="accent2">
            <a:lumMod val="60000"/>
            <a:lumOff val="40000"/>
          </a:schemeClr>
        </a:buClr>
        <a:buSzPct val="80000"/>
        <a:buFont typeface="Wingdings 3" panose="05040102010807070707" pitchFamily="18" charset="2"/>
        <a:buChar char=""/>
        <a:tabLst/>
        <a:defRPr lang="en-US" sz="1400" kern="1200" noProof="0" dirty="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0.png"/><Relationship Id="rId13" Type="http://schemas.openxmlformats.org/officeDocument/2006/relationships/image" Target="../media/image540.png"/><Relationship Id="rId3" Type="http://schemas.openxmlformats.org/officeDocument/2006/relationships/image" Target="../media/image440.png"/><Relationship Id="rId7" Type="http://schemas.openxmlformats.org/officeDocument/2006/relationships/image" Target="../media/image480.png"/><Relationship Id="rId12" Type="http://schemas.openxmlformats.org/officeDocument/2006/relationships/image" Target="../media/image530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0.png"/><Relationship Id="rId11" Type="http://schemas.openxmlformats.org/officeDocument/2006/relationships/image" Target="../media/image520.png"/><Relationship Id="rId5" Type="http://schemas.openxmlformats.org/officeDocument/2006/relationships/image" Target="../media/image460.png"/><Relationship Id="rId10" Type="http://schemas.openxmlformats.org/officeDocument/2006/relationships/image" Target="../media/image511.png"/><Relationship Id="rId4" Type="http://schemas.openxmlformats.org/officeDocument/2006/relationships/image" Target="../media/image450.png"/><Relationship Id="rId9" Type="http://schemas.openxmlformats.org/officeDocument/2006/relationships/image" Target="../media/image50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0.png"/><Relationship Id="rId13" Type="http://schemas.openxmlformats.org/officeDocument/2006/relationships/image" Target="../media/image680.png"/><Relationship Id="rId18" Type="http://schemas.openxmlformats.org/officeDocument/2006/relationships/image" Target="../media/image730.png"/><Relationship Id="rId3" Type="http://schemas.openxmlformats.org/officeDocument/2006/relationships/image" Target="../media/image580.png"/><Relationship Id="rId7" Type="http://schemas.openxmlformats.org/officeDocument/2006/relationships/image" Target="../media/image620.png"/><Relationship Id="rId12" Type="http://schemas.openxmlformats.org/officeDocument/2006/relationships/image" Target="../media/image670.png"/><Relationship Id="rId17" Type="http://schemas.openxmlformats.org/officeDocument/2006/relationships/image" Target="../media/image720.png"/><Relationship Id="rId2" Type="http://schemas.openxmlformats.org/officeDocument/2006/relationships/image" Target="../media/image570.png"/><Relationship Id="rId16" Type="http://schemas.openxmlformats.org/officeDocument/2006/relationships/image" Target="../media/image7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1.png"/><Relationship Id="rId11" Type="http://schemas.openxmlformats.org/officeDocument/2006/relationships/image" Target="../media/image660.png"/><Relationship Id="rId5" Type="http://schemas.openxmlformats.org/officeDocument/2006/relationships/image" Target="../media/image600.png"/><Relationship Id="rId15" Type="http://schemas.openxmlformats.org/officeDocument/2006/relationships/image" Target="../media/image700.png"/><Relationship Id="rId10" Type="http://schemas.openxmlformats.org/officeDocument/2006/relationships/image" Target="../media/image650.png"/><Relationship Id="rId19" Type="http://schemas.openxmlformats.org/officeDocument/2006/relationships/image" Target="../media/image740.png"/><Relationship Id="rId4" Type="http://schemas.openxmlformats.org/officeDocument/2006/relationships/image" Target="../media/image590.png"/><Relationship Id="rId9" Type="http://schemas.openxmlformats.org/officeDocument/2006/relationships/image" Target="../media/image640.png"/><Relationship Id="rId14" Type="http://schemas.openxmlformats.org/officeDocument/2006/relationships/image" Target="../media/image69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3" Type="http://schemas.openxmlformats.org/officeDocument/2006/relationships/image" Target="../media/image760.png"/><Relationship Id="rId7" Type="http://schemas.openxmlformats.org/officeDocument/2006/relationships/image" Target="../media/image800.png"/><Relationship Id="rId2" Type="http://schemas.openxmlformats.org/officeDocument/2006/relationships/image" Target="../media/image7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0.png"/><Relationship Id="rId5" Type="http://schemas.openxmlformats.org/officeDocument/2006/relationships/image" Target="../media/image780.png"/><Relationship Id="rId10" Type="http://schemas.openxmlformats.org/officeDocument/2006/relationships/image" Target="../media/image830.png"/><Relationship Id="rId4" Type="http://schemas.openxmlformats.org/officeDocument/2006/relationships/image" Target="../media/image770.png"/><Relationship Id="rId9" Type="http://schemas.openxmlformats.org/officeDocument/2006/relationships/image" Target="../media/image82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image" Target="../media/image930.png"/><Relationship Id="rId3" Type="http://schemas.openxmlformats.org/officeDocument/2006/relationships/image" Target="../media/image850.png"/><Relationship Id="rId7" Type="http://schemas.openxmlformats.org/officeDocument/2006/relationships/image" Target="../media/image800.png"/><Relationship Id="rId12" Type="http://schemas.openxmlformats.org/officeDocument/2006/relationships/image" Target="../media/image920.png"/><Relationship Id="rId2" Type="http://schemas.openxmlformats.org/officeDocument/2006/relationships/image" Target="../media/image8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11" Type="http://schemas.openxmlformats.org/officeDocument/2006/relationships/image" Target="../media/image900.png"/><Relationship Id="rId5" Type="http://schemas.openxmlformats.org/officeDocument/2006/relationships/image" Target="../media/image870.png"/><Relationship Id="rId15" Type="http://schemas.openxmlformats.org/officeDocument/2006/relationships/image" Target="../media/image950.png"/><Relationship Id="rId10" Type="http://schemas.openxmlformats.org/officeDocument/2006/relationships/image" Target="../media/image911.png"/><Relationship Id="rId4" Type="http://schemas.openxmlformats.org/officeDocument/2006/relationships/image" Target="../media/image860.png"/><Relationship Id="rId9" Type="http://schemas.openxmlformats.org/officeDocument/2006/relationships/image" Target="../media/image901.png"/><Relationship Id="rId14" Type="http://schemas.openxmlformats.org/officeDocument/2006/relationships/image" Target="../media/image94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0.png"/><Relationship Id="rId7" Type="http://schemas.openxmlformats.org/officeDocument/2006/relationships/image" Target="../media/image5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6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3" Type="http://schemas.openxmlformats.org/officeDocument/2006/relationships/image" Target="../media/image412.png"/><Relationship Id="rId7" Type="http://schemas.openxmlformats.org/officeDocument/2006/relationships/image" Target="../media/image183.png"/><Relationship Id="rId2" Type="http://schemas.openxmlformats.org/officeDocument/2006/relationships/image" Target="../media/image3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.png"/><Relationship Id="rId5" Type="http://schemas.openxmlformats.org/officeDocument/2006/relationships/image" Target="../media/image612.png"/><Relationship Id="rId10" Type="http://schemas.openxmlformats.org/officeDocument/2006/relationships/image" Target="../media/image1110.png"/><Relationship Id="rId4" Type="http://schemas.openxmlformats.org/officeDocument/2006/relationships/image" Target="../media/image512.png"/><Relationship Id="rId9" Type="http://schemas.openxmlformats.org/officeDocument/2006/relationships/image" Target="../media/image25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7" Type="http://schemas.openxmlformats.org/officeDocument/2006/relationships/image" Target="../media/image17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151.png"/><Relationship Id="rId4" Type="http://schemas.openxmlformats.org/officeDocument/2006/relationships/image" Target="../media/image141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0.png"/><Relationship Id="rId7" Type="http://schemas.openxmlformats.org/officeDocument/2006/relationships/image" Target="../media/image171.png"/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151.png"/><Relationship Id="rId4" Type="http://schemas.openxmlformats.org/officeDocument/2006/relationships/image" Target="../media/image1410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3" Type="http://schemas.openxmlformats.org/officeDocument/2006/relationships/image" Target="../media/image170.png"/><Relationship Id="rId7" Type="http://schemas.openxmlformats.org/officeDocument/2006/relationships/image" Target="../media/image66.png"/><Relationship Id="rId12" Type="http://schemas.openxmlformats.org/officeDocument/2006/relationships/image" Target="../media/image68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11" Type="http://schemas.openxmlformats.org/officeDocument/2006/relationships/image" Target="../media/image67.png"/><Relationship Id="rId5" Type="http://schemas.openxmlformats.org/officeDocument/2006/relationships/image" Target="../media/image190.png"/><Relationship Id="rId10" Type="http://schemas.openxmlformats.org/officeDocument/2006/relationships/image" Target="../media/image2400.png"/><Relationship Id="rId4" Type="http://schemas.openxmlformats.org/officeDocument/2006/relationships/image" Target="../media/image180.png"/><Relationship Id="rId9" Type="http://schemas.openxmlformats.org/officeDocument/2006/relationships/image" Target="../media/image230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900.png"/><Relationship Id="rId7" Type="http://schemas.openxmlformats.org/officeDocument/2006/relationships/image" Target="../media/image7300.png"/><Relationship Id="rId12" Type="http://schemas.openxmlformats.org/officeDocument/2006/relationships/image" Target="../media/image7800.png"/><Relationship Id="rId2" Type="http://schemas.openxmlformats.org/officeDocument/2006/relationships/image" Target="../media/image6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0.png"/><Relationship Id="rId11" Type="http://schemas.openxmlformats.org/officeDocument/2006/relationships/image" Target="../media/image7700.png"/><Relationship Id="rId5" Type="http://schemas.openxmlformats.org/officeDocument/2006/relationships/image" Target="../media/image7110.png"/><Relationship Id="rId10" Type="http://schemas.openxmlformats.org/officeDocument/2006/relationships/image" Target="../media/image7600.png"/><Relationship Id="rId4" Type="http://schemas.openxmlformats.org/officeDocument/2006/relationships/image" Target="../media/image7001.png"/><Relationship Id="rId9" Type="http://schemas.openxmlformats.org/officeDocument/2006/relationships/image" Target="../media/image7500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0.png"/><Relationship Id="rId7" Type="http://schemas.openxmlformats.org/officeDocument/2006/relationships/image" Target="../media/image3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1.png"/><Relationship Id="rId5" Type="http://schemas.openxmlformats.org/officeDocument/2006/relationships/image" Target="../media/image3600.png"/><Relationship Id="rId10" Type="http://schemas.openxmlformats.org/officeDocument/2006/relationships/image" Target="../media/image3500.png"/><Relationship Id="rId9" Type="http://schemas.openxmlformats.org/officeDocument/2006/relationships/image" Target="../media/image40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7" Type="http://schemas.openxmlformats.org/officeDocument/2006/relationships/image" Target="../media/image790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10" Type="http://schemas.openxmlformats.org/officeDocument/2006/relationships/image" Target="../media/image2400.png"/><Relationship Id="rId4" Type="http://schemas.openxmlformats.org/officeDocument/2006/relationships/image" Target="../media/image180.png"/><Relationship Id="rId9" Type="http://schemas.openxmlformats.org/officeDocument/2006/relationships/image" Target="../media/image230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270.png"/><Relationship Id="rId9" Type="http://schemas.openxmlformats.org/officeDocument/2006/relationships/image" Target="../media/image800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3400.png"/><Relationship Id="rId7" Type="http://schemas.openxmlformats.org/officeDocument/2006/relationships/image" Target="../media/image380.png"/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411.png"/><Relationship Id="rId5" Type="http://schemas.openxmlformats.org/officeDocument/2006/relationships/image" Target="../media/image3600.png"/><Relationship Id="rId10" Type="http://schemas.openxmlformats.org/officeDocument/2006/relationships/image" Target="../media/image3500.png"/><Relationship Id="rId9" Type="http://schemas.openxmlformats.org/officeDocument/2006/relationships/image" Target="../media/image400.pn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0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8100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00.png"/><Relationship Id="rId5" Type="http://schemas.openxmlformats.org/officeDocument/2006/relationships/image" Target="../media/image13100.png"/><Relationship Id="rId4" Type="http://schemas.openxmlformats.org/officeDocument/2006/relationships/image" Target="../media/image12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00.png"/><Relationship Id="rId5" Type="http://schemas.openxmlformats.org/officeDocument/2006/relationships/image" Target="../media/image13100.png"/><Relationship Id="rId4" Type="http://schemas.openxmlformats.org/officeDocument/2006/relationships/image" Target="../media/image1210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310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50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7000.png"/><Relationship Id="rId7" Type="http://schemas.openxmlformats.org/officeDocument/2006/relationships/image" Target="../media/image110.png"/><Relationship Id="rId2" Type="http://schemas.openxmlformats.org/officeDocument/2006/relationships/image" Target="../media/image6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0.png"/><Relationship Id="rId4" Type="http://schemas.openxmlformats.org/officeDocument/2006/relationships/image" Target="../media/image8000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0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1.png"/><Relationship Id="rId3" Type="http://schemas.openxmlformats.org/officeDocument/2006/relationships/image" Target="../media/image1900.png"/><Relationship Id="rId7" Type="http://schemas.openxmlformats.org/officeDocument/2006/relationships/image" Target="../media/image2300.png"/><Relationship Id="rId2" Type="http://schemas.openxmlformats.org/officeDocument/2006/relationships/image" Target="../media/image1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0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0.png"/><Relationship Id="rId7" Type="http://schemas.openxmlformats.org/officeDocument/2006/relationships/image" Target="../media/image241.png"/><Relationship Id="rId2" Type="http://schemas.openxmlformats.org/officeDocument/2006/relationships/image" Target="../media/image1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0.png"/><Relationship Id="rId5" Type="http://schemas.openxmlformats.org/officeDocument/2006/relationships/image" Target="../media/image2500.png"/><Relationship Id="rId4" Type="http://schemas.openxmlformats.org/officeDocument/2006/relationships/image" Target="../media/image2000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3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362.png"/><Relationship Id="rId4" Type="http://schemas.openxmlformats.org/officeDocument/2006/relationships/image" Target="../media/image3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1.png"/><Relationship Id="rId2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0.png"/><Relationship Id="rId5" Type="http://schemas.openxmlformats.org/officeDocument/2006/relationships/image" Target="../media/image613.png"/><Relationship Id="rId4" Type="http://schemas.openxmlformats.org/officeDocument/2006/relationships/image" Target="../media/image501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png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1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2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1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1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591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1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1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0.png"/><Relationship Id="rId7" Type="http://schemas.openxmlformats.org/officeDocument/2006/relationships/image" Target="../media/image1120.png"/><Relationship Id="rId2" Type="http://schemas.openxmlformats.org/officeDocument/2006/relationships/image" Target="../media/image10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0.png"/><Relationship Id="rId5" Type="http://schemas.openxmlformats.org/officeDocument/2006/relationships/image" Target="../media/image1100.png"/><Relationship Id="rId4" Type="http://schemas.openxmlformats.org/officeDocument/2006/relationships/image" Target="../media/image1090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3" Type="http://schemas.openxmlformats.org/officeDocument/2006/relationships/image" Target="../media/image1140.png"/><Relationship Id="rId7" Type="http://schemas.openxmlformats.org/officeDocument/2006/relationships/image" Target="../media/image11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0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3110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1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2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0.png"/><Relationship Id="rId2" Type="http://schemas.openxmlformats.org/officeDocument/2006/relationships/image" Target="../media/image15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0.png"/><Relationship Id="rId4" Type="http://schemas.openxmlformats.org/officeDocument/2006/relationships/image" Target="../media/image1300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1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01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0.png"/><Relationship Id="rId2" Type="http://schemas.openxmlformats.org/officeDocument/2006/relationships/image" Target="../media/image190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0.png"/><Relationship Id="rId4" Type="http://schemas.openxmlformats.org/officeDocument/2006/relationships/image" Target="../media/image1300.png"/></Relationships>
</file>

<file path=ppt/slides/_rels/slide1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3" Type="http://schemas.openxmlformats.org/officeDocument/2006/relationships/image" Target="../media/image152.png"/><Relationship Id="rId7" Type="http://schemas.openxmlformats.org/officeDocument/2006/relationships/image" Target="../media/image156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png"/><Relationship Id="rId5" Type="http://schemas.openxmlformats.org/officeDocument/2006/relationships/image" Target="../media/image154.png"/><Relationship Id="rId10" Type="http://schemas.openxmlformats.org/officeDocument/2006/relationships/image" Target="../media/image159.png"/><Relationship Id="rId4" Type="http://schemas.openxmlformats.org/officeDocument/2006/relationships/image" Target="../media/image153.png"/><Relationship Id="rId9" Type="http://schemas.openxmlformats.org/officeDocument/2006/relationships/image" Target="../media/image158.png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.springer.com/chapter/10.1007/978-3-642-14295-6_1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79A87-9CBD-463B-9EB7-CB6895911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785" y="1122363"/>
            <a:ext cx="11818044" cy="2387600"/>
          </a:xfrm>
        </p:spPr>
        <p:txBody>
          <a:bodyPr anchor="ctr" anchorCtr="0">
            <a:normAutofit/>
          </a:bodyPr>
          <a:lstStyle/>
          <a:p>
            <a:r>
              <a:rPr lang="en-US" sz="4400" dirty="0"/>
              <a:t>Autonomous Cyber-Physical Systems:</a:t>
            </a:r>
            <a:br>
              <a:rPr lang="en-US" sz="4400" dirty="0"/>
            </a:br>
            <a:br>
              <a:rPr lang="en-US" sz="4400" dirty="0"/>
            </a:br>
            <a:r>
              <a:rPr lang="en-US" sz="2000" dirty="0"/>
              <a:t>Deductive verification + Model Checking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CF91D-4F26-4DEE-BD5B-2AD08F8D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Fall 2026. CS 513.</a:t>
            </a:r>
          </a:p>
          <a:p>
            <a:r>
              <a:rPr lang="en-US" dirty="0"/>
              <a:t>Instructor: Jyo Deshmukh</a:t>
            </a:r>
          </a:p>
        </p:txBody>
      </p:sp>
    </p:spTree>
    <p:extLst>
      <p:ext uri="{BB962C8B-B14F-4D97-AF65-F5344CB8AC3E}">
        <p14:creationId xmlns:p14="http://schemas.microsoft.com/office/powerpoint/2010/main" val="1477390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1E3D72-9EB0-4B41-9332-7D05D1FDA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90583"/>
            <a:ext cx="11699087" cy="3793457"/>
          </a:xfrm>
        </p:spPr>
        <p:txBody>
          <a:bodyPr/>
          <a:lstStyle/>
          <a:p>
            <a:r>
              <a:rPr lang="en-US" dirty="0"/>
              <a:t>A safety requirement states that a system always stays within the set of </a:t>
            </a:r>
            <a:r>
              <a:rPr lang="en-US" i="1" dirty="0"/>
              <a:t>good</a:t>
            </a:r>
            <a:r>
              <a:rPr lang="en-US" dirty="0"/>
              <a:t> states (i.e. nothing bad every happens)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Collision avoidance: the distance between a car and a pedestrian is always greater than a threshold</a:t>
            </a:r>
          </a:p>
          <a:p>
            <a:pPr lvl="1"/>
            <a:r>
              <a:rPr lang="en-US" dirty="0"/>
              <a:t>Patient’s blood glucose never drops below 80 mg/</a:t>
            </a:r>
            <a:r>
              <a:rPr lang="en-US" dirty="0" err="1"/>
              <a:t>dL</a:t>
            </a:r>
            <a:endParaRPr lang="en-US" dirty="0"/>
          </a:p>
          <a:p>
            <a:pPr lvl="1"/>
            <a:r>
              <a:rPr lang="en-US" dirty="0"/>
              <a:t>Maximum temperature specification on the battery is not exceeded </a:t>
            </a:r>
          </a:p>
          <a:p>
            <a:r>
              <a:rPr lang="en-US" dirty="0"/>
              <a:t>Safety requirements can be formalized using transition systems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E150FB-3EB5-4ECB-AE09-76FB116D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Requirements/Specifications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F4454B-018F-4C73-A2A5-EBA5F0356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076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055F351-481D-48D2-A947-4519ADB09E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069" y="1476437"/>
                <a:ext cx="6141251" cy="2236768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Transition System is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𝐼𝑛𝑖𝑡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: Set of State Variables over finite or infinite domains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dirty="0"/>
                  <a:t>: Function mapping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to initial values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: Transition description giving code to update variables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055F351-481D-48D2-A947-4519ADB09E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069" y="1476437"/>
                <a:ext cx="6141251" cy="2236768"/>
              </a:xfrm>
              <a:blipFill>
                <a:blip r:embed="rId2"/>
                <a:stretch>
                  <a:fillRect l="-794" t="-3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48AB7D4-E14D-4941-B12D-67ADF9188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(Labelled) Transition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D2FE2-5F71-44DF-9BAB-E2CB78910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>
                <a:latin typeface="Cambria" panose="02040503050406030204" pitchFamily="18" charset="0"/>
                <a:ea typeface="Cambria" panose="02040503050406030204" pitchFamily="18" charset="0"/>
              </a:rPr>
              <a:pPr/>
              <a:t>3</a:t>
            </a:fld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0120AAC-F84B-4C26-BEC3-2E3327A97B5B}"/>
              </a:ext>
            </a:extLst>
          </p:cNvPr>
          <p:cNvGrpSpPr/>
          <p:nvPr/>
        </p:nvGrpSpPr>
        <p:grpSpPr>
          <a:xfrm>
            <a:off x="166680" y="1476437"/>
            <a:ext cx="5882619" cy="4200858"/>
            <a:chOff x="166680" y="1476437"/>
            <a:chExt cx="5882619" cy="420085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1AD62F0-46B1-4724-8B7D-E2E5B95F2A97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>
                  <a:latin typeface="Cambria" panose="02040503050406030204" pitchFamily="18" charset="0"/>
                  <a:ea typeface="Cambria" panose="02040503050406030204" pitchFamily="18" charset="0"/>
                </a:rPr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0691C71-6315-43B2-B7F2-890FCA147A53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>
                  <a:latin typeface="Cambria" panose="02040503050406030204" pitchFamily="18" charset="0"/>
                  <a:ea typeface="Cambria" panose="02040503050406030204" pitchFamily="18" charset="0"/>
                </a:rPr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7A11F36B-5F54-4601-8F18-CDDA74ADF4DD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A58FDFC8-BD1E-45ED-AA20-859C6EE86F17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415229A-17B9-445B-AC2C-0361CD3DB6E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4F03E1D-1B91-46C5-AEF2-D636DB01C21B}"/>
                </a:ext>
              </a:extLst>
            </p:cNvPr>
            <p:cNvSpPr txBox="1"/>
            <p:nvPr/>
          </p:nvSpPr>
          <p:spPr>
            <a:xfrm>
              <a:off x="166680" y="2676863"/>
              <a:ext cx="15081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ambria" panose="02040503050406030204" pitchFamily="18" charset="0"/>
                  <a:ea typeface="Cambria" panose="02040503050406030204" pitchFamily="18" charset="0"/>
                </a:rPr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3BA6AAF0-817D-4CE6-8F54-CF1B41F4E68D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85F874-00B7-43CF-A30A-F999CE296BB5}"/>
                </a:ext>
              </a:extLst>
            </p:cNvPr>
            <p:cNvSpPr txBox="1"/>
            <p:nvPr/>
          </p:nvSpPr>
          <p:spPr>
            <a:xfrm>
              <a:off x="3827723" y="2360243"/>
              <a:ext cx="17687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ambria" panose="02040503050406030204" pitchFamily="18" charset="0"/>
                  <a:ea typeface="Cambria" panose="02040503050406030204" pitchFamily="18" charset="0"/>
                </a:rPr>
                <a:t>(press==1)?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D31183A-D8C7-46A7-A918-DE9C6BA4C178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3075201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(press==0) &amp; (x&lt;10)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2400" dirty="0">
                    <a:latin typeface="Cambria" panose="02040503050406030204" pitchFamily="18" charset="0"/>
                    <a:ea typeface="Cambria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1D31183A-D8C7-46A7-A918-DE9C6BA4C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3075201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3175" t="-5882" r="-19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DB4EE09-2450-4D9B-9CE9-BFAA930B43A9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B63D270B-91B6-440B-9CB0-FD23D69FD1E6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0</a:t>
                  </a: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57E9430-99E8-4C9F-B30D-21586227AC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r="-224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9AC00F0-8BA8-499B-8AC4-0C0DAD5531CD}"/>
                    </a:ext>
                  </a:extLst>
                </p:cNvPr>
                <p:cNvSpPr txBox="1"/>
                <p:nvPr/>
              </p:nvSpPr>
              <p:spPr>
                <a:xfrm>
                  <a:off x="382794" y="3892773"/>
                  <a:ext cx="3214663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(press==1) or (x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24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2400" dirty="0">
                    <a:latin typeface="Cambria" panose="02040503050406030204" pitchFamily="18" charset="0"/>
                    <a:ea typeface="Cambria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9AC00F0-8BA8-499B-8AC4-0C0DAD5531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4" y="3892773"/>
                  <a:ext cx="3214663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3036" t="-5882" r="-2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9949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74E8E67-8148-465E-8402-E557A36658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8716" y="571331"/>
                <a:ext cx="6054868" cy="510596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: { mode, x }</a:t>
                </a:r>
              </a:p>
              <a:p>
                <a:pPr marL="0" indent="0">
                  <a:buNone/>
                </a:pPr>
                <a:r>
                  <a:rPr lang="en-US" dirty="0"/>
                  <a:t>Semantics: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off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int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𝐼𝑛𝑖𝑡</m:t>
                        </m:r>
                      </m:e>
                    </m:d>
                  </m:oMath>
                </a14:m>
                <a:r>
                  <a:rPr lang="en-US" dirty="0"/>
                  <a:t>: { mode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dirty="0"/>
                  <a:t> off, x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dirty="0"/>
                  <a:t> 0 }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 has an infinite number of transitions</a:t>
                </a:r>
              </a:p>
              <a:p>
                <a:pPr lvl="1"/>
                <a:r>
                  <a:rPr lang="en-US" dirty="0"/>
                  <a:t>(off, 0)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(off, 0)</a:t>
                </a:r>
              </a:p>
              <a:p>
                <a:pPr lvl="1"/>
                <a:r>
                  <a:rPr lang="en-US" dirty="0"/>
                  <a:t>(off, 0)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(on, 0)</a:t>
                </a:r>
              </a:p>
              <a:p>
                <a:pPr lvl="1"/>
                <a:r>
                  <a:rPr lang="en-US" dirty="0"/>
                  <a:t>(on, n)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(on, n+1) if n &lt; 10</a:t>
                </a:r>
              </a:p>
              <a:p>
                <a:pPr lvl="1"/>
                <a:r>
                  <a:rPr lang="en-US" dirty="0"/>
                  <a:t>(on, n)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(off, 0) otherwise</a:t>
                </a:r>
              </a:p>
              <a:p>
                <a:pPr marL="41148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74E8E67-8148-465E-8402-E557A3665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8716" y="571331"/>
                <a:ext cx="6054868" cy="5105963"/>
              </a:xfrm>
              <a:blipFill>
                <a:blip r:embed="rId2"/>
                <a:stretch>
                  <a:fillRect l="-2115" t="-2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EC1AC85-4DC6-41D6-A14B-3F5E889F0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 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AC8A72-8AA0-436B-A72B-EC7668DC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4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72BCA9E-7F4D-4210-BC96-0D5CC5FF7197}"/>
              </a:ext>
            </a:extLst>
          </p:cNvPr>
          <p:cNvGrpSpPr/>
          <p:nvPr/>
        </p:nvGrpSpPr>
        <p:grpSpPr>
          <a:xfrm>
            <a:off x="166680" y="1476437"/>
            <a:ext cx="5644220" cy="4200858"/>
            <a:chOff x="166680" y="1476437"/>
            <a:chExt cx="5644220" cy="420085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260738E-CB94-4E3C-AF01-6DF545D055C7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/>
                <a:t>off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49B748E-C156-4069-A8EC-342711D02788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/>
                <a:t>on</a:t>
              </a:r>
            </a:p>
          </p:txBody>
        </p:sp>
        <p:cxnSp>
          <p:nvCxnSpPr>
            <p:cNvPr id="7" name="Connector: Curved 6">
              <a:extLst>
                <a:ext uri="{FF2B5EF4-FFF2-40B4-BE49-F238E27FC236}">
                  <a16:creationId xmlns:a16="http://schemas.microsoft.com/office/drawing/2014/main" id="{A0906A12-F526-4B8E-ADDE-4D2D4E429597}"/>
                </a:ext>
              </a:extLst>
            </p:cNvPr>
            <p:cNvCxnSpPr>
              <a:cxnSpLocks/>
              <a:stCxn id="5" idx="6"/>
              <a:endCxn id="6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616CD886-D48E-4FA0-B409-A11D42A02A8B}"/>
                </a:ext>
              </a:extLst>
            </p:cNvPr>
            <p:cNvCxnSpPr>
              <a:cxnSpLocks/>
              <a:stCxn id="6" idx="2"/>
              <a:endCxn id="5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5BDC280C-AFA9-463B-A5AD-E782FF253A9E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F23DEA-15EC-4D79-8A24-FE5FA30D11CD}"/>
                </a:ext>
              </a:extLst>
            </p:cNvPr>
            <p:cNvSpPr txBox="1"/>
            <p:nvPr/>
          </p:nvSpPr>
          <p:spPr>
            <a:xfrm>
              <a:off x="166680" y="2676863"/>
              <a:ext cx="13979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(press==0)?</a:t>
              </a:r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B36AF064-7CDF-46BC-A1A9-DF3F734039F3}"/>
                </a:ext>
              </a:extLst>
            </p:cNvPr>
            <p:cNvCxnSpPr>
              <a:cxnSpLocks/>
              <a:stCxn id="6" idx="6"/>
              <a:endCxn id="6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6232B4E-6167-42A0-AFEF-8F99F9503134}"/>
                </a:ext>
              </a:extLst>
            </p:cNvPr>
            <p:cNvSpPr txBox="1"/>
            <p:nvPr/>
          </p:nvSpPr>
          <p:spPr>
            <a:xfrm>
              <a:off x="3827723" y="2360243"/>
              <a:ext cx="16361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AEFD2E2-4214-41DF-898A-B52B5C104659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836802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(press==0) &amp; (x&lt;10)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AEFD2E2-4214-41DF-898A-B52B5C1046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836802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3441" t="-5882" r="-236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8897024-EDDD-40E2-A90D-2B201073F555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57E9430-99E8-4C9F-B30D-21586227AC27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dirty="0"/>
                    <a:t>0</a:t>
                  </a: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57E9430-99E8-4C9F-B30D-21586227AC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r="-224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805599C-43D1-4B43-BC40-94B04BB957C8}"/>
                    </a:ext>
                  </a:extLst>
                </p:cNvPr>
                <p:cNvSpPr txBox="1"/>
                <p:nvPr/>
              </p:nvSpPr>
              <p:spPr>
                <a:xfrm>
                  <a:off x="382794" y="3892773"/>
                  <a:ext cx="297305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2400" dirty="0"/>
                    <a:t>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805599C-43D1-4B43-BC40-94B04BB957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4" y="3892773"/>
                  <a:ext cx="297305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3279" t="-5882" r="-20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655751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E0F04E-B15F-4C4C-BD17-E5673E041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2050255"/>
            <a:ext cx="11699087" cy="3633785"/>
          </a:xfrm>
        </p:spPr>
        <p:txBody>
          <a:bodyPr/>
          <a:lstStyle/>
          <a:p>
            <a:r>
              <a:rPr lang="en-US" dirty="0"/>
              <a:t>All kinds of components (synchronous, asynchronous, timed, hybrid, continuous components) have an underlying transition system</a:t>
            </a:r>
          </a:p>
          <a:p>
            <a:r>
              <a:rPr lang="en-US" dirty="0"/>
              <a:t>State in the transition system underlying a component captures any given runtime configuration of the component</a:t>
            </a:r>
          </a:p>
          <a:p>
            <a:r>
              <a:rPr lang="en-US" dirty="0"/>
              <a:t>Continuous components, Timed Processes, Hybrid Processes in general, have infinite number of states/transitions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D31B59-834D-4973-8E93-9AA63E160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 Systems and state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08B5-F624-4A64-9068-42FC5D007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618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03C4EC-8123-49C4-892A-82B0F4A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Example transitions for 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E5053-A81E-442C-AFBF-8121B57DB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BDEDF1B-39C6-440E-84E4-B362291C11AA}"/>
              </a:ext>
            </a:extLst>
          </p:cNvPr>
          <p:cNvSpPr/>
          <p:nvPr/>
        </p:nvSpPr>
        <p:spPr>
          <a:xfrm>
            <a:off x="397261" y="1879949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(off,0)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36D20C-C449-49A7-8695-6A50D572532D}"/>
              </a:ext>
            </a:extLst>
          </p:cNvPr>
          <p:cNvSpPr/>
          <p:nvPr/>
        </p:nvSpPr>
        <p:spPr>
          <a:xfrm>
            <a:off x="397261" y="3091221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(on,0)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A19DAE-365B-4284-9B57-94A873E0D441}"/>
              </a:ext>
            </a:extLst>
          </p:cNvPr>
          <p:cNvSpPr/>
          <p:nvPr/>
        </p:nvSpPr>
        <p:spPr>
          <a:xfrm>
            <a:off x="2635392" y="3091221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(on,1)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14A228-C6F9-4E37-9241-B344E52A4E4C}"/>
              </a:ext>
            </a:extLst>
          </p:cNvPr>
          <p:cNvSpPr/>
          <p:nvPr/>
        </p:nvSpPr>
        <p:spPr>
          <a:xfrm>
            <a:off x="2635391" y="4192354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(on,2)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26F313-94A0-4CEE-8D24-99709C830D0E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>
          <a:xfrm>
            <a:off x="962038" y="2498093"/>
            <a:ext cx="0" cy="59312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94C14B-CB47-44A7-A9F7-7AE9130596A7}"/>
              </a:ext>
            </a:extLst>
          </p:cNvPr>
          <p:cNvCxnSpPr>
            <a:cxnSpLocks/>
            <a:stCxn id="7" idx="1"/>
            <a:endCxn id="5" idx="5"/>
          </p:cNvCxnSpPr>
          <p:nvPr/>
        </p:nvCxnSpPr>
        <p:spPr>
          <a:xfrm flipH="1" flipV="1">
            <a:off x="1361395" y="2407568"/>
            <a:ext cx="1439416" cy="77417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EDC06A-8590-4273-891B-52C70DEE9DC9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91594" y="3709365"/>
            <a:ext cx="8574" cy="482989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BB995CA-EE77-4A65-B4A5-28AD57F6D7A0}"/>
              </a:ext>
            </a:extLst>
          </p:cNvPr>
          <p:cNvSpPr/>
          <p:nvPr/>
        </p:nvSpPr>
        <p:spPr>
          <a:xfrm>
            <a:off x="2480459" y="1916717"/>
            <a:ext cx="1439416" cy="581376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(on,100)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5C581A0-EB4E-4C94-BF48-16EFA49F4DB1}"/>
              </a:ext>
            </a:extLst>
          </p:cNvPr>
          <p:cNvSpPr/>
          <p:nvPr/>
        </p:nvSpPr>
        <p:spPr>
          <a:xfrm>
            <a:off x="257265" y="4158566"/>
            <a:ext cx="1439416" cy="581376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(off,42)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CDE78F-D45B-4FFA-B24C-24BDC6349838}"/>
              </a:ext>
            </a:extLst>
          </p:cNvPr>
          <p:cNvGrpSpPr/>
          <p:nvPr/>
        </p:nvGrpSpPr>
        <p:grpSpPr>
          <a:xfrm>
            <a:off x="5866343" y="1433293"/>
            <a:ext cx="5644220" cy="4200858"/>
            <a:chOff x="166680" y="1476437"/>
            <a:chExt cx="5644220" cy="4200858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05BDA1E-9A59-40C6-9804-3FC293DBD970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/>
                <a:t>off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8292492-0406-4DAE-B470-87C3F2FD2841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000" dirty="0"/>
                <a:t>on</a:t>
              </a:r>
            </a:p>
          </p:txBody>
        </p:sp>
        <p:cxnSp>
          <p:nvCxnSpPr>
            <p:cNvPr id="26" name="Connector: Curved 25">
              <a:extLst>
                <a:ext uri="{FF2B5EF4-FFF2-40B4-BE49-F238E27FC236}">
                  <a16:creationId xmlns:a16="http://schemas.microsoft.com/office/drawing/2014/main" id="{EF10C9EC-0AF3-44FB-9166-70EF361D3B20}"/>
                </a:ext>
              </a:extLst>
            </p:cNvPr>
            <p:cNvCxnSpPr>
              <a:cxnSpLocks/>
              <a:stCxn id="24" idx="6"/>
              <a:endCxn id="25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D6499F91-5E92-4230-A4C2-702F91D34BB2}"/>
                </a:ext>
              </a:extLst>
            </p:cNvPr>
            <p:cNvCxnSpPr>
              <a:cxnSpLocks/>
              <a:stCxn id="25" idx="2"/>
              <a:endCxn id="24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EB1518E7-26C8-4C19-B16A-A4676B7D09C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24C0FEC-7153-47D6-8365-04945005874C}"/>
                </a:ext>
              </a:extLst>
            </p:cNvPr>
            <p:cNvSpPr txBox="1"/>
            <p:nvPr/>
          </p:nvSpPr>
          <p:spPr>
            <a:xfrm>
              <a:off x="166680" y="2676863"/>
              <a:ext cx="13979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(press==0)?</a:t>
              </a:r>
            </a:p>
          </p:txBody>
        </p:sp>
        <p:cxnSp>
          <p:nvCxnSpPr>
            <p:cNvPr id="30" name="Connector: Curved 29">
              <a:extLst>
                <a:ext uri="{FF2B5EF4-FFF2-40B4-BE49-F238E27FC236}">
                  <a16:creationId xmlns:a16="http://schemas.microsoft.com/office/drawing/2014/main" id="{C22D6FEE-A8AB-49A0-9BC3-1E01AC5126E7}"/>
                </a:ext>
              </a:extLst>
            </p:cNvPr>
            <p:cNvCxnSpPr>
              <a:cxnSpLocks/>
              <a:stCxn id="25" idx="6"/>
              <a:endCxn id="25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C78AEF7-A908-49B2-9580-0A02134FEB86}"/>
                </a:ext>
              </a:extLst>
            </p:cNvPr>
            <p:cNvSpPr txBox="1"/>
            <p:nvPr/>
          </p:nvSpPr>
          <p:spPr>
            <a:xfrm>
              <a:off x="3827723" y="2360243"/>
              <a:ext cx="16361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85665C36-FB91-4F62-87A9-99C892611467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836802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(press==0) &amp; (x&lt;10)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85665C36-FB91-4F62-87A9-99C8926114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836802" cy="830997"/>
                </a:xfrm>
                <a:prstGeom prst="rect">
                  <a:avLst/>
                </a:prstGeom>
                <a:blipFill>
                  <a:blip r:embed="rId3"/>
                  <a:stretch>
                    <a:fillRect l="-3441" t="-5882" r="-236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46910B2-7E4A-4E27-8F6B-8C3F977E6C79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BC42276-E5ED-454F-A043-8794506FF7CB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dirty="0"/>
                    <a:t>0</a:t>
                  </a:r>
                </a:p>
              </p:txBody>
            </p:sp>
          </mc:Choice>
          <mc:Fallback xmlns="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BC42276-E5ED-454F-A043-8794506FF7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86131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r="-1685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F5FA78D-5A43-4B60-BFAA-77F1923BE85E}"/>
                    </a:ext>
                  </a:extLst>
                </p:cNvPr>
                <p:cNvSpPr txBox="1"/>
                <p:nvPr/>
              </p:nvSpPr>
              <p:spPr>
                <a:xfrm>
                  <a:off x="382794" y="3892773"/>
                  <a:ext cx="2973058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2400" dirty="0"/>
                    <a:t>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F5FA78D-5A43-4B60-BFAA-77F1923BE8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4" y="3892773"/>
                  <a:ext cx="2973058" cy="830997"/>
                </a:xfrm>
                <a:prstGeom prst="rect">
                  <a:avLst/>
                </a:prstGeom>
                <a:blipFill>
                  <a:blip r:embed="rId5"/>
                  <a:stretch>
                    <a:fillRect l="-3285" t="-5882" r="-22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8656765-06A5-419B-85C6-900792DFAE6E}"/>
              </a:ext>
            </a:extLst>
          </p:cNvPr>
          <p:cNvCxnSpPr>
            <a:cxnSpLocks/>
            <a:stCxn id="21" idx="2"/>
            <a:endCxn id="5" idx="6"/>
          </p:cNvCxnSpPr>
          <p:nvPr/>
        </p:nvCxnSpPr>
        <p:spPr>
          <a:xfrm flipH="1" flipV="1">
            <a:off x="1526814" y="2189021"/>
            <a:ext cx="953645" cy="18384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C6E189A4-115A-4B4D-88EF-15E3E936F4B9}"/>
              </a:ext>
            </a:extLst>
          </p:cNvPr>
          <p:cNvSpPr/>
          <p:nvPr/>
        </p:nvSpPr>
        <p:spPr>
          <a:xfrm>
            <a:off x="1696681" y="5063868"/>
            <a:ext cx="1439416" cy="581376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(on,42)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0E55A5B-B34E-42DE-85A2-33A2E5BECD0C}"/>
              </a:ext>
            </a:extLst>
          </p:cNvPr>
          <p:cNvCxnSpPr>
            <a:cxnSpLocks/>
            <a:stCxn id="22" idx="5"/>
            <a:endCxn id="39" idx="1"/>
          </p:cNvCxnSpPr>
          <p:nvPr/>
        </p:nvCxnSpPr>
        <p:spPr>
          <a:xfrm>
            <a:off x="1485883" y="4654801"/>
            <a:ext cx="421596" cy="49420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9AE329AC-6C52-40EB-BBB7-A9E18A90A633}"/>
              </a:ext>
            </a:extLst>
          </p:cNvPr>
          <p:cNvSpPr/>
          <p:nvPr/>
        </p:nvSpPr>
        <p:spPr>
          <a:xfrm rot="21379915">
            <a:off x="582134" y="4730044"/>
            <a:ext cx="693987" cy="330091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DAC2D1-6267-4162-AC50-68DBB9CF62D1}"/>
              </a:ext>
            </a:extLst>
          </p:cNvPr>
          <p:cNvSpPr/>
          <p:nvPr/>
        </p:nvSpPr>
        <p:spPr>
          <a:xfrm rot="10280978">
            <a:off x="624680" y="1476523"/>
            <a:ext cx="609014" cy="451794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839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303C4EC-8123-49C4-892A-82B0F4A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TS describes all possible transitions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E5053-A81E-442C-AFBF-8121B57DB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BDEDF1B-39C6-440E-84E4-B362291C11AA}"/>
              </a:ext>
            </a:extLst>
          </p:cNvPr>
          <p:cNvSpPr/>
          <p:nvPr/>
        </p:nvSpPr>
        <p:spPr>
          <a:xfrm>
            <a:off x="397261" y="1879949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(off,0)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C36D20C-C449-49A7-8695-6A50D572532D}"/>
              </a:ext>
            </a:extLst>
          </p:cNvPr>
          <p:cNvSpPr/>
          <p:nvPr/>
        </p:nvSpPr>
        <p:spPr>
          <a:xfrm>
            <a:off x="397261" y="3091221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(on,0)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A19DAE-365B-4284-9B57-94A873E0D441}"/>
              </a:ext>
            </a:extLst>
          </p:cNvPr>
          <p:cNvSpPr/>
          <p:nvPr/>
        </p:nvSpPr>
        <p:spPr>
          <a:xfrm>
            <a:off x="2635392" y="3091221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(on,1)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D14A228-C6F9-4E37-9241-B344E52A4E4C}"/>
              </a:ext>
            </a:extLst>
          </p:cNvPr>
          <p:cNvSpPr/>
          <p:nvPr/>
        </p:nvSpPr>
        <p:spPr>
          <a:xfrm>
            <a:off x="2635391" y="4192354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(on,2)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26F313-94A0-4CEE-8D24-99709C830D0E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>
          <a:xfrm>
            <a:off x="962038" y="2498093"/>
            <a:ext cx="0" cy="59312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94C14B-CB47-44A7-A9F7-7AE9130596A7}"/>
              </a:ext>
            </a:extLst>
          </p:cNvPr>
          <p:cNvCxnSpPr>
            <a:cxnSpLocks/>
            <a:stCxn id="7" idx="1"/>
            <a:endCxn id="5" idx="5"/>
          </p:cNvCxnSpPr>
          <p:nvPr/>
        </p:nvCxnSpPr>
        <p:spPr>
          <a:xfrm flipH="1" flipV="1">
            <a:off x="1361395" y="2407568"/>
            <a:ext cx="1439416" cy="77417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EDC06A-8590-4273-891B-52C70DEE9DC9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91594" y="3709365"/>
            <a:ext cx="8574" cy="482989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BB995CA-EE77-4A65-B4A5-28AD57F6D7A0}"/>
              </a:ext>
            </a:extLst>
          </p:cNvPr>
          <p:cNvSpPr/>
          <p:nvPr/>
        </p:nvSpPr>
        <p:spPr>
          <a:xfrm>
            <a:off x="2480459" y="1916717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(on,100)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5C581A0-EB4E-4C94-BF48-16EFA49F4DB1}"/>
              </a:ext>
            </a:extLst>
          </p:cNvPr>
          <p:cNvSpPr/>
          <p:nvPr/>
        </p:nvSpPr>
        <p:spPr>
          <a:xfrm>
            <a:off x="257265" y="4158566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(off,42)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CDE78F-D45B-4FFA-B24C-24BDC6349838}"/>
              </a:ext>
            </a:extLst>
          </p:cNvPr>
          <p:cNvGrpSpPr/>
          <p:nvPr/>
        </p:nvGrpSpPr>
        <p:grpSpPr>
          <a:xfrm>
            <a:off x="4228590" y="2336373"/>
            <a:ext cx="4043537" cy="2574260"/>
            <a:chOff x="166680" y="1476437"/>
            <a:chExt cx="5439236" cy="436037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05BDA1E-9A59-40C6-9804-3FC293DBD970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off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8292492-0406-4DAE-B470-87C3F2FD2841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on</a:t>
              </a:r>
            </a:p>
          </p:txBody>
        </p:sp>
        <p:cxnSp>
          <p:nvCxnSpPr>
            <p:cNvPr id="26" name="Connector: Curved 25">
              <a:extLst>
                <a:ext uri="{FF2B5EF4-FFF2-40B4-BE49-F238E27FC236}">
                  <a16:creationId xmlns:a16="http://schemas.microsoft.com/office/drawing/2014/main" id="{EF10C9EC-0AF3-44FB-9166-70EF361D3B20}"/>
                </a:ext>
              </a:extLst>
            </p:cNvPr>
            <p:cNvCxnSpPr>
              <a:cxnSpLocks/>
              <a:stCxn id="24" idx="6"/>
              <a:endCxn id="25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D6499F91-5E92-4230-A4C2-702F91D34BB2}"/>
                </a:ext>
              </a:extLst>
            </p:cNvPr>
            <p:cNvCxnSpPr>
              <a:cxnSpLocks/>
              <a:stCxn id="25" idx="2"/>
              <a:endCxn id="24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EB1518E7-26C8-4C19-B16A-A4676B7D09C1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24C0FEC-7153-47D6-8365-04945005874C}"/>
                </a:ext>
              </a:extLst>
            </p:cNvPr>
            <p:cNvSpPr txBox="1"/>
            <p:nvPr/>
          </p:nvSpPr>
          <p:spPr>
            <a:xfrm>
              <a:off x="166680" y="2676864"/>
              <a:ext cx="1390215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(press==0)?</a:t>
              </a:r>
            </a:p>
          </p:txBody>
        </p:sp>
        <p:cxnSp>
          <p:nvCxnSpPr>
            <p:cNvPr id="30" name="Connector: Curved 29">
              <a:extLst>
                <a:ext uri="{FF2B5EF4-FFF2-40B4-BE49-F238E27FC236}">
                  <a16:creationId xmlns:a16="http://schemas.microsoft.com/office/drawing/2014/main" id="{C22D6FEE-A8AB-49A0-9BC3-1E01AC5126E7}"/>
                </a:ext>
              </a:extLst>
            </p:cNvPr>
            <p:cNvCxnSpPr>
              <a:cxnSpLocks/>
              <a:stCxn id="25" idx="6"/>
              <a:endCxn id="25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C78AEF7-A908-49B2-9580-0A02134FEB86}"/>
                </a:ext>
              </a:extLst>
            </p:cNvPr>
            <p:cNvSpPr txBox="1"/>
            <p:nvPr/>
          </p:nvSpPr>
          <p:spPr>
            <a:xfrm>
              <a:off x="3827723" y="2360243"/>
              <a:ext cx="1551507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85665C36-FB91-4F62-87A9-99C892611467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631818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(press==0) &amp; (x&lt;10)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85665C36-FB91-4F62-87A9-99C8926114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631818" cy="990513"/>
                </a:xfrm>
                <a:prstGeom prst="rect">
                  <a:avLst/>
                </a:prstGeom>
                <a:blipFill>
                  <a:blip r:embed="rId3"/>
                  <a:stretch>
                    <a:fillRect l="-1558" t="-3125" r="-62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46910B2-7E4A-4E27-8F6B-8C3F977E6C79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BC42276-E5ED-454F-A043-8794506FF7CB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/>
                    <a:t>0</a:t>
                  </a:r>
                </a:p>
              </p:txBody>
            </p:sp>
          </mc:Choice>
          <mc:Fallback xmlns=""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BC42276-E5ED-454F-A043-8794506FF7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F5FA78D-5A43-4B60-BFAA-77F1923BE85E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756884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/>
                    <a:t>10)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F5FA78D-5A43-4B60-BFAA-77F1923BE8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756884" cy="990513"/>
                </a:xfrm>
                <a:prstGeom prst="rect">
                  <a:avLst/>
                </a:prstGeom>
                <a:blipFill>
                  <a:blip r:embed="rId5"/>
                  <a:stretch>
                    <a:fillRect l="-1488" t="-3125" r="-89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8656765-06A5-419B-85C6-900792DFAE6E}"/>
              </a:ext>
            </a:extLst>
          </p:cNvPr>
          <p:cNvCxnSpPr>
            <a:cxnSpLocks/>
            <a:stCxn id="21" idx="2"/>
            <a:endCxn id="5" idx="6"/>
          </p:cNvCxnSpPr>
          <p:nvPr/>
        </p:nvCxnSpPr>
        <p:spPr>
          <a:xfrm flipH="1" flipV="1">
            <a:off x="1526814" y="2189021"/>
            <a:ext cx="953645" cy="18384"/>
          </a:xfrm>
          <a:prstGeom prst="straightConnector1">
            <a:avLst/>
          </a:pr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C6E189A4-115A-4B4D-88EF-15E3E936F4B9}"/>
              </a:ext>
            </a:extLst>
          </p:cNvPr>
          <p:cNvSpPr/>
          <p:nvPr/>
        </p:nvSpPr>
        <p:spPr>
          <a:xfrm>
            <a:off x="1696681" y="5063868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(on,42)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0E55A5B-B34E-42DE-85A2-33A2E5BECD0C}"/>
              </a:ext>
            </a:extLst>
          </p:cNvPr>
          <p:cNvCxnSpPr>
            <a:cxnSpLocks/>
            <a:stCxn id="22" idx="5"/>
            <a:endCxn id="39" idx="1"/>
          </p:cNvCxnSpPr>
          <p:nvPr/>
        </p:nvCxnSpPr>
        <p:spPr>
          <a:xfrm>
            <a:off x="1485883" y="4654801"/>
            <a:ext cx="421596" cy="494208"/>
          </a:xfrm>
          <a:prstGeom prst="straightConnector1">
            <a:avLst/>
          </a:pr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9AE329AC-6C52-40EB-BBB7-A9E18A90A633}"/>
              </a:ext>
            </a:extLst>
          </p:cNvPr>
          <p:cNvSpPr/>
          <p:nvPr/>
        </p:nvSpPr>
        <p:spPr>
          <a:xfrm rot="21379915">
            <a:off x="582134" y="4730044"/>
            <a:ext cx="693987" cy="330091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B2DAC2D1-6267-4162-AC50-68DBB9CF62D1}"/>
              </a:ext>
            </a:extLst>
          </p:cNvPr>
          <p:cNvSpPr/>
          <p:nvPr/>
        </p:nvSpPr>
        <p:spPr>
          <a:xfrm rot="10280978">
            <a:off x="624680" y="1476523"/>
            <a:ext cx="609014" cy="451794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ontent Placeholder 1">
                <a:extLst>
                  <a:ext uri="{FF2B5EF4-FFF2-40B4-BE49-F238E27FC236}">
                    <a16:creationId xmlns:a16="http://schemas.microsoft.com/office/drawing/2014/main" id="{F46E305B-908F-4FFE-B8EB-81768D7B21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08128" y="2420852"/>
                <a:ext cx="3743059" cy="18640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/>
                  <a:t>Transitions indicated as dotted lines can’t really happen in the component</a:t>
                </a:r>
              </a:p>
              <a:p>
                <a:r>
                  <a:rPr lang="en-US" sz="2000" dirty="0"/>
                  <a:t>But the TS will describe then, as the states of the TS are over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𝑜𝑓𝑓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int</m:t>
                    </m:r>
                  </m:oMath>
                </a14:m>
                <a:r>
                  <a:rPr lang="en-US" sz="2000" dirty="0"/>
                  <a:t>!</a:t>
                </a: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8" name="Content Placeholder 1">
                <a:extLst>
                  <a:ext uri="{FF2B5EF4-FFF2-40B4-BE49-F238E27FC236}">
                    <a16:creationId xmlns:a16="http://schemas.microsoft.com/office/drawing/2014/main" id="{F46E305B-908F-4FFE-B8EB-81768D7B21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08128" y="2420852"/>
                <a:ext cx="3743059" cy="1864002"/>
              </a:xfrm>
              <a:blipFill>
                <a:blip r:embed="rId6"/>
                <a:stretch>
                  <a:fillRect l="-814" t="-4575" r="-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8036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5EF1189C-D9F0-4803-8CC9-DF778B8F44A4}"/>
              </a:ext>
            </a:extLst>
          </p:cNvPr>
          <p:cNvSpPr/>
          <p:nvPr/>
        </p:nvSpPr>
        <p:spPr>
          <a:xfrm>
            <a:off x="6693110" y="1163049"/>
            <a:ext cx="3854907" cy="34932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38709E2-A4AF-41F8-8352-971DE58DE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Reachable states of a modified switch 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12924-7917-47D6-AE08-B54F88E05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6CD26AB-E41D-43A4-A043-F69D7B83B260}"/>
              </a:ext>
            </a:extLst>
          </p:cNvPr>
          <p:cNvGrpSpPr/>
          <p:nvPr/>
        </p:nvGrpSpPr>
        <p:grpSpPr>
          <a:xfrm>
            <a:off x="830634" y="2020285"/>
            <a:ext cx="3939341" cy="2574260"/>
            <a:chOff x="166680" y="1476437"/>
            <a:chExt cx="5299075" cy="43603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97425B3-B535-4A5B-B0FE-FF4A80C48BC0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77960A4-F5F1-4D23-8753-9932013A9C42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4B387BBD-9DAF-401E-A469-EB2EA895CEF6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2D66D6BC-4496-4F8D-9779-672E6F5C4A51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559D7178-5B53-4BE8-9F05-751BF8B3D1DD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53ED0DF-A0EE-4D5B-A93F-33FDBCC02267}"/>
                </a:ext>
              </a:extLst>
            </p:cNvPr>
            <p:cNvSpPr txBox="1"/>
            <p:nvPr/>
          </p:nvSpPr>
          <p:spPr>
            <a:xfrm>
              <a:off x="166680" y="2676864"/>
              <a:ext cx="1390215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CB7277B1-50F1-4226-B3FB-52F01F58649A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EB88D72-7E85-4C99-AFD1-94A3E8051BB3}"/>
                </a:ext>
              </a:extLst>
            </p:cNvPr>
            <p:cNvSpPr txBox="1"/>
            <p:nvPr/>
          </p:nvSpPr>
          <p:spPr>
            <a:xfrm>
              <a:off x="3827723" y="2360243"/>
              <a:ext cx="1551507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AC570C8-4BF9-4380-8561-86B05BAA0A03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(press==0) &amp; (x&lt;2)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AC570C8-4BF9-4380-8561-86B05BAA0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blipFill>
                  <a:blip r:embed="rId2"/>
                  <a:stretch>
                    <a:fillRect l="-1980" t="-3125" r="-9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033B3AC-E902-4FE7-A3DC-3BF9A99D832B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226621B-C4F7-48EE-B79A-95C50392FCFF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/>
                    <a:t>0</a:t>
                  </a: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226621B-C4F7-48EE-B79A-95C50392FC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3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4D13C21-98E1-4C75-BC64-0C4228833E0A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/>
                    <a:t> 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4D13C21-98E1-4C75-BC64-0C4228833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blipFill>
                  <a:blip r:embed="rId4"/>
                  <a:stretch>
                    <a:fillRect l="-1840" t="-3125" r="-6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4EE57956-38BE-4C39-983C-3A3208071204}"/>
              </a:ext>
            </a:extLst>
          </p:cNvPr>
          <p:cNvSpPr/>
          <p:nvPr/>
        </p:nvSpPr>
        <p:spPr>
          <a:xfrm>
            <a:off x="6875327" y="1655858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(off,0)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6B152B0-BF23-41E1-B8C2-E4EDB0303E51}"/>
              </a:ext>
            </a:extLst>
          </p:cNvPr>
          <p:cNvSpPr/>
          <p:nvPr/>
        </p:nvSpPr>
        <p:spPr>
          <a:xfrm>
            <a:off x="6875327" y="2867130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(on,0)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79D780-C476-48F3-BDF4-7A78BAB1CB3C}"/>
              </a:ext>
            </a:extLst>
          </p:cNvPr>
          <p:cNvSpPr/>
          <p:nvPr/>
        </p:nvSpPr>
        <p:spPr>
          <a:xfrm>
            <a:off x="9113458" y="2867130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(on,1)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CA740C1-A496-435D-A785-32460D1FC177}"/>
              </a:ext>
            </a:extLst>
          </p:cNvPr>
          <p:cNvSpPr/>
          <p:nvPr/>
        </p:nvSpPr>
        <p:spPr>
          <a:xfrm>
            <a:off x="9113457" y="3968263"/>
            <a:ext cx="1129553" cy="618144"/>
          </a:xfrm>
          <a:prstGeom prst="ellipse">
            <a:avLst/>
          </a:prstGeom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(on,2)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1630E7-B129-4140-ABA5-EEEC81C8E855}"/>
              </a:ext>
            </a:extLst>
          </p:cNvPr>
          <p:cNvCxnSpPr>
            <a:cxnSpLocks/>
          </p:cNvCxnSpPr>
          <p:nvPr/>
        </p:nvCxnSpPr>
        <p:spPr>
          <a:xfrm>
            <a:off x="7609437" y="2297284"/>
            <a:ext cx="0" cy="59312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6B73FEA-27F5-4C12-86B8-351EE43B8D17}"/>
              </a:ext>
            </a:extLst>
          </p:cNvPr>
          <p:cNvCxnSpPr>
            <a:cxnSpLocks/>
            <a:stCxn id="20" idx="1"/>
            <a:endCxn id="18" idx="5"/>
          </p:cNvCxnSpPr>
          <p:nvPr/>
        </p:nvCxnSpPr>
        <p:spPr>
          <a:xfrm flipH="1" flipV="1">
            <a:off x="7839461" y="2183477"/>
            <a:ext cx="1439416" cy="77417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6A57227-97A1-4004-BB44-D2FAEF793E71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9669660" y="3485274"/>
            <a:ext cx="8574" cy="482989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18CEE48-47A3-4FA1-A869-4DBE39F31637}"/>
              </a:ext>
            </a:extLst>
          </p:cNvPr>
          <p:cNvSpPr/>
          <p:nvPr/>
        </p:nvSpPr>
        <p:spPr>
          <a:xfrm>
            <a:off x="10583294" y="1658724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(on,100)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80D29BD-0F43-401A-B7EC-10647947554F}"/>
              </a:ext>
            </a:extLst>
          </p:cNvPr>
          <p:cNvSpPr/>
          <p:nvPr/>
        </p:nvSpPr>
        <p:spPr>
          <a:xfrm>
            <a:off x="6693111" y="4793517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(off,42)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28DAA6-FB9C-4144-9BDF-7A702DC98D2D}"/>
              </a:ext>
            </a:extLst>
          </p:cNvPr>
          <p:cNvCxnSpPr>
            <a:cxnSpLocks/>
            <a:stCxn id="25" idx="2"/>
            <a:endCxn id="18" idx="6"/>
          </p:cNvCxnSpPr>
          <p:nvPr/>
        </p:nvCxnSpPr>
        <p:spPr>
          <a:xfrm flipH="1">
            <a:off x="8004880" y="1949412"/>
            <a:ext cx="2578414" cy="15518"/>
          </a:xfrm>
          <a:prstGeom prst="straightConnector1">
            <a:avLst/>
          </a:pr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42E6008A-861B-4987-9291-F48AA7D42B12}"/>
              </a:ext>
            </a:extLst>
          </p:cNvPr>
          <p:cNvSpPr/>
          <p:nvPr/>
        </p:nvSpPr>
        <p:spPr>
          <a:xfrm>
            <a:off x="8539707" y="4804954"/>
            <a:ext cx="1439416" cy="581376"/>
          </a:xfrm>
          <a:prstGeom prst="ellipse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(on,42)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617A8D4-F101-47F9-BB01-D898CB2DE09F}"/>
              </a:ext>
            </a:extLst>
          </p:cNvPr>
          <p:cNvCxnSpPr>
            <a:cxnSpLocks/>
            <a:stCxn id="26" idx="6"/>
            <a:endCxn id="28" idx="2"/>
          </p:cNvCxnSpPr>
          <p:nvPr/>
        </p:nvCxnSpPr>
        <p:spPr>
          <a:xfrm>
            <a:off x="8132527" y="5084205"/>
            <a:ext cx="407180" cy="11437"/>
          </a:xfrm>
          <a:prstGeom prst="straightConnector1">
            <a:avLst/>
          </a:pr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8D7FBEB-3F3E-4170-967A-73118CB30D02}"/>
              </a:ext>
            </a:extLst>
          </p:cNvPr>
          <p:cNvSpPr/>
          <p:nvPr/>
        </p:nvSpPr>
        <p:spPr>
          <a:xfrm rot="21379915">
            <a:off x="7001080" y="5342998"/>
            <a:ext cx="693987" cy="330091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prstDash val="sys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2FBA5232-2679-434F-BAE8-B9D0E5FF4B59}"/>
              </a:ext>
            </a:extLst>
          </p:cNvPr>
          <p:cNvSpPr/>
          <p:nvPr/>
        </p:nvSpPr>
        <p:spPr>
          <a:xfrm rot="10280978">
            <a:off x="7102746" y="1252432"/>
            <a:ext cx="609014" cy="451794"/>
          </a:xfrm>
          <a:custGeom>
            <a:avLst/>
            <a:gdLst>
              <a:gd name="connsiteX0" fmla="*/ 196799 w 693987"/>
              <a:gd name="connsiteY0" fmla="*/ 0 h 330091"/>
              <a:gd name="connsiteX1" fmla="*/ 4888 w 693987"/>
              <a:gd name="connsiteY1" fmla="*/ 90312 h 330091"/>
              <a:gd name="connsiteX2" fmla="*/ 95199 w 693987"/>
              <a:gd name="connsiteY2" fmla="*/ 282223 h 330091"/>
              <a:gd name="connsiteX3" fmla="*/ 490310 w 693987"/>
              <a:gd name="connsiteY3" fmla="*/ 327378 h 330091"/>
              <a:gd name="connsiteX4" fmla="*/ 693510 w 693987"/>
              <a:gd name="connsiteY4" fmla="*/ 225778 h 330091"/>
              <a:gd name="connsiteX5" fmla="*/ 535466 w 693987"/>
              <a:gd name="connsiteY5" fmla="*/ 45156 h 3300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3987" h="330091">
                <a:moveTo>
                  <a:pt x="196799" y="0"/>
                </a:moveTo>
                <a:cubicBezTo>
                  <a:pt x="109310" y="21637"/>
                  <a:pt x="21821" y="43275"/>
                  <a:pt x="4888" y="90312"/>
                </a:cubicBezTo>
                <a:cubicBezTo>
                  <a:pt x="-12045" y="137349"/>
                  <a:pt x="14295" y="242712"/>
                  <a:pt x="95199" y="282223"/>
                </a:cubicBezTo>
                <a:cubicBezTo>
                  <a:pt x="176103" y="321734"/>
                  <a:pt x="390592" y="336786"/>
                  <a:pt x="490310" y="327378"/>
                </a:cubicBezTo>
                <a:cubicBezTo>
                  <a:pt x="590029" y="317971"/>
                  <a:pt x="685984" y="272815"/>
                  <a:pt x="693510" y="225778"/>
                </a:cubicBezTo>
                <a:cubicBezTo>
                  <a:pt x="701036" y="178741"/>
                  <a:pt x="618251" y="111948"/>
                  <a:pt x="535466" y="45156"/>
                </a:cubicBezTo>
              </a:path>
            </a:pathLst>
          </a:cu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C219540-F311-4199-83EE-4B5BB1C868FE}"/>
              </a:ext>
            </a:extLst>
          </p:cNvPr>
          <p:cNvCxnSpPr>
            <a:cxnSpLocks/>
            <a:stCxn id="21" idx="2"/>
            <a:endCxn id="18" idx="5"/>
          </p:cNvCxnSpPr>
          <p:nvPr/>
        </p:nvCxnSpPr>
        <p:spPr>
          <a:xfrm flipH="1" flipV="1">
            <a:off x="7839461" y="2183477"/>
            <a:ext cx="1273996" cy="2093858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537B849-ACCF-4CC9-9F57-EC2BC063CBAD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004880" y="3176202"/>
            <a:ext cx="1108578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69FA912-B168-48DF-B948-FCA005AFDC2F}"/>
              </a:ext>
            </a:extLst>
          </p:cNvPr>
          <p:cNvCxnSpPr>
            <a:cxnSpLocks/>
          </p:cNvCxnSpPr>
          <p:nvPr/>
        </p:nvCxnSpPr>
        <p:spPr>
          <a:xfrm flipV="1">
            <a:off x="7300420" y="2252931"/>
            <a:ext cx="0" cy="590917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7D4270D-0539-4F36-B0B5-67D57E4B19E2}"/>
              </a:ext>
            </a:extLst>
          </p:cNvPr>
          <p:cNvSpPr txBox="1"/>
          <p:nvPr/>
        </p:nvSpPr>
        <p:spPr>
          <a:xfrm>
            <a:off x="6728150" y="3928435"/>
            <a:ext cx="2115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Reachable states and transitions</a:t>
            </a:r>
          </a:p>
        </p:txBody>
      </p:sp>
    </p:spTree>
    <p:extLst>
      <p:ext uri="{BB962C8B-B14F-4D97-AF65-F5344CB8AC3E}">
        <p14:creationId xmlns:p14="http://schemas.microsoft.com/office/powerpoint/2010/main" val="2667339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E303E31-878E-4267-9EAF-05DB631145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900135"/>
                <a:ext cx="11699087" cy="378390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Desirable behavior of a TS:</a:t>
                </a:r>
              </a:p>
              <a:p>
                <a:pPr lvl="1"/>
                <a:r>
                  <a:rPr lang="en-US" sz="2400" dirty="0"/>
                  <a:t>Defined in terms of acceptable (finite or infinite) sequences of states</a:t>
                </a:r>
              </a:p>
              <a:p>
                <a:pPr lvl="1"/>
                <a:r>
                  <a:rPr lang="en-US" sz="2400" dirty="0"/>
                  <a:t>If all </a:t>
                </a:r>
                <a:r>
                  <a:rPr lang="en-US" sz="2400" b="1" i="1" dirty="0"/>
                  <a:t>unacceptable </a:t>
                </a:r>
                <a:r>
                  <a:rPr lang="en-US" sz="2400" dirty="0"/>
                  <a:t>sequences of a TS are finite in length, then the property encoding </a:t>
                </a:r>
                <a:r>
                  <a:rPr lang="en-US" sz="2400" b="1" i="1" dirty="0"/>
                  <a:t>acceptable </a:t>
                </a:r>
                <a:r>
                  <a:rPr lang="en-US" sz="2400" dirty="0"/>
                  <a:t>behavior is called a </a:t>
                </a:r>
                <a:r>
                  <a:rPr lang="en-US" sz="2400" b="1" i="1" dirty="0"/>
                  <a:t>safety </a:t>
                </a:r>
                <a:r>
                  <a:rPr lang="en-US" sz="2400" dirty="0"/>
                  <a:t>property</a:t>
                </a:r>
              </a:p>
              <a:p>
                <a:r>
                  <a:rPr lang="en-US" sz="2400" dirty="0"/>
                  <a:t>Safety property can be specified by partitioning the states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into a safe/unsafe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𝑆𝑎𝑓𝑒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𝑆𝑎𝑓𝑒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Any finite sequence that ends in a state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</m:oMath>
                </a14:m>
                <a:r>
                  <a:rPr lang="en-US" sz="2400" dirty="0"/>
                  <a:t> is a witness to undesirable behavior, or if all (infinite) sequences starting from an initial state never include a state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</m:oMath>
                </a14:m>
                <a:r>
                  <a:rPr lang="en-US" sz="2400" dirty="0"/>
                  <a:t>, then the TS is safe.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E303E31-878E-4267-9EAF-05DB631145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900135"/>
                <a:ext cx="11699087" cy="3783905"/>
              </a:xfrm>
              <a:blipFill>
                <a:blip r:embed="rId2"/>
                <a:stretch>
                  <a:fillRect l="-625" t="-2742" r="-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42EAF82-8305-410E-98E5-34D91E911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Desirable behaviors of a 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2C6A0-2D14-4DA3-98FE-868861822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139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DD73F7D-3595-488E-BF25-3C96C1B97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2" y="1332703"/>
                <a:ext cx="7061408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 </a:t>
                </a:r>
                <a:r>
                  <a:rPr lang="en-US" b="1" i="1" dirty="0"/>
                  <a:t>invariant </a:t>
                </a:r>
                <a:r>
                  <a:rPr lang="en-US" dirty="0"/>
                  <a:t>is a Boolean expression over the state variables of a TS</a:t>
                </a:r>
              </a:p>
              <a:p>
                <a:r>
                  <a:rPr lang="en-US" dirty="0"/>
                  <a:t>A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called an invariant of TS if every reachable state of TS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An invariant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i="1" dirty="0"/>
                  <a:t>safety invariant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Examples of invariants for modified switch: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𝑚𝑜𝑑𝑒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𝑜𝑓𝑓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≤2)</m:t>
                    </m:r>
                  </m:oMath>
                </a14:m>
                <a:r>
                  <a:rPr lang="en-US" sz="2400" dirty="0"/>
                  <a:t> [note: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2400" dirty="0"/>
                  <a:t> is an int]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≤50)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DD73F7D-3595-488E-BF25-3C96C1B97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2" y="1332703"/>
                <a:ext cx="7061408" cy="4351338"/>
              </a:xfrm>
              <a:blipFill>
                <a:blip r:embed="rId2"/>
                <a:stretch>
                  <a:fillRect l="-690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EEF6F3E-1A34-4E48-949C-81AC8D473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invariants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FBED7-7E3C-44EF-8948-612497ED3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F217EF-F97E-4DC4-81ED-A1A8BE4F9967}"/>
              </a:ext>
            </a:extLst>
          </p:cNvPr>
          <p:cNvGrpSpPr/>
          <p:nvPr/>
        </p:nvGrpSpPr>
        <p:grpSpPr>
          <a:xfrm>
            <a:off x="7784168" y="2305234"/>
            <a:ext cx="4088100" cy="2574260"/>
            <a:chOff x="166680" y="1476437"/>
            <a:chExt cx="5499181" cy="43603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5F8095-3292-4CC5-B0BE-C48ED10DC825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atin typeface="Cambria" panose="02040503050406030204" pitchFamily="18" charset="0"/>
                  <a:ea typeface="Cambria" panose="02040503050406030204" pitchFamily="18" charset="0"/>
                </a:rPr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77A9B28-E866-4F99-A44A-82B097402E43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atin typeface="Cambria" panose="02040503050406030204" pitchFamily="18" charset="0"/>
                  <a:ea typeface="Cambria" panose="02040503050406030204" pitchFamily="18" charset="0"/>
                </a:rPr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ABDACCC-A761-4B3D-B286-F8C47B00DA1A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4A7A96A5-48D0-4B70-AE76-D3B9A14B5B22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D985507-A254-4F43-A614-524FE8F34B36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E680C7F-E1C5-4266-8E01-A4F23B3095B2}"/>
                </a:ext>
              </a:extLst>
            </p:cNvPr>
            <p:cNvSpPr txBox="1"/>
            <p:nvPr/>
          </p:nvSpPr>
          <p:spPr>
            <a:xfrm>
              <a:off x="166680" y="2676864"/>
              <a:ext cx="1491217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Cambria" panose="02040503050406030204" pitchFamily="18" charset="0"/>
                  <a:ea typeface="Cambria" panose="02040503050406030204" pitchFamily="18" charset="0"/>
                </a:rPr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408C5E3C-7158-4DC7-8182-054725D89DDD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B990D7-7B7F-4024-A2B2-A1CDCD85D6D5}"/>
                </a:ext>
              </a:extLst>
            </p:cNvPr>
            <p:cNvSpPr txBox="1"/>
            <p:nvPr/>
          </p:nvSpPr>
          <p:spPr>
            <a:xfrm>
              <a:off x="3827723" y="2360243"/>
              <a:ext cx="1669672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ambria" panose="02040503050406030204" pitchFamily="18" charset="0"/>
                  <a:ea typeface="Cambria" panose="02040503050406030204" pitchFamily="18" charset="0"/>
                </a:rPr>
                <a:t>(press==1)?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A92B342-B5BC-4016-B7DC-BC2D4910333D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691763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(press==0) &amp; (x&lt;2)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>
                    <a:latin typeface="Cambria" panose="02040503050406030204" pitchFamily="18" charset="0"/>
                    <a:ea typeface="Cambria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A92B342-B5BC-4016-B7DC-BC2D491033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691763" cy="990513"/>
                </a:xfrm>
                <a:prstGeom prst="rect">
                  <a:avLst/>
                </a:prstGeom>
                <a:blipFill>
                  <a:blip r:embed="rId3"/>
                  <a:stretch>
                    <a:fillRect l="-1520" t="-4211" r="-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8EB9495-D93E-464E-9D11-515562EA38DA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14B75CC7-E747-4F41-BCE0-753D5B5F4041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0</a:t>
                  </a: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14B75CC7-E747-4F41-BCE0-753D5B5F40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D5EA3A4-7D4A-42B0-BB7A-0B4D5C8B46EB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877205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>
                      <a:latin typeface="Cambria" panose="02040503050406030204" pitchFamily="18" charset="0"/>
                      <a:ea typeface="Cambria" panose="02040503050406030204" pitchFamily="18" charset="0"/>
                    </a:rPr>
                    <a:t> 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>
                    <a:latin typeface="Cambria" panose="02040503050406030204" pitchFamily="18" charset="0"/>
                    <a:ea typeface="Cambria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D5EA3A4-7D4A-42B0-BB7A-0B4D5C8B4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877205" cy="990513"/>
                </a:xfrm>
                <a:prstGeom prst="rect">
                  <a:avLst/>
                </a:prstGeom>
                <a:blipFill>
                  <a:blip r:embed="rId5"/>
                  <a:stretch>
                    <a:fillRect l="-1425" t="-4167" r="-5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01836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DD73F7D-3595-488E-BF25-3C96C1B97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671332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Are the following invariants?: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𝑚𝑜𝑑𝑒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𝑜𝑓𝑓</m:t>
                        </m:r>
                      </m:e>
                    </m:d>
                  </m:oMath>
                </a14:m>
                <a:endParaRPr lang="en-US" dirty="0">
                  <a:solidFill>
                    <a:prstClr val="black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&lt;2</m:t>
                        </m:r>
                      </m:e>
                    </m:d>
                  </m:oMath>
                </a14:m>
                <a:endParaRPr lang="en-US" b="0" dirty="0">
                  <a:solidFill>
                    <a:prstClr val="black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DD73F7D-3595-488E-BF25-3C96C1B97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6713323" cy="4351338"/>
              </a:xfrm>
              <a:blipFill>
                <a:blip r:embed="rId2"/>
                <a:stretch>
                  <a:fillRect l="-1089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EEF6F3E-1A34-4E48-949C-81AC8D473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invariants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FBED7-7E3C-44EF-8948-612497ED3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EF217EF-F97E-4DC4-81ED-A1A8BE4F9967}"/>
              </a:ext>
            </a:extLst>
          </p:cNvPr>
          <p:cNvGrpSpPr/>
          <p:nvPr/>
        </p:nvGrpSpPr>
        <p:grpSpPr>
          <a:xfrm>
            <a:off x="6786564" y="1723596"/>
            <a:ext cx="4936946" cy="3155898"/>
            <a:chOff x="166680" y="1476437"/>
            <a:chExt cx="5299075" cy="43603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15F8095-3292-4CC5-B0BE-C48ED10DC825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77A9B28-E866-4F99-A44A-82B097402E43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ABDACCC-A761-4B3D-B286-F8C47B00DA1A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4A7A96A5-48D0-4B70-AE76-D3B9A14B5B22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ED985507-A254-4F43-A614-524FE8F34B36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E680C7F-E1C5-4266-8E01-A4F23B3095B2}"/>
                </a:ext>
              </a:extLst>
            </p:cNvPr>
            <p:cNvSpPr txBox="1"/>
            <p:nvPr/>
          </p:nvSpPr>
          <p:spPr>
            <a:xfrm>
              <a:off x="166680" y="2676864"/>
              <a:ext cx="1390215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408C5E3C-7158-4DC7-8182-054725D89DDD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B990D7-7B7F-4024-A2B2-A1CDCD85D6D5}"/>
                </a:ext>
              </a:extLst>
            </p:cNvPr>
            <p:cNvSpPr txBox="1"/>
            <p:nvPr/>
          </p:nvSpPr>
          <p:spPr>
            <a:xfrm>
              <a:off x="3827723" y="2360243"/>
              <a:ext cx="1551507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A92B342-B5BC-4016-B7DC-BC2D4910333D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(press==0) &amp; (x&lt;2)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A92B342-B5BC-4016-B7DC-BC2D491033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blipFill>
                  <a:blip r:embed="rId3"/>
                  <a:stretch>
                    <a:fillRect l="-1645" t="-3158" r="-9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8EB9495-D93E-464E-9D11-515562EA38DA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14B75CC7-E747-4F41-BCE0-753D5B5F4041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/>
                    <a:t>0</a:t>
                  </a: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14B75CC7-E747-4F41-BCE0-753D5B5F40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4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D5EA3A4-7D4A-42B0-BB7A-0B4D5C8B46EB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/>
                    <a:t> 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D5EA3A4-7D4A-42B0-BB7A-0B4D5C8B46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blipFill>
                  <a:blip r:embed="rId5"/>
                  <a:stretch>
                    <a:fillRect l="-1529" t="-3125" r="-6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07859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96D6901-87FE-6DF0-8630-B7168ECFF8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896761"/>
                <a:ext cx="11699087" cy="3787279"/>
              </a:xfrm>
            </p:spPr>
            <p:txBody>
              <a:bodyPr/>
              <a:lstStyle/>
              <a:p>
                <a:r>
                  <a:rPr lang="en-US" dirty="0">
                    <a:solidFill>
                      <a:prstClr val="black"/>
                    </a:solidFill>
                  </a:rPr>
                  <a:t>Suppose,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𝑆𝑎𝑓𝑒</m:t>
                    </m:r>
                    <m:r>
                      <a:rPr lang="en-US" b="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b="0" i="0" dirty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  <m:r>
                          <a:rPr lang="en-US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m:rPr>
                            <m:sty m:val="p"/>
                          </m:rPr>
                          <a:rPr lang="en-US" b="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≤3</m:t>
                        </m:r>
                      </m:e>
                    </m:d>
                  </m:oMath>
                </a14:m>
                <a:r>
                  <a:rPr lang="en-US" dirty="0">
                    <a:solidFill>
                      <a:prstClr val="black"/>
                    </a:solidFill>
                  </a:rPr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𝑆𝑎𝑓𝑒</m:t>
                        </m:r>
                      </m:e>
                    </m:acc>
                  </m:oMath>
                </a14:m>
                <a:endParaRPr lang="en-US" dirty="0">
                  <a:solidFill>
                    <a:prstClr val="black"/>
                  </a:solidFill>
                </a:endParaRPr>
              </a:p>
              <a:p>
                <a:r>
                  <a:rPr lang="en-US" dirty="0">
                    <a:solidFill>
                      <a:prstClr val="black"/>
                    </a:solidFill>
                  </a:rPr>
                  <a:t>I.e.,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={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&lt;0 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𝑜𝑟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&gt;3}</m:t>
                    </m:r>
                  </m:oMath>
                </a14:m>
                <a:endParaRPr lang="en-US" dirty="0">
                  <a:solidFill>
                    <a:prstClr val="black"/>
                  </a:solidFill>
                </a:endParaRPr>
              </a:p>
              <a:p>
                <a:endParaRPr lang="en-US" dirty="0">
                  <a:solidFill>
                    <a:prstClr val="black"/>
                  </a:solidFill>
                </a:endParaRPr>
              </a:p>
              <a:p>
                <a:r>
                  <a:rPr lang="en-US" dirty="0">
                    <a:solidFill>
                      <a:prstClr val="black"/>
                    </a:solidFill>
                  </a:rPr>
                  <a:t>Can we verify that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i="1" dirty="0"/>
                  <a:t>safety invariant </a:t>
                </a:r>
                <a:r>
                  <a:rPr lang="en-US" dirty="0"/>
                  <a:t>for modified switch?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dirty="0"/>
                  <a:t>How do we prove it?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96D6901-87FE-6DF0-8630-B7168ECFF8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896761"/>
                <a:ext cx="11699087" cy="3787279"/>
              </a:xfrm>
              <a:blipFill>
                <a:blip r:embed="rId2"/>
                <a:stretch>
                  <a:fillRect l="-417" t="-20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5332A9B-1331-7BE1-1022-210421751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Proofs of Safety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25BE7-A422-E39F-2BFE-50D738AFD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018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0AAFE5C-A1AE-4AFF-A511-122E539A55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1278327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Given TS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𝐼𝑛𝑖𝑡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and a property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000" dirty="0"/>
                  <a:t>, prove that all reachable states of TS satisfy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Base case: Show that all initial states satisfy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Inductive case: assume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satisfies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000" dirty="0"/>
                  <a:t>, then show that 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2000" dirty="0"/>
                  <a:t>,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must also satisfy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0AAFE5C-A1AE-4AFF-A511-122E539A55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1278327"/>
              </a:xfrm>
              <a:blipFill>
                <a:blip r:embed="rId2"/>
                <a:stretch>
                  <a:fillRect l="-208" t="-5263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AA7DE54-3788-40DE-9F2A-CF0820BB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Safety Proof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292BEB-4580-47D8-AC85-E30851CF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AC1A55F-41F5-4FD4-8071-EEB16F5912BE}"/>
              </a:ext>
            </a:extLst>
          </p:cNvPr>
          <p:cNvGrpSpPr/>
          <p:nvPr/>
        </p:nvGrpSpPr>
        <p:grpSpPr>
          <a:xfrm>
            <a:off x="3921851" y="2959841"/>
            <a:ext cx="3939341" cy="2574260"/>
            <a:chOff x="166680" y="1476437"/>
            <a:chExt cx="5299075" cy="43603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6A9C51-B18D-437C-95CC-84965D0610B6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E28BE7F-C2A6-4153-B246-18635A26F701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B1D17119-CC26-4D7D-B7E1-955780BAA83B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B8156F32-E0D4-4F0C-B341-8AC67CFE9AB7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177A2407-8EF9-4141-8616-18DDC9584BA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E747544-F910-4CA7-BAFA-4045169027F1}"/>
                </a:ext>
              </a:extLst>
            </p:cNvPr>
            <p:cNvSpPr txBox="1"/>
            <p:nvPr/>
          </p:nvSpPr>
          <p:spPr>
            <a:xfrm>
              <a:off x="166680" y="2676864"/>
              <a:ext cx="1390215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3D18B2F2-C474-4309-945A-294F8C1A0736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152CD9A-0734-4C68-9963-7F0FB321AA64}"/>
                </a:ext>
              </a:extLst>
            </p:cNvPr>
            <p:cNvSpPr txBox="1"/>
            <p:nvPr/>
          </p:nvSpPr>
          <p:spPr>
            <a:xfrm>
              <a:off x="3827723" y="2360243"/>
              <a:ext cx="1551507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B7EAD1A-BB10-40CA-B12C-655C98A1BD7D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(press==0) &amp; (x&lt;2)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B7EAD1A-BB10-40CA-B12C-655C98A1B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blipFill>
                  <a:blip r:embed="rId3"/>
                  <a:stretch>
                    <a:fillRect l="-1974" t="-3125" r="-6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FA24FD-3918-4876-A7F8-CD63B32FAEFA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4C80243-E65F-4D3D-8EAF-5C925BA149C3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/>
                    <a:t>0</a:t>
                  </a: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4C80243-E65F-4D3D-8EAF-5C925BA149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4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2EB6CBF-8C21-4A6F-995D-0DBED3170B0C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/>
                    <a:t> 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2EB6CBF-8C21-4A6F-995D-0DBED3170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blipFill>
                  <a:blip r:embed="rId5"/>
                  <a:stretch>
                    <a:fillRect l="-1840" t="-3158" r="-6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992585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366DE42-83C9-4B35-9CB0-EE29673C60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763949"/>
                <a:ext cx="11699087" cy="3920092"/>
              </a:xfrm>
            </p:spPr>
            <p:txBody>
              <a:bodyPr/>
              <a:lstStyle/>
              <a:p>
                <a:r>
                  <a:rPr lang="en-US" dirty="0"/>
                  <a:t>A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an </a:t>
                </a:r>
                <a:r>
                  <a:rPr lang="en-US" b="1" i="1" dirty="0"/>
                  <a:t>inductive invariant </a:t>
                </a:r>
                <a:r>
                  <a:rPr lang="en-US" dirty="0"/>
                  <a:t>of a transition system TS if </a:t>
                </a:r>
              </a:p>
              <a:p>
                <a:pPr lvl="1"/>
                <a:r>
                  <a:rPr lang="en-US" dirty="0"/>
                  <a:t>Every initial state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any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By definition,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an inductive invariant, then all reachable states of TS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and hence it is also an invariant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366DE42-83C9-4B35-9CB0-EE29673C60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763949"/>
                <a:ext cx="11699087" cy="3920092"/>
              </a:xfrm>
              <a:blipFill>
                <a:blip r:embed="rId2"/>
                <a:stretch>
                  <a:fillRect l="-625" t="-2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DCC62B8-3AC3-4AE7-99DA-089730B10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Inductive Invariant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2B800-5376-4528-B489-41C174326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862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750219"/>
                <a:ext cx="11699087" cy="3933822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Consider transition system TS given by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sz="3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endParaRPr lang="en-US" sz="3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200" dirty="0"/>
                  <a:t>: if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3200" dirty="0"/>
                  <a:t>  (else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3200" dirty="0"/>
                  <a:t> remains unchanged)</a:t>
                </a:r>
              </a:p>
              <a:p>
                <a:r>
                  <a:rPr lang="en-US" sz="3200" dirty="0"/>
                  <a:t>Is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:(0≤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an inductive invariant?</a:t>
                </a:r>
              </a:p>
              <a:p>
                <a:r>
                  <a:rPr lang="en-US" sz="3200" dirty="0"/>
                  <a:t>Base case: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3200" dirty="0"/>
                  <a:t> is zero, so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3200" dirty="0"/>
                  <a:t> is trivially satisfied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750219"/>
                <a:ext cx="11699087" cy="3933822"/>
              </a:xfrm>
              <a:blipFill>
                <a:blip r:embed="rId2"/>
                <a:stretch>
                  <a:fillRect l="-782" t="-3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353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509273"/>
                <a:ext cx="11699087" cy="417476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Inductive case: </a:t>
                </a:r>
              </a:p>
              <a:p>
                <a:pPr lvl="1"/>
                <a:r>
                  <a:rPr lang="en-US" dirty="0"/>
                  <a:t>Pick an arbitrary state (i.e., arbitrary value for state variable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dirty="0"/>
                  <a:t>), say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Now assume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dirty="0"/>
                  <a:t>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Consider the transition, there are two cases: (Note: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an integer)</a:t>
                </a:r>
              </a:p>
              <a:p>
                <a:pPr lvl="2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after the transition,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400" b="0" i="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2400" b="0" dirty="0"/>
              </a:p>
              <a:p>
                <a:pPr lvl="2"/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en-US" sz="2400" dirty="0"/>
                  <a:t> (because guard is not true), which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lvl="1"/>
                <a:r>
                  <a:rPr lang="en-US" dirty="0"/>
                  <a:t>In either case, after the update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an inductive invariant, and the proof is complete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509273"/>
                <a:ext cx="11699087" cy="4174768"/>
              </a:xfrm>
              <a:blipFill>
                <a:blip r:embed="rId2"/>
                <a:stretch>
                  <a:fillRect l="-625" t="-2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0252BD5-D0AE-404D-939E-D5638707EBA7}"/>
                  </a:ext>
                </a:extLst>
              </p:cNvPr>
              <p:cNvSpPr/>
              <p:nvPr/>
            </p:nvSpPr>
            <p:spPr>
              <a:xfrm>
                <a:off x="6743700" y="678276"/>
                <a:ext cx="4586285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: if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</a:t>
                </a:r>
                <a:endParaRPr lang="en-US" sz="1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0252BD5-D0AE-404D-939E-D5638707E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3700" y="678276"/>
                <a:ext cx="4586285" cy="830997"/>
              </a:xfrm>
              <a:prstGeom prst="rect">
                <a:avLst/>
              </a:prstGeom>
              <a:blipFill>
                <a:blip r:embed="rId3"/>
                <a:stretch>
                  <a:fillRect t="-5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113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Consider transition system TS given by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sz="3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r>
                  <a:rPr lang="en-US" sz="3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3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200" dirty="0"/>
                  <a:t>: if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then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{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+1;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3200" dirty="0"/>
                  <a:t>  (else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sz="3200" dirty="0"/>
                  <a:t> remain unchanged)</a:t>
                </a:r>
              </a:p>
              <a:p>
                <a:r>
                  <a:rPr lang="en-US" sz="3200" dirty="0"/>
                  <a:t>Is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:(0≤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an inductive invariant?</a:t>
                </a:r>
              </a:p>
              <a:p>
                <a:r>
                  <a:rPr lang="en-US" sz="3200" dirty="0"/>
                  <a:t>Base case: Initial state is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↦0, 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/>
                  <a:t>), so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3200" dirty="0"/>
                  <a:t> is trivially satisfied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  <a:blipFill>
                <a:blip r:embed="rId2"/>
                <a:stretch>
                  <a:fillRect l="-782" t="-2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442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Inductive case: </a:t>
                </a:r>
              </a:p>
              <a:p>
                <a:r>
                  <a:rPr lang="en-US" sz="3200" dirty="0"/>
                  <a:t>Pick an arbitrary state (i.e. arbitrary value for state variable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3200" dirty="0"/>
                  <a:t>), say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sz="3200" dirty="0"/>
              </a:p>
              <a:p>
                <a:r>
                  <a:rPr lang="en-US" sz="3200" dirty="0"/>
                  <a:t>Now assume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satisfies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3200" dirty="0"/>
                  <a:t>, i.e.,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3200" dirty="0"/>
              </a:p>
              <a:p>
                <a:r>
                  <a:rPr lang="en-US" sz="3200" dirty="0"/>
                  <a:t>Consider the transition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3200" dirty="0"/>
                  <a:t> then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32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3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→(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3200" dirty="0"/>
                  <a:t> </a:t>
                </a:r>
              </a:p>
              <a:p>
                <a:r>
                  <a:rPr lang="en-US" sz="3200" dirty="0"/>
                  <a:t>What if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=0,  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3200" dirty="0"/>
                  <a:t>)? Clearly,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(1,−1)</m:t>
                    </m:r>
                  </m:oMath>
                </a14:m>
                <a:r>
                  <a:rPr lang="en-US" sz="3200" dirty="0"/>
                  <a:t> does not satisfy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3200" dirty="0"/>
                  <a:t>!</a:t>
                </a:r>
              </a:p>
              <a:p>
                <a:r>
                  <a:rPr lang="en-US" sz="3200" dirty="0"/>
                  <a:t>So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3200" dirty="0"/>
                  <a:t> is </a:t>
                </a:r>
                <a:r>
                  <a:rPr lang="en-US" sz="3200" b="1" dirty="0"/>
                  <a:t>not </a:t>
                </a:r>
                <a:r>
                  <a:rPr lang="en-US" sz="3200" dirty="0"/>
                  <a:t>an inductive invariant for TS, and the proof fails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  <a:blipFill>
                <a:blip r:embed="rId2"/>
                <a:stretch>
                  <a:fillRect l="-782" t="-2945" r="-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840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Consider transition system TS given by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sz="32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↦0</m:t>
                    </m:r>
                  </m:oMath>
                </a14:m>
                <a:r>
                  <a:rPr lang="en-US" sz="3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3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200" dirty="0"/>
                  <a:t>: if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then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{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+1;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3200" dirty="0"/>
                  <a:t>  (else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sz="3200" dirty="0"/>
                  <a:t> remain unchanged)</a:t>
                </a:r>
              </a:p>
              <a:p>
                <a:r>
                  <a:rPr lang="en-US" sz="3200" dirty="0"/>
                  <a:t>Is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∧(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 an inductive invariant?</a:t>
                </a:r>
              </a:p>
              <a:p>
                <a:r>
                  <a:rPr lang="en-US" sz="3200" dirty="0"/>
                  <a:t>Base case: Initial state is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↦0, 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3200" dirty="0"/>
                  <a:t>), so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3200" dirty="0"/>
                  <a:t> is trivially satisfied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  <a:blipFill>
                <a:blip r:embed="rId2"/>
                <a:stretch>
                  <a:fillRect l="-782" t="-2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499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Inductive case: </a:t>
                </a:r>
              </a:p>
              <a:p>
                <a:r>
                  <a:rPr lang="en-US" dirty="0"/>
                  <a:t>Pick an arbitrary state (i.e. arbitrary value for state variable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dirty="0"/>
                  <a:t>), say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Now assume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 the transition 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dirty="0"/>
                  <a:t>, else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→(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Now,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i="1" dirty="0"/>
                  <a:t>,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&gt;0)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and thus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−1≥0</m:t>
                    </m:r>
                  </m:oMath>
                </a14:m>
                <a:r>
                  <a:rPr lang="en-US" dirty="0"/>
                  <a:t>. Thus,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is satisfied</a:t>
                </a:r>
              </a:p>
              <a:p>
                <a:pPr lvl="1"/>
                <a:r>
                  <a:rPr lang="en-US" dirty="0"/>
                  <a:t>Else case is trivially satisfied because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</m:oMath>
                </a14:m>
                <a:r>
                  <a:rPr lang="en-US" dirty="0"/>
                  <a:t> do not change value</a:t>
                </a:r>
              </a:p>
              <a:p>
                <a:r>
                  <a:rPr lang="en-US" dirty="0"/>
                  <a:t>In both cases,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holds, so,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is an inductive invariant!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705F2A1-02FE-4532-8D5F-F7F5B99F09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9831" y="1332703"/>
                <a:ext cx="11699087" cy="4351338"/>
              </a:xfrm>
              <a:blipFill>
                <a:blip r:embed="rId2"/>
                <a:stretch>
                  <a:fillRect l="-782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2ECB1DD-9746-40E5-A710-904615B6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Proving inductive invariants: III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28A7B-4B24-4A8A-8204-DD9B3426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536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AF32D16-3081-4949-838D-DC85880690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7225" y="1721795"/>
                <a:ext cx="11699087" cy="396224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establish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is an invariant of TS:</a:t>
                </a:r>
              </a:p>
              <a:p>
                <a:r>
                  <a:rPr lang="en-US" dirty="0"/>
                  <a:t>Find another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such that</a:t>
                </a:r>
              </a:p>
              <a:p>
                <a:pPr marL="925830" lvl="1" indent="-514350">
                  <a:buAutoNum type="arabicPeriod"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(i.e., every state satisfying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must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25830" lvl="1" indent="-514350">
                  <a:buAutoNum type="arabicPeriod"/>
                </a:pP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is an inductive invariant</a:t>
                </a:r>
              </a:p>
              <a:p>
                <a:pPr lvl="2"/>
                <a:r>
                  <a:rPr lang="en-US" dirty="0"/>
                  <a:t>Show initial states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For arbitrary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, and 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, show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This is a sound and complete strategy for establishing safety invariants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AF32D16-3081-4949-838D-DC85880690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7225" y="1721795"/>
                <a:ext cx="11699087" cy="3962245"/>
              </a:xfrm>
              <a:blipFill>
                <a:blip r:embed="rId2"/>
                <a:stretch>
                  <a:fillRect l="-1042" t="-2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40BF5C5-D88F-402F-A285-E841028C3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prove safety invariants?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93B85-3E3A-4B17-96D0-E7EDC501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464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D1C0053F-7DCD-A48B-B25E-12102721FB52}"/>
              </a:ext>
            </a:extLst>
          </p:cNvPr>
          <p:cNvSpPr/>
          <p:nvPr/>
        </p:nvSpPr>
        <p:spPr>
          <a:xfrm>
            <a:off x="8294641" y="2866779"/>
            <a:ext cx="1664902" cy="1514386"/>
          </a:xfrm>
          <a:prstGeom prst="triangle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5F62AF-F417-D69C-8ED2-251DC4844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an inductive invariant for this system?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9CC16-5D09-179A-F1FA-A9AE4BE1E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67BAC1-3BDF-BDF6-FA2F-396D3D0DB0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813" r="13232"/>
          <a:stretch/>
        </p:blipFill>
        <p:spPr>
          <a:xfrm>
            <a:off x="247135" y="1012902"/>
            <a:ext cx="5078627" cy="4472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AF58EC-DD1D-D5B3-8EE4-0C6108936665}"/>
                  </a:ext>
                </a:extLst>
              </p:cNvPr>
              <p:cNvSpPr txBox="1"/>
              <p:nvPr/>
            </p:nvSpPr>
            <p:spPr>
              <a:xfrm>
                <a:off x="6437870" y="1970532"/>
                <a:ext cx="39994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2AF58EC-DD1D-D5B3-8EE4-0C61089366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870" y="1970532"/>
                <a:ext cx="3999428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48ADAB0-219A-F616-1153-4CA6F26F8225}"/>
              </a:ext>
            </a:extLst>
          </p:cNvPr>
          <p:cNvCxnSpPr>
            <a:cxnSpLocks/>
          </p:cNvCxnSpPr>
          <p:nvPr/>
        </p:nvCxnSpPr>
        <p:spPr>
          <a:xfrm flipV="1">
            <a:off x="8285205" y="2570205"/>
            <a:ext cx="0" cy="37379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5D6ECC-3BD7-F8E7-A88A-9E2A0FFD6B67}"/>
              </a:ext>
            </a:extLst>
          </p:cNvPr>
          <p:cNvCxnSpPr>
            <a:cxnSpLocks/>
          </p:cNvCxnSpPr>
          <p:nvPr/>
        </p:nvCxnSpPr>
        <p:spPr>
          <a:xfrm>
            <a:off x="6244281" y="4372233"/>
            <a:ext cx="42589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735F2F-1ED3-40E4-A78B-687E5D6BB2FC}"/>
              </a:ext>
            </a:extLst>
          </p:cNvPr>
          <p:cNvSpPr txBox="1"/>
          <p:nvPr/>
        </p:nvSpPr>
        <p:spPr>
          <a:xfrm>
            <a:off x="8038070" y="25702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B539C9-22B9-E8B9-445F-78A130B8B940}"/>
              </a:ext>
            </a:extLst>
          </p:cNvPr>
          <p:cNvSpPr txBox="1"/>
          <p:nvPr/>
        </p:nvSpPr>
        <p:spPr>
          <a:xfrm>
            <a:off x="10201558" y="43626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D59A2D-A52D-D6A8-84B7-2B301D08E3F5}"/>
              </a:ext>
            </a:extLst>
          </p:cNvPr>
          <p:cNvSpPr txBox="1"/>
          <p:nvPr/>
        </p:nvSpPr>
        <p:spPr>
          <a:xfrm>
            <a:off x="7729331" y="4069832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(0,0)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C123B1-A652-97D3-2184-B4BC722C1D47}"/>
              </a:ext>
            </a:extLst>
          </p:cNvPr>
          <p:cNvSpPr/>
          <p:nvPr/>
        </p:nvSpPr>
        <p:spPr>
          <a:xfrm>
            <a:off x="9300658" y="3082998"/>
            <a:ext cx="658885" cy="536486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Unsafe</a:t>
            </a:r>
          </a:p>
        </p:txBody>
      </p:sp>
    </p:spTree>
    <p:extLst>
      <p:ext uri="{BB962C8B-B14F-4D97-AF65-F5344CB8AC3E}">
        <p14:creationId xmlns:p14="http://schemas.microsoft.com/office/powerpoint/2010/main" val="15375213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827C74-0597-4EAE-9099-750FA2E4E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Formal system: </a:t>
            </a:r>
          </a:p>
          <a:p>
            <a:pPr lvl="1"/>
            <a:r>
              <a:rPr lang="en-US" sz="2400" dirty="0"/>
              <a:t>a set of axioms, </a:t>
            </a:r>
          </a:p>
          <a:p>
            <a:pPr lvl="1"/>
            <a:r>
              <a:rPr lang="en-US" sz="2400" dirty="0"/>
              <a:t>a grammar for specifying well-formed formulas, </a:t>
            </a:r>
          </a:p>
          <a:p>
            <a:pPr lvl="1"/>
            <a:r>
              <a:rPr lang="en-US" sz="2400" dirty="0"/>
              <a:t>a set of inference rules for deriving new true formulas from axioms</a:t>
            </a:r>
          </a:p>
          <a:p>
            <a:r>
              <a:rPr lang="en-US" sz="2400" dirty="0"/>
              <a:t>Sound: </a:t>
            </a:r>
          </a:p>
          <a:p>
            <a:pPr lvl="1"/>
            <a:r>
              <a:rPr lang="en-US" sz="2400" dirty="0"/>
              <a:t>Starting from the axioms and using inference rules of the formal system,</a:t>
            </a:r>
          </a:p>
          <a:p>
            <a:pPr lvl="1"/>
            <a:r>
              <a:rPr lang="en-US" sz="2400" dirty="0"/>
              <a:t>cannot arrive at a formula that is equivalent  to false.</a:t>
            </a:r>
          </a:p>
          <a:p>
            <a:r>
              <a:rPr lang="en-US" sz="2400" dirty="0"/>
              <a:t>Complete: Complete with respect to a property if</a:t>
            </a:r>
          </a:p>
          <a:p>
            <a:pPr lvl="1"/>
            <a:r>
              <a:rPr lang="en-US" sz="2400" dirty="0"/>
              <a:t>every formula having the property can be derived using the inference rules</a:t>
            </a:r>
          </a:p>
          <a:p>
            <a:r>
              <a:rPr lang="en-US" sz="2400" dirty="0"/>
              <a:t>Proof rule for proving safety for a transition system is sound and complete: </a:t>
            </a:r>
          </a:p>
          <a:p>
            <a:pPr lvl="1"/>
            <a:r>
              <a:rPr lang="en-US" sz="2400" dirty="0"/>
              <a:t>Sound: If a (safe) inductive invariant exists, then the system is indeed safe</a:t>
            </a:r>
          </a:p>
          <a:p>
            <a:pPr lvl="1"/>
            <a:r>
              <a:rPr lang="en-US" sz="2400" dirty="0"/>
              <a:t>Complete: If the system is safe, an inductive invariant must exist </a:t>
            </a:r>
          </a:p>
          <a:p>
            <a:pPr lvl="2"/>
            <a:r>
              <a:rPr lang="en-US" sz="2400" dirty="0"/>
              <a:t>May still be hard/undecidable to find!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36E106-BAA5-4F90-9E03-6CDAB249D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Soundness and Completeness of Safety with Inductive Invariants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884F5-7AB6-45D3-8555-0F6FD0BED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135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0AAFE5C-A1AE-4AFF-A511-122E539A55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94139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</m:d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≤3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Let’s try the inductive invariant: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𝑚𝑜𝑑𝑒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𝑜𝑓𝑓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  <m:d>
                          <m:d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𝑚𝑜𝑑𝑒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𝑜𝑛</m:t>
                            </m:r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⇒(0≤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≤2)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0AAFE5C-A1AE-4AFF-A511-122E539A55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941399"/>
              </a:xfrm>
              <a:blipFill>
                <a:blip r:embed="rId2"/>
                <a:stretch>
                  <a:fillRect l="-208" t="-55844" b="-175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AA7DE54-3788-40DE-9F2A-CF0820BB8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Proof for Switch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292BEB-4580-47D8-AC85-E30851CF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AC1A55F-41F5-4FD4-8071-EEB16F5912BE}"/>
              </a:ext>
            </a:extLst>
          </p:cNvPr>
          <p:cNvGrpSpPr/>
          <p:nvPr/>
        </p:nvGrpSpPr>
        <p:grpSpPr>
          <a:xfrm>
            <a:off x="7818287" y="2580656"/>
            <a:ext cx="3939341" cy="2574260"/>
            <a:chOff x="166680" y="1476437"/>
            <a:chExt cx="5299075" cy="4360374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6A9C51-B18D-437C-95CC-84965D0610B6}"/>
                </a:ext>
              </a:extLst>
            </p:cNvPr>
            <p:cNvSpPr/>
            <p:nvPr/>
          </p:nvSpPr>
          <p:spPr>
            <a:xfrm>
              <a:off x="2046694" y="205871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off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E28BE7F-C2A6-4153-B246-18635A26F701}"/>
                </a:ext>
              </a:extLst>
            </p:cNvPr>
            <p:cNvSpPr/>
            <p:nvPr/>
          </p:nvSpPr>
          <p:spPr>
            <a:xfrm>
              <a:off x="3827723" y="3562869"/>
              <a:ext cx="1129553" cy="1064715"/>
            </a:xfrm>
            <a:prstGeom prst="ellipse">
              <a:avLst/>
            </a:prstGeom>
            <a:ln w="698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on</a:t>
              </a:r>
            </a:p>
          </p:txBody>
        </p: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B1D17119-CC26-4D7D-B7E1-955780BAA83B}"/>
                </a:ext>
              </a:extLst>
            </p:cNvPr>
            <p:cNvCxnSpPr>
              <a:cxnSpLocks/>
              <a:stCxn id="6" idx="6"/>
              <a:endCxn id="7" idx="0"/>
            </p:cNvCxnSpPr>
            <p:nvPr/>
          </p:nvCxnSpPr>
          <p:spPr>
            <a:xfrm>
              <a:off x="3176247" y="2591077"/>
              <a:ext cx="1216253" cy="971792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: Curved 8">
              <a:extLst>
                <a:ext uri="{FF2B5EF4-FFF2-40B4-BE49-F238E27FC236}">
                  <a16:creationId xmlns:a16="http://schemas.microsoft.com/office/drawing/2014/main" id="{B8156F32-E0D4-4F0C-B341-8AC67CFE9AB7}"/>
                </a:ext>
              </a:extLst>
            </p:cNvPr>
            <p:cNvCxnSpPr>
              <a:cxnSpLocks/>
              <a:stCxn id="7" idx="2"/>
              <a:endCxn id="6" idx="4"/>
            </p:cNvCxnSpPr>
            <p:nvPr/>
          </p:nvCxnSpPr>
          <p:spPr>
            <a:xfrm rot="10800000">
              <a:off x="2611471" y="3123435"/>
              <a:ext cx="1216252" cy="971793"/>
            </a:xfrm>
            <a:prstGeom prst="curvedConnector2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: Curved 9">
              <a:extLst>
                <a:ext uri="{FF2B5EF4-FFF2-40B4-BE49-F238E27FC236}">
                  <a16:creationId xmlns:a16="http://schemas.microsoft.com/office/drawing/2014/main" id="{177A2407-8EF9-4141-8616-18DDC9584BA8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941187" y="2664292"/>
              <a:ext cx="376433" cy="165419"/>
            </a:xfrm>
            <a:prstGeom prst="curvedConnector4">
              <a:avLst>
                <a:gd name="adj1" fmla="val -47035"/>
                <a:gd name="adj2" fmla="val 400777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E747544-F910-4CA7-BAFA-4045169027F1}"/>
                </a:ext>
              </a:extLst>
            </p:cNvPr>
            <p:cNvSpPr txBox="1"/>
            <p:nvPr/>
          </p:nvSpPr>
          <p:spPr>
            <a:xfrm>
              <a:off x="166680" y="2676864"/>
              <a:ext cx="1390215" cy="521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(press==0)?</a:t>
              </a:r>
            </a:p>
          </p:txBody>
        </p:sp>
        <p:cxnSp>
          <p:nvCxnSpPr>
            <p:cNvPr id="12" name="Connector: Curved 11">
              <a:extLst>
                <a:ext uri="{FF2B5EF4-FFF2-40B4-BE49-F238E27FC236}">
                  <a16:creationId xmlns:a16="http://schemas.microsoft.com/office/drawing/2014/main" id="{3D18B2F2-C474-4309-945A-294F8C1A0736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4791857" y="4095227"/>
              <a:ext cx="165419" cy="376433"/>
            </a:xfrm>
            <a:prstGeom prst="curvedConnector4">
              <a:avLst>
                <a:gd name="adj1" fmla="val -268261"/>
                <a:gd name="adj2" fmla="val 202149"/>
              </a:avLst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152CD9A-0734-4C68-9963-7F0FB321AA64}"/>
                </a:ext>
              </a:extLst>
            </p:cNvPr>
            <p:cNvSpPr txBox="1"/>
            <p:nvPr/>
          </p:nvSpPr>
          <p:spPr>
            <a:xfrm>
              <a:off x="3827723" y="2360243"/>
              <a:ext cx="1551507" cy="5734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(press==1)?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B7EAD1A-BB10-40CA-B12C-655C98A1BD7D}"/>
                    </a:ext>
                  </a:extLst>
                </p:cNvPr>
                <p:cNvSpPr txBox="1"/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(press==0) &amp; (x&lt;2)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B7EAD1A-BB10-40CA-B12C-655C98A1B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4098" y="4846298"/>
                  <a:ext cx="2491657" cy="990513"/>
                </a:xfrm>
                <a:prstGeom prst="rect">
                  <a:avLst/>
                </a:prstGeom>
                <a:blipFill>
                  <a:blip r:embed="rId3"/>
                  <a:stretch>
                    <a:fillRect l="-1974" t="-3125" r="-6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FA24FD-3918-4876-A7F8-CD63B32FAEFA}"/>
                </a:ext>
              </a:extLst>
            </p:cNvPr>
            <p:cNvCxnSpPr/>
            <p:nvPr/>
          </p:nvCxnSpPr>
          <p:spPr>
            <a:xfrm>
              <a:off x="1501127" y="1796255"/>
              <a:ext cx="710986" cy="403258"/>
            </a:xfrm>
            <a:prstGeom prst="straightConnector1">
              <a:avLst/>
            </a:prstGeom>
            <a:ln w="508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4C80243-E65F-4D3D-8EAF-5C925BA149C3}"/>
                    </a:ext>
                  </a:extLst>
                </p:cNvPr>
                <p:cNvSpPr/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int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1200" dirty="0"/>
                    <a:t>0</a:t>
                  </a: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4C80243-E65F-4D3D-8EAF-5C925BA149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642" y="1476437"/>
                  <a:ext cx="1039083" cy="469191"/>
                </a:xfrm>
                <a:prstGeom prst="rect">
                  <a:avLst/>
                </a:prstGeom>
                <a:blipFill>
                  <a:blip r:embed="rId4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2EB6CBF-8C21-4A6F-995D-0DBED3170B0C}"/>
                    </a:ext>
                  </a:extLst>
                </p:cNvPr>
                <p:cNvSpPr txBox="1"/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(press==1) or (x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1600" dirty="0"/>
                    <a:t> 2) ?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1600" b="0" i="0" smtClean="0">
                            <a:latin typeface="Cambria Math" panose="02040503050406030204" pitchFamily="18" charset="0"/>
                          </a:rPr>
                          <m:t> ≔0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2EB6CBF-8C21-4A6F-995D-0DBED3170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795" y="3892774"/>
                  <a:ext cx="2679257" cy="990513"/>
                </a:xfrm>
                <a:prstGeom prst="rect">
                  <a:avLst/>
                </a:prstGeom>
                <a:blipFill>
                  <a:blip r:embed="rId5"/>
                  <a:stretch>
                    <a:fillRect l="-1840" t="-3158" r="-6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49F6BD73-E5C4-4B4B-84E1-22BF6BB9DC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044" y="2175497"/>
                <a:ext cx="7373047" cy="349514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𝐼𝑛𝑖𝑡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↦0, 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𝑚𝑜𝑑𝑒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𝑜𝑓𝑓</m:t>
                    </m:r>
                  </m:oMath>
                </a14:m>
                <a:endParaRPr lang="ar-AE" sz="1600" dirty="0">
                  <a:solidFill>
                    <a:schemeClr val="accent1"/>
                  </a:solidFill>
                </a:endParaRP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Base case: </a:t>
                </a:r>
                <a:r>
                  <a:rPr lang="ar-AE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𝑜𝑓𝑓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trivially satisfies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Inductive hypothesis: assume that a state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satisfies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Inductive step: prove that any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1600" dirty="0" err="1">
                    <a:solidFill>
                      <a:schemeClr val="accent1"/>
                    </a:solidFill>
                  </a:rPr>
                  <a:t>s.t.</a:t>
                </a:r>
                <a:r>
                  <a:rPr lang="en-US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satisfies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lvl="1"/>
                <a:r>
                  <a:rPr lang="en-US" sz="1600" dirty="0">
                    <a:solidFill>
                      <a:schemeClr val="accent1"/>
                    </a:solidFill>
                  </a:rPr>
                  <a:t>Case I: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𝑜𝑓𝑓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>
                    <a:solidFill>
                      <a:schemeClr val="accent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𝑜𝑓𝑓</m:t>
                    </m:r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1200" dirty="0">
                    <a:solidFill>
                      <a:schemeClr val="accent1"/>
                    </a:solidFill>
                  </a:rPr>
                  <a:t> [trivial]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>
                    <a:solidFill>
                      <a:schemeClr val="accent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𝑜𝑛</m:t>
                    </m:r>
                    <m:r>
                      <a:rPr lang="en-US" sz="12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0)</m:t>
                    </m:r>
                  </m:oMath>
                </a14:m>
                <a:r>
                  <a:rPr lang="en-US" sz="1200" dirty="0">
                    <a:solidFill>
                      <a:schemeClr val="accent1"/>
                    </a:solidFill>
                  </a:rPr>
                  <a:t> [satisfies second conjunct in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1200" dirty="0">
                    <a:solidFill>
                      <a:schemeClr val="accent1"/>
                    </a:solidFill>
                  </a:rPr>
                  <a:t>]</a:t>
                </a:r>
              </a:p>
              <a:p>
                <a:pPr lvl="1"/>
                <a:r>
                  <a:rPr lang="en-US" sz="1600" dirty="0">
                    <a:solidFill>
                      <a:schemeClr val="accent1"/>
                    </a:solidFill>
                  </a:rPr>
                  <a:t>Case II: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, this implies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+1≤2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, so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satisfies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pPr lvl="2"/>
                <a:r>
                  <a:rPr lang="en-US" sz="16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𝑜𝑓𝑓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,0)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otherwise, this again implies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satisfies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sz="1600" dirty="0">
                  <a:solidFill>
                    <a:schemeClr val="accent1"/>
                  </a:solidFill>
                </a:endParaRP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So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is an inductive invariant</a:t>
                </a: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Further,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(note that every state satisfying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will satisfy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)</a:t>
                </a:r>
              </a:p>
              <a:p>
                <a:r>
                  <a:rPr lang="en-US" sz="1600" dirty="0">
                    <a:solidFill>
                      <a:schemeClr val="accent1"/>
                    </a:solidFill>
                  </a:rPr>
                  <a:t>So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1600" dirty="0">
                    <a:solidFill>
                      <a:schemeClr val="accent1"/>
                    </a:solidFill>
                  </a:rPr>
                  <a:t> is an invariant of the TS!</a:t>
                </a:r>
              </a:p>
            </p:txBody>
          </p:sp>
        </mc:Choice>
        <mc:Fallback xmlns="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49F6BD73-E5C4-4B4B-84E1-22BF6BB9D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44" y="2175497"/>
                <a:ext cx="7373047" cy="34951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718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A374BB-617B-4E13-9F80-7B852B79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Automatic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0A93C-11FF-4671-B918-E8BE5837D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9149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3384D1A-93DA-456E-ABD0-D12AF418B0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795" y="1109469"/>
                <a:ext cx="11699087" cy="115801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A state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 of a transition system is </a:t>
                </a:r>
                <a:r>
                  <a:rPr lang="en-US" sz="2400" b="1" i="1" dirty="0"/>
                  <a:t>reachable</a:t>
                </a:r>
                <a:r>
                  <a:rPr lang="en-US" sz="2400" dirty="0"/>
                  <a:t> if there is an execution starting in some initial state that ends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Algorithm to compute reachable states from a given set of initial states (just BFS):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3384D1A-93DA-456E-ABD0-D12AF418B0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795" y="1109469"/>
                <a:ext cx="11699087" cy="1158013"/>
              </a:xfrm>
              <a:blipFill>
                <a:blip r:embed="rId2"/>
                <a:stretch>
                  <a:fillRect l="-417" t="-1000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9E9C6A6-9F30-4E82-BCF5-4560988F1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31E36-5508-4B9A-B63C-F513233C0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06C723-731C-4B96-90C2-3E79873E06F0}"/>
                  </a:ext>
                </a:extLst>
              </p:cNvPr>
              <p:cNvSpPr txBox="1"/>
              <p:nvPr/>
            </p:nvSpPr>
            <p:spPr>
              <a:xfrm>
                <a:off x="5740563" y="2339022"/>
                <a:ext cx="6043319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Procedure </a:t>
                </a:r>
                <a:r>
                  <a:rPr lang="en-US" sz="20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ComputeReach</a:t>
                </a:r>
                <a:r>
                  <a:rPr lang="en-US" sz="20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(TS)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:=</m:t>
                    </m:r>
                    <m:d>
                      <m:dPr>
                        <m:begChr m:val="⟦"/>
                        <m:endChr m:val="⟧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𝐼𝑛𝑖𝑡</m:t>
                        </m:r>
                      </m:e>
                    </m:d>
                  </m:oMath>
                </a14:m>
                <a:r>
                  <a:rPr lang="en-US" sz="2000" dirty="0"/>
                  <a:t>, k:=1;</a:t>
                </a:r>
              </a:p>
              <a:p>
                <a:pPr lvl="1"/>
                <a:r>
                  <a:rPr lang="en-US" sz="2000" b="1" dirty="0"/>
                  <a:t>While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	Temp :=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	</a:t>
                </a:r>
                <a:r>
                  <a:rPr lang="en-US" sz="2000" b="1" dirty="0" err="1"/>
                  <a:t>ForEach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		</a:t>
                </a:r>
                <a:r>
                  <a:rPr lang="en-US" sz="2000" b="1" dirty="0"/>
                  <a:t>If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⟦"/>
                        <m:endChr m:val="⟧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2000" dirty="0"/>
                  <a:t>)  Temp :=  Temp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	</a:t>
                </a:r>
                <a:r>
                  <a:rPr lang="en-US" sz="2000" b="1" dirty="0" err="1"/>
                  <a:t>EndForEach</a:t>
                </a:r>
                <a:endParaRPr lang="en-US" sz="2000" b="1" dirty="0"/>
              </a:p>
              <a:p>
                <a:pPr lvl="1"/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≔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∪</m:t>
                    </m:r>
                  </m:oMath>
                </a14:m>
                <a:r>
                  <a:rPr lang="en-US" sz="2000" dirty="0"/>
                  <a:t> Temp,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:=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2000" b="1" dirty="0" err="1"/>
                  <a:t>EndWhile</a:t>
                </a:r>
                <a:endParaRPr lang="en-US" sz="2000" b="1" dirty="0"/>
              </a:p>
              <a:p>
                <a:pPr lvl="1"/>
                <a:r>
                  <a:rPr lang="en-US" sz="2000" b="1" dirty="0"/>
                  <a:t>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lvl="1"/>
                <a:r>
                  <a:rPr lang="en-US" sz="2000" b="1" dirty="0" err="1"/>
                  <a:t>EndProcedure</a:t>
                </a:r>
                <a:endParaRPr lang="en-US" sz="20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06C723-731C-4B96-90C2-3E79873E0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0563" y="2339022"/>
                <a:ext cx="6043319" cy="3477875"/>
              </a:xfrm>
              <a:prstGeom prst="rect">
                <a:avLst/>
              </a:prstGeom>
              <a:blipFill>
                <a:blip r:embed="rId3"/>
                <a:stretch>
                  <a:fillRect l="-1110" t="-1053" b="-2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80AFA-B0A0-4CE8-A5D5-A2DCF78B13BF}"/>
                  </a:ext>
                </a:extLst>
              </p:cNvPr>
              <p:cNvSpPr txBox="1"/>
              <p:nvPr/>
            </p:nvSpPr>
            <p:spPr>
              <a:xfrm>
                <a:off x="166681" y="2890278"/>
                <a:ext cx="488388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1800" dirty="0"/>
                  <a:t>To get a proof of safety, do reachability computation, and if </a:t>
                </a:r>
                <a:r>
                  <a:rPr lang="en-US" sz="1800" b="1" dirty="0" err="1"/>
                  <a:t>ComputeReach</a:t>
                </a:r>
                <a:r>
                  <a:rPr lang="en-US" sz="1800" dirty="0"/>
                  <a:t>(TS)</a:t>
                </a:r>
                <a:r>
                  <a:rPr lang="en-US" sz="1800" b="1" dirty="0"/>
                  <a:t>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=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1800" dirty="0"/>
                  <a:t>, then the TS is safe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1C80AFA-B0A0-4CE8-A5D5-A2DCF78B1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681" y="2890278"/>
                <a:ext cx="4883884" cy="1200329"/>
              </a:xfrm>
              <a:prstGeom prst="rect">
                <a:avLst/>
              </a:prstGeom>
              <a:blipFill>
                <a:blip r:embed="rId4"/>
                <a:stretch>
                  <a:fillRect t="-2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2513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422931-FBAE-4C63-9AB9-B05C50E53A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Given 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𝐼𝑛𝑖𝑡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property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, prove that all reachable states of TS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Recall </a:t>
                </a:r>
                <a:r>
                  <a:rPr lang="en-US" b="1" dirty="0" err="1"/>
                  <a:t>ComputeReach</a:t>
                </a:r>
                <a:r>
                  <a:rPr lang="en-US" dirty="0"/>
                  <a:t>(TS), it actually gives an inductive definition of reachable states</a:t>
                </a:r>
              </a:p>
              <a:p>
                <a:pPr lvl="1"/>
                <a:r>
                  <a:rPr lang="en-US" dirty="0"/>
                  <a:t>All states specified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𝐼𝑛𝑖𝑡</m:t>
                    </m:r>
                  </m:oMath>
                </a14:m>
                <a:r>
                  <a:rPr lang="en-US" dirty="0"/>
                  <a:t> are reachable using 0 transitions</a:t>
                </a:r>
              </a:p>
              <a:p>
                <a:pPr lvl="1"/>
                <a:r>
                  <a:rPr lang="en-US" dirty="0"/>
                  <a:t>If a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 reachable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transitions,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is a transition in </a:t>
                </a:r>
                <a14:m>
                  <m:oMath xmlns:m="http://schemas.openxmlformats.org/officeDocument/2006/math">
                    <m:d>
                      <m:dPr>
                        <m:begChr m:val="⟦"/>
                        <m:endChr m:val="⟧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is reachable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transitions</a:t>
                </a:r>
              </a:p>
              <a:p>
                <a:pPr lvl="1"/>
                <a:r>
                  <a:rPr lang="en-US" dirty="0"/>
                  <a:t>Reachable = Reachable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transitions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422931-FBAE-4C63-9AB9-B05C50E53A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5ED68D8-C028-4CB4-B811-5BB349A91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Reachability to compute invariants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84E6D-6965-4F39-963F-CD4D13AF3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2171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EC38055-A62D-48F6-BF02-75A3DDB65A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For discrete-timed, finite-state systems : </a:t>
                </a:r>
              </a:p>
              <a:p>
                <a:pPr lvl="1"/>
                <a:r>
                  <a:rPr lang="en-US" dirty="0"/>
                  <a:t>Reachable set of states can be exactly computed</a:t>
                </a:r>
              </a:p>
              <a:p>
                <a:pPr lvl="1"/>
                <a:r>
                  <a:rPr lang="en-US" dirty="0"/>
                  <a:t>Could be expensive if the number of states is large (state-space explosion problem)</a:t>
                </a:r>
              </a:p>
              <a:p>
                <a:r>
                  <a:rPr lang="en-US" dirty="0"/>
                  <a:t>Use abstraction to </a:t>
                </a:r>
                <a:r>
                  <a:rPr lang="en-US" i="1" dirty="0"/>
                  <a:t>compress </a:t>
                </a:r>
                <a:r>
                  <a:rPr lang="en-US" dirty="0"/>
                  <a:t>reachable state space</a:t>
                </a:r>
              </a:p>
              <a:p>
                <a:pPr lvl="2"/>
                <a:r>
                  <a:rPr lang="en-US" dirty="0"/>
                  <a:t>If counterexample not found in abstract state 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no counterexample exists</a:t>
                </a:r>
              </a:p>
              <a:p>
                <a:pPr lvl="2"/>
                <a:r>
                  <a:rPr lang="en-US" dirty="0"/>
                  <a:t>If counterexample found in abstract state 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need to check if counterexample is real (and if not </a:t>
                </a:r>
                <a:r>
                  <a:rPr lang="en-US" i="1" dirty="0"/>
                  <a:t>refine</a:t>
                </a:r>
                <a:r>
                  <a:rPr lang="en-US" dirty="0"/>
                  <a:t> the state space)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EC38055-A62D-48F6-BF02-75A3DDB65A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D4D471-EB23-4EF9-90A2-D08083C3D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FBF1E-5095-4B80-A608-0F88D0FC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58551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22038-81D3-403E-AE75-01955F1C1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2420857"/>
            <a:ext cx="11699087" cy="3263183"/>
          </a:xfrm>
        </p:spPr>
        <p:txBody>
          <a:bodyPr/>
          <a:lstStyle/>
          <a:p>
            <a:r>
              <a:rPr lang="en-US" dirty="0"/>
              <a:t>Timed, Continuous (Linear &amp; Nonlinear), Hybrid processes: reachable sets are harder to compute: undecidable in general</a:t>
            </a:r>
          </a:p>
          <a:p>
            <a:r>
              <a:rPr lang="en-US" dirty="0"/>
              <a:t>Various approaches have been researched over last 25 years (we will look at this later)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319946-7F9F-4EEF-A2E9-DB6E627C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for general processes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F9CD6-DC5A-4393-814D-E94CEFBC7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8237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30C4EF-B1B8-4D11-8028-0DEBC11E9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Coming up with invariants and proofs requires considerable human ingenuity!</a:t>
            </a:r>
          </a:p>
          <a:p>
            <a:r>
              <a:rPr lang="en-US" sz="2400" dirty="0"/>
              <a:t>Initial techniques for </a:t>
            </a:r>
            <a:r>
              <a:rPr lang="en-US" sz="2400" i="1" dirty="0"/>
              <a:t>formal verification </a:t>
            </a:r>
            <a:r>
              <a:rPr lang="en-US" sz="2400" dirty="0"/>
              <a:t>i.e. rigorously establishing program correctness were all largely manual</a:t>
            </a:r>
          </a:p>
          <a:p>
            <a:r>
              <a:rPr lang="en-US" sz="2400" i="1" dirty="0"/>
              <a:t>Model checking</a:t>
            </a:r>
            <a:r>
              <a:rPr lang="en-US" sz="2400" dirty="0"/>
              <a:t> (invented around 1981-82) was the first approach at trying to automate the process of </a:t>
            </a:r>
            <a:r>
              <a:rPr lang="en-US" sz="2400" i="1" dirty="0"/>
              <a:t>proving</a:t>
            </a:r>
            <a:r>
              <a:rPr lang="en-US" sz="2400" dirty="0"/>
              <a:t> program correctness</a:t>
            </a:r>
          </a:p>
          <a:p>
            <a:endParaRPr lang="en-US" sz="2400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4D87DC-3712-41CB-8720-B8DFD7EBD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 &amp; Automatic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9F441-0F52-4362-8261-36854787B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22063C-238A-4CFA-990F-F4D326BEC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346" y="3587745"/>
            <a:ext cx="1572222" cy="20962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590222-D1EB-4D75-9D6B-03830DC82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613" y="3587744"/>
            <a:ext cx="1612769" cy="20962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84A3B4-2236-487E-B66F-38D428E22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5532" y="3587743"/>
            <a:ext cx="1630750" cy="2096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CA306A-935D-4514-9050-08A8E86F0442}"/>
              </a:ext>
            </a:extLst>
          </p:cNvPr>
          <p:cNvSpPr txBox="1"/>
          <p:nvPr/>
        </p:nvSpPr>
        <p:spPr>
          <a:xfrm>
            <a:off x="7383010" y="3493972"/>
            <a:ext cx="324800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checking inventors, </a:t>
            </a:r>
          </a:p>
          <a:p>
            <a:r>
              <a:rPr lang="en-US" dirty="0"/>
              <a:t>ACM 2007 Turing Award winners</a:t>
            </a:r>
          </a:p>
          <a:p>
            <a:endParaRPr lang="en-US" dirty="0"/>
          </a:p>
          <a:p>
            <a:r>
              <a:rPr lang="en-US" dirty="0"/>
              <a:t>(L to R)</a:t>
            </a:r>
          </a:p>
          <a:p>
            <a:r>
              <a:rPr lang="en-US" dirty="0"/>
              <a:t>E. Allen Emerson</a:t>
            </a:r>
          </a:p>
          <a:p>
            <a:r>
              <a:rPr lang="en-US" dirty="0"/>
              <a:t>Ed Clarke</a:t>
            </a:r>
          </a:p>
          <a:p>
            <a:r>
              <a:rPr lang="en-US" dirty="0"/>
              <a:t>Josef Sifakis</a:t>
            </a:r>
          </a:p>
        </p:txBody>
      </p:sp>
    </p:spTree>
    <p:extLst>
      <p:ext uri="{BB962C8B-B14F-4D97-AF65-F5344CB8AC3E}">
        <p14:creationId xmlns:p14="http://schemas.microsoft.com/office/powerpoint/2010/main" val="41965974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453D0F-B8D1-4D68-B4CB-EE199A6B3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4794632"/>
          </a:xfrm>
        </p:spPr>
        <p:txBody>
          <a:bodyPr>
            <a:normAutofit/>
          </a:bodyPr>
          <a:lstStyle/>
          <a:p>
            <a:r>
              <a:rPr lang="en-US" dirty="0"/>
              <a:t>Checking if all behaviors of the system model are contained within the behaviors specified by a property specification</a:t>
            </a:r>
          </a:p>
          <a:p>
            <a:r>
              <a:rPr lang="en-US" dirty="0"/>
              <a:t>E.g. specifications: </a:t>
            </a:r>
          </a:p>
          <a:p>
            <a:pPr lvl="1"/>
            <a:r>
              <a:rPr lang="en-US" dirty="0"/>
              <a:t>When adaptive cruise control is engaged, the speed of the car is between 20 and 60mph</a:t>
            </a:r>
          </a:p>
          <a:p>
            <a:pPr lvl="1"/>
            <a:r>
              <a:rPr lang="en-US" dirty="0"/>
              <a:t>Always, if the drone detects an obstacle along its current flight path, it makes a call to the re-planning module within 1 second </a:t>
            </a:r>
          </a:p>
          <a:p>
            <a:pPr lvl="1"/>
            <a:r>
              <a:rPr lang="en-US" dirty="0"/>
              <a:t>No two robots can be within 2 meters of each other </a:t>
            </a:r>
          </a:p>
          <a:p>
            <a:r>
              <a:rPr lang="en-US" dirty="0"/>
              <a:t>First algorithm for model checking used “</a:t>
            </a:r>
            <a:r>
              <a:rPr lang="en-US" dirty="0" err="1"/>
              <a:t>Kripke</a:t>
            </a:r>
            <a:r>
              <a:rPr lang="en-US" dirty="0"/>
              <a:t> Structures” as models (a kind of labeled transition system), and CTL for specifications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1F1109-6DEB-44B1-9470-1D70C2529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model checking?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B90B1A-0206-43A8-A223-3E9F6075B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7835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B9BB9E-F7B6-4987-A259-C66DF06B5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Detour to Branching-Time Logics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C24FA-664E-4E4E-B4A6-6CC3C2409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285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183FB6-5CDE-4B09-AB93-C3613A58A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LTL was a linear-time logic where we reason about traces</a:t>
            </a:r>
          </a:p>
          <a:p>
            <a:r>
              <a:rPr lang="en-US" dirty="0"/>
              <a:t>CTL is a logic where we reason over the tree of executions generated by a program, also known as the </a:t>
            </a:r>
            <a:r>
              <a:rPr lang="en-US" i="1" dirty="0"/>
              <a:t>computation tree</a:t>
            </a:r>
            <a:endParaRPr lang="en-US" dirty="0"/>
          </a:p>
          <a:p>
            <a:r>
              <a:rPr lang="en-US" dirty="0"/>
              <a:t>We care about CTL because:</a:t>
            </a:r>
          </a:p>
          <a:p>
            <a:pPr lvl="1"/>
            <a:r>
              <a:rPr lang="en-US" dirty="0"/>
              <a:t> There are some properties that cannot be expressed in LTL, but can be expressed in CTL: From every system state, there is a system execution that takes it back to the initial state (also known as the reset property)</a:t>
            </a:r>
          </a:p>
          <a:p>
            <a:pPr lvl="1"/>
            <a:r>
              <a:rPr lang="en-US" dirty="0"/>
              <a:t>To understand </a:t>
            </a:r>
            <a:r>
              <a:rPr lang="en-US" dirty="0" err="1"/>
              <a:t>pCTL</a:t>
            </a:r>
            <a:r>
              <a:rPr lang="en-US" dirty="0"/>
              <a:t> (Probabilistic CTL), it’s good if you understand CTL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Can express interesting properties for multi-agent systems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DD350D-5867-4F26-9E9E-B67A2A314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 Tree Logic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9BD4F-A084-44A4-A698-C3B0B4E9C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9155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F1D6DA-28FC-4CFE-9492-8826EE954C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7094" y="1277926"/>
            <a:ext cx="3752900" cy="4445007"/>
          </a:xfrm>
        </p:spPr>
        <p:txBody>
          <a:bodyPr>
            <a:normAutofit/>
          </a:bodyPr>
          <a:lstStyle/>
          <a:p>
            <a:r>
              <a:rPr lang="en-US" dirty="0"/>
              <a:t>We saw computation trees when understanding semantics of asynchronous processes</a:t>
            </a:r>
          </a:p>
          <a:p>
            <a:r>
              <a:rPr lang="en-US" dirty="0"/>
              <a:t>Basically a tree that considers “all possibilities” in a reactive program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DB85A36-75B3-4F0F-9B76-5E3FD5C7B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 Tree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33D9-FDE7-4266-BAC9-A02B0F763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34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7BEFC1-C120-47B7-801B-156FBDF4E43C}"/>
              </a:ext>
            </a:extLst>
          </p:cNvPr>
          <p:cNvGrpSpPr/>
          <p:nvPr/>
        </p:nvGrpSpPr>
        <p:grpSpPr>
          <a:xfrm>
            <a:off x="192005" y="1147454"/>
            <a:ext cx="3211206" cy="1255135"/>
            <a:chOff x="1206584" y="1703718"/>
            <a:chExt cx="3719414" cy="181819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F506EE5-C532-4BBA-913F-CBAAB77121C7}"/>
                </a:ext>
              </a:extLst>
            </p:cNvPr>
            <p:cNvSpPr/>
            <p:nvPr/>
          </p:nvSpPr>
          <p:spPr>
            <a:xfrm>
              <a:off x="1206585" y="1723597"/>
              <a:ext cx="3719413" cy="1757440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3169416-0BEA-4999-8784-9BDDE478AF97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4" y="2341759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72F582B-0CCF-46C6-8F35-7E74AAD7ABFA}"/>
                </a:ext>
              </a:extLst>
            </p:cNvPr>
            <p:cNvSpPr txBox="1"/>
            <p:nvPr/>
          </p:nvSpPr>
          <p:spPr>
            <a:xfrm>
              <a:off x="1481058" y="1703718"/>
              <a:ext cx="3222109" cy="507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nat</a:t>
              </a:r>
              <a:r>
                <a:rPr lang="en-US" sz="2400" dirty="0"/>
                <a:t> x := 0; bool y:= 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E495F7A-33FE-424A-9804-3A01DC7BB3F5}"/>
                    </a:ext>
                  </a:extLst>
                </p:cNvPr>
                <p:cNvSpPr txBox="1"/>
                <p:nvPr/>
              </p:nvSpPr>
              <p:spPr>
                <a:xfrm>
                  <a:off x="1270896" y="2390399"/>
                  <a:ext cx="3147471" cy="5078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400" dirty="0"/>
                    <a:t>  x := (x + 1) mod 2</a:t>
                  </a: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E495F7A-33FE-424A-9804-3A01DC7BB3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896" y="2390399"/>
                  <a:ext cx="3147471" cy="507848"/>
                </a:xfrm>
                <a:prstGeom prst="rect">
                  <a:avLst/>
                </a:prstGeom>
                <a:blipFill>
                  <a:blip r:embed="rId2"/>
                  <a:stretch>
                    <a:fillRect l="-3596" t="-13793" r="-2472" b="-6896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06EBCB3-8EAA-431B-9FF7-0EC255C4AE8A}"/>
                    </a:ext>
                  </a:extLst>
                </p:cNvPr>
                <p:cNvSpPr txBox="1"/>
                <p:nvPr/>
              </p:nvSpPr>
              <p:spPr>
                <a:xfrm>
                  <a:off x="1263098" y="2853142"/>
                  <a:ext cx="3155269" cy="6687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2400" dirty="0"/>
                    <a:t> y: = 1-y</a:t>
                  </a: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06EBCB3-8EAA-431B-9FF7-0EC255C4AE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3098" y="2853142"/>
                  <a:ext cx="3155269" cy="668770"/>
                </a:xfrm>
                <a:prstGeom prst="rect">
                  <a:avLst/>
                </a:prstGeom>
                <a:blipFill>
                  <a:blip r:embed="rId3"/>
                  <a:stretch>
                    <a:fillRect l="-3587" t="-10526" r="-2466" b="-289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2561C67-80A1-4C3A-8045-8945CB75C0B6}"/>
              </a:ext>
            </a:extLst>
          </p:cNvPr>
          <p:cNvGrpSpPr/>
          <p:nvPr/>
        </p:nvGrpSpPr>
        <p:grpSpPr>
          <a:xfrm>
            <a:off x="192005" y="2989333"/>
            <a:ext cx="3288870" cy="2196748"/>
            <a:chOff x="3702969" y="1557568"/>
            <a:chExt cx="3288870" cy="21967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8E55583-5AB6-43A3-A74E-308BA0EB95A4}"/>
                    </a:ext>
                  </a:extLst>
                </p:cNvPr>
                <p:cNvSpPr/>
                <p:nvPr/>
              </p:nvSpPr>
              <p:spPr>
                <a:xfrm>
                  <a:off x="4063849" y="1761312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(0,0)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8E55583-5AB6-43A3-A74E-308BA0EB95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3849" y="1761312"/>
                  <a:ext cx="1001031" cy="544223"/>
                </a:xfrm>
                <a:prstGeom prst="ellipse">
                  <a:avLst/>
                </a:prstGeom>
                <a:blipFill>
                  <a:blip r:embed="rId4"/>
                  <a:stretch>
                    <a:fillRect b="-4255"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09F698C-BDF6-4916-864A-51E6FD9470CF}"/>
                    </a:ext>
                  </a:extLst>
                </p:cNvPr>
                <p:cNvSpPr/>
                <p:nvPr/>
              </p:nvSpPr>
              <p:spPr>
                <a:xfrm flipH="1">
                  <a:off x="4063849" y="3210093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(1,0)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309F698C-BDF6-4916-864A-51E6FD9470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4063849" y="3210093"/>
                  <a:ext cx="1001031" cy="544223"/>
                </a:xfrm>
                <a:prstGeom prst="ellipse">
                  <a:avLst/>
                </a:prstGeom>
                <a:blipFill>
                  <a:blip r:embed="rId5"/>
                  <a:stretch>
                    <a:fillRect b="-4211"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AAE65B84-74F1-4B13-8823-CB6C1E713753}"/>
                </a:ext>
              </a:extLst>
            </p:cNvPr>
            <p:cNvSpPr/>
            <p:nvPr/>
          </p:nvSpPr>
          <p:spPr>
            <a:xfrm>
              <a:off x="3702969" y="2107201"/>
              <a:ext cx="363920" cy="1341237"/>
            </a:xfrm>
            <a:custGeom>
              <a:avLst/>
              <a:gdLst>
                <a:gd name="connsiteX0" fmla="*/ 324176 w 388913"/>
                <a:gd name="connsiteY0" fmla="*/ 2023009 h 2023009"/>
                <a:gd name="connsiteX1" fmla="*/ 495 w 388913"/>
                <a:gd name="connsiteY1" fmla="*/ 922492 h 2023009"/>
                <a:gd name="connsiteX2" fmla="*/ 388913 w 388913"/>
                <a:gd name="connsiteY2" fmla="*/ 0 h 2023009"/>
                <a:gd name="connsiteX0" fmla="*/ 388418 w 388418"/>
                <a:gd name="connsiteY0" fmla="*/ 2063469 h 2063469"/>
                <a:gd name="connsiteX1" fmla="*/ 0 w 388418"/>
                <a:gd name="connsiteY1" fmla="*/ 922492 h 2063469"/>
                <a:gd name="connsiteX2" fmla="*/ 388418 w 388418"/>
                <a:gd name="connsiteY2" fmla="*/ 0 h 2063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8418" h="2063469">
                  <a:moveTo>
                    <a:pt x="388418" y="2063469"/>
                  </a:moveTo>
                  <a:cubicBezTo>
                    <a:pt x="221182" y="1681794"/>
                    <a:pt x="0" y="1266403"/>
                    <a:pt x="0" y="922492"/>
                  </a:cubicBezTo>
                  <a:cubicBezTo>
                    <a:pt x="0" y="578581"/>
                    <a:pt x="199603" y="292662"/>
                    <a:pt x="388418" y="0"/>
                  </a:cubicBezTo>
                </a:path>
              </a:pathLst>
            </a:cu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A4E09898-A92A-4A8D-95BC-507D1C012336}"/>
                    </a:ext>
                  </a:extLst>
                </p:cNvPr>
                <p:cNvSpPr/>
                <p:nvPr/>
              </p:nvSpPr>
              <p:spPr>
                <a:xfrm>
                  <a:off x="5626889" y="1761312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(0,1)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A4E09898-A92A-4A8D-95BC-507D1C0123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889" y="1761312"/>
                  <a:ext cx="1001031" cy="544223"/>
                </a:xfrm>
                <a:prstGeom prst="ellipse">
                  <a:avLst/>
                </a:prstGeom>
                <a:blipFill>
                  <a:blip r:embed="rId6"/>
                  <a:stretch>
                    <a:fillRect b="-4255"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7C7DF7A5-D75D-4973-A38B-AB94632D5552}"/>
                    </a:ext>
                  </a:extLst>
                </p:cNvPr>
                <p:cNvSpPr/>
                <p:nvPr/>
              </p:nvSpPr>
              <p:spPr>
                <a:xfrm>
                  <a:off x="5626888" y="3160838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(1,1)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7C7DF7A5-D75D-4973-A38B-AB94632D55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888" y="3160838"/>
                  <a:ext cx="1001031" cy="544223"/>
                </a:xfrm>
                <a:prstGeom prst="ellipse">
                  <a:avLst/>
                </a:prstGeom>
                <a:blipFill>
                  <a:blip r:embed="rId7"/>
                  <a:stretch>
                    <a:fillRect b="-4211"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4A64CE5-3A17-4711-A474-67F7C5E93844}"/>
                </a:ext>
              </a:extLst>
            </p:cNvPr>
            <p:cNvCxnSpPr>
              <a:stCxn id="5" idx="6"/>
              <a:endCxn id="26" idx="2"/>
            </p:cNvCxnSpPr>
            <p:nvPr/>
          </p:nvCxnSpPr>
          <p:spPr>
            <a:xfrm>
              <a:off x="5064880" y="2033424"/>
              <a:ext cx="562009" cy="0"/>
            </a:xfrm>
            <a:prstGeom prst="straightConnector1">
              <a:avLst/>
            </a:prstGeom>
            <a:ln w="31750">
              <a:solidFill>
                <a:srgbClr val="0070C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92B0C52-7882-4865-BBB7-6A31705CC099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>
              <a:off x="4564365" y="2305535"/>
              <a:ext cx="0" cy="855303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D901FBB3-157F-43A5-A755-174B5F7F4C1F}"/>
                </a:ext>
              </a:extLst>
            </p:cNvPr>
            <p:cNvCxnSpPr>
              <a:cxnSpLocks/>
              <a:stCxn id="26" idx="4"/>
              <a:endCxn id="27" idx="0"/>
            </p:cNvCxnSpPr>
            <p:nvPr/>
          </p:nvCxnSpPr>
          <p:spPr>
            <a:xfrm flipH="1">
              <a:off x="6127404" y="2305535"/>
              <a:ext cx="1" cy="855303"/>
            </a:xfrm>
            <a:prstGeom prst="straightConnector1">
              <a:avLst/>
            </a:pr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EE26AAE3-40F0-4E2E-9DC3-E709E05F056B}"/>
                </a:ext>
              </a:extLst>
            </p:cNvPr>
            <p:cNvSpPr/>
            <p:nvPr/>
          </p:nvSpPr>
          <p:spPr>
            <a:xfrm flipH="1">
              <a:off x="6627919" y="2048014"/>
              <a:ext cx="363920" cy="1341237"/>
            </a:xfrm>
            <a:custGeom>
              <a:avLst/>
              <a:gdLst>
                <a:gd name="connsiteX0" fmla="*/ 324176 w 388913"/>
                <a:gd name="connsiteY0" fmla="*/ 2023009 h 2023009"/>
                <a:gd name="connsiteX1" fmla="*/ 495 w 388913"/>
                <a:gd name="connsiteY1" fmla="*/ 922492 h 2023009"/>
                <a:gd name="connsiteX2" fmla="*/ 388913 w 388913"/>
                <a:gd name="connsiteY2" fmla="*/ 0 h 2023009"/>
                <a:gd name="connsiteX0" fmla="*/ 388418 w 388418"/>
                <a:gd name="connsiteY0" fmla="*/ 2063469 h 2063469"/>
                <a:gd name="connsiteX1" fmla="*/ 0 w 388418"/>
                <a:gd name="connsiteY1" fmla="*/ 922492 h 2063469"/>
                <a:gd name="connsiteX2" fmla="*/ 388418 w 388418"/>
                <a:gd name="connsiteY2" fmla="*/ 0 h 2063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8418" h="2063469">
                  <a:moveTo>
                    <a:pt x="388418" y="2063469"/>
                  </a:moveTo>
                  <a:cubicBezTo>
                    <a:pt x="221182" y="1681794"/>
                    <a:pt x="0" y="1266403"/>
                    <a:pt x="0" y="922492"/>
                  </a:cubicBezTo>
                  <a:cubicBezTo>
                    <a:pt x="0" y="578581"/>
                    <a:pt x="199603" y="292662"/>
                    <a:pt x="388418" y="0"/>
                  </a:cubicBezTo>
                </a:path>
              </a:pathLst>
            </a:custGeom>
            <a:ln w="31750">
              <a:solidFill>
                <a:srgbClr val="C0000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A4A36A1-A751-4D73-AAEB-DB6812B99EA1}"/>
                </a:ext>
              </a:extLst>
            </p:cNvPr>
            <p:cNvSpPr/>
            <p:nvPr/>
          </p:nvSpPr>
          <p:spPr>
            <a:xfrm>
              <a:off x="4844375" y="1557568"/>
              <a:ext cx="904672" cy="221976"/>
            </a:xfrm>
            <a:custGeom>
              <a:avLst/>
              <a:gdLst>
                <a:gd name="connsiteX0" fmla="*/ 875490 w 875490"/>
                <a:gd name="connsiteY0" fmla="*/ 138909 h 138909"/>
                <a:gd name="connsiteX1" fmla="*/ 398834 w 875490"/>
                <a:gd name="connsiteY1" fmla="*/ 2722 h 138909"/>
                <a:gd name="connsiteX2" fmla="*/ 0 w 875490"/>
                <a:gd name="connsiteY2" fmla="*/ 61088 h 138909"/>
                <a:gd name="connsiteX0" fmla="*/ 875490 w 875490"/>
                <a:gd name="connsiteY0" fmla="*/ 456886 h 456886"/>
                <a:gd name="connsiteX1" fmla="*/ 483557 w 875490"/>
                <a:gd name="connsiteY1" fmla="*/ 344 h 456886"/>
                <a:gd name="connsiteX2" fmla="*/ 0 w 875490"/>
                <a:gd name="connsiteY2" fmla="*/ 379065 h 456886"/>
                <a:gd name="connsiteX0" fmla="*/ 950801 w 950801"/>
                <a:gd name="connsiteY0" fmla="*/ 578721 h 578722"/>
                <a:gd name="connsiteX1" fmla="*/ 483557 w 950801"/>
                <a:gd name="connsiteY1" fmla="*/ 2046 h 578722"/>
                <a:gd name="connsiteX2" fmla="*/ 0 w 950801"/>
                <a:gd name="connsiteY2" fmla="*/ 380767 h 578722"/>
                <a:gd name="connsiteX0" fmla="*/ 875489 w 875489"/>
                <a:gd name="connsiteY0" fmla="*/ 456889 h 456888"/>
                <a:gd name="connsiteX1" fmla="*/ 483557 w 875489"/>
                <a:gd name="connsiteY1" fmla="*/ 346 h 456888"/>
                <a:gd name="connsiteX2" fmla="*/ 0 w 875489"/>
                <a:gd name="connsiteY2" fmla="*/ 379067 h 456888"/>
                <a:gd name="connsiteX0" fmla="*/ 875489 w 875489"/>
                <a:gd name="connsiteY0" fmla="*/ 456889 h 456888"/>
                <a:gd name="connsiteX1" fmla="*/ 483557 w 875489"/>
                <a:gd name="connsiteY1" fmla="*/ 346 h 456888"/>
                <a:gd name="connsiteX2" fmla="*/ 0 w 875489"/>
                <a:gd name="connsiteY2" fmla="*/ 379067 h 45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5489" h="456888">
                  <a:moveTo>
                    <a:pt x="875489" y="456889"/>
                  </a:moveTo>
                  <a:cubicBezTo>
                    <a:pt x="757187" y="114969"/>
                    <a:pt x="629472" y="13316"/>
                    <a:pt x="483557" y="346"/>
                  </a:cubicBezTo>
                  <a:cubicBezTo>
                    <a:pt x="337642" y="-12624"/>
                    <a:pt x="126459" y="343399"/>
                    <a:pt x="0" y="379067"/>
                  </a:cubicBezTo>
                </a:path>
              </a:pathLst>
            </a:custGeom>
            <a:ln w="31750">
              <a:solidFill>
                <a:srgbClr val="0070C0"/>
              </a:solidFill>
              <a:tailEnd type="triangle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8562DF75-7EB3-4352-9E83-A57EDEC26BB0}"/>
              </a:ext>
            </a:extLst>
          </p:cNvPr>
          <p:cNvSpPr txBox="1"/>
          <p:nvPr/>
        </p:nvSpPr>
        <p:spPr>
          <a:xfrm>
            <a:off x="847537" y="2349472"/>
            <a:ext cx="1308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Process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C37712-2E14-4BAC-8649-5F90254281EA}"/>
              </a:ext>
            </a:extLst>
          </p:cNvPr>
          <p:cNvSpPr txBox="1"/>
          <p:nvPr/>
        </p:nvSpPr>
        <p:spPr>
          <a:xfrm>
            <a:off x="166680" y="5214298"/>
            <a:ext cx="3226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Finite State machine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16EA145-F589-4F7D-B0A7-7C438BF0088A}"/>
              </a:ext>
            </a:extLst>
          </p:cNvPr>
          <p:cNvCxnSpPr>
            <a:cxnSpLocks/>
          </p:cNvCxnSpPr>
          <p:nvPr/>
        </p:nvCxnSpPr>
        <p:spPr>
          <a:xfrm>
            <a:off x="247530" y="2989333"/>
            <a:ext cx="408337" cy="314511"/>
          </a:xfrm>
          <a:prstGeom prst="straightConnector1">
            <a:avLst/>
          </a:prstGeom>
          <a:ln w="31750">
            <a:solidFill>
              <a:schemeClr val="accent3">
                <a:lumMod val="75000"/>
              </a:schemeClr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C7E3CB75-5D57-4CCF-88B7-0B5EFBDDF8B7}"/>
                  </a:ext>
                </a:extLst>
              </p:cNvPr>
              <p:cNvSpPr/>
              <p:nvPr/>
            </p:nvSpPr>
            <p:spPr>
              <a:xfrm>
                <a:off x="5184731" y="1209202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C7E3CB75-5D57-4CCF-88B7-0B5EFBDDF8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4731" y="1209202"/>
                <a:ext cx="1001031" cy="544223"/>
              </a:xfrm>
              <a:prstGeom prst="ellipse">
                <a:avLst/>
              </a:prstGeom>
              <a:blipFill>
                <a:blip r:embed="rId8"/>
                <a:stretch>
                  <a:fillRect b="-3158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EEED4AFD-CB88-40B4-A297-ED6EB354D117}"/>
                  </a:ext>
                </a:extLst>
              </p:cNvPr>
              <p:cNvSpPr/>
              <p:nvPr/>
            </p:nvSpPr>
            <p:spPr>
              <a:xfrm>
                <a:off x="6052010" y="2260141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EEED4AFD-CB88-40B4-A297-ED6EB354D1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2010" y="2260141"/>
                <a:ext cx="1001031" cy="544223"/>
              </a:xfrm>
              <a:prstGeom prst="ellipse">
                <a:avLst/>
              </a:prstGeom>
              <a:blipFill>
                <a:blip r:embed="rId9"/>
                <a:stretch>
                  <a:fillRect b="-4255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AD9BA6C-032A-4754-8231-D8B85E42553D}"/>
                  </a:ext>
                </a:extLst>
              </p:cNvPr>
              <p:cNvSpPr/>
              <p:nvPr/>
            </p:nvSpPr>
            <p:spPr>
              <a:xfrm flipH="1">
                <a:off x="4412252" y="2338970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(1,0)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AD9BA6C-032A-4754-8231-D8B85E4255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412252" y="2338970"/>
                <a:ext cx="1001031" cy="544223"/>
              </a:xfrm>
              <a:prstGeom prst="ellipse">
                <a:avLst/>
              </a:prstGeom>
              <a:blipFill>
                <a:blip r:embed="rId10"/>
                <a:stretch>
                  <a:fillRect b="-4255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47AB0BE3-FFAB-42AC-8CD0-0AC154A5411F}"/>
              </a:ext>
            </a:extLst>
          </p:cNvPr>
          <p:cNvCxnSpPr>
            <a:cxnSpLocks/>
            <a:stCxn id="72" idx="3"/>
            <a:endCxn id="74" idx="0"/>
          </p:cNvCxnSpPr>
          <p:nvPr/>
        </p:nvCxnSpPr>
        <p:spPr>
          <a:xfrm flipH="1">
            <a:off x="4912767" y="1673725"/>
            <a:ext cx="418562" cy="665245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36683E7-1F0B-45C5-B30F-5E89D41EC7A9}"/>
              </a:ext>
            </a:extLst>
          </p:cNvPr>
          <p:cNvCxnSpPr>
            <a:cxnSpLocks/>
            <a:stCxn id="72" idx="5"/>
            <a:endCxn id="73" idx="0"/>
          </p:cNvCxnSpPr>
          <p:nvPr/>
        </p:nvCxnSpPr>
        <p:spPr>
          <a:xfrm>
            <a:off x="6039164" y="1673725"/>
            <a:ext cx="513362" cy="586416"/>
          </a:xfrm>
          <a:prstGeom prst="straightConnector1">
            <a:avLst/>
          </a:prstGeom>
          <a:ln w="31750">
            <a:solidFill>
              <a:srgbClr val="0070C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17CACEFD-37F7-4F3F-816B-8183193EA670}"/>
                  </a:ext>
                </a:extLst>
              </p:cNvPr>
              <p:cNvSpPr/>
              <p:nvPr/>
            </p:nvSpPr>
            <p:spPr>
              <a:xfrm flipH="1">
                <a:off x="5551494" y="3509414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17CACEFD-37F7-4F3F-816B-8183193EA6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551494" y="3509414"/>
                <a:ext cx="1001031" cy="544223"/>
              </a:xfrm>
              <a:prstGeom prst="ellipse">
                <a:avLst/>
              </a:prstGeom>
              <a:blipFill>
                <a:blip r:embed="rId11"/>
                <a:stretch>
                  <a:fillRect b="-4255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49998366-46FB-4C4E-8E2B-752B276FF701}"/>
                  </a:ext>
                </a:extLst>
              </p:cNvPr>
              <p:cNvSpPr/>
              <p:nvPr/>
            </p:nvSpPr>
            <p:spPr>
              <a:xfrm flipH="1">
                <a:off x="6970328" y="3522771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(1,1)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49998366-46FB-4C4E-8E2B-752B276FF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970328" y="3522771"/>
                <a:ext cx="1001031" cy="544223"/>
              </a:xfrm>
              <a:prstGeom prst="ellipse">
                <a:avLst/>
              </a:prstGeom>
              <a:blipFill>
                <a:blip r:embed="rId12"/>
                <a:stretch>
                  <a:fillRect b="-4255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46F5C1BA-0BD5-4ACE-A677-FA1E9D998368}"/>
                  </a:ext>
                </a:extLst>
              </p:cNvPr>
              <p:cNvSpPr/>
              <p:nvPr/>
            </p:nvSpPr>
            <p:spPr>
              <a:xfrm flipH="1">
                <a:off x="3998519" y="3485701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46F5C1BA-0BD5-4ACE-A677-FA1E9D998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3998519" y="3485701"/>
                <a:ext cx="1001031" cy="544223"/>
              </a:xfrm>
              <a:prstGeom prst="ellipse">
                <a:avLst/>
              </a:prstGeom>
              <a:blipFill>
                <a:blip r:embed="rId13"/>
                <a:stretch>
                  <a:fillRect b="-4255"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667246B-E34B-4ABC-8721-5B7383E46E43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4499034" y="2872692"/>
            <a:ext cx="191880" cy="613009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6E85BDF-F8AD-443D-A92E-CDD4A4155EC3}"/>
              </a:ext>
            </a:extLst>
          </p:cNvPr>
          <p:cNvCxnSpPr>
            <a:cxnSpLocks/>
            <a:stCxn id="73" idx="3"/>
            <a:endCxn id="83" idx="0"/>
          </p:cNvCxnSpPr>
          <p:nvPr/>
        </p:nvCxnSpPr>
        <p:spPr>
          <a:xfrm flipH="1">
            <a:off x="6052009" y="2724664"/>
            <a:ext cx="146599" cy="784750"/>
          </a:xfrm>
          <a:prstGeom prst="straightConnector1">
            <a:avLst/>
          </a:prstGeom>
          <a:ln w="31750">
            <a:solidFill>
              <a:srgbClr val="0070C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F5949CE-1FFF-4984-BB9F-A67EC6952EF0}"/>
              </a:ext>
            </a:extLst>
          </p:cNvPr>
          <p:cNvCxnSpPr>
            <a:cxnSpLocks/>
            <a:stCxn id="73" idx="5"/>
            <a:endCxn id="84" idx="0"/>
          </p:cNvCxnSpPr>
          <p:nvPr/>
        </p:nvCxnSpPr>
        <p:spPr>
          <a:xfrm>
            <a:off x="6906443" y="2724664"/>
            <a:ext cx="564400" cy="798107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A0C96FD-3827-464E-8BC1-E9622387125F}"/>
              </a:ext>
            </a:extLst>
          </p:cNvPr>
          <p:cNvCxnSpPr>
            <a:cxnSpLocks/>
          </p:cNvCxnSpPr>
          <p:nvPr/>
        </p:nvCxnSpPr>
        <p:spPr>
          <a:xfrm flipH="1">
            <a:off x="4037844" y="3979594"/>
            <a:ext cx="191880" cy="613009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9D8CBD9A-8A71-4FD7-BC35-775430A520E4}"/>
              </a:ext>
            </a:extLst>
          </p:cNvPr>
          <p:cNvCxnSpPr>
            <a:cxnSpLocks/>
          </p:cNvCxnSpPr>
          <p:nvPr/>
        </p:nvCxnSpPr>
        <p:spPr>
          <a:xfrm>
            <a:off x="4693330" y="4006187"/>
            <a:ext cx="187407" cy="635671"/>
          </a:xfrm>
          <a:prstGeom prst="straightConnector1">
            <a:avLst/>
          </a:prstGeom>
          <a:ln w="31750">
            <a:solidFill>
              <a:srgbClr val="0070C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7AB4B9BE-3498-4D74-835A-A3EC4CE0C6C6}"/>
              </a:ext>
            </a:extLst>
          </p:cNvPr>
          <p:cNvCxnSpPr>
            <a:cxnSpLocks/>
          </p:cNvCxnSpPr>
          <p:nvPr/>
        </p:nvCxnSpPr>
        <p:spPr>
          <a:xfrm flipH="1">
            <a:off x="5570466" y="4033881"/>
            <a:ext cx="191880" cy="613009"/>
          </a:xfrm>
          <a:prstGeom prst="straightConnector1">
            <a:avLst/>
          </a:prstGeom>
          <a:ln w="31750">
            <a:solidFill>
              <a:srgbClr val="C0000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A02B854-DE99-40EE-9B29-1409F1436066}"/>
              </a:ext>
            </a:extLst>
          </p:cNvPr>
          <p:cNvCxnSpPr>
            <a:cxnSpLocks/>
          </p:cNvCxnSpPr>
          <p:nvPr/>
        </p:nvCxnSpPr>
        <p:spPr>
          <a:xfrm>
            <a:off x="6225952" y="4060474"/>
            <a:ext cx="187407" cy="635671"/>
          </a:xfrm>
          <a:prstGeom prst="straightConnector1">
            <a:avLst/>
          </a:prstGeom>
          <a:ln w="31750">
            <a:solidFill>
              <a:srgbClr val="0070C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2D4C843-D54E-49A0-BFA5-D8F26A3990E0}"/>
              </a:ext>
            </a:extLst>
          </p:cNvPr>
          <p:cNvCxnSpPr>
            <a:cxnSpLocks/>
          </p:cNvCxnSpPr>
          <p:nvPr/>
        </p:nvCxnSpPr>
        <p:spPr>
          <a:xfrm>
            <a:off x="7441054" y="4066994"/>
            <a:ext cx="187407" cy="635671"/>
          </a:xfrm>
          <a:prstGeom prst="straightConnector1">
            <a:avLst/>
          </a:prstGeom>
          <a:ln w="31750">
            <a:solidFill>
              <a:srgbClr val="0070C0"/>
            </a:solidFill>
            <a:tailEnd type="triangle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4665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91B077-F03F-4C13-BA42-F8CC96868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Syntax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F8A3F-46BC-4D18-9676-4F7748EF0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86B051A9-2529-4B55-8C2E-FE38DC48087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2564" y="1070610"/>
              <a:ext cx="11506872" cy="46863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40419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72701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34075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71053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Syntax of CTL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¬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oMath>
                          </a14:m>
                          <a:r>
                            <a:rPr lang="en-US" sz="2400" dirty="0"/>
                            <a:t> 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Prop. in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𝐴𝑃</m:t>
                              </m:r>
                            </m:oMath>
                          </a14:m>
                          <a:r>
                            <a:rPr lang="en-US" sz="2000" dirty="0"/>
                            <a:t>, negation, conjunction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𝐄𝐗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dirty="0"/>
                            <a:t>xists </a:t>
                          </a:r>
                          <a:r>
                            <a:rPr lang="en-US" sz="2000" dirty="0" err="1"/>
                            <a:t>Ne</a:t>
                          </a:r>
                          <a:r>
                            <a:rPr lang="en-US" sz="2000" b="1" dirty="0" err="1"/>
                            <a:t>X</a:t>
                          </a:r>
                          <a:r>
                            <a:rPr lang="en-US" sz="2000" dirty="0" err="1"/>
                            <a:t>t</a:t>
                          </a:r>
                          <a:r>
                            <a:rPr lang="en-US" sz="2000" dirty="0"/>
                            <a:t>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𝐄𝐅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dirty="0"/>
                            <a:t>xists a </a:t>
                          </a:r>
                          <a:r>
                            <a:rPr lang="en-US" sz="2000" b="1" dirty="0"/>
                            <a:t>F</a:t>
                          </a:r>
                          <a:r>
                            <a:rPr lang="en-US" sz="2000" dirty="0"/>
                            <a:t>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𝐄𝐆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b="0" dirty="0"/>
                            <a:t>xists an execution where  </a:t>
                          </a:r>
                          <a:r>
                            <a:rPr lang="en-US" sz="2000" b="1" dirty="0"/>
                            <a:t>G</a:t>
                          </a:r>
                          <a:r>
                            <a:rPr lang="en-US" sz="20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𝐄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𝐔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b="0" dirty="0"/>
                            <a:t>xists an execution where in all steps </a:t>
                          </a:r>
                          <a:r>
                            <a:rPr lang="en-US" sz="2000" b="1" dirty="0"/>
                            <a:t>U</a:t>
                          </a:r>
                          <a:r>
                            <a:rPr lang="en-US" sz="20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𝐀𝐗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In </a:t>
                          </a:r>
                          <a:r>
                            <a:rPr lang="en-US" sz="2000" b="1" dirty="0"/>
                            <a:t>A</a:t>
                          </a:r>
                          <a:r>
                            <a:rPr lang="en-US" sz="2000" dirty="0"/>
                            <a:t>ll </a:t>
                          </a:r>
                          <a:r>
                            <a:rPr lang="en-US" sz="2000" dirty="0" err="1"/>
                            <a:t>Ne</a:t>
                          </a:r>
                          <a:r>
                            <a:rPr lang="en-US" sz="2000" b="1" dirty="0" err="1"/>
                            <a:t>X</a:t>
                          </a:r>
                          <a:r>
                            <a:rPr lang="en-US" sz="2000" dirty="0" err="1"/>
                            <a:t>t</a:t>
                          </a:r>
                          <a:r>
                            <a:rPr lang="en-US" sz="2000" dirty="0"/>
                            <a:t>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76473459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𝐀𝐅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</a:t>
                          </a:r>
                          <a:r>
                            <a:rPr lang="en-US" sz="2000" b="1" dirty="0"/>
                            <a:t> A</a:t>
                          </a:r>
                          <a:r>
                            <a:rPr lang="en-US" sz="2000" b="0" dirty="0"/>
                            <a:t>ll possible future paths, there is a</a:t>
                          </a:r>
                          <a:r>
                            <a:rPr lang="en-US" sz="2000" dirty="0"/>
                            <a:t> future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46278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𝐀𝐆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</a:t>
                          </a:r>
                          <a:r>
                            <a:rPr lang="en-US" sz="2000" b="1" dirty="0"/>
                            <a:t> A</a:t>
                          </a:r>
                          <a:r>
                            <a:rPr lang="en-US" sz="2000" b="0" dirty="0"/>
                            <a:t>ll</a:t>
                          </a:r>
                          <a:r>
                            <a:rPr lang="en-US" sz="2000" b="1" dirty="0"/>
                            <a:t> </a:t>
                          </a:r>
                          <a:r>
                            <a:rPr lang="en-US" sz="2000" b="0" dirty="0"/>
                            <a:t>possible future paths, </a:t>
                          </a:r>
                          <a:r>
                            <a:rPr lang="en-US" sz="2000" b="1" dirty="0"/>
                            <a:t>G</a:t>
                          </a:r>
                          <a:r>
                            <a:rPr lang="en-US" sz="20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2858009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1" i="0" smtClean="0">
                                    <a:latin typeface="Cambria Math" panose="02040503050406030204" pitchFamily="18" charset="0"/>
                                  </a:rPr>
                                  <m:t>𝐔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𝜑</m:t>
                                </m:r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 </a:t>
                          </a:r>
                          <a:r>
                            <a:rPr lang="en-US" sz="2000" b="1" dirty="0"/>
                            <a:t>A</a:t>
                          </a:r>
                          <a:r>
                            <a:rPr lang="en-US" sz="2000" b="0" dirty="0"/>
                            <a:t>ll possible future executions, in all steps </a:t>
                          </a:r>
                          <a:r>
                            <a:rPr lang="en-US" sz="2000" b="1" dirty="0"/>
                            <a:t>U</a:t>
                          </a:r>
                          <a:r>
                            <a:rPr lang="en-US" sz="20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1485036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86B051A9-2529-4B55-8C2E-FE38DC4808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1857297"/>
                  </p:ext>
                </p:extLst>
              </p:nvPr>
            </p:nvGraphicFramePr>
            <p:xfrm>
              <a:off x="342564" y="1070610"/>
              <a:ext cx="11506872" cy="46863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40419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272701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34075">
                      <a:extLst>
                        <a:ext uri="{9D8B030D-6E8A-4147-A177-3AD203B41FA5}">
                          <a16:colId xmlns:a16="http://schemas.microsoft.com/office/drawing/2014/main" val="1035336446"/>
                        </a:ext>
                      </a:extLst>
                    </a:gridCol>
                    <a:gridCol w="71053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Syntax of CTL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35" t="-125333" r="-910160" b="-8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125333" r="-279911" b="-8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2007" t="-125333" r="-86" b="-83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225333" r="-279911" b="-7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dirty="0"/>
                            <a:t>xists </a:t>
                          </a:r>
                          <a:r>
                            <a:rPr lang="en-US" sz="2000" dirty="0" err="1"/>
                            <a:t>Ne</a:t>
                          </a:r>
                          <a:r>
                            <a:rPr lang="en-US" sz="2000" b="1" dirty="0" err="1"/>
                            <a:t>X</a:t>
                          </a:r>
                          <a:r>
                            <a:rPr lang="en-US" sz="2000" dirty="0" err="1"/>
                            <a:t>t</a:t>
                          </a:r>
                          <a:r>
                            <a:rPr lang="en-US" sz="2000" dirty="0"/>
                            <a:t>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6422053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325333" r="-279911" b="-6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dirty="0"/>
                            <a:t>xists a </a:t>
                          </a:r>
                          <a:r>
                            <a:rPr lang="en-US" sz="2000" b="1" dirty="0"/>
                            <a:t>F</a:t>
                          </a:r>
                          <a:r>
                            <a:rPr lang="en-US" sz="2000" dirty="0"/>
                            <a:t>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425333" r="-279911" b="-5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b="0" dirty="0"/>
                            <a:t>xists an execution where  </a:t>
                          </a:r>
                          <a:r>
                            <a:rPr lang="en-US" sz="2000" b="1" dirty="0"/>
                            <a:t>G</a:t>
                          </a:r>
                          <a:r>
                            <a:rPr lang="en-US" sz="20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518421" r="-279911" b="-4236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1" dirty="0"/>
                            <a:t>E</a:t>
                          </a:r>
                          <a:r>
                            <a:rPr lang="en-US" sz="2000" b="0" dirty="0"/>
                            <a:t>xists an execution where in all steps </a:t>
                          </a:r>
                          <a:r>
                            <a:rPr lang="en-US" sz="2000" b="1" dirty="0"/>
                            <a:t>U</a:t>
                          </a:r>
                          <a:r>
                            <a:rPr lang="en-US" sz="20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5818803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626667" r="-279911" b="-3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/>
                            <a:t>In </a:t>
                          </a:r>
                          <a:r>
                            <a:rPr lang="en-US" sz="2000" b="1" dirty="0"/>
                            <a:t>A</a:t>
                          </a:r>
                          <a:r>
                            <a:rPr lang="en-US" sz="2000" dirty="0"/>
                            <a:t>ll </a:t>
                          </a:r>
                          <a:r>
                            <a:rPr lang="en-US" sz="2000" dirty="0" err="1"/>
                            <a:t>Ne</a:t>
                          </a:r>
                          <a:r>
                            <a:rPr lang="en-US" sz="2000" b="1" dirty="0" err="1"/>
                            <a:t>X</a:t>
                          </a:r>
                          <a:r>
                            <a:rPr lang="en-US" sz="2000" dirty="0" err="1"/>
                            <a:t>t</a:t>
                          </a:r>
                          <a:r>
                            <a:rPr lang="en-US" sz="2000" dirty="0"/>
                            <a:t>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76473459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726667" r="-279911" b="-2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</a:t>
                          </a:r>
                          <a:r>
                            <a:rPr lang="en-US" sz="2000" b="1" dirty="0"/>
                            <a:t> A</a:t>
                          </a:r>
                          <a:r>
                            <a:rPr lang="en-US" sz="2000" b="0" dirty="0"/>
                            <a:t>ll possible future paths, there is a</a:t>
                          </a:r>
                          <a:r>
                            <a:rPr lang="en-US" sz="2000" dirty="0"/>
                            <a:t> future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246278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826667" r="-279911" b="-1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</a:t>
                          </a:r>
                          <a:r>
                            <a:rPr lang="en-US" sz="2000" b="1" dirty="0"/>
                            <a:t> A</a:t>
                          </a:r>
                          <a:r>
                            <a:rPr lang="en-US" sz="2000" b="0" dirty="0"/>
                            <a:t>ll</a:t>
                          </a:r>
                          <a:r>
                            <a:rPr lang="en-US" sz="2000" b="1" dirty="0"/>
                            <a:t> </a:t>
                          </a:r>
                          <a:r>
                            <a:rPr lang="en-US" sz="2000" b="0" dirty="0"/>
                            <a:t>possible future paths, </a:t>
                          </a:r>
                          <a:r>
                            <a:rPr lang="en-US" sz="2000" b="1" dirty="0"/>
                            <a:t>G</a:t>
                          </a:r>
                          <a:r>
                            <a:rPr lang="en-US" sz="2000" dirty="0"/>
                            <a:t>lobally in all steps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82858009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1964" t="-926667" r="-279911" b="-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|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b="0" dirty="0"/>
                            <a:t>In </a:t>
                          </a:r>
                          <a:r>
                            <a:rPr lang="en-US" sz="2000" b="1" dirty="0"/>
                            <a:t>A</a:t>
                          </a:r>
                          <a:r>
                            <a:rPr lang="en-US" sz="2000" b="0" dirty="0"/>
                            <a:t>ll possible future executions, in all steps </a:t>
                          </a:r>
                          <a:r>
                            <a:rPr lang="en-US" sz="2000" b="1" dirty="0"/>
                            <a:t>U</a:t>
                          </a:r>
                          <a:r>
                            <a:rPr lang="en-US" sz="2000" dirty="0"/>
                            <a:t>ntil in some step</a:t>
                          </a:r>
                        </a:p>
                      </a:txBody>
                      <a:tcPr anchor="ctr">
                        <a:lnL w="63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1485036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467980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863A8CB-C52D-43DF-9E76-3D36A856B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2626453"/>
              </a:xfrm>
            </p:spPr>
            <p:txBody>
              <a:bodyPr>
                <a:normAutofit/>
              </a:bodyPr>
              <a:lstStyle/>
              <a:p>
                <a:r>
                  <a:rPr lang="en-US" i="1" dirty="0"/>
                  <a:t>Path properties: </a:t>
                </a:r>
                <a:r>
                  <a:rPr lang="en-US" dirty="0"/>
                  <a:t>properties of any given path or execution in the program</a:t>
                </a:r>
              </a:p>
              <a:p>
                <a:r>
                  <a:rPr lang="en-US" i="1" dirty="0"/>
                  <a:t>Quantification over runs: </a:t>
                </a:r>
                <a:r>
                  <a:rPr lang="en-US" dirty="0"/>
                  <a:t>Checking if a property holds over </a:t>
                </a:r>
                <a:r>
                  <a:rPr lang="en-US" b="1" dirty="0"/>
                  <a:t>all </a:t>
                </a:r>
                <a:r>
                  <a:rPr lang="en-US" dirty="0"/>
                  <a:t>paths or over </a:t>
                </a:r>
                <a:r>
                  <a:rPr lang="en-US" b="1" dirty="0"/>
                  <a:t>some </a:t>
                </a:r>
                <a:r>
                  <a:rPr lang="en-US" dirty="0"/>
                  <a:t>path</a:t>
                </a:r>
                <a:endParaRPr lang="en-US" i="1" dirty="0"/>
              </a:p>
              <a:p>
                <a:r>
                  <a:rPr lang="en-US" dirty="0"/>
                  <a:t>Example CTL operator: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4000" b="1" i="0" smtClean="0">
                          <a:latin typeface="Cambria Math" panose="02040503050406030204" pitchFamily="18" charset="0"/>
                        </a:rPr>
                        <m:t>𝐀</m:t>
                      </m:r>
                      <m:r>
                        <a:rPr lang="en-US" sz="40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000" b="1" i="0" smtClean="0">
                          <a:latin typeface="Cambria Math" panose="02040503050406030204" pitchFamily="18" charset="0"/>
                        </a:rPr>
                        <m:t>𝐅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863A8CB-C52D-43DF-9E76-3D36A856B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2626453"/>
              </a:xfrm>
              <a:blipFill>
                <a:blip r:embed="rId2"/>
                <a:stretch>
                  <a:fillRect l="-625" t="-39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F291D39-53C2-49E2-BC48-D7FC19F5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semantics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A0C40-A237-4AE5-A046-94952032A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AF502E-4DC5-441F-BC24-F468772D1423}"/>
              </a:ext>
            </a:extLst>
          </p:cNvPr>
          <p:cNvSpPr txBox="1"/>
          <p:nvPr/>
        </p:nvSpPr>
        <p:spPr>
          <a:xfrm>
            <a:off x="2149812" y="4842860"/>
            <a:ext cx="3122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For </a:t>
            </a:r>
            <a:r>
              <a:rPr lang="en-US" sz="3200" b="1" dirty="0"/>
              <a:t>A</a:t>
            </a:r>
            <a:r>
              <a:rPr lang="en-US" sz="3200" dirty="0"/>
              <a:t>ll executions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8DD76E-DCAE-411C-85F7-5CF161EF34E8}"/>
              </a:ext>
            </a:extLst>
          </p:cNvPr>
          <p:cNvSpPr txBox="1"/>
          <p:nvPr/>
        </p:nvSpPr>
        <p:spPr>
          <a:xfrm>
            <a:off x="6016224" y="4842860"/>
            <a:ext cx="54058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Eventually/In Some </a:t>
            </a:r>
            <a:r>
              <a:rPr lang="en-US" sz="3200" b="1" dirty="0"/>
              <a:t>F</a:t>
            </a:r>
            <a:r>
              <a:rPr lang="en-US" sz="3200" dirty="0"/>
              <a:t>uture step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C059F70-3827-4503-8DDA-39873EF298B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447125" y="3835098"/>
            <a:ext cx="1113182" cy="902342"/>
          </a:xfrm>
          <a:prstGeom prst="bentConnector3">
            <a:avLst>
              <a:gd name="adj1" fmla="val 50000"/>
            </a:avLst>
          </a:prstGeom>
          <a:ln w="317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BB7F30A-61E1-4D25-A709-2CF0E66F727B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29353" y="3835098"/>
            <a:ext cx="1113182" cy="902342"/>
          </a:xfrm>
          <a:prstGeom prst="bentConnector3">
            <a:avLst>
              <a:gd name="adj1" fmla="val 50000"/>
            </a:avLst>
          </a:prstGeom>
          <a:ln w="317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77131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3DBA92-B3EA-47F8-9CB9-2670BA7B2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Semantics through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EB68C-F97F-4C2F-A090-7F3E6DC06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37</a:t>
            </a:fld>
            <a:endParaRPr lang="en-US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9A0C18D-5967-481E-BFCB-41BBE90817C6}"/>
              </a:ext>
            </a:extLst>
          </p:cNvPr>
          <p:cNvGrpSpPr/>
          <p:nvPr/>
        </p:nvGrpSpPr>
        <p:grpSpPr>
          <a:xfrm>
            <a:off x="467379" y="1754589"/>
            <a:ext cx="3287498" cy="3513668"/>
            <a:chOff x="467379" y="1754589"/>
            <a:chExt cx="3287498" cy="3513668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6567E04-7226-42CD-AAA0-1FFAC4FC5E7D}"/>
                </a:ext>
              </a:extLst>
            </p:cNvPr>
            <p:cNvGrpSpPr/>
            <p:nvPr/>
          </p:nvGrpSpPr>
          <p:grpSpPr>
            <a:xfrm>
              <a:off x="467379" y="1754589"/>
              <a:ext cx="3287498" cy="2394873"/>
              <a:chOff x="331192" y="2240972"/>
              <a:chExt cx="3287498" cy="23948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7EF9B0F1-74E7-4497-B133-2CD09B89BA6A}"/>
                      </a:ext>
                    </a:extLst>
                  </p:cNvPr>
                  <p:cNvSpPr/>
                  <p:nvPr/>
                </p:nvSpPr>
                <p:spPr>
                  <a:xfrm>
                    <a:off x="1776919" y="2240972"/>
                    <a:ext cx="826851" cy="778828"/>
                  </a:xfrm>
                  <a:prstGeom prst="ellipse">
                    <a:avLst/>
                  </a:prstGeom>
                  <a:noFill/>
                  <a:ln w="349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7EF9B0F1-74E7-4497-B133-2CD09B89BA6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6919" y="2240972"/>
                    <a:ext cx="826851" cy="778828"/>
                  </a:xfrm>
                  <a:prstGeom prst="ellipse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3492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697BE07C-48DA-49B1-A0E9-47C26F589AB0}"/>
                      </a:ext>
                    </a:extLst>
                  </p:cNvPr>
                  <p:cNvSpPr/>
                  <p:nvPr/>
                </p:nvSpPr>
                <p:spPr>
                  <a:xfrm>
                    <a:off x="843063" y="3857017"/>
                    <a:ext cx="826851" cy="778828"/>
                  </a:xfrm>
                  <a:prstGeom prst="ellipse">
                    <a:avLst/>
                  </a:prstGeom>
                  <a:noFill/>
                  <a:ln w="349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697BE07C-48DA-49B1-A0E9-47C26F589A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3063" y="3857017"/>
                    <a:ext cx="826851" cy="778828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3492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452103C0-EC8B-4B0A-97E2-492C724AE668}"/>
                      </a:ext>
                    </a:extLst>
                  </p:cNvPr>
                  <p:cNvSpPr/>
                  <p:nvPr/>
                </p:nvSpPr>
                <p:spPr>
                  <a:xfrm>
                    <a:off x="2791839" y="3779195"/>
                    <a:ext cx="826851" cy="778828"/>
                  </a:xfrm>
                  <a:prstGeom prst="ellipse">
                    <a:avLst/>
                  </a:prstGeom>
                  <a:noFill/>
                  <a:ln w="349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452103C0-EC8B-4B0A-97E2-492C724AE66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91839" y="3779195"/>
                    <a:ext cx="826851" cy="778828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34925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9F45831-B4C8-4B2B-A1F4-4B22CEC4296B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H="1">
                <a:off x="1256489" y="2905743"/>
                <a:ext cx="641520" cy="95127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A0225BC-9B76-4978-AFC9-29343D139ED7}"/>
                  </a:ext>
                </a:extLst>
              </p:cNvPr>
              <p:cNvCxnSpPr>
                <a:cxnSpLocks/>
                <a:stCxn id="5" idx="5"/>
                <a:endCxn id="7" idx="0"/>
              </p:cNvCxnSpPr>
              <p:nvPr/>
            </p:nvCxnSpPr>
            <p:spPr>
              <a:xfrm>
                <a:off x="2482680" y="2905743"/>
                <a:ext cx="722585" cy="87345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638E614-4D03-4901-9D8D-79A7A4CC9B72}"/>
                      </a:ext>
                    </a:extLst>
                  </p:cNvPr>
                  <p:cNvSpPr txBox="1"/>
                  <p:nvPr/>
                </p:nvSpPr>
                <p:spPr>
                  <a:xfrm>
                    <a:off x="331192" y="3876221"/>
                    <a:ext cx="511871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320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B638E614-4D03-4901-9D8D-79A7A4CC9B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1192" y="3876221"/>
                    <a:ext cx="511871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F25704A2-43D5-4D6C-9A6E-EED4DC1C947F}"/>
                      </a:ext>
                    </a:extLst>
                  </p:cNvPr>
                  <p:cNvSpPr txBox="1"/>
                  <p:nvPr/>
                </p:nvSpPr>
                <p:spPr>
                  <a:xfrm>
                    <a:off x="2307808" y="3838201"/>
                    <a:ext cx="511871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oMath>
                      </m:oMathPara>
                    </a14:m>
                    <a:endParaRPr lang="en-US" sz="320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F25704A2-43D5-4D6C-9A6E-EED4DC1C94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07808" y="3838201"/>
                    <a:ext cx="511871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2D2EA2D-5A3C-4188-B4ED-2918158F19AE}"/>
                    </a:ext>
                  </a:extLst>
                </p:cNvPr>
                <p:cNvSpPr txBox="1"/>
                <p:nvPr/>
              </p:nvSpPr>
              <p:spPr>
                <a:xfrm>
                  <a:off x="1676530" y="4621926"/>
                  <a:ext cx="12514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600" b="1" i="0" smtClean="0">
                            <a:latin typeface="Cambria Math" panose="02040503050406030204" pitchFamily="18" charset="0"/>
                          </a:rPr>
                          <m:t>𝐀𝐗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2D2EA2D-5A3C-4188-B4ED-2918158F19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6530" y="4621926"/>
                  <a:ext cx="1251496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AF6341B-CB3C-4314-8E49-D7B77685431E}"/>
              </a:ext>
            </a:extLst>
          </p:cNvPr>
          <p:cNvGrpSpPr/>
          <p:nvPr/>
        </p:nvGrpSpPr>
        <p:grpSpPr>
          <a:xfrm>
            <a:off x="4589662" y="1606492"/>
            <a:ext cx="2775627" cy="3490651"/>
            <a:chOff x="6060331" y="1658649"/>
            <a:chExt cx="2775627" cy="349065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AA96CF0-6385-454E-8258-9CDC2AC6A3E3}"/>
                    </a:ext>
                  </a:extLst>
                </p:cNvPr>
                <p:cNvSpPr/>
                <p:nvPr/>
              </p:nvSpPr>
              <p:spPr>
                <a:xfrm>
                  <a:off x="6994187" y="1658649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5AA96CF0-6385-454E-8258-9CDC2AC6A3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4187" y="1658649"/>
                  <a:ext cx="826851" cy="778828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3871D0F7-4132-4370-A5CF-E8CD92B86315}"/>
                    </a:ext>
                  </a:extLst>
                </p:cNvPr>
                <p:cNvSpPr/>
                <p:nvPr/>
              </p:nvSpPr>
              <p:spPr>
                <a:xfrm>
                  <a:off x="6060331" y="3274694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3871D0F7-4132-4370-A5CF-E8CD92B863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0331" y="3274694"/>
                  <a:ext cx="826851" cy="778828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B5868AEA-E7CE-4D9E-90C7-E93BA15CE8C9}"/>
                    </a:ext>
                  </a:extLst>
                </p:cNvPr>
                <p:cNvSpPr/>
                <p:nvPr/>
              </p:nvSpPr>
              <p:spPr>
                <a:xfrm>
                  <a:off x="8009107" y="3196872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B5868AEA-E7CE-4D9E-90C7-E93BA15CE8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9107" y="3196872"/>
                  <a:ext cx="826851" cy="778828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EEC21BB-DB30-4E3C-B8A7-A8542ACDA04E}"/>
                </a:ext>
              </a:extLst>
            </p:cNvPr>
            <p:cNvCxnSpPr>
              <a:cxnSpLocks/>
              <a:stCxn id="22" idx="3"/>
              <a:endCxn id="23" idx="0"/>
            </p:cNvCxnSpPr>
            <p:nvPr/>
          </p:nvCxnSpPr>
          <p:spPr>
            <a:xfrm flipH="1">
              <a:off x="6473757" y="2323420"/>
              <a:ext cx="641520" cy="95127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2137AF-BD84-4288-8C6B-67913D48E209}"/>
                </a:ext>
              </a:extLst>
            </p:cNvPr>
            <p:cNvCxnSpPr>
              <a:cxnSpLocks/>
              <a:stCxn id="22" idx="5"/>
              <a:endCxn id="24" idx="0"/>
            </p:cNvCxnSpPr>
            <p:nvPr/>
          </p:nvCxnSpPr>
          <p:spPr>
            <a:xfrm>
              <a:off x="7699948" y="2323420"/>
              <a:ext cx="722585" cy="8734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434CA98-D544-422F-B29A-CBDC59E824D0}"/>
                    </a:ext>
                  </a:extLst>
                </p:cNvPr>
                <p:cNvSpPr txBox="1"/>
                <p:nvPr/>
              </p:nvSpPr>
              <p:spPr>
                <a:xfrm>
                  <a:off x="6824371" y="3331919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434CA98-D544-422F-B29A-CBDC59E82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4371" y="3331919"/>
                  <a:ext cx="511871" cy="58477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E2D276CA-6F96-4264-B1D7-051723C553C9}"/>
                    </a:ext>
                  </a:extLst>
                </p:cNvPr>
                <p:cNvSpPr txBox="1"/>
                <p:nvPr/>
              </p:nvSpPr>
              <p:spPr>
                <a:xfrm>
                  <a:off x="6868110" y="4502969"/>
                  <a:ext cx="1213024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600" b="1" i="0" smtClean="0">
                            <a:latin typeface="Cambria Math" panose="02040503050406030204" pitchFamily="18" charset="0"/>
                          </a:rPr>
                          <m:t>𝐄𝐗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E2D276CA-6F96-4264-B1D7-051723C55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8110" y="4502969"/>
                  <a:ext cx="1213024" cy="64633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BE8C268-7540-480D-92EA-69D4115BF8A9}"/>
              </a:ext>
            </a:extLst>
          </p:cNvPr>
          <p:cNvGrpSpPr/>
          <p:nvPr/>
        </p:nvGrpSpPr>
        <p:grpSpPr>
          <a:xfrm>
            <a:off x="8130435" y="1547486"/>
            <a:ext cx="3396841" cy="3492552"/>
            <a:chOff x="5602384" y="1658649"/>
            <a:chExt cx="3233574" cy="349255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0A9184BB-81AE-4795-93E8-3793A9457A2B}"/>
                    </a:ext>
                  </a:extLst>
                </p:cNvPr>
                <p:cNvSpPr/>
                <p:nvPr/>
              </p:nvSpPr>
              <p:spPr>
                <a:xfrm>
                  <a:off x="6994187" y="1658649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0A9184BB-81AE-4795-93E8-3793A9457A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4187" y="1658649"/>
                  <a:ext cx="826851" cy="778828"/>
                </a:xfrm>
                <a:prstGeom prst="ellipse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C32BA35A-B75B-480B-9CD4-66606C03824C}"/>
                    </a:ext>
                  </a:extLst>
                </p:cNvPr>
                <p:cNvSpPr/>
                <p:nvPr/>
              </p:nvSpPr>
              <p:spPr>
                <a:xfrm>
                  <a:off x="6060331" y="3274694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C32BA35A-B75B-480B-9CD4-66606C0382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0331" y="3274694"/>
                  <a:ext cx="826851" cy="778828"/>
                </a:xfrm>
                <a:prstGeom prst="ellipse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D4990C4A-B873-4B4E-AA3E-F567CA59AC4E}"/>
                    </a:ext>
                  </a:extLst>
                </p:cNvPr>
                <p:cNvSpPr/>
                <p:nvPr/>
              </p:nvSpPr>
              <p:spPr>
                <a:xfrm>
                  <a:off x="8009107" y="3196872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D4990C4A-B873-4B4E-AA3E-F567CA59AC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09107" y="3196872"/>
                  <a:ext cx="826851" cy="778828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E69BE72-DC14-4B84-88EE-EA4DCCF6BD99}"/>
                </a:ext>
              </a:extLst>
            </p:cNvPr>
            <p:cNvCxnSpPr>
              <a:cxnSpLocks/>
              <a:stCxn id="34" idx="3"/>
              <a:endCxn id="35" idx="0"/>
            </p:cNvCxnSpPr>
            <p:nvPr/>
          </p:nvCxnSpPr>
          <p:spPr>
            <a:xfrm flipH="1">
              <a:off x="6473757" y="2323420"/>
              <a:ext cx="641520" cy="95127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EED60CF-581C-45CD-AFBB-BFBC9CB9EF2C}"/>
                </a:ext>
              </a:extLst>
            </p:cNvPr>
            <p:cNvCxnSpPr>
              <a:cxnSpLocks/>
              <a:stCxn id="34" idx="5"/>
              <a:endCxn id="36" idx="0"/>
            </p:cNvCxnSpPr>
            <p:nvPr/>
          </p:nvCxnSpPr>
          <p:spPr>
            <a:xfrm>
              <a:off x="7699948" y="2323420"/>
              <a:ext cx="722585" cy="8734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7BBEDCF-6B1B-4AB1-AB4B-1DCF25DA6028}"/>
                    </a:ext>
                  </a:extLst>
                </p:cNvPr>
                <p:cNvSpPr txBox="1"/>
                <p:nvPr/>
              </p:nvSpPr>
              <p:spPr>
                <a:xfrm>
                  <a:off x="5602384" y="3111587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7BBEDCF-6B1B-4AB1-AB4B-1DCF25DA6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2384" y="3111587"/>
                  <a:ext cx="511871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28D15EF-3896-4A47-ACDA-B034113AFEAB}"/>
                    </a:ext>
                  </a:extLst>
                </p:cNvPr>
                <p:cNvSpPr txBox="1"/>
                <p:nvPr/>
              </p:nvSpPr>
              <p:spPr>
                <a:xfrm>
                  <a:off x="6145350" y="4504870"/>
                  <a:ext cx="26906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600" b="1" i="0" smtClean="0">
                            <a:latin typeface="Cambria Math" panose="02040503050406030204" pitchFamily="18" charset="0"/>
                          </a:rPr>
                          <m:t>𝐀𝐗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US" sz="3600" b="1" i="0" smtClean="0">
                            <a:latin typeface="Cambria Math" panose="02040503050406030204" pitchFamily="18" charset="0"/>
                          </a:rPr>
                          <m:t>𝐄𝐗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28D15EF-3896-4A47-ACDA-B034113AFE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5350" y="4504870"/>
                  <a:ext cx="2690608" cy="64633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A6C80F7-6487-4E0F-BB3B-75D9F68F238F}"/>
                  </a:ext>
                </a:extLst>
              </p:cNvPr>
              <p:cNvSpPr txBox="1"/>
              <p:nvPr/>
            </p:nvSpPr>
            <p:spPr>
              <a:xfrm>
                <a:off x="10209616" y="2949353"/>
                <a:ext cx="53771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A6C80F7-6487-4E0F-BB3B-75D9F68F2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9616" y="2949353"/>
                <a:ext cx="537716" cy="58477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5544526-CF97-463E-8551-4410365202B6}"/>
                  </a:ext>
                </a:extLst>
              </p:cNvPr>
              <p:cNvSpPr txBox="1"/>
              <p:nvPr/>
            </p:nvSpPr>
            <p:spPr>
              <a:xfrm>
                <a:off x="10193981" y="3400701"/>
                <a:ext cx="51129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5544526-CF97-463E-8551-4410365202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981" y="3400701"/>
                <a:ext cx="511294" cy="5847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9417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E2400E-84BA-4444-8E0D-C8BE4D30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semantics through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13EA6-C2A3-41F2-B44C-562548CCF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415DB-4FD0-4AA4-9DE9-2A3217701570}"/>
                  </a:ext>
                </a:extLst>
              </p:cNvPr>
              <p:cNvSpPr txBox="1"/>
              <p:nvPr/>
            </p:nvSpPr>
            <p:spPr>
              <a:xfrm>
                <a:off x="3267920" y="1571425"/>
                <a:ext cx="277488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smtClean="0">
                        <a:latin typeface="Cambria Math" panose="02040503050406030204" pitchFamily="18" charset="0"/>
                      </a:rPr>
                      <m:t>𝐀𝐅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Along all</a:t>
                </a:r>
              </a:p>
              <a:p>
                <a:r>
                  <a:rPr lang="en-US" sz="2800" dirty="0"/>
                  <a:t>Paths, There is some future step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 holds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415DB-4FD0-4AA4-9DE9-2A3217701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920" y="1571425"/>
                <a:ext cx="2774884" cy="1815882"/>
              </a:xfrm>
              <a:prstGeom prst="rect">
                <a:avLst/>
              </a:prstGeom>
              <a:blipFill>
                <a:blip r:embed="rId2"/>
                <a:stretch>
                  <a:fillRect l="-4396" t="-3356" r="-2857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8533630-E8EB-4C73-8F29-2716E0FE1E21}"/>
              </a:ext>
            </a:extLst>
          </p:cNvPr>
          <p:cNvGrpSpPr/>
          <p:nvPr/>
        </p:nvGrpSpPr>
        <p:grpSpPr>
          <a:xfrm>
            <a:off x="166680" y="1515623"/>
            <a:ext cx="4318632" cy="3859382"/>
            <a:chOff x="1400198" y="1308085"/>
            <a:chExt cx="4517742" cy="3859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052FABD7-103D-4F8B-8C4F-648DA3DBA400}"/>
                    </a:ext>
                  </a:extLst>
                </p:cNvPr>
                <p:cNvSpPr/>
                <p:nvPr/>
              </p:nvSpPr>
              <p:spPr>
                <a:xfrm>
                  <a:off x="2479157" y="1308085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052FABD7-103D-4F8B-8C4F-648DA3DBA4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157" y="1308085"/>
                  <a:ext cx="826851" cy="77882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0B247C8-BF7D-4E32-B198-79D7ABFB6870}"/>
                </a:ext>
              </a:extLst>
            </p:cNvPr>
            <p:cNvSpPr/>
            <p:nvPr/>
          </p:nvSpPr>
          <p:spPr>
            <a:xfrm>
              <a:off x="1853408" y="2432176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666487-1D75-4921-9D20-0BD8E4A2D21A}"/>
                </a:ext>
              </a:extLst>
            </p:cNvPr>
            <p:cNvSpPr/>
            <p:nvPr/>
          </p:nvSpPr>
          <p:spPr>
            <a:xfrm>
              <a:off x="3518330" y="2271828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6C6160-5BC8-4D9B-AA02-8CA53F110501}"/>
                </a:ext>
              </a:extLst>
            </p:cNvPr>
            <p:cNvCxnSpPr>
              <a:cxnSpLocks/>
              <a:stCxn id="8" idx="3"/>
              <a:endCxn id="9" idx="0"/>
            </p:cNvCxnSpPr>
            <p:nvPr/>
          </p:nvCxnSpPr>
          <p:spPr>
            <a:xfrm flipH="1">
              <a:off x="2266834" y="1972856"/>
              <a:ext cx="333413" cy="4593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A4FD98D-45BA-4362-B8B4-5FADE7CC3720}"/>
                </a:ext>
              </a:extLst>
            </p:cNvPr>
            <p:cNvCxnSpPr>
              <a:cxnSpLocks/>
              <a:stCxn id="8" idx="5"/>
              <a:endCxn id="10" idx="1"/>
            </p:cNvCxnSpPr>
            <p:nvPr/>
          </p:nvCxnSpPr>
          <p:spPr>
            <a:xfrm>
              <a:off x="3184918" y="1972856"/>
              <a:ext cx="454502" cy="41302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0E58183-F01C-457F-ABBE-81BD2CFF83B8}"/>
                    </a:ext>
                  </a:extLst>
                </p:cNvPr>
                <p:cNvSpPr txBox="1"/>
                <p:nvPr/>
              </p:nvSpPr>
              <p:spPr>
                <a:xfrm>
                  <a:off x="1400198" y="2441562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0E58183-F01C-457F-ABBE-81BD2CFF8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0198" y="2441562"/>
                  <a:ext cx="511871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3C57ED9-795D-4753-A39B-B64F54AA0E14}"/>
                </a:ext>
              </a:extLst>
            </p:cNvPr>
            <p:cNvSpPr/>
            <p:nvPr/>
          </p:nvSpPr>
          <p:spPr>
            <a:xfrm>
              <a:off x="2636833" y="3296511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FC3A39B-F7CC-4929-979A-B48E77DC7EA4}"/>
                </a:ext>
              </a:extLst>
            </p:cNvPr>
            <p:cNvSpPr/>
            <p:nvPr/>
          </p:nvSpPr>
          <p:spPr>
            <a:xfrm>
              <a:off x="4506371" y="3294026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73781F9-5EBC-409F-8C69-ED54A176D454}"/>
                </a:ext>
              </a:extLst>
            </p:cNvPr>
            <p:cNvCxnSpPr>
              <a:cxnSpLocks/>
              <a:stCxn id="10" idx="5"/>
              <a:endCxn id="25" idx="1"/>
            </p:cNvCxnSpPr>
            <p:nvPr/>
          </p:nvCxnSpPr>
          <p:spPr>
            <a:xfrm>
              <a:off x="4224091" y="2936599"/>
              <a:ext cx="403370" cy="4714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0119A94D-A3B5-4952-A3BC-4A4C1938C099}"/>
                </a:ext>
              </a:extLst>
            </p:cNvPr>
            <p:cNvCxnSpPr>
              <a:cxnSpLocks/>
              <a:stCxn id="10" idx="3"/>
              <a:endCxn id="24" idx="7"/>
            </p:cNvCxnSpPr>
            <p:nvPr/>
          </p:nvCxnSpPr>
          <p:spPr>
            <a:xfrm flipH="1">
              <a:off x="3342594" y="2936599"/>
              <a:ext cx="296826" cy="4739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8FB7A3EC-2B44-47BC-9506-ED3468DD8679}"/>
                </a:ext>
              </a:extLst>
            </p:cNvPr>
            <p:cNvSpPr/>
            <p:nvPr/>
          </p:nvSpPr>
          <p:spPr>
            <a:xfrm>
              <a:off x="3634977" y="4388639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3C9DE36-B4D7-4DC7-AE73-05833AE8129D}"/>
                </a:ext>
              </a:extLst>
            </p:cNvPr>
            <p:cNvSpPr/>
            <p:nvPr/>
          </p:nvSpPr>
          <p:spPr>
            <a:xfrm>
              <a:off x="5091089" y="4356816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4AD15CF-F60D-42B1-9380-88CA8BCEBEA8}"/>
                </a:ext>
              </a:extLst>
            </p:cNvPr>
            <p:cNvCxnSpPr>
              <a:cxnSpLocks/>
              <a:stCxn id="25" idx="5"/>
              <a:endCxn id="60" idx="0"/>
            </p:cNvCxnSpPr>
            <p:nvPr/>
          </p:nvCxnSpPr>
          <p:spPr>
            <a:xfrm>
              <a:off x="5212132" y="3958797"/>
              <a:ext cx="292383" cy="39801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A338F746-4ED4-4627-82FB-8362BDC53BE8}"/>
                </a:ext>
              </a:extLst>
            </p:cNvPr>
            <p:cNvCxnSpPr>
              <a:cxnSpLocks/>
              <a:stCxn id="25" idx="3"/>
              <a:endCxn id="59" idx="7"/>
            </p:cNvCxnSpPr>
            <p:nvPr/>
          </p:nvCxnSpPr>
          <p:spPr>
            <a:xfrm flipH="1">
              <a:off x="4340738" y="3958797"/>
              <a:ext cx="286723" cy="54389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8D81B86-F197-4FD1-B503-A75CD8D00EAE}"/>
                    </a:ext>
                  </a:extLst>
                </p:cNvPr>
                <p:cNvSpPr txBox="1"/>
                <p:nvPr/>
              </p:nvSpPr>
              <p:spPr>
                <a:xfrm>
                  <a:off x="2877168" y="4064428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8D81B86-F197-4FD1-B503-A75CD8D00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7168" y="4064428"/>
                  <a:ext cx="511871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68B8275E-694C-4424-9E94-850B31882DF2}"/>
                    </a:ext>
                  </a:extLst>
                </p:cNvPr>
                <p:cNvSpPr txBox="1"/>
                <p:nvPr/>
              </p:nvSpPr>
              <p:spPr>
                <a:xfrm>
                  <a:off x="4371525" y="4453678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68B8275E-694C-4424-9E94-850B31882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525" y="4453678"/>
                  <a:ext cx="511871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57D868-2DC5-4F5E-87C0-E9F9F22A2DAA}"/>
                  </a:ext>
                </a:extLst>
              </p:cNvPr>
              <p:cNvSpPr txBox="1"/>
              <p:nvPr/>
            </p:nvSpPr>
            <p:spPr>
              <a:xfrm>
                <a:off x="4415695" y="4721767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57D868-2DC5-4F5E-87C0-E9F9F22A2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695" y="4721767"/>
                <a:ext cx="511871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52E14511-AF26-441D-9E80-C4F72EFB6997}"/>
              </a:ext>
            </a:extLst>
          </p:cNvPr>
          <p:cNvGrpSpPr/>
          <p:nvPr/>
        </p:nvGrpSpPr>
        <p:grpSpPr>
          <a:xfrm>
            <a:off x="7729182" y="1438030"/>
            <a:ext cx="4529500" cy="3859382"/>
            <a:chOff x="6736332" y="1251799"/>
            <a:chExt cx="4529500" cy="3859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D4CCFCC0-763E-4774-8846-84BFBC71B4AF}"/>
                    </a:ext>
                  </a:extLst>
                </p:cNvPr>
                <p:cNvSpPr/>
                <p:nvPr/>
              </p:nvSpPr>
              <p:spPr>
                <a:xfrm>
                  <a:off x="7362081" y="1251799"/>
                  <a:ext cx="826851" cy="778828"/>
                </a:xfrm>
                <a:prstGeom prst="ellipse">
                  <a:avLst/>
                </a:prstGeom>
                <a:noFill/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D4CCFCC0-763E-4774-8846-84BFBC71B4A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2081" y="1251799"/>
                  <a:ext cx="826851" cy="778828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85000DB6-DEAD-436D-8F64-7B48F46ACEB9}"/>
                </a:ext>
              </a:extLst>
            </p:cNvPr>
            <p:cNvSpPr/>
            <p:nvPr/>
          </p:nvSpPr>
          <p:spPr>
            <a:xfrm>
              <a:off x="6736332" y="2375890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61280B9-9E4A-4EBC-9666-DC8403D5EDAB}"/>
                </a:ext>
              </a:extLst>
            </p:cNvPr>
            <p:cNvSpPr/>
            <p:nvPr/>
          </p:nvSpPr>
          <p:spPr>
            <a:xfrm>
              <a:off x="8401254" y="2215542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D54DA1A1-82BE-403F-8635-C971E74D1466}"/>
                </a:ext>
              </a:extLst>
            </p:cNvPr>
            <p:cNvCxnSpPr>
              <a:cxnSpLocks/>
              <a:stCxn id="88" idx="3"/>
              <a:endCxn id="89" idx="0"/>
            </p:cNvCxnSpPr>
            <p:nvPr/>
          </p:nvCxnSpPr>
          <p:spPr>
            <a:xfrm flipH="1">
              <a:off x="7149758" y="1916570"/>
              <a:ext cx="333413" cy="4593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149037E-BD4A-4B2A-83F3-9F1A19DCD6FB}"/>
                </a:ext>
              </a:extLst>
            </p:cNvPr>
            <p:cNvCxnSpPr>
              <a:cxnSpLocks/>
              <a:stCxn id="88" idx="5"/>
              <a:endCxn id="90" idx="1"/>
            </p:cNvCxnSpPr>
            <p:nvPr/>
          </p:nvCxnSpPr>
          <p:spPr>
            <a:xfrm>
              <a:off x="8067842" y="1916570"/>
              <a:ext cx="454502" cy="41302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86B1820E-8F0F-4B89-9E5A-3031CF101828}"/>
                </a:ext>
              </a:extLst>
            </p:cNvPr>
            <p:cNvSpPr/>
            <p:nvPr/>
          </p:nvSpPr>
          <p:spPr>
            <a:xfrm>
              <a:off x="7519757" y="3240225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F247A7D4-6C6F-4586-AD9E-27BD57BB4BA2}"/>
                </a:ext>
              </a:extLst>
            </p:cNvPr>
            <p:cNvSpPr/>
            <p:nvPr/>
          </p:nvSpPr>
          <p:spPr>
            <a:xfrm>
              <a:off x="9389295" y="3237740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C4D0BC2A-8792-4E6F-921F-507D820AD711}"/>
                </a:ext>
              </a:extLst>
            </p:cNvPr>
            <p:cNvCxnSpPr>
              <a:cxnSpLocks/>
              <a:stCxn id="90" idx="5"/>
              <a:endCxn id="95" idx="1"/>
            </p:cNvCxnSpPr>
            <p:nvPr/>
          </p:nvCxnSpPr>
          <p:spPr>
            <a:xfrm>
              <a:off x="9107015" y="2880313"/>
              <a:ext cx="403370" cy="4714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885EB675-7E01-428F-BD47-0E3CC5633C78}"/>
                </a:ext>
              </a:extLst>
            </p:cNvPr>
            <p:cNvCxnSpPr>
              <a:cxnSpLocks/>
              <a:stCxn id="90" idx="3"/>
              <a:endCxn id="94" idx="7"/>
            </p:cNvCxnSpPr>
            <p:nvPr/>
          </p:nvCxnSpPr>
          <p:spPr>
            <a:xfrm flipH="1">
              <a:off x="8225518" y="2880313"/>
              <a:ext cx="296826" cy="4739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E3A5DC27-B1C5-4734-916C-38250E6F6F7C}"/>
                </a:ext>
              </a:extLst>
            </p:cNvPr>
            <p:cNvSpPr/>
            <p:nvPr/>
          </p:nvSpPr>
          <p:spPr>
            <a:xfrm>
              <a:off x="8517901" y="4332353"/>
              <a:ext cx="826851" cy="778828"/>
            </a:xfrm>
            <a:prstGeom prst="ellipse">
              <a:avLst/>
            </a:prstGeom>
            <a:noFill/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A4CD76C1-327B-4A34-AAF5-E05C8A45D617}"/>
                </a:ext>
              </a:extLst>
            </p:cNvPr>
            <p:cNvSpPr/>
            <p:nvPr/>
          </p:nvSpPr>
          <p:spPr>
            <a:xfrm>
              <a:off x="9974013" y="4300530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18F8EDF9-2DEE-4A79-8823-7D59B8317A91}"/>
                </a:ext>
              </a:extLst>
            </p:cNvPr>
            <p:cNvCxnSpPr>
              <a:cxnSpLocks/>
              <a:stCxn id="95" idx="5"/>
              <a:endCxn id="99" idx="0"/>
            </p:cNvCxnSpPr>
            <p:nvPr/>
          </p:nvCxnSpPr>
          <p:spPr>
            <a:xfrm>
              <a:off x="10095056" y="3902511"/>
              <a:ext cx="292383" cy="39801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50FF057-1B3C-48D9-BF1D-AAEBFFE1DE58}"/>
                </a:ext>
              </a:extLst>
            </p:cNvPr>
            <p:cNvCxnSpPr>
              <a:cxnSpLocks/>
              <a:stCxn id="95" idx="3"/>
              <a:endCxn id="98" idx="7"/>
            </p:cNvCxnSpPr>
            <p:nvPr/>
          </p:nvCxnSpPr>
          <p:spPr>
            <a:xfrm flipH="1">
              <a:off x="9223662" y="3902511"/>
              <a:ext cx="286723" cy="54389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FE23FF47-A68B-4353-A648-8824804BE006}"/>
                    </a:ext>
                  </a:extLst>
                </p:cNvPr>
                <p:cNvSpPr txBox="1"/>
                <p:nvPr/>
              </p:nvSpPr>
              <p:spPr>
                <a:xfrm>
                  <a:off x="10753961" y="3868903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FE23FF47-A68B-4353-A648-8824804BE0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3961" y="3868903"/>
                  <a:ext cx="511871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D274B7E-8217-4641-AA2D-439BE61A73DA}"/>
                  </a:ext>
                </a:extLst>
              </p:cNvPr>
              <p:cNvSpPr txBox="1"/>
              <p:nvPr/>
            </p:nvSpPr>
            <p:spPr>
              <a:xfrm>
                <a:off x="5803374" y="3642606"/>
                <a:ext cx="277488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Along some</a:t>
                </a:r>
              </a:p>
              <a:p>
                <a:r>
                  <a:rPr lang="en-US" sz="2800" dirty="0"/>
                  <a:t>path, there is some future step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 holds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D274B7E-8217-4641-AA2D-439BE61A7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74" y="3642606"/>
                <a:ext cx="2774884" cy="1815882"/>
              </a:xfrm>
              <a:prstGeom prst="rect">
                <a:avLst/>
              </a:prstGeom>
              <a:blipFill>
                <a:blip r:embed="rId10"/>
                <a:stretch>
                  <a:fillRect l="-4615" t="-3367" r="-351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6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E2400E-84BA-4444-8E0D-C8BE4D30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semantics through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13EA6-C2A3-41F2-B44C-562548CCF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39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415DB-4FD0-4AA4-9DE9-2A3217701570}"/>
                  </a:ext>
                </a:extLst>
              </p:cNvPr>
              <p:cNvSpPr txBox="1"/>
              <p:nvPr/>
            </p:nvSpPr>
            <p:spPr>
              <a:xfrm>
                <a:off x="3077026" y="1350253"/>
                <a:ext cx="3092230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smtClean="0">
                        <a:latin typeface="Cambria Math" panose="02040503050406030204" pitchFamily="18" charset="0"/>
                      </a:rPr>
                      <m:t>𝐀𝐆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Across all</a:t>
                </a:r>
              </a:p>
              <a:p>
                <a:r>
                  <a:rPr lang="en-US" sz="2800" dirty="0"/>
                  <a:t>paths, and for every successor in the path,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 holds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2415DB-4FD0-4AA4-9DE9-2A3217701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026" y="1350253"/>
                <a:ext cx="3092230" cy="1815882"/>
              </a:xfrm>
              <a:prstGeom prst="rect">
                <a:avLst/>
              </a:prstGeom>
              <a:blipFill>
                <a:blip r:embed="rId2"/>
                <a:stretch>
                  <a:fillRect l="-4142" t="-3020" r="-57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8533630-E8EB-4C73-8F29-2716E0FE1E21}"/>
              </a:ext>
            </a:extLst>
          </p:cNvPr>
          <p:cNvGrpSpPr/>
          <p:nvPr/>
        </p:nvGrpSpPr>
        <p:grpSpPr>
          <a:xfrm>
            <a:off x="208341" y="1551458"/>
            <a:ext cx="4318632" cy="3859382"/>
            <a:chOff x="1400198" y="1308085"/>
            <a:chExt cx="4517742" cy="38593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052FABD7-103D-4F8B-8C4F-648DA3DBA400}"/>
                    </a:ext>
                  </a:extLst>
                </p:cNvPr>
                <p:cNvSpPr/>
                <p:nvPr/>
              </p:nvSpPr>
              <p:spPr>
                <a:xfrm>
                  <a:off x="2479157" y="1308085"/>
                  <a:ext cx="826851" cy="778828"/>
                </a:xfrm>
                <a:prstGeom prst="ellipse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349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052FABD7-103D-4F8B-8C4F-648DA3DBA4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157" y="1308085"/>
                  <a:ext cx="826851" cy="77882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4925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0B247C8-BF7D-4E32-B198-79D7ABFB6870}"/>
                </a:ext>
              </a:extLst>
            </p:cNvPr>
            <p:cNvSpPr/>
            <p:nvPr/>
          </p:nvSpPr>
          <p:spPr>
            <a:xfrm>
              <a:off x="1853408" y="2432176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666487-1D75-4921-9D20-0BD8E4A2D21A}"/>
                </a:ext>
              </a:extLst>
            </p:cNvPr>
            <p:cNvSpPr/>
            <p:nvPr/>
          </p:nvSpPr>
          <p:spPr>
            <a:xfrm>
              <a:off x="3518330" y="2271828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6C6160-5BC8-4D9B-AA02-8CA53F110501}"/>
                </a:ext>
              </a:extLst>
            </p:cNvPr>
            <p:cNvCxnSpPr>
              <a:cxnSpLocks/>
              <a:stCxn id="8" idx="3"/>
              <a:endCxn id="9" idx="0"/>
            </p:cNvCxnSpPr>
            <p:nvPr/>
          </p:nvCxnSpPr>
          <p:spPr>
            <a:xfrm flipH="1">
              <a:off x="2266834" y="1972856"/>
              <a:ext cx="333413" cy="4593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A4FD98D-45BA-4362-B8B4-5FADE7CC3720}"/>
                </a:ext>
              </a:extLst>
            </p:cNvPr>
            <p:cNvCxnSpPr>
              <a:cxnSpLocks/>
              <a:stCxn id="8" idx="5"/>
              <a:endCxn id="10" idx="1"/>
            </p:cNvCxnSpPr>
            <p:nvPr/>
          </p:nvCxnSpPr>
          <p:spPr>
            <a:xfrm>
              <a:off x="3184918" y="1972856"/>
              <a:ext cx="454502" cy="41302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0E58183-F01C-457F-ABBE-81BD2CFF83B8}"/>
                    </a:ext>
                  </a:extLst>
                </p:cNvPr>
                <p:cNvSpPr txBox="1"/>
                <p:nvPr/>
              </p:nvSpPr>
              <p:spPr>
                <a:xfrm>
                  <a:off x="1400198" y="2441562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B0E58183-F01C-457F-ABBE-81BD2CFF8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0198" y="2441562"/>
                  <a:ext cx="511871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3C57ED9-795D-4753-A39B-B64F54AA0E14}"/>
                </a:ext>
              </a:extLst>
            </p:cNvPr>
            <p:cNvSpPr/>
            <p:nvPr/>
          </p:nvSpPr>
          <p:spPr>
            <a:xfrm>
              <a:off x="2636833" y="3296511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FC3A39B-F7CC-4929-979A-B48E77DC7EA4}"/>
                </a:ext>
              </a:extLst>
            </p:cNvPr>
            <p:cNvSpPr/>
            <p:nvPr/>
          </p:nvSpPr>
          <p:spPr>
            <a:xfrm>
              <a:off x="4506371" y="3294026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73781F9-5EBC-409F-8C69-ED54A176D454}"/>
                </a:ext>
              </a:extLst>
            </p:cNvPr>
            <p:cNvCxnSpPr>
              <a:cxnSpLocks/>
              <a:stCxn id="10" idx="5"/>
              <a:endCxn id="25" idx="1"/>
            </p:cNvCxnSpPr>
            <p:nvPr/>
          </p:nvCxnSpPr>
          <p:spPr>
            <a:xfrm>
              <a:off x="4224091" y="2936599"/>
              <a:ext cx="403370" cy="4714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0119A94D-A3B5-4952-A3BC-4A4C1938C099}"/>
                </a:ext>
              </a:extLst>
            </p:cNvPr>
            <p:cNvCxnSpPr>
              <a:cxnSpLocks/>
              <a:stCxn id="10" idx="3"/>
              <a:endCxn id="24" idx="7"/>
            </p:cNvCxnSpPr>
            <p:nvPr/>
          </p:nvCxnSpPr>
          <p:spPr>
            <a:xfrm flipH="1">
              <a:off x="3342594" y="2936599"/>
              <a:ext cx="296826" cy="4739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8FB7A3EC-2B44-47BC-9506-ED3468DD8679}"/>
                </a:ext>
              </a:extLst>
            </p:cNvPr>
            <p:cNvSpPr/>
            <p:nvPr/>
          </p:nvSpPr>
          <p:spPr>
            <a:xfrm>
              <a:off x="3634977" y="4388639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mbria Math" panose="02040503050406030204" pitchFamily="18" charset="0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C3C9DE36-B4D7-4DC7-AE73-05833AE8129D}"/>
                </a:ext>
              </a:extLst>
            </p:cNvPr>
            <p:cNvSpPr/>
            <p:nvPr/>
          </p:nvSpPr>
          <p:spPr>
            <a:xfrm>
              <a:off x="5091089" y="4356816"/>
              <a:ext cx="826851" cy="77882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49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3200" i="1" dirty="0">
                <a:solidFill>
                  <a:schemeClr val="tx1"/>
                </a:solidFill>
                <a:latin typeface="Cambria Math" panose="02040503050406030204" pitchFamily="18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4AD15CF-F60D-42B1-9380-88CA8BCEBEA8}"/>
                </a:ext>
              </a:extLst>
            </p:cNvPr>
            <p:cNvCxnSpPr>
              <a:cxnSpLocks/>
              <a:stCxn id="25" idx="5"/>
              <a:endCxn id="60" idx="0"/>
            </p:cNvCxnSpPr>
            <p:nvPr/>
          </p:nvCxnSpPr>
          <p:spPr>
            <a:xfrm>
              <a:off x="5212132" y="3958797"/>
              <a:ext cx="292383" cy="39801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A338F746-4ED4-4627-82FB-8362BDC53BE8}"/>
                </a:ext>
              </a:extLst>
            </p:cNvPr>
            <p:cNvCxnSpPr>
              <a:cxnSpLocks/>
              <a:stCxn id="25" idx="3"/>
              <a:endCxn id="59" idx="7"/>
            </p:cNvCxnSpPr>
            <p:nvPr/>
          </p:nvCxnSpPr>
          <p:spPr>
            <a:xfrm flipH="1">
              <a:off x="4340738" y="3958797"/>
              <a:ext cx="286723" cy="54389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8D81B86-F197-4FD1-B503-A75CD8D00EAE}"/>
                    </a:ext>
                  </a:extLst>
                </p:cNvPr>
                <p:cNvSpPr txBox="1"/>
                <p:nvPr/>
              </p:nvSpPr>
              <p:spPr>
                <a:xfrm>
                  <a:off x="2094803" y="3374022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A8D81B86-F197-4FD1-B503-A75CD8D00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4803" y="3374022"/>
                  <a:ext cx="511871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68B8275E-694C-4424-9E94-850B31882DF2}"/>
                    </a:ext>
                  </a:extLst>
                </p:cNvPr>
                <p:cNvSpPr txBox="1"/>
                <p:nvPr/>
              </p:nvSpPr>
              <p:spPr>
                <a:xfrm>
                  <a:off x="4371525" y="4453678"/>
                  <a:ext cx="511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32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68B8275E-694C-4424-9E94-850B31882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525" y="4453678"/>
                  <a:ext cx="511871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57D868-2DC5-4F5E-87C0-E9F9F22A2DAA}"/>
                  </a:ext>
                </a:extLst>
              </p:cNvPr>
              <p:cNvSpPr txBox="1"/>
              <p:nvPr/>
            </p:nvSpPr>
            <p:spPr>
              <a:xfrm>
                <a:off x="4415695" y="4721767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57D868-2DC5-4F5E-87C0-E9F9F22A2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5695" y="4721767"/>
                <a:ext cx="511871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4CCFCC0-763E-4774-8846-84BFBC71B4AF}"/>
                  </a:ext>
                </a:extLst>
              </p:cNvPr>
              <p:cNvSpPr/>
              <p:nvPr/>
            </p:nvSpPr>
            <p:spPr>
              <a:xfrm>
                <a:off x="8354931" y="1438030"/>
                <a:ext cx="826851" cy="778828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49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4CCFCC0-763E-4774-8846-84BFBC71B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931" y="1438030"/>
                <a:ext cx="826851" cy="778828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349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Oval 88">
            <a:extLst>
              <a:ext uri="{FF2B5EF4-FFF2-40B4-BE49-F238E27FC236}">
                <a16:creationId xmlns:a16="http://schemas.microsoft.com/office/drawing/2014/main" id="{85000DB6-DEAD-436D-8F64-7B48F46ACEB9}"/>
              </a:ext>
            </a:extLst>
          </p:cNvPr>
          <p:cNvSpPr/>
          <p:nvPr/>
        </p:nvSpPr>
        <p:spPr>
          <a:xfrm>
            <a:off x="7729182" y="2562121"/>
            <a:ext cx="826851" cy="778828"/>
          </a:xfrm>
          <a:prstGeom prst="ellipse">
            <a:avLst/>
          </a:prstGeom>
          <a:noFill/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accent6">
                  <a:lumMod val="40000"/>
                  <a:lumOff val="60000"/>
                </a:schemeClr>
              </a:solidFill>
              <a:latin typeface="Cambria Math" panose="02040503050406030204" pitchFamily="18" charset="0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61280B9-9E4A-4EBC-9666-DC8403D5EDAB}"/>
              </a:ext>
            </a:extLst>
          </p:cNvPr>
          <p:cNvSpPr/>
          <p:nvPr/>
        </p:nvSpPr>
        <p:spPr>
          <a:xfrm>
            <a:off x="9394104" y="2401773"/>
            <a:ext cx="826851" cy="778828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54DA1A1-82BE-403F-8635-C971E74D1466}"/>
              </a:ext>
            </a:extLst>
          </p:cNvPr>
          <p:cNvCxnSpPr>
            <a:cxnSpLocks/>
            <a:stCxn id="88" idx="3"/>
            <a:endCxn id="89" idx="0"/>
          </p:cNvCxnSpPr>
          <p:nvPr/>
        </p:nvCxnSpPr>
        <p:spPr>
          <a:xfrm flipH="1">
            <a:off x="8142608" y="2102801"/>
            <a:ext cx="333413" cy="4593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149037E-BD4A-4B2A-83F3-9F1A19DCD6FB}"/>
              </a:ext>
            </a:extLst>
          </p:cNvPr>
          <p:cNvCxnSpPr>
            <a:cxnSpLocks/>
            <a:stCxn id="88" idx="5"/>
            <a:endCxn id="90" idx="1"/>
          </p:cNvCxnSpPr>
          <p:nvPr/>
        </p:nvCxnSpPr>
        <p:spPr>
          <a:xfrm>
            <a:off x="9060692" y="2102801"/>
            <a:ext cx="454502" cy="41302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86B1820E-8F0F-4B89-9E5A-3031CF101828}"/>
              </a:ext>
            </a:extLst>
          </p:cNvPr>
          <p:cNvSpPr/>
          <p:nvPr/>
        </p:nvSpPr>
        <p:spPr>
          <a:xfrm>
            <a:off x="8512607" y="3426456"/>
            <a:ext cx="826851" cy="778828"/>
          </a:xfrm>
          <a:prstGeom prst="ellipse">
            <a:avLst/>
          </a:prstGeom>
          <a:noFill/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accent6">
                  <a:lumMod val="40000"/>
                  <a:lumOff val="60000"/>
                </a:schemeClr>
              </a:solidFill>
              <a:latin typeface="Cambria Math" panose="02040503050406030204" pitchFamily="18" charset="0"/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F247A7D4-6C6F-4586-AD9E-27BD57BB4BA2}"/>
              </a:ext>
            </a:extLst>
          </p:cNvPr>
          <p:cNvSpPr/>
          <p:nvPr/>
        </p:nvSpPr>
        <p:spPr>
          <a:xfrm>
            <a:off x="10382145" y="3423971"/>
            <a:ext cx="826851" cy="778828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C4D0BC2A-8792-4E6F-921F-507D820AD711}"/>
              </a:ext>
            </a:extLst>
          </p:cNvPr>
          <p:cNvCxnSpPr>
            <a:cxnSpLocks/>
            <a:stCxn id="90" idx="5"/>
            <a:endCxn id="95" idx="1"/>
          </p:cNvCxnSpPr>
          <p:nvPr/>
        </p:nvCxnSpPr>
        <p:spPr>
          <a:xfrm>
            <a:off x="10099865" y="3066544"/>
            <a:ext cx="403370" cy="47148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885EB675-7E01-428F-BD47-0E3CC5633C78}"/>
              </a:ext>
            </a:extLst>
          </p:cNvPr>
          <p:cNvCxnSpPr>
            <a:cxnSpLocks/>
            <a:stCxn id="90" idx="3"/>
            <a:endCxn id="94" idx="7"/>
          </p:cNvCxnSpPr>
          <p:nvPr/>
        </p:nvCxnSpPr>
        <p:spPr>
          <a:xfrm flipH="1">
            <a:off x="9218368" y="3066544"/>
            <a:ext cx="296826" cy="47396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E3A5DC27-B1C5-4734-916C-38250E6F6F7C}"/>
              </a:ext>
            </a:extLst>
          </p:cNvPr>
          <p:cNvSpPr/>
          <p:nvPr/>
        </p:nvSpPr>
        <p:spPr>
          <a:xfrm>
            <a:off x="9510751" y="4518584"/>
            <a:ext cx="826851" cy="778828"/>
          </a:xfrm>
          <a:prstGeom prst="ellipse">
            <a:avLst/>
          </a:prstGeom>
          <a:noFill/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A4CD76C1-327B-4A34-AAF5-E05C8A45D617}"/>
              </a:ext>
            </a:extLst>
          </p:cNvPr>
          <p:cNvSpPr/>
          <p:nvPr/>
        </p:nvSpPr>
        <p:spPr>
          <a:xfrm>
            <a:off x="10966863" y="4486761"/>
            <a:ext cx="826851" cy="778828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49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200" i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18F8EDF9-2DEE-4A79-8823-7D59B8317A91}"/>
              </a:ext>
            </a:extLst>
          </p:cNvPr>
          <p:cNvCxnSpPr>
            <a:cxnSpLocks/>
            <a:stCxn id="95" idx="5"/>
            <a:endCxn id="99" idx="0"/>
          </p:cNvCxnSpPr>
          <p:nvPr/>
        </p:nvCxnSpPr>
        <p:spPr>
          <a:xfrm>
            <a:off x="11087906" y="4088742"/>
            <a:ext cx="292383" cy="39801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D50FF057-1B3C-48D9-BF1D-AAEBFFE1DE58}"/>
              </a:ext>
            </a:extLst>
          </p:cNvPr>
          <p:cNvCxnSpPr>
            <a:cxnSpLocks/>
            <a:stCxn id="95" idx="3"/>
            <a:endCxn id="98" idx="7"/>
          </p:cNvCxnSpPr>
          <p:nvPr/>
        </p:nvCxnSpPr>
        <p:spPr>
          <a:xfrm flipH="1">
            <a:off x="10216512" y="4088742"/>
            <a:ext cx="286723" cy="54389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FE23FF47-A68B-4353-A648-8824804BE006}"/>
                  </a:ext>
                </a:extLst>
              </p:cNvPr>
              <p:cNvSpPr txBox="1"/>
              <p:nvPr/>
            </p:nvSpPr>
            <p:spPr>
              <a:xfrm>
                <a:off x="11488555" y="3933809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FE23FF47-A68B-4353-A648-8824804BE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8555" y="3933809"/>
                <a:ext cx="511871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D274B7E-8217-4641-AA2D-439BE61A73DA}"/>
                  </a:ext>
                </a:extLst>
              </p:cNvPr>
              <p:cNvSpPr txBox="1"/>
              <p:nvPr/>
            </p:nvSpPr>
            <p:spPr>
              <a:xfrm>
                <a:off x="6058945" y="3604088"/>
                <a:ext cx="277488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Along some</a:t>
                </a:r>
              </a:p>
              <a:p>
                <a:r>
                  <a:rPr lang="en-US" sz="2800" dirty="0"/>
                  <a:t>path,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 always holds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D274B7E-8217-4641-AA2D-439BE61A7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8945" y="3604088"/>
                <a:ext cx="2774884" cy="1815882"/>
              </a:xfrm>
              <a:prstGeom prst="rect">
                <a:avLst/>
              </a:prstGeom>
              <a:blipFill>
                <a:blip r:embed="rId10"/>
                <a:stretch>
                  <a:fillRect l="-4615" t="-3020" b="-8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0AC045E-EA3A-4FE9-A22E-FD6EF6C9F805}"/>
                  </a:ext>
                </a:extLst>
              </p:cNvPr>
              <p:cNvSpPr txBox="1"/>
              <p:nvPr/>
            </p:nvSpPr>
            <p:spPr>
              <a:xfrm>
                <a:off x="2721686" y="3536613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0AC045E-EA3A-4FE9-A22E-FD6EF6C9F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1686" y="3536613"/>
                <a:ext cx="511871" cy="58477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5EFE678-D178-4CD2-8F1A-E81C664D2E41}"/>
                  </a:ext>
                </a:extLst>
              </p:cNvPr>
              <p:cNvSpPr txBox="1"/>
              <p:nvPr/>
            </p:nvSpPr>
            <p:spPr>
              <a:xfrm>
                <a:off x="1838385" y="2538159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5EFE678-D178-4CD2-8F1A-E81C664D2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8385" y="2538159"/>
                <a:ext cx="511871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4CDE3C2-9A16-4A34-B638-1E82E59461BA}"/>
                  </a:ext>
                </a:extLst>
              </p:cNvPr>
              <p:cNvSpPr txBox="1"/>
              <p:nvPr/>
            </p:nvSpPr>
            <p:spPr>
              <a:xfrm>
                <a:off x="700798" y="1568727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4CDE3C2-9A16-4A34-B638-1E82E5946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798" y="1568727"/>
                <a:ext cx="511871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6D48C02-AB22-4482-A38D-919B6E484389}"/>
                  </a:ext>
                </a:extLst>
              </p:cNvPr>
              <p:cNvSpPr txBox="1"/>
              <p:nvPr/>
            </p:nvSpPr>
            <p:spPr>
              <a:xfrm>
                <a:off x="10831163" y="2887584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6D48C02-AB22-4482-A38D-919B6E484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163" y="2887584"/>
                <a:ext cx="511871" cy="58477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1B37337-7BA1-41B4-9093-4CB632AC105A}"/>
                  </a:ext>
                </a:extLst>
              </p:cNvPr>
              <p:cNvSpPr txBox="1"/>
              <p:nvPr/>
            </p:nvSpPr>
            <p:spPr>
              <a:xfrm>
                <a:off x="10019853" y="2016927"/>
                <a:ext cx="511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1B37337-7BA1-41B4-9093-4CB632AC1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9853" y="2016927"/>
                <a:ext cx="511871" cy="5847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01605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3F75B0C-430A-43F4-8E46-7489DAB037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226825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𝐀𝐆𝐄𝐅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𝐀𝐆𝐀𝐅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𝐄𝐆𝐀𝐅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𝐀𝐆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𝐄𝐗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3F75B0C-430A-43F4-8E46-7489DAB037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226825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207575-54BF-4F72-A2E1-36FFD3493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Operator fun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8CC4D-54F0-4171-8F07-49240B21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6114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832DB31-021E-4C82-91B4-EE20A7DC3B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424270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Checking if a given state machine (program) satisfies a CTL formula can be done quite efficiently (linear in the size of the machine and the property)</a:t>
                </a:r>
              </a:p>
              <a:p>
                <a:r>
                  <a:rPr lang="en-US" dirty="0"/>
                  <a:t>Native CTL cannot express fairness properties</a:t>
                </a:r>
              </a:p>
              <a:p>
                <a:pPr lvl="1"/>
                <a:r>
                  <a:rPr lang="en-US" dirty="0"/>
                  <a:t>Extension Fair CTL can express fairness</a:t>
                </a:r>
              </a:p>
              <a:p>
                <a:r>
                  <a:rPr lang="en-US" dirty="0"/>
                  <a:t>CTL</a:t>
                </a:r>
                <a:r>
                  <a:rPr lang="en-US" baseline="30000" dirty="0"/>
                  <a:t>* </a:t>
                </a:r>
                <a:r>
                  <a:rPr lang="en-US" dirty="0"/>
                  <a:t> is a logic that combines CTL and LTL: You can have formulas like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𝐀𝐆𝐅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CTL: Less used than LTL, but an important logic in the history of temporal logic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832DB31-021E-4C82-91B4-EE20A7DC3B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4242709"/>
              </a:xfrm>
              <a:blipFill>
                <a:blip r:embed="rId2"/>
                <a:stretch>
                  <a:fillRect l="-625" t="-24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081E89-6E40-44E0-8C62-3A23FBC04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588" y="430374"/>
            <a:ext cx="10920419" cy="778828"/>
          </a:xfrm>
        </p:spPr>
        <p:txBody>
          <a:bodyPr/>
          <a:lstStyle/>
          <a:p>
            <a:r>
              <a:rPr lang="en-US" dirty="0"/>
              <a:t>CTL advantages and limitations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32586-8FE3-48D3-BABA-937CDB729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3779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6258499-C740-40F5-9C33-01E9E1C08A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Atomic proposition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Label each state that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b="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: Label a state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𝐄𝐗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if any successor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: Label a state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if all of its successors satisfy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: Label all states satisfying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 Until there is no change:</a:t>
                </a:r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Add</a:t>
                </a:r>
                <a:r>
                  <a:rPr lang="en-US" dirty="0"/>
                  <a:t> states with label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if it has a successor labeled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6258499-C740-40F5-9C33-01E9E1C08A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2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36976F4-1D3A-42A9-8B39-AE9E95045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model 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7FE63-D982-4830-A895-1314FA0C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9488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2274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/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blipFill>
                <a:blip r:embed="rId4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27120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/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blipFill>
                <a:blip r:embed="rId4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/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10535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/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blipFill>
                <a:blip r:embed="rId4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/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/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07880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35D5758-3BEE-4F73-8114-C0E7DA967B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/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blipFill>
                <a:blip r:embed="rId4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/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/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6A7ECF2-B7FE-4F74-B32F-B2A2D0FACBE5}"/>
                  </a:ext>
                </a:extLst>
              </p:cNvPr>
              <p:cNvSpPr txBox="1"/>
              <p:nvPr/>
            </p:nvSpPr>
            <p:spPr>
              <a:xfrm>
                <a:off x="5411772" y="2557375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𝐄𝐅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6A7ECF2-B7FE-4F74-B32F-B2A2D0FAC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772" y="2557375"/>
                <a:ext cx="1098378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01FFDE-14E6-422A-B2C1-4D35B9726C7A}"/>
                  </a:ext>
                </a:extLst>
              </p:cNvPr>
              <p:cNvSpPr txBox="1"/>
              <p:nvPr/>
            </p:nvSpPr>
            <p:spPr>
              <a:xfrm>
                <a:off x="6176864" y="906350"/>
                <a:ext cx="559069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No more states with at least one successor green!</a:t>
                </a:r>
              </a:p>
              <a:p>
                <a:r>
                  <a:rPr lang="en-US" dirty="0"/>
                  <a:t>Check the states you have: if it contains the initial state, then the model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green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D01FFDE-14E6-422A-B2C1-4D35B9726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6864" y="906350"/>
                <a:ext cx="5590695" cy="1200329"/>
              </a:xfrm>
              <a:prstGeom prst="rect">
                <a:avLst/>
              </a:prstGeom>
              <a:blipFill>
                <a:blip r:embed="rId8"/>
                <a:stretch>
                  <a:fillRect l="-872" t="-30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4244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6258499-C740-40F5-9C33-01E9E1C08A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: Label all states satisfying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 Until there is no change:</a:t>
                </a:r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Add </a:t>
                </a:r>
                <a:r>
                  <a:rPr lang="en-US" dirty="0"/>
                  <a:t>states with label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if all its successors are labeled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: Label all states satisfying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as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Until there is no change:</a:t>
                </a:r>
              </a:p>
              <a:p>
                <a:pPr marL="0" indent="0">
                  <a:buNone/>
                </a:pPr>
                <a:r>
                  <a:rPr lang="en-US" dirty="0"/>
                  <a:t>		</a:t>
                </a:r>
                <a:r>
                  <a:rPr lang="en-US" dirty="0">
                    <a:solidFill>
                      <a:srgbClr val="FF0000"/>
                    </a:solidFill>
                  </a:rPr>
                  <a:t>Remove</a:t>
                </a:r>
                <a:r>
                  <a:rPr lang="en-US" dirty="0"/>
                  <a:t> label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from a state if it does not have any successor 		labeled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6258499-C740-40F5-9C33-01E9E1C08A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36976F4-1D3A-42A9-8B39-AE9E95045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model 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7FE63-D982-4830-A895-1314FA0C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479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88760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/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/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/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/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02171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/>
              <p:nvPr/>
            </p:nvSpPr>
            <p:spPr>
              <a:xfrm>
                <a:off x="5723052" y="4758171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3BF72EF-8B9B-4076-8DC0-750D20FC4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052" y="4758171"/>
                <a:ext cx="1088760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/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/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/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/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strike="sngStrike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32D19-4568-49B0-9673-AC3D1DCD4F39}"/>
                  </a:ext>
                </a:extLst>
              </p:cNvPr>
              <p:cNvSpPr txBox="1"/>
              <p:nvPr/>
            </p:nvSpPr>
            <p:spPr>
              <a:xfrm>
                <a:off x="6035903" y="942934"/>
                <a:ext cx="547105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Cannot remove any more states as all remaining states have at least one green successor!</a:t>
                </a:r>
              </a:p>
              <a:p>
                <a:r>
                  <a:rPr lang="en-US" dirty="0"/>
                  <a:t>Check the states you are left with: if it contains the initial state, then the model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green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32D19-4568-49B0-9673-AC3D1DCD4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903" y="942934"/>
                <a:ext cx="5471054" cy="1477328"/>
              </a:xfrm>
              <a:prstGeom prst="rect">
                <a:avLst/>
              </a:prstGeom>
              <a:blipFill>
                <a:blip r:embed="rId8"/>
                <a:stretch>
                  <a:fillRect l="-891" t="-2479" r="-1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50711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/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84FFACE-33F6-4B5E-ACE3-A9EF66609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6153" y="3950139"/>
                <a:ext cx="1098378" cy="369332"/>
              </a:xfrm>
              <a:prstGeom prst="rect">
                <a:avLst/>
              </a:prstGeom>
              <a:blipFill>
                <a:blip r:embed="rId2"/>
                <a:stretch>
                  <a:fillRect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/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01F16E3-0BB4-4357-8CF2-DF387425B2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414" y="3097762"/>
                <a:ext cx="1098378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/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05FD0E-418A-47A5-84DA-77531DBFB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371" y="2022921"/>
                <a:ext cx="1098378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6A7ECF2-B7FE-4F74-B32F-B2A2D0FACBE5}"/>
                  </a:ext>
                </a:extLst>
              </p:cNvPr>
              <p:cNvSpPr txBox="1"/>
              <p:nvPr/>
            </p:nvSpPr>
            <p:spPr>
              <a:xfrm>
                <a:off x="5411772" y="2557375"/>
                <a:ext cx="1098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6A7ECF2-B7FE-4F74-B32F-B2A2D0FAC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1772" y="2557375"/>
                <a:ext cx="109837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itle 2">
                <a:extLst>
                  <a:ext uri="{FF2B5EF4-FFF2-40B4-BE49-F238E27FC236}">
                    <a16:creationId xmlns:a16="http://schemas.microsoft.com/office/drawing/2014/main" id="{2AF6E82F-56A5-4EA5-92CE-B7AF9B8876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7946" y="318965"/>
                <a:ext cx="10920419" cy="77882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rgbClr val="C00000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 xmlns:m="http://schemas.openxmlformats.org/officeDocument/2006/math">
                    <m:r>
                      <a:rPr lang="en-US" b="1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m:rPr>
                        <m:sty m:val="p"/>
                      </m:rPr>
                      <a:rPr lang="en-US" smtClean="0">
                        <a:latin typeface="Cambria Math" panose="02040503050406030204" pitchFamily="18" charset="0"/>
                      </a:rPr>
                      <m:t>green</m:t>
                    </m:r>
                    <m:r>
                      <a:rPr lang="en-US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What if bottom state was not green?</a:t>
                </a:r>
              </a:p>
            </p:txBody>
          </p:sp>
        </mc:Choice>
        <mc:Fallback xmlns="">
          <p:sp>
            <p:nvSpPr>
              <p:cNvPr id="32" name="Title 2">
                <a:extLst>
                  <a:ext uri="{FF2B5EF4-FFF2-40B4-BE49-F238E27FC236}">
                    <a16:creationId xmlns:a16="http://schemas.microsoft.com/office/drawing/2014/main" id="{2AF6E82F-56A5-4EA5-92CE-B7AF9B887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946" y="318965"/>
                <a:ext cx="10920419" cy="778828"/>
              </a:xfrm>
              <a:prstGeom prst="rect">
                <a:avLst/>
              </a:prstGeom>
              <a:blipFill>
                <a:blip r:embed="rId6"/>
                <a:stretch>
                  <a:fillRect t="-17969" r="-614" b="-30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00176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: What if bottom state was not green?</a:t>
                </a: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C2EF425-3D78-441F-8CDD-96EB42BEF9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2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57318-CA38-4EA5-AAD8-11710DE9F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17A45A8-F3C3-49F0-90B9-159C3BA90598}"/>
              </a:ext>
            </a:extLst>
          </p:cNvPr>
          <p:cNvSpPr/>
          <p:nvPr/>
        </p:nvSpPr>
        <p:spPr>
          <a:xfrm>
            <a:off x="4204531" y="1974079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CF9C6C-849A-4BCB-997A-C5B96FA96409}"/>
              </a:ext>
            </a:extLst>
          </p:cNvPr>
          <p:cNvSpPr/>
          <p:nvPr/>
        </p:nvSpPr>
        <p:spPr>
          <a:xfrm>
            <a:off x="3280162" y="2907707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967422-D110-4C9E-937B-704D14E2BBE6}"/>
              </a:ext>
            </a:extLst>
          </p:cNvPr>
          <p:cNvSpPr/>
          <p:nvPr/>
        </p:nvSpPr>
        <p:spPr>
          <a:xfrm>
            <a:off x="4204531" y="3798178"/>
            <a:ext cx="502777" cy="521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5056FDD-EDC1-4AEF-8704-0A2C35511264}"/>
              </a:ext>
            </a:extLst>
          </p:cNvPr>
          <p:cNvSpPr/>
          <p:nvPr/>
        </p:nvSpPr>
        <p:spPr>
          <a:xfrm>
            <a:off x="5185379" y="2926707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CC3D56-12A0-447D-9166-CDEEB49AED56}"/>
              </a:ext>
            </a:extLst>
          </p:cNvPr>
          <p:cNvSpPr/>
          <p:nvPr/>
        </p:nvSpPr>
        <p:spPr>
          <a:xfrm>
            <a:off x="7566589" y="2907705"/>
            <a:ext cx="502777" cy="521293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0A53ED-4923-4253-8E51-2DF2CFE0797B}"/>
              </a:ext>
            </a:extLst>
          </p:cNvPr>
          <p:cNvSpPr/>
          <p:nvPr/>
        </p:nvSpPr>
        <p:spPr>
          <a:xfrm>
            <a:off x="6343985" y="2907706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ABE0A4-0F45-4626-AB3E-97D8EF58D19F}"/>
              </a:ext>
            </a:extLst>
          </p:cNvPr>
          <p:cNvCxnSpPr>
            <a:stCxn id="5" idx="3"/>
            <a:endCxn id="7" idx="7"/>
          </p:cNvCxnSpPr>
          <p:nvPr/>
        </p:nvCxnSpPr>
        <p:spPr>
          <a:xfrm flipH="1">
            <a:off x="3709309" y="2419030"/>
            <a:ext cx="568852" cy="565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BEFD886-CF39-44F6-85AE-958048EDB61D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3709309" y="3352658"/>
            <a:ext cx="568852" cy="521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25837EE-CBE2-461D-A35D-C45827E531EC}"/>
              </a:ext>
            </a:extLst>
          </p:cNvPr>
          <p:cNvCxnSpPr>
            <a:cxnSpLocks/>
            <a:stCxn id="9" idx="7"/>
            <a:endCxn id="11" idx="3"/>
          </p:cNvCxnSpPr>
          <p:nvPr/>
        </p:nvCxnSpPr>
        <p:spPr>
          <a:xfrm flipV="1">
            <a:off x="4633678" y="3371658"/>
            <a:ext cx="625331" cy="502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516CF7E-0D99-4486-B2B4-8BEC94AD1805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4633678" y="2419030"/>
            <a:ext cx="625331" cy="584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B9F307-8FF3-4A74-AE53-62FBC122C2C5}"/>
              </a:ext>
            </a:extLst>
          </p:cNvPr>
          <p:cNvCxnSpPr>
            <a:cxnSpLocks/>
            <a:endCxn id="15" idx="2"/>
          </p:cNvCxnSpPr>
          <p:nvPr/>
        </p:nvCxnSpPr>
        <p:spPr>
          <a:xfrm>
            <a:off x="5727821" y="3168352"/>
            <a:ext cx="61616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F31B8E-3FCE-4291-9D80-4C054BCBCBAA}"/>
              </a:ext>
            </a:extLst>
          </p:cNvPr>
          <p:cNvCxnSpPr>
            <a:cxnSpLocks/>
            <a:stCxn id="15" idx="6"/>
            <a:endCxn id="13" idx="2"/>
          </p:cNvCxnSpPr>
          <p:nvPr/>
        </p:nvCxnSpPr>
        <p:spPr>
          <a:xfrm flipV="1">
            <a:off x="6846762" y="3168352"/>
            <a:ext cx="71982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C6F40-BC6D-46C2-8CC0-B26D8940360F}"/>
              </a:ext>
            </a:extLst>
          </p:cNvPr>
          <p:cNvSpPr/>
          <p:nvPr/>
        </p:nvSpPr>
        <p:spPr>
          <a:xfrm>
            <a:off x="5220275" y="4660848"/>
            <a:ext cx="502777" cy="521293"/>
          </a:xfrm>
          <a:prstGeom prst="ellips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7042F8-91FA-47CD-BB5A-A9E7E105685C}"/>
              </a:ext>
            </a:extLst>
          </p:cNvPr>
          <p:cNvCxnSpPr>
            <a:cxnSpLocks/>
            <a:stCxn id="9" idx="5"/>
            <a:endCxn id="43" idx="1"/>
          </p:cNvCxnSpPr>
          <p:nvPr/>
        </p:nvCxnSpPr>
        <p:spPr>
          <a:xfrm>
            <a:off x="4633678" y="4243129"/>
            <a:ext cx="660227" cy="49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C8C21EC-CD8C-4B9B-B771-77A3B5D3716F}"/>
              </a:ext>
            </a:extLst>
          </p:cNvPr>
          <p:cNvSpPr/>
          <p:nvPr/>
        </p:nvSpPr>
        <p:spPr>
          <a:xfrm>
            <a:off x="4691641" y="2256090"/>
            <a:ext cx="700755" cy="675117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D17A528-753C-475F-B560-9F538EE72CF1}"/>
              </a:ext>
            </a:extLst>
          </p:cNvPr>
          <p:cNvSpPr/>
          <p:nvPr/>
        </p:nvSpPr>
        <p:spPr>
          <a:xfrm>
            <a:off x="4691641" y="3978095"/>
            <a:ext cx="700755" cy="682753"/>
          </a:xfrm>
          <a:custGeom>
            <a:avLst/>
            <a:gdLst>
              <a:gd name="connsiteX0" fmla="*/ 700755 w 700755"/>
              <a:gd name="connsiteY0" fmla="*/ 675117 h 675117"/>
              <a:gd name="connsiteX1" fmla="*/ 478565 w 700755"/>
              <a:gd name="connsiteY1" fmla="*/ 153824 h 675117"/>
              <a:gd name="connsiteX2" fmla="*/ 0 w 700755"/>
              <a:gd name="connsiteY2" fmla="*/ 0 h 675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0755" h="675117">
                <a:moveTo>
                  <a:pt x="700755" y="675117"/>
                </a:moveTo>
                <a:cubicBezTo>
                  <a:pt x="648056" y="470730"/>
                  <a:pt x="595357" y="266343"/>
                  <a:pt x="478565" y="153824"/>
                </a:cubicBezTo>
                <a:cubicBezTo>
                  <a:pt x="361773" y="41305"/>
                  <a:pt x="180886" y="20652"/>
                  <a:pt x="0" y="0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F232DB5-3097-4E36-B5F6-95F1E53039AF}"/>
              </a:ext>
            </a:extLst>
          </p:cNvPr>
          <p:cNvCxnSpPr>
            <a:cxnSpLocks/>
            <a:stCxn id="9" idx="0"/>
            <a:endCxn id="5" idx="4"/>
          </p:cNvCxnSpPr>
          <p:nvPr/>
        </p:nvCxnSpPr>
        <p:spPr>
          <a:xfrm flipV="1">
            <a:off x="4455920" y="2495372"/>
            <a:ext cx="0" cy="1302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A277907-DF64-465E-8DAF-E090733213FE}"/>
              </a:ext>
            </a:extLst>
          </p:cNvPr>
          <p:cNvSpPr/>
          <p:nvPr/>
        </p:nvSpPr>
        <p:spPr>
          <a:xfrm>
            <a:off x="7973226" y="2801216"/>
            <a:ext cx="487110" cy="654104"/>
          </a:xfrm>
          <a:custGeom>
            <a:avLst/>
            <a:gdLst>
              <a:gd name="connsiteX0" fmla="*/ 51275 w 487110"/>
              <a:gd name="connsiteY0" fmla="*/ 514552 h 654104"/>
              <a:gd name="connsiteX1" fmla="*/ 367469 w 487110"/>
              <a:gd name="connsiteY1" fmla="*/ 642739 h 654104"/>
              <a:gd name="connsiteX2" fmla="*/ 487110 w 487110"/>
              <a:gd name="connsiteY2" fmla="*/ 258178 h 654104"/>
              <a:gd name="connsiteX3" fmla="*/ 367469 w 487110"/>
              <a:gd name="connsiteY3" fmla="*/ 1805 h 654104"/>
              <a:gd name="connsiteX4" fmla="*/ 0 w 487110"/>
              <a:gd name="connsiteY4" fmla="*/ 164175 h 654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7110" h="654104">
                <a:moveTo>
                  <a:pt x="51275" y="514552"/>
                </a:moveTo>
                <a:cubicBezTo>
                  <a:pt x="173052" y="600010"/>
                  <a:pt x="294830" y="685468"/>
                  <a:pt x="367469" y="642739"/>
                </a:cubicBezTo>
                <a:cubicBezTo>
                  <a:pt x="440108" y="600010"/>
                  <a:pt x="487110" y="365000"/>
                  <a:pt x="487110" y="258178"/>
                </a:cubicBezTo>
                <a:cubicBezTo>
                  <a:pt x="487110" y="151356"/>
                  <a:pt x="448654" y="17472"/>
                  <a:pt x="367469" y="1805"/>
                </a:cubicBezTo>
                <a:cubicBezTo>
                  <a:pt x="286284" y="-13862"/>
                  <a:pt x="143142" y="75156"/>
                  <a:pt x="0" y="164175"/>
                </a:cubicBezTo>
              </a:path>
            </a:pathLst>
          </a:cu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F4C21B0-406A-40A4-9EA3-52111FA6C3AC}"/>
              </a:ext>
            </a:extLst>
          </p:cNvPr>
          <p:cNvCxnSpPr>
            <a:endCxn id="5" idx="1"/>
          </p:cNvCxnSpPr>
          <p:nvPr/>
        </p:nvCxnSpPr>
        <p:spPr>
          <a:xfrm>
            <a:off x="3800091" y="1632247"/>
            <a:ext cx="478070" cy="41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/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34CC5C-78FC-4869-A631-2923FB309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131" y="3978095"/>
                <a:ext cx="1088760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/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BDAB1F-D44E-4863-84EA-7B82633D9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4625" y="2874976"/>
                <a:ext cx="1088760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/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76E58E-F87F-47A0-9DCF-96C1D586D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971" y="1969330"/>
                <a:ext cx="1088760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/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1" i="0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𝐄𝐆</m:t>
                      </m:r>
                      <m:r>
                        <m:rPr>
                          <m:sty m:val="p"/>
                        </m:rPr>
                        <a:rPr lang="en-US" b="0" i="0" strike="sngStrike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green</m:t>
                      </m:r>
                    </m:oMath>
                  </m:oMathPara>
                </a14:m>
                <a:endParaRPr lang="en-US" strike="sngStrike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A843249-FE6C-484D-A7DC-987C75A20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0993" y="2453188"/>
                <a:ext cx="1088760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32D19-4568-49B0-9673-AC3D1DCD4F39}"/>
                  </a:ext>
                </a:extLst>
              </p:cNvPr>
              <p:cNvSpPr txBox="1"/>
              <p:nvPr/>
            </p:nvSpPr>
            <p:spPr>
              <a:xfrm>
                <a:off x="6343985" y="4162761"/>
                <a:ext cx="547105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Cannot remove any more states as all remaining states have at least one green successor!</a:t>
                </a:r>
              </a:p>
              <a:p>
                <a:r>
                  <a:rPr lang="en-US" dirty="0"/>
                  <a:t>Check the states you are left with: if it contains the initial state, then the model satisfies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green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632D19-4568-49B0-9673-AC3D1DCD4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985" y="4162761"/>
                <a:ext cx="5471054" cy="1477328"/>
              </a:xfrm>
              <a:prstGeom prst="rect">
                <a:avLst/>
              </a:prstGeom>
              <a:blipFill>
                <a:blip r:embed="rId7"/>
                <a:stretch>
                  <a:fillRect l="-1003" t="-2479" r="-16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2868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850460-8082-4EF9-BD1F-D635AFB4ED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5227" y="1332703"/>
                <a:ext cx="11699087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: </m:t>
                    </m:r>
                  </m:oMath>
                </a14:m>
                <a:r>
                  <a:rPr lang="en-US" b="0" i="0" dirty="0"/>
                  <a:t>similar to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: similar to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(with the caveat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needs to be satisfied on every state that has a successor to a state marked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\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𝐄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Fixpoint = point at which there is no change, 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Consider the operation of adding/removing states as the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US" dirty="0"/>
              </a:p>
              <a:p>
                <a:pPr lvl="1"/>
                <a:r>
                  <a:rPr lang="en-US" sz="2000" dirty="0"/>
                  <a:t>Fixpoint  = Point at which you can no longer add/remove states</a:t>
                </a:r>
              </a:p>
              <a:p>
                <a:r>
                  <a:rPr lang="en-US" dirty="0"/>
                  <a:t>Least fixpoint = When adding states, smallest set you can get? </a:t>
                </a:r>
              </a:p>
              <a:p>
                <a:pPr lvl="1"/>
                <a:r>
                  <a:rPr lang="en-US" sz="2000" dirty="0"/>
                  <a:t>You can always add all the states: not very useful</a:t>
                </a:r>
              </a:p>
              <a:p>
                <a:r>
                  <a:rPr lang="en-US" dirty="0"/>
                  <a:t>Greatest fixpoint = When removing states, largest set you can get?</a:t>
                </a:r>
              </a:p>
              <a:p>
                <a:pPr lvl="1"/>
                <a:r>
                  <a:rPr lang="en-US" sz="2000" dirty="0"/>
                  <a:t>You can always remove all the states: not very useful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850460-8082-4EF9-BD1F-D635AFB4ED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5227" y="1332703"/>
                <a:ext cx="11699087" cy="4351338"/>
              </a:xfrm>
              <a:blipFill>
                <a:blip r:embed="rId2"/>
                <a:stretch>
                  <a:fillRect l="-417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4020FDA-710F-4A11-85E5-E380E25F7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Greatest and least fixpoints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1CD4B-AD23-448C-8D16-B7A214262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5579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F22E83-25D9-4DCC-A64E-BEEC90405A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based on Fixpoint computation</a:t>
            </a:r>
          </a:p>
          <a:p>
            <a:r>
              <a:rPr lang="en-US" dirty="0"/>
              <a:t>Many improvements to CTL model checking over the years (with the help of symbolic algorithms to accelerate fixpoint computation, represent sets of states, etc.)</a:t>
            </a:r>
          </a:p>
          <a:p>
            <a:r>
              <a:rPr lang="en-US" dirty="0"/>
              <a:t>Bounded model checking: </a:t>
            </a:r>
          </a:p>
          <a:p>
            <a:pPr lvl="1"/>
            <a:r>
              <a:rPr lang="en-US" dirty="0"/>
              <a:t>Don’t check the entire state space using a “backward reachability” algorithm, but instead go forward in time from the initial state</a:t>
            </a:r>
          </a:p>
          <a:p>
            <a:pPr lvl="1"/>
            <a:r>
              <a:rPr lang="en-US" dirty="0"/>
              <a:t>Use of SAT solvers to check feasibility of paths to failure states</a:t>
            </a:r>
          </a:p>
          <a:p>
            <a:r>
              <a:rPr lang="en-US" dirty="0"/>
              <a:t>Many good model checkers: </a:t>
            </a:r>
            <a:r>
              <a:rPr lang="en-US" dirty="0" err="1"/>
              <a:t>NuSMV</a:t>
            </a:r>
            <a:r>
              <a:rPr lang="en-US" dirty="0"/>
              <a:t>, CBMC, etc.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1B93C2-77C7-410C-A5BB-263DCBA49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CTL model checking in a nutshell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46D3F3-06BC-45BD-956B-3D92117C9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6724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552E0F-E6EC-4749-9450-10DBFACBE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LTL model 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12A1B-27C6-4366-9781-81C090014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4126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083C93-FBA2-4166-8785-B1DE10526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420237"/>
            <a:ext cx="11699087" cy="4263803"/>
          </a:xfrm>
        </p:spPr>
        <p:txBody>
          <a:bodyPr>
            <a:normAutofit/>
          </a:bodyPr>
          <a:lstStyle/>
          <a:p>
            <a:r>
              <a:rPr lang="en-US" dirty="0"/>
              <a:t>Most programmers have used regular expressions</a:t>
            </a:r>
          </a:p>
          <a:p>
            <a:r>
              <a:rPr lang="en-US" dirty="0"/>
              <a:t>Formally, regular expressions specify acceptable sequences of </a:t>
            </a:r>
            <a:r>
              <a:rPr lang="en-US" b="1" i="1" dirty="0"/>
              <a:t>finite</a:t>
            </a:r>
            <a:r>
              <a:rPr lang="en-US" b="1" dirty="0"/>
              <a:t> </a:t>
            </a:r>
            <a:r>
              <a:rPr lang="en-US" dirty="0"/>
              <a:t>length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[a-z][a-z 0-9] : strings starting with a lowercase letter (a-z) followed by </a:t>
            </a:r>
            <a:r>
              <a:rPr lang="en-US" b="1" i="1" dirty="0"/>
              <a:t>one </a:t>
            </a:r>
            <a:r>
              <a:rPr lang="en-US" dirty="0"/>
              <a:t>lowercase letter or number</a:t>
            </a:r>
          </a:p>
          <a:p>
            <a:pPr lvl="1"/>
            <a:r>
              <a:rPr lang="en-US" dirty="0"/>
              <a:t>[a-z][0-9]*[a-z] : strings starting with a lowercase letter, followed by </a:t>
            </a:r>
            <a:r>
              <a:rPr lang="en-US" b="1" i="1" dirty="0"/>
              <a:t>finitely many </a:t>
            </a:r>
            <a:r>
              <a:rPr lang="en-US" dirty="0"/>
              <a:t>numbers followed by a lowercase letter</a:t>
            </a:r>
          </a:p>
          <a:p>
            <a:pPr marL="41148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03C47C-4A32-4515-994F-98937C536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 to automata and formal languages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59FF2-789D-4166-85A2-C2A52E80E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9067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6D2139-DA86-4367-A97E-60D44CF07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544223"/>
          </a:xfrm>
        </p:spPr>
        <p:txBody>
          <a:bodyPr>
            <a:normAutofit/>
          </a:bodyPr>
          <a:lstStyle/>
          <a:p>
            <a:r>
              <a:rPr lang="en-US" dirty="0"/>
              <a:t>Famous equivalence between finite state automata and regular expressions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9E3D7F-99AC-45AB-B47C-9BF23185F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state automata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09FFA-2044-44D0-BFF4-B313D77BC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569D460-592E-4B8C-9854-E96F4CA95C3E}"/>
                  </a:ext>
                </a:extLst>
              </p:cNvPr>
              <p:cNvSpPr/>
              <p:nvPr/>
            </p:nvSpPr>
            <p:spPr>
              <a:xfrm>
                <a:off x="704008" y="2609605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E569D460-592E-4B8C-9854-E96F4CA95C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008" y="2609605"/>
                <a:ext cx="1001031" cy="544223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233812C-9F31-4405-B071-B60C545BC296}"/>
                  </a:ext>
                </a:extLst>
              </p:cNvPr>
              <p:cNvSpPr/>
              <p:nvPr/>
            </p:nvSpPr>
            <p:spPr>
              <a:xfrm>
                <a:off x="3575490" y="2578739"/>
                <a:ext cx="1001031" cy="523220"/>
              </a:xfrm>
              <a:prstGeom prst="ellipse">
                <a:avLst/>
              </a:prstGeom>
              <a:ln w="95250" cmpd="dbl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233812C-9F31-4405-B071-B60C545BC2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490" y="2578739"/>
                <a:ext cx="1001031" cy="52322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0" cmpd="dbl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2D19FDA-2E25-433E-827C-CCEBC87EA9E7}"/>
              </a:ext>
            </a:extLst>
          </p:cNvPr>
          <p:cNvCxnSpPr>
            <a:cxnSpLocks/>
            <a:stCxn id="16" idx="5"/>
            <a:endCxn id="31" idx="1"/>
          </p:cNvCxnSpPr>
          <p:nvPr/>
        </p:nvCxnSpPr>
        <p:spPr>
          <a:xfrm>
            <a:off x="1558441" y="3074128"/>
            <a:ext cx="684470" cy="465771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2E248BC-BFD2-4496-A4D8-C404AD0C6C91}"/>
              </a:ext>
            </a:extLst>
          </p:cNvPr>
          <p:cNvSpPr txBox="1"/>
          <p:nvPr/>
        </p:nvSpPr>
        <p:spPr>
          <a:xfrm>
            <a:off x="1254511" y="3153828"/>
            <a:ext cx="607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a-z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BA97C32-4AAA-4656-B1AB-2DF29B4D718D}"/>
                  </a:ext>
                </a:extLst>
              </p:cNvPr>
              <p:cNvSpPr/>
              <p:nvPr/>
            </p:nvSpPr>
            <p:spPr>
              <a:xfrm>
                <a:off x="2096313" y="3460199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BA97C32-4AAA-4656-B1AB-2DF29B4D71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6313" y="3460199"/>
                <a:ext cx="1001031" cy="54422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3A7206A-2A26-4D18-B9D8-3F863EFB3972}"/>
              </a:ext>
            </a:extLst>
          </p:cNvPr>
          <p:cNvCxnSpPr>
            <a:cxnSpLocks/>
            <a:stCxn id="31" idx="7"/>
            <a:endCxn id="17" idx="3"/>
          </p:cNvCxnSpPr>
          <p:nvPr/>
        </p:nvCxnSpPr>
        <p:spPr>
          <a:xfrm flipV="1">
            <a:off x="2950746" y="3025335"/>
            <a:ext cx="771342" cy="514564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C7B7F68-9024-4A4C-B443-AF27B5ECFD50}"/>
              </a:ext>
            </a:extLst>
          </p:cNvPr>
          <p:cNvSpPr txBox="1"/>
          <p:nvPr/>
        </p:nvSpPr>
        <p:spPr>
          <a:xfrm>
            <a:off x="3356199" y="3286945"/>
            <a:ext cx="11737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a-z,0-9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9D55472-CB6E-4EE0-B06A-11F20E9301DD}"/>
              </a:ext>
            </a:extLst>
          </p:cNvPr>
          <p:cNvSpPr/>
          <p:nvPr/>
        </p:nvSpPr>
        <p:spPr>
          <a:xfrm>
            <a:off x="1619599" y="4737101"/>
            <a:ext cx="211307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[a-z][a-z 0-9 ]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BA0CB8-9FF4-466E-B976-C5453FFE4C22}"/>
                  </a:ext>
                </a:extLst>
              </p:cNvPr>
              <p:cNvSpPr txBox="1"/>
              <p:nvPr/>
            </p:nvSpPr>
            <p:spPr>
              <a:xfrm>
                <a:off x="2281256" y="2083787"/>
                <a:ext cx="71801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2BA0CB8-9FF4-466E-B976-C5453FFE4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256" y="2083787"/>
                <a:ext cx="718017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9200630-9024-4819-A5F0-851C95084A3D}"/>
              </a:ext>
            </a:extLst>
          </p:cNvPr>
          <p:cNvCxnSpPr>
            <a:cxnSpLocks/>
          </p:cNvCxnSpPr>
          <p:nvPr/>
        </p:nvCxnSpPr>
        <p:spPr>
          <a:xfrm>
            <a:off x="461691" y="2342347"/>
            <a:ext cx="342235" cy="372227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175D19D-EB12-421A-9E6B-918C5B652554}"/>
                  </a:ext>
                </a:extLst>
              </p:cNvPr>
              <p:cNvSpPr/>
              <p:nvPr/>
            </p:nvSpPr>
            <p:spPr>
              <a:xfrm>
                <a:off x="7094370" y="2668846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175D19D-EB12-421A-9E6B-918C5B652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370" y="2668846"/>
                <a:ext cx="1001031" cy="54422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D6F9F74-FFE3-46C5-974C-07DDE5759EC8}"/>
                  </a:ext>
                </a:extLst>
              </p:cNvPr>
              <p:cNvSpPr/>
              <p:nvPr/>
            </p:nvSpPr>
            <p:spPr>
              <a:xfrm>
                <a:off x="9965852" y="2637980"/>
                <a:ext cx="1001031" cy="523220"/>
              </a:xfrm>
              <a:prstGeom prst="ellipse">
                <a:avLst/>
              </a:prstGeom>
              <a:ln w="95250" cmpd="dbl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9D6F9F74-FFE3-46C5-974C-07DDE5759E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852" y="2637980"/>
                <a:ext cx="1001031" cy="52322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0" cmpd="dbl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73617C4-0907-4623-90F7-BA5831A582B9}"/>
              </a:ext>
            </a:extLst>
          </p:cNvPr>
          <p:cNvCxnSpPr>
            <a:cxnSpLocks/>
            <a:stCxn id="38" idx="5"/>
            <a:endCxn id="42" idx="1"/>
          </p:cNvCxnSpPr>
          <p:nvPr/>
        </p:nvCxnSpPr>
        <p:spPr>
          <a:xfrm>
            <a:off x="7948803" y="3133369"/>
            <a:ext cx="684470" cy="465771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754A7FD-3950-4761-ACD9-6A0ACFFD3D58}"/>
              </a:ext>
            </a:extLst>
          </p:cNvPr>
          <p:cNvSpPr txBox="1"/>
          <p:nvPr/>
        </p:nvSpPr>
        <p:spPr>
          <a:xfrm>
            <a:off x="8075402" y="2846736"/>
            <a:ext cx="607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a-z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F3A0A11-3FA5-44E1-98A8-624EF8CF1591}"/>
                  </a:ext>
                </a:extLst>
              </p:cNvPr>
              <p:cNvSpPr/>
              <p:nvPr/>
            </p:nvSpPr>
            <p:spPr>
              <a:xfrm>
                <a:off x="8486675" y="3519440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F3A0A11-3FA5-44E1-98A8-624EF8CF15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6675" y="3519440"/>
                <a:ext cx="1001031" cy="544223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57B32A5-68D8-4EB3-929D-22D2D1CF9A08}"/>
              </a:ext>
            </a:extLst>
          </p:cNvPr>
          <p:cNvCxnSpPr>
            <a:cxnSpLocks/>
            <a:stCxn id="42" idx="7"/>
            <a:endCxn id="39" idx="3"/>
          </p:cNvCxnSpPr>
          <p:nvPr/>
        </p:nvCxnSpPr>
        <p:spPr>
          <a:xfrm flipV="1">
            <a:off x="9341108" y="3084576"/>
            <a:ext cx="771342" cy="514564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E48E0D6-491D-4CD6-AF14-38554D90F9A4}"/>
              </a:ext>
            </a:extLst>
          </p:cNvPr>
          <p:cNvSpPr txBox="1"/>
          <p:nvPr/>
        </p:nvSpPr>
        <p:spPr>
          <a:xfrm>
            <a:off x="9633471" y="3268331"/>
            <a:ext cx="607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a-z</a:t>
            </a:r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560BF7D4-8B41-4652-A6C1-8F5DA2B2C379}"/>
              </a:ext>
            </a:extLst>
          </p:cNvPr>
          <p:cNvSpPr/>
          <p:nvPr/>
        </p:nvSpPr>
        <p:spPr>
          <a:xfrm>
            <a:off x="8633273" y="3985211"/>
            <a:ext cx="675569" cy="589737"/>
          </a:xfrm>
          <a:prstGeom prst="arc">
            <a:avLst>
              <a:gd name="adj1" fmla="val 18757459"/>
              <a:gd name="adj2" fmla="val 14249514"/>
            </a:avLst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97495C-0C2A-410B-9C7B-B9D4739675CB}"/>
              </a:ext>
            </a:extLst>
          </p:cNvPr>
          <p:cNvSpPr txBox="1"/>
          <p:nvPr/>
        </p:nvSpPr>
        <p:spPr>
          <a:xfrm>
            <a:off x="8656811" y="4574948"/>
            <a:ext cx="660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0-9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DB52020-B980-4DE5-BAD5-356F52F15300}"/>
              </a:ext>
            </a:extLst>
          </p:cNvPr>
          <p:cNvSpPr/>
          <p:nvPr/>
        </p:nvSpPr>
        <p:spPr>
          <a:xfrm>
            <a:off x="9708797" y="4999763"/>
            <a:ext cx="24320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[a-z][0-9]*[a-z]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CE24692-079D-49A4-9027-6AF5A197F805}"/>
                  </a:ext>
                </a:extLst>
              </p:cNvPr>
              <p:cNvSpPr txBox="1"/>
              <p:nvPr/>
            </p:nvSpPr>
            <p:spPr>
              <a:xfrm>
                <a:off x="8557399" y="2078643"/>
                <a:ext cx="72750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CE24692-079D-49A4-9027-6AF5A197F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7399" y="2078643"/>
                <a:ext cx="727507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7E5770-0D94-4EE6-9218-19863F50A356}"/>
              </a:ext>
            </a:extLst>
          </p:cNvPr>
          <p:cNvCxnSpPr>
            <a:cxnSpLocks/>
          </p:cNvCxnSpPr>
          <p:nvPr/>
        </p:nvCxnSpPr>
        <p:spPr>
          <a:xfrm>
            <a:off x="6835536" y="2418519"/>
            <a:ext cx="342235" cy="372227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F7BC3EFE-22B1-4D22-8FC4-6B6BCEC6E5EE}"/>
              </a:ext>
            </a:extLst>
          </p:cNvPr>
          <p:cNvSpPr/>
          <p:nvPr/>
        </p:nvSpPr>
        <p:spPr>
          <a:xfrm>
            <a:off x="4164527" y="4308345"/>
            <a:ext cx="730782" cy="583836"/>
          </a:xfrm>
          <a:prstGeom prst="ellipse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6A8F091-6242-4444-91E4-01F2E4CD8962}"/>
              </a:ext>
            </a:extLst>
          </p:cNvPr>
          <p:cNvSpPr/>
          <p:nvPr/>
        </p:nvSpPr>
        <p:spPr>
          <a:xfrm>
            <a:off x="4164527" y="5016551"/>
            <a:ext cx="730782" cy="583836"/>
          </a:xfrm>
          <a:prstGeom prst="ellipse">
            <a:avLst/>
          </a:prstGeom>
          <a:ln w="95250" cmpd="dbl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66790F-8DC5-493B-BABB-8531D5037BC4}"/>
              </a:ext>
            </a:extLst>
          </p:cNvPr>
          <p:cNvSpPr txBox="1"/>
          <p:nvPr/>
        </p:nvSpPr>
        <p:spPr>
          <a:xfrm>
            <a:off x="5041875" y="4369430"/>
            <a:ext cx="8222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State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FC99A8-B5B1-462C-A244-B63CBA541C0E}"/>
              </a:ext>
            </a:extLst>
          </p:cNvPr>
          <p:cNvSpPr txBox="1"/>
          <p:nvPr/>
        </p:nvSpPr>
        <p:spPr>
          <a:xfrm>
            <a:off x="4973866" y="4940522"/>
            <a:ext cx="14160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Accepting</a:t>
            </a:r>
          </a:p>
          <a:p>
            <a:r>
              <a:rPr lang="en-US" sz="2400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D192B0B0-77FA-4A9A-B672-3E8A4836CAEF}"/>
                  </a:ext>
                </a:extLst>
              </p:cNvPr>
              <p:cNvSpPr/>
              <p:nvPr/>
            </p:nvSpPr>
            <p:spPr>
              <a:xfrm>
                <a:off x="7089295" y="3848069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D192B0B0-77FA-4A9A-B672-3E8A4836CA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9295" y="3848069"/>
                <a:ext cx="1001031" cy="54422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Arc 68">
            <a:extLst>
              <a:ext uri="{FF2B5EF4-FFF2-40B4-BE49-F238E27FC236}">
                <a16:creationId xmlns:a16="http://schemas.microsoft.com/office/drawing/2014/main" id="{10BB2DEA-3B23-4273-91CE-7383E9C881FC}"/>
              </a:ext>
            </a:extLst>
          </p:cNvPr>
          <p:cNvSpPr/>
          <p:nvPr/>
        </p:nvSpPr>
        <p:spPr>
          <a:xfrm>
            <a:off x="7252025" y="4308345"/>
            <a:ext cx="675569" cy="589737"/>
          </a:xfrm>
          <a:prstGeom prst="arc">
            <a:avLst>
              <a:gd name="adj1" fmla="val 18757459"/>
              <a:gd name="adj2" fmla="val 14249514"/>
            </a:avLst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57F564-CB1E-469D-A51F-0BA93497D8C7}"/>
              </a:ext>
            </a:extLst>
          </p:cNvPr>
          <p:cNvSpPr txBox="1"/>
          <p:nvPr/>
        </p:nvSpPr>
        <p:spPr>
          <a:xfrm>
            <a:off x="7447428" y="4845428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*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41A7657-F485-4F23-8BEB-0FA7E0F70137}"/>
              </a:ext>
            </a:extLst>
          </p:cNvPr>
          <p:cNvCxnSpPr>
            <a:cxnSpLocks/>
            <a:stCxn id="38" idx="4"/>
            <a:endCxn id="68" idx="0"/>
          </p:cNvCxnSpPr>
          <p:nvPr/>
        </p:nvCxnSpPr>
        <p:spPr>
          <a:xfrm flipH="1">
            <a:off x="7589811" y="3213069"/>
            <a:ext cx="5075" cy="635000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938CB48-2CEA-4AD0-9910-B631545BF3BA}"/>
              </a:ext>
            </a:extLst>
          </p:cNvPr>
          <p:cNvSpPr txBox="1"/>
          <p:nvPr/>
        </p:nvSpPr>
        <p:spPr>
          <a:xfrm>
            <a:off x="6879065" y="3224491"/>
            <a:ext cx="660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0-9</a:t>
            </a:r>
          </a:p>
        </p:txBody>
      </p:sp>
    </p:spTree>
    <p:extLst>
      <p:ext uri="{BB962C8B-B14F-4D97-AF65-F5344CB8AC3E}">
        <p14:creationId xmlns:p14="http://schemas.microsoft.com/office/powerpoint/2010/main" val="3496179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5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AC06B4-6427-4F3F-B1B8-634BEDF06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How does a finite state automaton work?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CBE69-5761-469D-B163-5BAF97F0F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58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1">
                <a:extLst>
                  <a:ext uri="{FF2B5EF4-FFF2-40B4-BE49-F238E27FC236}">
                    <a16:creationId xmlns:a16="http://schemas.microsoft.com/office/drawing/2014/main" id="{E1117C5B-DC8B-499D-87E0-ED9CB759CC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4175" y="1283560"/>
                <a:ext cx="7507234" cy="43513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sz="2400" dirty="0"/>
                  <a:t>Starts at the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, if it receives a letter in a-z, goes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411480" lvl="1" indent="0">
                  <a:buNone/>
                </a:pPr>
                <a:r>
                  <a:rPr lang="en-US" sz="2400" dirty="0"/>
                  <a:t>	     else, it goes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if it receives a number in 0-9, it stays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	    </a:t>
                </a:r>
              </a:p>
              <a:p>
                <a:pPr marL="0" indent="0">
                  <a:buNone/>
                </a:pPr>
                <a:r>
                  <a:rPr lang="en-US" sz="2400" dirty="0"/>
                  <a:t>	    else, it goes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(as it received a-z)</a:t>
                </a:r>
              </a:p>
              <a:p>
                <a:r>
                  <a:rPr lang="en-US" sz="2400" dirty="0"/>
                  <a:t>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/>
                  <a:t>, no matter what it gets, it stays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en-US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is an accepting state where computation halts</a:t>
                </a:r>
              </a:p>
              <a:p>
                <a:r>
                  <a:rPr lang="en-US" sz="2400" dirty="0"/>
                  <a:t>Any string that takes the machine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is </a:t>
                </a:r>
                <a:r>
                  <a:rPr lang="en-US" sz="2400" b="1" i="1" dirty="0"/>
                  <a:t>accepted </a:t>
                </a:r>
                <a:r>
                  <a:rPr lang="en-US" sz="2400" dirty="0"/>
                  <a:t>by the machine</a:t>
                </a:r>
              </a:p>
            </p:txBody>
          </p:sp>
        </mc:Choice>
        <mc:Fallback xmlns="">
          <p:sp>
            <p:nvSpPr>
              <p:cNvPr id="19" name="Content Placeholder 1">
                <a:extLst>
                  <a:ext uri="{FF2B5EF4-FFF2-40B4-BE49-F238E27FC236}">
                    <a16:creationId xmlns:a16="http://schemas.microsoft.com/office/drawing/2014/main" id="{E1117C5B-DC8B-499D-87E0-ED9CB759CC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4175" y="1283560"/>
                <a:ext cx="7507234" cy="4351338"/>
              </a:xfrm>
              <a:blipFill>
                <a:blip r:embed="rId2"/>
                <a:stretch>
                  <a:fillRect l="-487" t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746BC1FB-2A7B-4C79-A4C7-EA2A121617EC}"/>
              </a:ext>
            </a:extLst>
          </p:cNvPr>
          <p:cNvGrpSpPr/>
          <p:nvPr/>
        </p:nvGrpSpPr>
        <p:grpSpPr>
          <a:xfrm>
            <a:off x="442828" y="1552661"/>
            <a:ext cx="4131347" cy="3290005"/>
            <a:chOff x="442828" y="1552661"/>
            <a:chExt cx="4131347" cy="3290005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891527A-B8BF-4CF8-BEF7-A711B6792D0F}"/>
                </a:ext>
              </a:extLst>
            </p:cNvPr>
            <p:cNvGrpSpPr/>
            <p:nvPr/>
          </p:nvGrpSpPr>
          <p:grpSpPr>
            <a:xfrm>
              <a:off x="442828" y="1552661"/>
              <a:ext cx="4131347" cy="3019525"/>
              <a:chOff x="6010945" y="2019402"/>
              <a:chExt cx="4131347" cy="30195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3F5D1DCB-029C-47F5-9C46-7B2266286275}"/>
                      </a:ext>
                    </a:extLst>
                  </p:cNvPr>
                  <p:cNvSpPr/>
                  <p:nvPr/>
                </p:nvSpPr>
                <p:spPr>
                  <a:xfrm>
                    <a:off x="6269779" y="2609605"/>
                    <a:ext cx="1001031" cy="544223"/>
                  </a:xfrm>
                  <a:prstGeom prst="ellipse">
                    <a:avLst/>
                  </a:prstGeom>
                  <a:ln w="28575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3F5D1DCB-029C-47F5-9C46-7B226628627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9779" y="2609605"/>
                    <a:ext cx="1001031" cy="544223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2857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C388BFC-4B57-4449-AE81-1E4CA20CE7AB}"/>
                      </a:ext>
                    </a:extLst>
                  </p:cNvPr>
                  <p:cNvSpPr/>
                  <p:nvPr/>
                </p:nvSpPr>
                <p:spPr>
                  <a:xfrm>
                    <a:off x="9141261" y="2578739"/>
                    <a:ext cx="1001031" cy="523220"/>
                  </a:xfrm>
                  <a:prstGeom prst="ellipse">
                    <a:avLst/>
                  </a:prstGeom>
                  <a:ln w="95250" cmpd="dbl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AC388BFC-4B57-4449-AE81-1E4CA20CE7A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41261" y="2578739"/>
                    <a:ext cx="1001031" cy="52322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95250" cmpd="dbl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AF46033-11B1-465D-A4D9-F408765773A4}"/>
                  </a:ext>
                </a:extLst>
              </p:cNvPr>
              <p:cNvCxnSpPr>
                <a:cxnSpLocks/>
                <a:stCxn id="21" idx="5"/>
                <a:endCxn id="25" idx="1"/>
              </p:cNvCxnSpPr>
              <p:nvPr/>
            </p:nvCxnSpPr>
            <p:spPr>
              <a:xfrm>
                <a:off x="7124212" y="3074128"/>
                <a:ext cx="684470" cy="465771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7311B65-F7FA-4EEE-A92B-E33397DC11F0}"/>
                  </a:ext>
                </a:extLst>
              </p:cNvPr>
              <p:cNvSpPr txBox="1"/>
              <p:nvPr/>
            </p:nvSpPr>
            <p:spPr>
              <a:xfrm>
                <a:off x="7250811" y="2787495"/>
                <a:ext cx="607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a-z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7E6419CA-EA55-4421-90D5-6B2E0CB457AD}"/>
                      </a:ext>
                    </a:extLst>
                  </p:cNvPr>
                  <p:cNvSpPr/>
                  <p:nvPr/>
                </p:nvSpPr>
                <p:spPr>
                  <a:xfrm>
                    <a:off x="7662084" y="3460199"/>
                    <a:ext cx="1001031" cy="544223"/>
                  </a:xfrm>
                  <a:prstGeom prst="ellipse">
                    <a:avLst/>
                  </a:prstGeom>
                  <a:ln w="28575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7E6419CA-EA55-4421-90D5-6B2E0CB457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2084" y="3460199"/>
                    <a:ext cx="1001031" cy="544223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2857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B7191B8-86DC-49E0-BB5F-4B4E185AFFEE}"/>
                  </a:ext>
                </a:extLst>
              </p:cNvPr>
              <p:cNvCxnSpPr>
                <a:cxnSpLocks/>
                <a:stCxn id="25" idx="7"/>
                <a:endCxn id="22" idx="3"/>
              </p:cNvCxnSpPr>
              <p:nvPr/>
            </p:nvCxnSpPr>
            <p:spPr>
              <a:xfrm flipV="1">
                <a:off x="8516517" y="3025335"/>
                <a:ext cx="771342" cy="514564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4229FC3-4375-4852-900E-4B0A58986354}"/>
                  </a:ext>
                </a:extLst>
              </p:cNvPr>
              <p:cNvSpPr txBox="1"/>
              <p:nvPr/>
            </p:nvSpPr>
            <p:spPr>
              <a:xfrm>
                <a:off x="8808880" y="3209090"/>
                <a:ext cx="607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a-z</a:t>
                </a:r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0247D44F-8B5D-427A-B318-1A6EAB894129}"/>
                  </a:ext>
                </a:extLst>
              </p:cNvPr>
              <p:cNvSpPr/>
              <p:nvPr/>
            </p:nvSpPr>
            <p:spPr>
              <a:xfrm>
                <a:off x="7808682" y="3925970"/>
                <a:ext cx="675569" cy="589737"/>
              </a:xfrm>
              <a:prstGeom prst="arc">
                <a:avLst>
                  <a:gd name="adj1" fmla="val 18757459"/>
                  <a:gd name="adj2" fmla="val 14249514"/>
                </a:avLst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6F3EBA3-0267-49FC-B4E6-341789F3F6AE}"/>
                  </a:ext>
                </a:extLst>
              </p:cNvPr>
              <p:cNvSpPr txBox="1"/>
              <p:nvPr/>
            </p:nvSpPr>
            <p:spPr>
              <a:xfrm>
                <a:off x="7832220" y="4515707"/>
                <a:ext cx="6607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0-9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B08787E-EE38-4520-A624-04E881C73DCE}"/>
                      </a:ext>
                    </a:extLst>
                  </p:cNvPr>
                  <p:cNvSpPr txBox="1"/>
                  <p:nvPr/>
                </p:nvSpPr>
                <p:spPr>
                  <a:xfrm>
                    <a:off x="7732808" y="2019402"/>
                    <a:ext cx="727507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B08787E-EE38-4520-A624-04E881C73D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2808" y="2019402"/>
                    <a:ext cx="727507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59BCAAC4-5EFE-4A74-8B6A-81BABC111F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0945" y="2359278"/>
                <a:ext cx="342235" cy="372227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ACB10F2-1A66-41CD-872F-CCA97D06EC28}"/>
                    </a:ext>
                  </a:extLst>
                </p:cNvPr>
                <p:cNvSpPr/>
                <p:nvPr/>
              </p:nvSpPr>
              <p:spPr>
                <a:xfrm>
                  <a:off x="696587" y="332208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ACB10F2-1A66-41CD-872F-CCA97D06EC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587" y="3322087"/>
                  <a:ext cx="1001031" cy="544223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5EDC9B5E-3C26-4342-B2F1-12924CE9E761}"/>
                </a:ext>
              </a:extLst>
            </p:cNvPr>
            <p:cNvSpPr/>
            <p:nvPr/>
          </p:nvSpPr>
          <p:spPr>
            <a:xfrm>
              <a:off x="859317" y="3782363"/>
              <a:ext cx="675569" cy="589737"/>
            </a:xfrm>
            <a:prstGeom prst="arc">
              <a:avLst>
                <a:gd name="adj1" fmla="val 18757459"/>
                <a:gd name="adj2" fmla="val 14249514"/>
              </a:avLst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BAF2494-68FF-4C19-A972-5C4A935369ED}"/>
                </a:ext>
              </a:extLst>
            </p:cNvPr>
            <p:cNvSpPr txBox="1"/>
            <p:nvPr/>
          </p:nvSpPr>
          <p:spPr>
            <a:xfrm>
              <a:off x="1054720" y="4319446"/>
              <a:ext cx="3642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CB26735-7F6B-4805-9335-55E0A4777D93}"/>
                </a:ext>
              </a:extLst>
            </p:cNvPr>
            <p:cNvCxnSpPr>
              <a:cxnSpLocks/>
              <a:stCxn id="21" idx="4"/>
              <a:endCxn id="33" idx="0"/>
            </p:cNvCxnSpPr>
            <p:nvPr/>
          </p:nvCxnSpPr>
          <p:spPr>
            <a:xfrm flipH="1">
              <a:off x="1197103" y="2687087"/>
              <a:ext cx="5075" cy="635000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E8629B-8A3F-448E-901B-9D05FC8838DC}"/>
                </a:ext>
              </a:extLst>
            </p:cNvPr>
            <p:cNvSpPr txBox="1"/>
            <p:nvPr/>
          </p:nvSpPr>
          <p:spPr>
            <a:xfrm>
              <a:off x="486357" y="2698509"/>
              <a:ext cx="6607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0-9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88755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9F1FBD4-FDB3-4B99-9ACB-2A73078C58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9497" y="1332703"/>
                <a:ext cx="698627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What strings are accepted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r>
                  <a:rPr lang="en-US" dirty="0"/>
                  <a:t>	ab, </a:t>
                </a:r>
                <a:r>
                  <a:rPr lang="en-US" dirty="0" err="1"/>
                  <a:t>zy</a:t>
                </a:r>
                <a:r>
                  <a:rPr lang="en-US" dirty="0"/>
                  <a:t>, s2r, q123s, u3123123v, etc.</a:t>
                </a:r>
              </a:p>
              <a:p>
                <a:r>
                  <a:rPr lang="en-US" dirty="0"/>
                  <a:t>What strings are not accepted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r>
                  <a:rPr lang="en-US" dirty="0"/>
                  <a:t>	2b, 334a, etc.</a:t>
                </a:r>
              </a:p>
              <a:p>
                <a:r>
                  <a:rPr lang="en-US" dirty="0"/>
                  <a:t>The set of all strings accepted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called its </a:t>
                </a:r>
                <a:r>
                  <a:rPr lang="en-US" b="1" i="1" dirty="0"/>
                  <a:t>language </a:t>
                </a:r>
              </a:p>
              <a:p>
                <a:r>
                  <a:rPr lang="en-US" dirty="0"/>
                  <a:t>The language of a finite state automaton consists of strings, each of which can be arbitrarily long, </a:t>
                </a:r>
                <a:r>
                  <a:rPr lang="en-US" b="1" i="1" dirty="0"/>
                  <a:t>but finite</a:t>
                </a: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99F1FBD4-FDB3-4B99-9ACB-2A73078C58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9497" y="1332703"/>
                <a:ext cx="6986271" cy="4351338"/>
              </a:xfrm>
              <a:blipFill>
                <a:blip r:embed="rId2"/>
                <a:stretch>
                  <a:fillRect l="-1047" t="-2384" b="-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CD079E8-14A8-40E5-82F4-D6E9A6BA3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of a finite state automaton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6E17F-B6D6-4509-A7F7-F658EEFD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59</a:t>
            </a:fld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426099-D9DF-4DD9-8B9E-F815EA48BD1E}"/>
              </a:ext>
            </a:extLst>
          </p:cNvPr>
          <p:cNvGrpSpPr/>
          <p:nvPr/>
        </p:nvGrpSpPr>
        <p:grpSpPr>
          <a:xfrm>
            <a:off x="442828" y="1552661"/>
            <a:ext cx="4131347" cy="3290005"/>
            <a:chOff x="442828" y="1552661"/>
            <a:chExt cx="4131347" cy="329000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ABDBF34-4188-4DDD-8F9C-042A65FDF80C}"/>
                </a:ext>
              </a:extLst>
            </p:cNvPr>
            <p:cNvGrpSpPr/>
            <p:nvPr/>
          </p:nvGrpSpPr>
          <p:grpSpPr>
            <a:xfrm>
              <a:off x="442828" y="1552661"/>
              <a:ext cx="4131347" cy="3019525"/>
              <a:chOff x="6010945" y="2019402"/>
              <a:chExt cx="4131347" cy="30195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D75B8F3F-9B9E-4489-891D-7BFC9B03E22F}"/>
                      </a:ext>
                    </a:extLst>
                  </p:cNvPr>
                  <p:cNvSpPr/>
                  <p:nvPr/>
                </p:nvSpPr>
                <p:spPr>
                  <a:xfrm>
                    <a:off x="6269779" y="2609605"/>
                    <a:ext cx="1001031" cy="544223"/>
                  </a:xfrm>
                  <a:prstGeom prst="ellipse">
                    <a:avLst/>
                  </a:prstGeom>
                  <a:ln w="28575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D75B8F3F-9B9E-4489-891D-7BFC9B03E2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9779" y="2609605"/>
                    <a:ext cx="1001031" cy="544223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2857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Oval 48">
                    <a:extLst>
                      <a:ext uri="{FF2B5EF4-FFF2-40B4-BE49-F238E27FC236}">
                        <a16:creationId xmlns:a16="http://schemas.microsoft.com/office/drawing/2014/main" id="{B3B79B69-9569-43CE-9F16-51ADFE5C3BC5}"/>
                      </a:ext>
                    </a:extLst>
                  </p:cNvPr>
                  <p:cNvSpPr/>
                  <p:nvPr/>
                </p:nvSpPr>
                <p:spPr>
                  <a:xfrm>
                    <a:off x="9141261" y="2578739"/>
                    <a:ext cx="1001031" cy="523220"/>
                  </a:xfrm>
                  <a:prstGeom prst="ellipse">
                    <a:avLst/>
                  </a:prstGeom>
                  <a:ln w="95250" cmpd="dbl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49" name="Oval 48">
                    <a:extLst>
                      <a:ext uri="{FF2B5EF4-FFF2-40B4-BE49-F238E27FC236}">
                        <a16:creationId xmlns:a16="http://schemas.microsoft.com/office/drawing/2014/main" id="{B3B79B69-9569-43CE-9F16-51ADFE5C3B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41261" y="2578739"/>
                    <a:ext cx="1001031" cy="523220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95250" cmpd="dbl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EC9D4A1F-2EA0-4D17-B7A9-4A8E1950E89D}"/>
                  </a:ext>
                </a:extLst>
              </p:cNvPr>
              <p:cNvCxnSpPr>
                <a:cxnSpLocks/>
                <a:stCxn id="48" idx="5"/>
                <a:endCxn id="52" idx="1"/>
              </p:cNvCxnSpPr>
              <p:nvPr/>
            </p:nvCxnSpPr>
            <p:spPr>
              <a:xfrm>
                <a:off x="7124212" y="3074128"/>
                <a:ext cx="684470" cy="465771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EF91012-645B-47B9-B60A-9EB1420E5EE8}"/>
                  </a:ext>
                </a:extLst>
              </p:cNvPr>
              <p:cNvSpPr txBox="1"/>
              <p:nvPr/>
            </p:nvSpPr>
            <p:spPr>
              <a:xfrm>
                <a:off x="7250811" y="2787495"/>
                <a:ext cx="607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a-z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Oval 51">
                    <a:extLst>
                      <a:ext uri="{FF2B5EF4-FFF2-40B4-BE49-F238E27FC236}">
                        <a16:creationId xmlns:a16="http://schemas.microsoft.com/office/drawing/2014/main" id="{0E507F14-4315-436A-9718-0868F530201F}"/>
                      </a:ext>
                    </a:extLst>
                  </p:cNvPr>
                  <p:cNvSpPr/>
                  <p:nvPr/>
                </p:nvSpPr>
                <p:spPr>
                  <a:xfrm>
                    <a:off x="7662084" y="3460199"/>
                    <a:ext cx="1001031" cy="544223"/>
                  </a:xfrm>
                  <a:prstGeom prst="ellipse">
                    <a:avLst/>
                  </a:prstGeom>
                  <a:ln w="28575"/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52" name="Oval 51">
                    <a:extLst>
                      <a:ext uri="{FF2B5EF4-FFF2-40B4-BE49-F238E27FC236}">
                        <a16:creationId xmlns:a16="http://schemas.microsoft.com/office/drawing/2014/main" id="{0E507F14-4315-436A-9718-0868F530201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62084" y="3460199"/>
                    <a:ext cx="1001031" cy="544223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2857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21F1A5D6-82DB-4802-B113-9F7BFC697E68}"/>
                  </a:ext>
                </a:extLst>
              </p:cNvPr>
              <p:cNvCxnSpPr>
                <a:cxnSpLocks/>
                <a:stCxn id="52" idx="7"/>
                <a:endCxn id="49" idx="3"/>
              </p:cNvCxnSpPr>
              <p:nvPr/>
            </p:nvCxnSpPr>
            <p:spPr>
              <a:xfrm flipV="1">
                <a:off x="8516517" y="3025335"/>
                <a:ext cx="771342" cy="514564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C309EB2-0181-4277-91A1-F8856703C6B1}"/>
                  </a:ext>
                </a:extLst>
              </p:cNvPr>
              <p:cNvSpPr txBox="1"/>
              <p:nvPr/>
            </p:nvSpPr>
            <p:spPr>
              <a:xfrm>
                <a:off x="8808880" y="3209090"/>
                <a:ext cx="607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a-z</a:t>
                </a:r>
              </a:p>
            </p:txBody>
          </p:sp>
          <p:sp>
            <p:nvSpPr>
              <p:cNvPr id="55" name="Arc 54">
                <a:extLst>
                  <a:ext uri="{FF2B5EF4-FFF2-40B4-BE49-F238E27FC236}">
                    <a16:creationId xmlns:a16="http://schemas.microsoft.com/office/drawing/2014/main" id="{2474F16D-1A54-430C-8261-BCFEBD730F4D}"/>
                  </a:ext>
                </a:extLst>
              </p:cNvPr>
              <p:cNvSpPr/>
              <p:nvPr/>
            </p:nvSpPr>
            <p:spPr>
              <a:xfrm>
                <a:off x="7808682" y="3925970"/>
                <a:ext cx="675569" cy="589737"/>
              </a:xfrm>
              <a:prstGeom prst="arc">
                <a:avLst>
                  <a:gd name="adj1" fmla="val 18757459"/>
                  <a:gd name="adj2" fmla="val 14249514"/>
                </a:avLst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C4EFD36-A098-4542-9FF6-A443ADD8A043}"/>
                  </a:ext>
                </a:extLst>
              </p:cNvPr>
              <p:cNvSpPr txBox="1"/>
              <p:nvPr/>
            </p:nvSpPr>
            <p:spPr>
              <a:xfrm>
                <a:off x="7832220" y="4515707"/>
                <a:ext cx="66075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0-9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FF8DA820-AEC6-4DFA-9D16-79E020CB68F8}"/>
                      </a:ext>
                    </a:extLst>
                  </p:cNvPr>
                  <p:cNvSpPr txBox="1"/>
                  <p:nvPr/>
                </p:nvSpPr>
                <p:spPr>
                  <a:xfrm>
                    <a:off x="7732808" y="2019402"/>
                    <a:ext cx="727507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FF8DA820-AEC6-4DFA-9D16-79E020CB68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32808" y="2019402"/>
                    <a:ext cx="727507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D44A5F6D-7EB1-402A-92FE-8128EC51BB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10945" y="2359278"/>
                <a:ext cx="342235" cy="372227"/>
              </a:xfrm>
              <a:prstGeom prst="straightConnector1">
                <a:avLst/>
              </a:prstGeom>
              <a:ln w="44450">
                <a:solidFill>
                  <a:schemeClr val="accent6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382C437-615F-4D0C-9777-C54E38D3F9F4}"/>
                    </a:ext>
                  </a:extLst>
                </p:cNvPr>
                <p:cNvSpPr/>
                <p:nvPr/>
              </p:nvSpPr>
              <p:spPr>
                <a:xfrm>
                  <a:off x="696587" y="332208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382C437-615F-4D0C-9777-C54E38D3F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587" y="3322087"/>
                  <a:ext cx="1001031" cy="544223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F74149BD-D399-4B44-8F8E-C30705A68486}"/>
                </a:ext>
              </a:extLst>
            </p:cNvPr>
            <p:cNvSpPr/>
            <p:nvPr/>
          </p:nvSpPr>
          <p:spPr>
            <a:xfrm>
              <a:off x="859317" y="3782363"/>
              <a:ext cx="675569" cy="589737"/>
            </a:xfrm>
            <a:prstGeom prst="arc">
              <a:avLst>
                <a:gd name="adj1" fmla="val 18757459"/>
                <a:gd name="adj2" fmla="val 14249514"/>
              </a:avLst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A173454-9F0C-4991-8738-790885483BBA}"/>
                </a:ext>
              </a:extLst>
            </p:cNvPr>
            <p:cNvSpPr txBox="1"/>
            <p:nvPr/>
          </p:nvSpPr>
          <p:spPr>
            <a:xfrm>
              <a:off x="1054720" y="4319446"/>
              <a:ext cx="3642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*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7B2CD811-E2D8-4CE7-85FF-34CE12A5EF2F}"/>
                </a:ext>
              </a:extLst>
            </p:cNvPr>
            <p:cNvCxnSpPr>
              <a:cxnSpLocks/>
              <a:stCxn id="48" idx="4"/>
              <a:endCxn id="43" idx="0"/>
            </p:cNvCxnSpPr>
            <p:nvPr/>
          </p:nvCxnSpPr>
          <p:spPr>
            <a:xfrm flipH="1">
              <a:off x="1197103" y="2687087"/>
              <a:ext cx="5075" cy="635000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1F5B68F-214F-488B-85F9-F5F2E806A754}"/>
                </a:ext>
              </a:extLst>
            </p:cNvPr>
            <p:cNvSpPr txBox="1"/>
            <p:nvPr/>
          </p:nvSpPr>
          <p:spPr>
            <a:xfrm>
              <a:off x="486357" y="2698509"/>
              <a:ext cx="6607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0-9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26519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1E3D72-9EB0-4B41-9332-7D05D1FDA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safety requirement states that a system always stays within the set of </a:t>
            </a:r>
            <a:r>
              <a:rPr lang="en-US" i="1" dirty="0"/>
              <a:t>good</a:t>
            </a:r>
            <a:r>
              <a:rPr lang="en-US" dirty="0"/>
              <a:t> states (i.e. nothing bad every happens)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Collision avoidance: the distance between a car and a pedestrian is always greater than a threshold</a:t>
            </a:r>
          </a:p>
          <a:p>
            <a:pPr lvl="1"/>
            <a:r>
              <a:rPr lang="en-US" dirty="0"/>
              <a:t>Patient’s blood glucose never drops below 80 mg/</a:t>
            </a:r>
            <a:r>
              <a:rPr lang="en-US" dirty="0" err="1"/>
              <a:t>dL</a:t>
            </a:r>
            <a:endParaRPr lang="en-US" dirty="0"/>
          </a:p>
          <a:p>
            <a:pPr lvl="1"/>
            <a:r>
              <a:rPr lang="en-US" dirty="0"/>
              <a:t>Maximum temperature specification on the battery is not exceeded </a:t>
            </a:r>
          </a:p>
          <a:p>
            <a:r>
              <a:rPr lang="en-US" dirty="0"/>
              <a:t>Safety requirements can be formalized using monitors</a:t>
            </a:r>
          </a:p>
          <a:p>
            <a:pPr lvl="1"/>
            <a:r>
              <a:rPr lang="en-US" dirty="0"/>
              <a:t>Monitor issues an error whenever safety requirement is violated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E150FB-3EB5-4ECB-AE09-76FB116D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Requirements/Specifications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F4454B-018F-4C73-A2A5-EBA5F0356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3033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17A5437-B009-4B9D-9E5B-C47F22229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29095" y="1825653"/>
                <a:ext cx="7867131" cy="3016895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We can express behaviors of individual system traces using LTL</a:t>
                </a:r>
              </a:p>
              <a:p>
                <a:r>
                  <a:rPr lang="en-US" sz="2000" dirty="0"/>
                  <a:t>A system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starting from some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satisfies an LTL requirement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000" dirty="0"/>
                  <a:t> if </a:t>
                </a:r>
                <a:r>
                  <a:rPr lang="en-US" sz="2000" b="1" i="1" dirty="0"/>
                  <a:t>all system behaviors </a:t>
                </a:r>
                <a:r>
                  <a:rPr lang="en-US" sz="2000" dirty="0"/>
                  <a:t>starting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000" dirty="0"/>
                  <a:t> satisfy the requirement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b="0" dirty="0"/>
              </a:p>
              <a:p>
                <a:r>
                  <a:rPr lang="en-US" sz="2000" dirty="0"/>
                  <a:t>Denoted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⊨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E.g., a system is safe w.r.t. a safety requirement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000" dirty="0"/>
                  <a:t> if all behaviors satisfy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Does (</a:t>
                </a:r>
                <a:r>
                  <a:rPr lang="en-US" sz="2000" b="1" dirty="0"/>
                  <a:t>Blinker, </a:t>
                </a:r>
                <a:r>
                  <a:rPr lang="en-US" sz="2000" dirty="0"/>
                  <a:t>(x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sz="2000" dirty="0"/>
                  <a:t>0,y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↦</m:t>
                    </m:r>
                  </m:oMath>
                </a14:m>
                <a:r>
                  <a:rPr lang="en-US" sz="2000" dirty="0"/>
                  <a:t>0))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⊨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1" i="0" dirty="0" smtClean="0">
                        <a:latin typeface="Cambria Math" panose="02040503050406030204" pitchFamily="18" charset="0"/>
                      </a:rPr>
                      <m:t>𝐆</m:t>
                    </m:r>
                  </m:oMath>
                </a14:m>
                <a:r>
                  <a:rPr lang="en-US" sz="2000" dirty="0"/>
                  <a:t>(x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000" dirty="0"/>
                  <a:t>0)?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17A5437-B009-4B9D-9E5B-C47F22229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29095" y="1825653"/>
                <a:ext cx="7867131" cy="3016895"/>
              </a:xfrm>
              <a:blipFill>
                <a:blip r:embed="rId2"/>
                <a:stretch>
                  <a:fillRect l="-388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5847E7-98E6-41B8-896D-D219F91CD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LTL is a language for expressing system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4F51-7F6B-4769-8D04-739874610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30C4A74-E382-40C6-BBD1-1FA633CF2B8C}"/>
              </a:ext>
            </a:extLst>
          </p:cNvPr>
          <p:cNvGrpSpPr/>
          <p:nvPr/>
        </p:nvGrpSpPr>
        <p:grpSpPr>
          <a:xfrm>
            <a:off x="578199" y="1857384"/>
            <a:ext cx="3211205" cy="2463764"/>
            <a:chOff x="1206585" y="1723597"/>
            <a:chExt cx="3719413" cy="2710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F4BD86-884E-4A71-A6A2-2035EDA992F8}"/>
                </a:ext>
              </a:extLst>
            </p:cNvPr>
            <p:cNvSpPr/>
            <p:nvPr/>
          </p:nvSpPr>
          <p:spPr>
            <a:xfrm>
              <a:off x="1206585" y="1723597"/>
              <a:ext cx="3719413" cy="2710224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145BFCE-2799-4375-8852-4DDF1C7B4D90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5" y="2567222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361619-0388-41DC-A0DB-2295970A8F90}"/>
                </a:ext>
              </a:extLst>
            </p:cNvPr>
            <p:cNvSpPr txBox="1"/>
            <p:nvPr/>
          </p:nvSpPr>
          <p:spPr>
            <a:xfrm>
              <a:off x="1484210" y="1888296"/>
              <a:ext cx="3222109" cy="5078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nat</a:t>
              </a:r>
              <a:r>
                <a:rPr lang="en-US" sz="2400" dirty="0"/>
                <a:t> x := 0; bool y:= 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232E73E-72DD-4ECC-989A-8384A9A3C70C}"/>
                    </a:ext>
                  </a:extLst>
                </p:cNvPr>
                <p:cNvSpPr txBox="1"/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800" dirty="0"/>
                    <a:t>  x := x + 1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232E73E-72DD-4ECC-989A-8384A9A3C7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blipFill>
                  <a:blip r:embed="rId3"/>
                  <a:stretch>
                    <a:fillRect l="-6646" t="-11765" r="-5063" b="-341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A5B16D3-C3EC-4D19-A753-4F9F53959A89}"/>
                    </a:ext>
                  </a:extLst>
                </p:cNvPr>
                <p:cNvSpPr txBox="1"/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endParaRPr lang="en-US" sz="2800" dirty="0"/>
                </a:p>
                <a:p>
                  <a:r>
                    <a:rPr lang="en-US" sz="2800" dirty="0"/>
                    <a:t>    	y: = 1-y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A5B16D3-C3EC-4D19-A753-4F9F53959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blipFill>
                  <a:blip r:embed="rId4"/>
                  <a:stretch>
                    <a:fillRect l="-5915" t="-6410" r="-4507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A9939DE-A823-4248-B571-A0401C5B0551}"/>
              </a:ext>
            </a:extLst>
          </p:cNvPr>
          <p:cNvSpPr txBox="1"/>
          <p:nvPr/>
        </p:nvSpPr>
        <p:spPr>
          <a:xfrm>
            <a:off x="1569081" y="4319328"/>
            <a:ext cx="1228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Blinker</a:t>
            </a:r>
          </a:p>
        </p:txBody>
      </p:sp>
    </p:spTree>
    <p:extLst>
      <p:ext uri="{BB962C8B-B14F-4D97-AF65-F5344CB8AC3E}">
        <p14:creationId xmlns:p14="http://schemas.microsoft.com/office/powerpoint/2010/main" val="3675537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083C93-FBA2-4166-8785-B1DE10526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11707"/>
            <a:ext cx="11699087" cy="3872333"/>
          </a:xfrm>
        </p:spPr>
        <p:txBody>
          <a:bodyPr>
            <a:normAutofit/>
          </a:bodyPr>
          <a:lstStyle/>
          <a:p>
            <a:r>
              <a:rPr lang="en-US" dirty="0"/>
              <a:t>A safety monitor classifies system behaviors into good and bad</a:t>
            </a:r>
          </a:p>
          <a:p>
            <a:r>
              <a:rPr lang="en-US" dirty="0"/>
              <a:t>Can we use a monitor to classify </a:t>
            </a:r>
            <a:r>
              <a:rPr lang="en-US" b="1" dirty="0"/>
              <a:t>infinite</a:t>
            </a:r>
            <a:r>
              <a:rPr lang="en-US" dirty="0"/>
              <a:t> behaviors into good or bad?</a:t>
            </a:r>
          </a:p>
          <a:p>
            <a:r>
              <a:rPr lang="en-US" dirty="0"/>
              <a:t>Yes, using theoretical model of </a:t>
            </a:r>
            <a:r>
              <a:rPr lang="en-US" dirty="0" err="1"/>
              <a:t>Büchi</a:t>
            </a:r>
            <a:r>
              <a:rPr lang="en-US" dirty="0"/>
              <a:t> automata proposed by J. Richard </a:t>
            </a:r>
            <a:r>
              <a:rPr lang="en-US" dirty="0" err="1"/>
              <a:t>Büchi</a:t>
            </a:r>
            <a:r>
              <a:rPr lang="en-US" dirty="0"/>
              <a:t> in 1960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203C47C-4A32-4515-994F-98937C536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LTL Monitors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59FF2-789D-4166-85A2-C2A52E80E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032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552041-6713-4A8E-BF02-4C7C6B868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130346"/>
            <a:ext cx="11699087" cy="706490"/>
          </a:xfrm>
        </p:spPr>
        <p:txBody>
          <a:bodyPr/>
          <a:lstStyle/>
          <a:p>
            <a:r>
              <a:rPr lang="en-US" dirty="0"/>
              <a:t>Extension of finite state automata to accept infinite strings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A4B56C-397C-4CBF-ACF1-1E2484AB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automaton: Example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C0C33-FEF7-43A7-97B5-B48BBD19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63</a:t>
            </a:fld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6F4438-B83B-4A2C-A893-5EFFDC10880A}"/>
              </a:ext>
            </a:extLst>
          </p:cNvPr>
          <p:cNvGrpSpPr/>
          <p:nvPr/>
        </p:nvGrpSpPr>
        <p:grpSpPr>
          <a:xfrm>
            <a:off x="166680" y="1677172"/>
            <a:ext cx="5126619" cy="2335827"/>
            <a:chOff x="2975013" y="2147605"/>
            <a:chExt cx="5126619" cy="23358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/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/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ln w="95250" cmpd="dbl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0" cmpd="dbl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180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18017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545D9D2-9D17-4E1D-9229-777F8E6C969A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2975013" y="3996248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1AEA05E-E402-4B1D-8FA3-A23B30A4F5A5}"/>
                </a:ext>
              </a:extLst>
            </p:cNvPr>
            <p:cNvSpPr/>
            <p:nvPr/>
          </p:nvSpPr>
          <p:spPr>
            <a:xfrm>
              <a:off x="4539632" y="3503763"/>
              <a:ext cx="2629911" cy="291401"/>
            </a:xfrm>
            <a:custGeom>
              <a:avLst/>
              <a:gdLst>
                <a:gd name="connsiteX0" fmla="*/ 0 w 2629911"/>
                <a:gd name="connsiteY0" fmla="*/ 291401 h 291401"/>
                <a:gd name="connsiteX1" fmla="*/ 1213805 w 2629911"/>
                <a:gd name="connsiteY1" fmla="*/ 88 h 291401"/>
                <a:gd name="connsiteX2" fmla="*/ 2629911 w 2629911"/>
                <a:gd name="connsiteY2" fmla="*/ 267125 h 29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9911" h="291401">
                  <a:moveTo>
                    <a:pt x="0" y="291401"/>
                  </a:moveTo>
                  <a:cubicBezTo>
                    <a:pt x="387743" y="147767"/>
                    <a:pt x="775487" y="4134"/>
                    <a:pt x="1213805" y="88"/>
                  </a:cubicBezTo>
                  <a:cubicBezTo>
                    <a:pt x="1652123" y="-3958"/>
                    <a:pt x="2141017" y="131583"/>
                    <a:pt x="2629911" y="267125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6CDBBD7-6F78-482F-A039-83289AF6AACF}"/>
                </a:ext>
              </a:extLst>
            </p:cNvPr>
            <p:cNvSpPr/>
            <p:nvPr/>
          </p:nvSpPr>
          <p:spPr>
            <a:xfrm>
              <a:off x="4531540" y="4151214"/>
              <a:ext cx="2621819" cy="332218"/>
            </a:xfrm>
            <a:custGeom>
              <a:avLst/>
              <a:gdLst>
                <a:gd name="connsiteX0" fmla="*/ 2621819 w 2621819"/>
                <a:gd name="connsiteY0" fmla="*/ 0 h 332218"/>
                <a:gd name="connsiteX1" fmla="*/ 1359462 w 2621819"/>
                <a:gd name="connsiteY1" fmla="*/ 331773 h 332218"/>
                <a:gd name="connsiteX2" fmla="*/ 0 w 2621819"/>
                <a:gd name="connsiteY2" fmla="*/ 56644 h 33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1819" h="332218">
                  <a:moveTo>
                    <a:pt x="2621819" y="0"/>
                  </a:moveTo>
                  <a:cubicBezTo>
                    <a:pt x="2209125" y="161166"/>
                    <a:pt x="1796432" y="322332"/>
                    <a:pt x="1359462" y="331773"/>
                  </a:cubicBezTo>
                  <a:cubicBezTo>
                    <a:pt x="922492" y="341214"/>
                    <a:pt x="461246" y="198929"/>
                    <a:pt x="0" y="56644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13DDD61-AFC2-45C5-AE1C-726A8126ABF5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A866723-060D-407B-A642-910A900DACB9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/>
                <p:nvPr/>
              </p:nvSpPr>
              <p:spPr>
                <a:xfrm>
                  <a:off x="3664098" y="2502984"/>
                  <a:ext cx="101829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0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098" y="2502984"/>
                  <a:ext cx="1018292" cy="523220"/>
                </a:xfrm>
                <a:prstGeom prst="rect">
                  <a:avLst/>
                </a:prstGeom>
                <a:blipFill>
                  <a:blip r:embed="rId5"/>
                  <a:stretch>
                    <a:fillRect t="-10465" r="-10778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/>
                <p:nvPr/>
              </p:nvSpPr>
              <p:spPr>
                <a:xfrm>
                  <a:off x="5394482" y="2934657"/>
                  <a:ext cx="101829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1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482" y="2934657"/>
                  <a:ext cx="1018292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10465" r="-10778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54476" y="2032550"/>
                <a:ext cx="6744563" cy="35563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States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b="0" dirty="0"/>
              </a:p>
              <a:p>
                <a:r>
                  <a:rPr lang="en-US" sz="2400" dirty="0"/>
                  <a:t>Input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with domain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2400" dirty="0"/>
              </a:p>
              <a:p>
                <a:r>
                  <a:rPr lang="en-US" sz="2400" dirty="0"/>
                  <a:t>Final state: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Transitions: (as shown)</a:t>
                </a:r>
              </a:p>
              <a:p>
                <a:r>
                  <a:rPr lang="en-US" sz="2400" dirty="0"/>
                  <a:t>Given trace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400" dirty="0"/>
                  <a:t> (infinite sequence of symbols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400" dirty="0"/>
                  <a:t> is accepted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if there exists a path from the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US" sz="2400" dirty="0"/>
                  <a:t> appears infinitely often</a:t>
                </a:r>
              </a:p>
            </p:txBody>
          </p:sp>
        </mc:Choice>
        <mc:Fallback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476" y="2032550"/>
                <a:ext cx="6744563" cy="3556399"/>
              </a:xfrm>
              <a:prstGeom prst="rect">
                <a:avLst/>
              </a:prstGeom>
              <a:blipFill>
                <a:blip r:embed="rId7"/>
                <a:stretch>
                  <a:fillRect l="-723" t="-2055" r="-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D0D7FF-4138-4B78-AA27-CCEFE00D0E44}"/>
                  </a:ext>
                </a:extLst>
              </p:cNvPr>
              <p:cNvSpPr txBox="1"/>
              <p:nvPr/>
            </p:nvSpPr>
            <p:spPr>
              <a:xfrm>
                <a:off x="4259480" y="1969559"/>
                <a:ext cx="10182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1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D0D7FF-4138-4B78-AA27-CCEFE00D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480" y="1969559"/>
                <a:ext cx="1018292" cy="523220"/>
              </a:xfrm>
              <a:prstGeom prst="rect">
                <a:avLst/>
              </a:prstGeom>
              <a:blipFill>
                <a:blip r:embed="rId9"/>
                <a:stretch>
                  <a:fillRect t="-10465" r="-10180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615141B-20C8-4135-A8A5-1618407A531F}"/>
                  </a:ext>
                </a:extLst>
              </p:cNvPr>
              <p:cNvSpPr txBox="1"/>
              <p:nvPr/>
            </p:nvSpPr>
            <p:spPr>
              <a:xfrm>
                <a:off x="2446952" y="3484328"/>
                <a:ext cx="10182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0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615141B-20C8-4135-A8A5-1618407A5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952" y="3484328"/>
                <a:ext cx="1018292" cy="523220"/>
              </a:xfrm>
              <a:prstGeom prst="rect">
                <a:avLst/>
              </a:prstGeom>
              <a:blipFill>
                <a:blip r:embed="rId10"/>
                <a:stretch>
                  <a:fillRect t="-11765" r="-10778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7ED37A4-701D-C109-C63D-8F04350B512B}"/>
                  </a:ext>
                </a:extLst>
              </p:cNvPr>
              <p:cNvSpPr/>
              <p:nvPr/>
            </p:nvSpPr>
            <p:spPr>
              <a:xfrm>
                <a:off x="2445756" y="4383043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7ED37A4-701D-C109-C63D-8F04350B51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756" y="4383043"/>
                <a:ext cx="1001031" cy="544223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A7FA84B-5952-44D7-7714-0DBE2497EA07}"/>
              </a:ext>
            </a:extLst>
          </p:cNvPr>
          <p:cNvCxnSpPr>
            <a:cxnSpLocks/>
            <a:endCxn id="7" idx="6"/>
          </p:cNvCxnSpPr>
          <p:nvPr/>
        </p:nvCxnSpPr>
        <p:spPr>
          <a:xfrm flipH="1">
            <a:off x="3446787" y="3854225"/>
            <a:ext cx="1290586" cy="800930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A1683C-B19B-4541-76AA-4A80E2296ACB}"/>
              </a:ext>
            </a:extLst>
          </p:cNvPr>
          <p:cNvSpPr/>
          <p:nvPr/>
        </p:nvSpPr>
        <p:spPr>
          <a:xfrm rot="4906972" flipH="1" flipV="1">
            <a:off x="1973906" y="4445454"/>
            <a:ext cx="580181" cy="691959"/>
          </a:xfrm>
          <a:custGeom>
            <a:avLst/>
            <a:gdLst>
              <a:gd name="connsiteX0" fmla="*/ 215715 w 742225"/>
              <a:gd name="connsiteY0" fmla="*/ 717019 h 717019"/>
              <a:gd name="connsiteX1" fmla="*/ 5322 w 742225"/>
              <a:gd name="connsiteY1" fmla="*/ 449982 h 717019"/>
              <a:gd name="connsiteX2" fmla="*/ 94334 w 742225"/>
              <a:gd name="connsiteY2" fmla="*/ 85840 h 717019"/>
              <a:gd name="connsiteX3" fmla="*/ 426108 w 742225"/>
              <a:gd name="connsiteY3" fmla="*/ 4920 h 717019"/>
              <a:gd name="connsiteX4" fmla="*/ 701237 w 742225"/>
              <a:gd name="connsiteY4" fmla="*/ 182945 h 717019"/>
              <a:gd name="connsiteX5" fmla="*/ 733605 w 742225"/>
              <a:gd name="connsiteY5" fmla="*/ 514718 h 717019"/>
              <a:gd name="connsiteX6" fmla="*/ 628409 w 742225"/>
              <a:gd name="connsiteY6" fmla="*/ 652283 h 717019"/>
              <a:gd name="connsiteX0" fmla="*/ 210699 w 737209"/>
              <a:gd name="connsiteY0" fmla="*/ 722892 h 722892"/>
              <a:gd name="connsiteX1" fmla="*/ 306 w 737209"/>
              <a:gd name="connsiteY1" fmla="*/ 455855 h 722892"/>
              <a:gd name="connsiteX2" fmla="*/ 170239 w 737209"/>
              <a:gd name="connsiteY2" fmla="*/ 67437 h 722892"/>
              <a:gd name="connsiteX3" fmla="*/ 421092 w 737209"/>
              <a:gd name="connsiteY3" fmla="*/ 10793 h 722892"/>
              <a:gd name="connsiteX4" fmla="*/ 696221 w 737209"/>
              <a:gd name="connsiteY4" fmla="*/ 188818 h 722892"/>
              <a:gd name="connsiteX5" fmla="*/ 728589 w 737209"/>
              <a:gd name="connsiteY5" fmla="*/ 520591 h 722892"/>
              <a:gd name="connsiteX6" fmla="*/ 623393 w 737209"/>
              <a:gd name="connsiteY6" fmla="*/ 658156 h 722892"/>
              <a:gd name="connsiteX0" fmla="*/ 210675 w 740044"/>
              <a:gd name="connsiteY0" fmla="*/ 743338 h 743338"/>
              <a:gd name="connsiteX1" fmla="*/ 282 w 740044"/>
              <a:gd name="connsiteY1" fmla="*/ 476301 h 743338"/>
              <a:gd name="connsiteX2" fmla="*/ 170215 w 740044"/>
              <a:gd name="connsiteY2" fmla="*/ 87883 h 743338"/>
              <a:gd name="connsiteX3" fmla="*/ 364424 w 740044"/>
              <a:gd name="connsiteY3" fmla="*/ 6963 h 743338"/>
              <a:gd name="connsiteX4" fmla="*/ 696197 w 740044"/>
              <a:gd name="connsiteY4" fmla="*/ 209264 h 743338"/>
              <a:gd name="connsiteX5" fmla="*/ 728565 w 740044"/>
              <a:gd name="connsiteY5" fmla="*/ 541037 h 743338"/>
              <a:gd name="connsiteX6" fmla="*/ 623369 w 740044"/>
              <a:gd name="connsiteY6" fmla="*/ 678602 h 743338"/>
              <a:gd name="connsiteX0" fmla="*/ 210675 w 728565"/>
              <a:gd name="connsiteY0" fmla="*/ 740650 h 740650"/>
              <a:gd name="connsiteX1" fmla="*/ 282 w 728565"/>
              <a:gd name="connsiteY1" fmla="*/ 473613 h 740650"/>
              <a:gd name="connsiteX2" fmla="*/ 170215 w 728565"/>
              <a:gd name="connsiteY2" fmla="*/ 85195 h 740650"/>
              <a:gd name="connsiteX3" fmla="*/ 364424 w 728565"/>
              <a:gd name="connsiteY3" fmla="*/ 4275 h 740650"/>
              <a:gd name="connsiteX4" fmla="*/ 623369 w 728565"/>
              <a:gd name="connsiteY4" fmla="*/ 166116 h 740650"/>
              <a:gd name="connsiteX5" fmla="*/ 728565 w 728565"/>
              <a:gd name="connsiteY5" fmla="*/ 538349 h 740650"/>
              <a:gd name="connsiteX6" fmla="*/ 623369 w 728565"/>
              <a:gd name="connsiteY6" fmla="*/ 675914 h 740650"/>
              <a:gd name="connsiteX0" fmla="*/ 210675 w 760933"/>
              <a:gd name="connsiteY0" fmla="*/ 740650 h 740650"/>
              <a:gd name="connsiteX1" fmla="*/ 282 w 760933"/>
              <a:gd name="connsiteY1" fmla="*/ 473613 h 740650"/>
              <a:gd name="connsiteX2" fmla="*/ 170215 w 760933"/>
              <a:gd name="connsiteY2" fmla="*/ 85195 h 740650"/>
              <a:gd name="connsiteX3" fmla="*/ 364424 w 760933"/>
              <a:gd name="connsiteY3" fmla="*/ 4275 h 740650"/>
              <a:gd name="connsiteX4" fmla="*/ 623369 w 760933"/>
              <a:gd name="connsiteY4" fmla="*/ 166116 h 740650"/>
              <a:gd name="connsiteX5" fmla="*/ 760933 w 760933"/>
              <a:gd name="connsiteY5" fmla="*/ 376509 h 740650"/>
              <a:gd name="connsiteX6" fmla="*/ 623369 w 760933"/>
              <a:gd name="connsiteY6" fmla="*/ 675914 h 740650"/>
              <a:gd name="connsiteX0" fmla="*/ 138127 w 688385"/>
              <a:gd name="connsiteY0" fmla="*/ 739184 h 739184"/>
              <a:gd name="connsiteX1" fmla="*/ 562 w 688385"/>
              <a:gd name="connsiteY1" fmla="*/ 350767 h 739184"/>
              <a:gd name="connsiteX2" fmla="*/ 97667 w 688385"/>
              <a:gd name="connsiteY2" fmla="*/ 83729 h 739184"/>
              <a:gd name="connsiteX3" fmla="*/ 291876 w 688385"/>
              <a:gd name="connsiteY3" fmla="*/ 2809 h 739184"/>
              <a:gd name="connsiteX4" fmla="*/ 550821 w 688385"/>
              <a:gd name="connsiteY4" fmla="*/ 164650 h 739184"/>
              <a:gd name="connsiteX5" fmla="*/ 688385 w 688385"/>
              <a:gd name="connsiteY5" fmla="*/ 375043 h 739184"/>
              <a:gd name="connsiteX6" fmla="*/ 550821 w 688385"/>
              <a:gd name="connsiteY6" fmla="*/ 674448 h 739184"/>
              <a:gd name="connsiteX0" fmla="*/ 218751 w 769009"/>
              <a:gd name="connsiteY0" fmla="*/ 739184 h 739184"/>
              <a:gd name="connsiteX1" fmla="*/ 266 w 769009"/>
              <a:gd name="connsiteY1" fmla="*/ 350767 h 739184"/>
              <a:gd name="connsiteX2" fmla="*/ 178291 w 769009"/>
              <a:gd name="connsiteY2" fmla="*/ 83729 h 739184"/>
              <a:gd name="connsiteX3" fmla="*/ 372500 w 769009"/>
              <a:gd name="connsiteY3" fmla="*/ 2809 h 739184"/>
              <a:gd name="connsiteX4" fmla="*/ 631445 w 769009"/>
              <a:gd name="connsiteY4" fmla="*/ 164650 h 739184"/>
              <a:gd name="connsiteX5" fmla="*/ 769009 w 769009"/>
              <a:gd name="connsiteY5" fmla="*/ 375043 h 739184"/>
              <a:gd name="connsiteX6" fmla="*/ 631445 w 769009"/>
              <a:gd name="connsiteY6" fmla="*/ 674448 h 739184"/>
              <a:gd name="connsiteX0" fmla="*/ 222731 w 772989"/>
              <a:gd name="connsiteY0" fmla="*/ 736827 h 736827"/>
              <a:gd name="connsiteX1" fmla="*/ 4246 w 772989"/>
              <a:gd name="connsiteY1" fmla="*/ 348410 h 736827"/>
              <a:gd name="connsiteX2" fmla="*/ 101350 w 772989"/>
              <a:gd name="connsiteY2" fmla="*/ 121832 h 736827"/>
              <a:gd name="connsiteX3" fmla="*/ 376480 w 772989"/>
              <a:gd name="connsiteY3" fmla="*/ 452 h 736827"/>
              <a:gd name="connsiteX4" fmla="*/ 635425 w 772989"/>
              <a:gd name="connsiteY4" fmla="*/ 162293 h 736827"/>
              <a:gd name="connsiteX5" fmla="*/ 772989 w 772989"/>
              <a:gd name="connsiteY5" fmla="*/ 372686 h 736827"/>
              <a:gd name="connsiteX6" fmla="*/ 635425 w 772989"/>
              <a:gd name="connsiteY6" fmla="*/ 672091 h 736827"/>
              <a:gd name="connsiteX0" fmla="*/ 253971 w 804229"/>
              <a:gd name="connsiteY0" fmla="*/ 736969 h 736969"/>
              <a:gd name="connsiteX1" fmla="*/ 3118 w 804229"/>
              <a:gd name="connsiteY1" fmla="*/ 461841 h 736969"/>
              <a:gd name="connsiteX2" fmla="*/ 132590 w 804229"/>
              <a:gd name="connsiteY2" fmla="*/ 121974 h 736969"/>
              <a:gd name="connsiteX3" fmla="*/ 407720 w 804229"/>
              <a:gd name="connsiteY3" fmla="*/ 594 h 736969"/>
              <a:gd name="connsiteX4" fmla="*/ 666665 w 804229"/>
              <a:gd name="connsiteY4" fmla="*/ 162435 h 736969"/>
              <a:gd name="connsiteX5" fmla="*/ 804229 w 804229"/>
              <a:gd name="connsiteY5" fmla="*/ 372828 h 736969"/>
              <a:gd name="connsiteX6" fmla="*/ 666665 w 804229"/>
              <a:gd name="connsiteY6" fmla="*/ 672233 h 736969"/>
              <a:gd name="connsiteX0" fmla="*/ 253971 w 739493"/>
              <a:gd name="connsiteY0" fmla="*/ 736969 h 736969"/>
              <a:gd name="connsiteX1" fmla="*/ 3118 w 739493"/>
              <a:gd name="connsiteY1" fmla="*/ 461841 h 736969"/>
              <a:gd name="connsiteX2" fmla="*/ 132590 w 739493"/>
              <a:gd name="connsiteY2" fmla="*/ 121974 h 736969"/>
              <a:gd name="connsiteX3" fmla="*/ 407720 w 739493"/>
              <a:gd name="connsiteY3" fmla="*/ 594 h 736969"/>
              <a:gd name="connsiteX4" fmla="*/ 666665 w 739493"/>
              <a:gd name="connsiteY4" fmla="*/ 162435 h 736969"/>
              <a:gd name="connsiteX5" fmla="*/ 739493 w 739493"/>
              <a:gd name="connsiteY5" fmla="*/ 469932 h 736969"/>
              <a:gd name="connsiteX6" fmla="*/ 666665 w 739493"/>
              <a:gd name="connsiteY6" fmla="*/ 672233 h 736969"/>
              <a:gd name="connsiteX0" fmla="*/ 253971 w 747593"/>
              <a:gd name="connsiteY0" fmla="*/ 736969 h 736969"/>
              <a:gd name="connsiteX1" fmla="*/ 3118 w 747593"/>
              <a:gd name="connsiteY1" fmla="*/ 461841 h 736969"/>
              <a:gd name="connsiteX2" fmla="*/ 132590 w 747593"/>
              <a:gd name="connsiteY2" fmla="*/ 121974 h 736969"/>
              <a:gd name="connsiteX3" fmla="*/ 407720 w 747593"/>
              <a:gd name="connsiteY3" fmla="*/ 594 h 736969"/>
              <a:gd name="connsiteX4" fmla="*/ 666665 w 747593"/>
              <a:gd name="connsiteY4" fmla="*/ 162435 h 736969"/>
              <a:gd name="connsiteX5" fmla="*/ 739493 w 747593"/>
              <a:gd name="connsiteY5" fmla="*/ 469932 h 736969"/>
              <a:gd name="connsiteX6" fmla="*/ 504824 w 747593"/>
              <a:gd name="connsiteY6" fmla="*/ 639865 h 736969"/>
              <a:gd name="connsiteX0" fmla="*/ 313237 w 750215"/>
              <a:gd name="connsiteY0" fmla="*/ 639865 h 639865"/>
              <a:gd name="connsiteX1" fmla="*/ 5740 w 750215"/>
              <a:gd name="connsiteY1" fmla="*/ 461841 h 639865"/>
              <a:gd name="connsiteX2" fmla="*/ 135212 w 750215"/>
              <a:gd name="connsiteY2" fmla="*/ 121974 h 639865"/>
              <a:gd name="connsiteX3" fmla="*/ 410342 w 750215"/>
              <a:gd name="connsiteY3" fmla="*/ 594 h 639865"/>
              <a:gd name="connsiteX4" fmla="*/ 669287 w 750215"/>
              <a:gd name="connsiteY4" fmla="*/ 162435 h 639865"/>
              <a:gd name="connsiteX5" fmla="*/ 742115 w 750215"/>
              <a:gd name="connsiteY5" fmla="*/ 469932 h 639865"/>
              <a:gd name="connsiteX6" fmla="*/ 507446 w 750215"/>
              <a:gd name="connsiteY6" fmla="*/ 639865 h 639865"/>
              <a:gd name="connsiteX0" fmla="*/ 313237 w 798541"/>
              <a:gd name="connsiteY0" fmla="*/ 639865 h 704601"/>
              <a:gd name="connsiteX1" fmla="*/ 5740 w 798541"/>
              <a:gd name="connsiteY1" fmla="*/ 461841 h 704601"/>
              <a:gd name="connsiteX2" fmla="*/ 135212 w 798541"/>
              <a:gd name="connsiteY2" fmla="*/ 121974 h 704601"/>
              <a:gd name="connsiteX3" fmla="*/ 410342 w 798541"/>
              <a:gd name="connsiteY3" fmla="*/ 594 h 704601"/>
              <a:gd name="connsiteX4" fmla="*/ 669287 w 798541"/>
              <a:gd name="connsiteY4" fmla="*/ 162435 h 704601"/>
              <a:gd name="connsiteX5" fmla="*/ 742115 w 798541"/>
              <a:gd name="connsiteY5" fmla="*/ 469932 h 704601"/>
              <a:gd name="connsiteX6" fmla="*/ 782576 w 798541"/>
              <a:gd name="connsiteY6" fmla="*/ 704601 h 704601"/>
              <a:gd name="connsiteX0" fmla="*/ 313237 w 742181"/>
              <a:gd name="connsiteY0" fmla="*/ 639865 h 696509"/>
              <a:gd name="connsiteX1" fmla="*/ 5740 w 742181"/>
              <a:gd name="connsiteY1" fmla="*/ 461841 h 696509"/>
              <a:gd name="connsiteX2" fmla="*/ 135212 w 742181"/>
              <a:gd name="connsiteY2" fmla="*/ 121974 h 696509"/>
              <a:gd name="connsiteX3" fmla="*/ 410342 w 742181"/>
              <a:gd name="connsiteY3" fmla="*/ 594 h 696509"/>
              <a:gd name="connsiteX4" fmla="*/ 669287 w 742181"/>
              <a:gd name="connsiteY4" fmla="*/ 162435 h 696509"/>
              <a:gd name="connsiteX5" fmla="*/ 742115 w 742181"/>
              <a:gd name="connsiteY5" fmla="*/ 469932 h 696509"/>
              <a:gd name="connsiteX6" fmla="*/ 661195 w 742181"/>
              <a:gd name="connsiteY6" fmla="*/ 696509 h 696509"/>
              <a:gd name="connsiteX0" fmla="*/ 220343 w 738299"/>
              <a:gd name="connsiteY0" fmla="*/ 777430 h 777430"/>
              <a:gd name="connsiteX1" fmla="*/ 1858 w 738299"/>
              <a:gd name="connsiteY1" fmla="*/ 461841 h 777430"/>
              <a:gd name="connsiteX2" fmla="*/ 131330 w 738299"/>
              <a:gd name="connsiteY2" fmla="*/ 121974 h 777430"/>
              <a:gd name="connsiteX3" fmla="*/ 406460 w 738299"/>
              <a:gd name="connsiteY3" fmla="*/ 594 h 777430"/>
              <a:gd name="connsiteX4" fmla="*/ 665405 w 738299"/>
              <a:gd name="connsiteY4" fmla="*/ 162435 h 777430"/>
              <a:gd name="connsiteX5" fmla="*/ 738233 w 738299"/>
              <a:gd name="connsiteY5" fmla="*/ 469932 h 777430"/>
              <a:gd name="connsiteX6" fmla="*/ 657313 w 738299"/>
              <a:gd name="connsiteY6" fmla="*/ 696509 h 777430"/>
              <a:gd name="connsiteX0" fmla="*/ 180963 w 698919"/>
              <a:gd name="connsiteY0" fmla="*/ 777360 h 777360"/>
              <a:gd name="connsiteX1" fmla="*/ 2938 w 698919"/>
              <a:gd name="connsiteY1" fmla="*/ 413219 h 777360"/>
              <a:gd name="connsiteX2" fmla="*/ 91950 w 698919"/>
              <a:gd name="connsiteY2" fmla="*/ 121904 h 777360"/>
              <a:gd name="connsiteX3" fmla="*/ 367080 w 698919"/>
              <a:gd name="connsiteY3" fmla="*/ 524 h 777360"/>
              <a:gd name="connsiteX4" fmla="*/ 626025 w 698919"/>
              <a:gd name="connsiteY4" fmla="*/ 162365 h 777360"/>
              <a:gd name="connsiteX5" fmla="*/ 698853 w 698919"/>
              <a:gd name="connsiteY5" fmla="*/ 469862 h 777360"/>
              <a:gd name="connsiteX6" fmla="*/ 617933 w 698919"/>
              <a:gd name="connsiteY6" fmla="*/ 696439 h 77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8919" h="777360">
                <a:moveTo>
                  <a:pt x="180963" y="777360"/>
                </a:moveTo>
                <a:cubicBezTo>
                  <a:pt x="85881" y="696439"/>
                  <a:pt x="17773" y="522462"/>
                  <a:pt x="2938" y="413219"/>
                </a:cubicBezTo>
                <a:cubicBezTo>
                  <a:pt x="-11897" y="303976"/>
                  <a:pt x="31260" y="190687"/>
                  <a:pt x="91950" y="121904"/>
                </a:cubicBezTo>
                <a:cubicBezTo>
                  <a:pt x="152640" y="53122"/>
                  <a:pt x="278068" y="-6220"/>
                  <a:pt x="367080" y="524"/>
                </a:cubicBezTo>
                <a:cubicBezTo>
                  <a:pt x="456093" y="7268"/>
                  <a:pt x="570729" y="84142"/>
                  <a:pt x="626025" y="162365"/>
                </a:cubicBezTo>
                <a:cubicBezTo>
                  <a:pt x="681321" y="240588"/>
                  <a:pt x="700202" y="380850"/>
                  <a:pt x="698853" y="469862"/>
                </a:cubicBezTo>
                <a:cubicBezTo>
                  <a:pt x="697504" y="558874"/>
                  <a:pt x="664462" y="666768"/>
                  <a:pt x="617933" y="696439"/>
                </a:cubicBezTo>
              </a:path>
            </a:pathLst>
          </a:cu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022410B-3536-7566-01B7-2F1689CF8BA0}"/>
                  </a:ext>
                </a:extLst>
              </p:cNvPr>
              <p:cNvSpPr txBox="1"/>
              <p:nvPr/>
            </p:nvSpPr>
            <p:spPr>
              <a:xfrm>
                <a:off x="455082" y="4529823"/>
                <a:ext cx="15252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 0|1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022410B-3536-7566-01B7-2F1689CF8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82" y="4529823"/>
                <a:ext cx="152522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51B6FA1-A77F-C051-7026-131B7BE41E82}"/>
                  </a:ext>
                </a:extLst>
              </p:cNvPr>
              <p:cNvSpPr txBox="1"/>
              <p:nvPr/>
            </p:nvSpPr>
            <p:spPr>
              <a:xfrm>
                <a:off x="3728634" y="4170319"/>
                <a:ext cx="1585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51B6FA1-A77F-C051-7026-131B7BE4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634" y="4170319"/>
                <a:ext cx="1585552" cy="4616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21874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A4B56C-397C-4CBF-ACF1-1E2484AB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 Example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C0C33-FEF7-43A7-97B5-B48BBD19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64</a:t>
            </a:fld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6F4438-B83B-4A2C-A893-5EFFDC10880A}"/>
              </a:ext>
            </a:extLst>
          </p:cNvPr>
          <p:cNvGrpSpPr/>
          <p:nvPr/>
        </p:nvGrpSpPr>
        <p:grpSpPr>
          <a:xfrm>
            <a:off x="254141" y="1078361"/>
            <a:ext cx="5159186" cy="2120755"/>
            <a:chOff x="2975013" y="2147605"/>
            <a:chExt cx="5159186" cy="21207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/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/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ln w="95250" cmpd="dbl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0" cmpd="dbl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545D9D2-9D17-4E1D-9229-777F8E6C969A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2975013" y="3996248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13DDD61-AFC2-45C5-AE1C-726A8126ABF5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A866723-060D-407B-A642-910A900DACB9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/>
                <p:nvPr/>
              </p:nvSpPr>
              <p:spPr>
                <a:xfrm>
                  <a:off x="3410790" y="2470770"/>
                  <a:ext cx="152522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 0|1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0790" y="2470770"/>
                  <a:ext cx="1525226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/>
                <p:nvPr/>
              </p:nvSpPr>
              <p:spPr>
                <a:xfrm>
                  <a:off x="5319176" y="3412258"/>
                  <a:ext cx="152522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 0|1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176" y="3412258"/>
                  <a:ext cx="1525226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0CE0D4D-8293-4F1A-A137-F7815C1D8DC7}"/>
                    </a:ext>
                  </a:extLst>
                </p:cNvPr>
                <p:cNvSpPr txBox="1"/>
                <p:nvPr/>
              </p:nvSpPr>
              <p:spPr>
                <a:xfrm>
                  <a:off x="7000106" y="2488573"/>
                  <a:ext cx="113409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0CE0D4D-8293-4F1A-A137-F7815C1D8D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0106" y="2488573"/>
                  <a:ext cx="1134093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5923" y="4754636"/>
                <a:ext cx="4879943" cy="10037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Transitions: (as shown)</a:t>
                </a:r>
              </a:p>
            </p:txBody>
          </p:sp>
        </mc:Choice>
        <mc:Fallback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23" y="4754636"/>
                <a:ext cx="4879943" cy="1003707"/>
              </a:xfrm>
              <a:prstGeom prst="rect">
                <a:avLst/>
              </a:prstGeom>
              <a:blipFill>
                <a:blip r:embed="rId8"/>
                <a:stretch>
                  <a:fillRect l="-999" t="-5455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533355" y="1448473"/>
                <a:ext cx="6390946" cy="4304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Note that this is a nondeterministic </a:t>
                </a:r>
                <a:r>
                  <a:rPr lang="en-US" dirty="0" err="1"/>
                  <a:t>Büchi</a:t>
                </a:r>
                <a:r>
                  <a:rPr lang="en-US" dirty="0"/>
                  <a:t> automaton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accepts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if </a:t>
                </a:r>
                <a:r>
                  <a:rPr lang="en-US" b="1" i="1" dirty="0"/>
                  <a:t>there exists a path </a:t>
                </a:r>
                <a:r>
                  <a:rPr lang="en-US" dirty="0"/>
                  <a:t>along which a state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appears infinitely often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3355" y="1448473"/>
                <a:ext cx="6390946" cy="4304963"/>
              </a:xfrm>
              <a:prstGeom prst="rect">
                <a:avLst/>
              </a:prstGeom>
              <a:blipFill>
                <a:blip r:embed="rId9"/>
                <a:stretch>
                  <a:fillRect l="-1240" t="-2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6D85EF-1ACC-467C-B347-19BD1D6F4681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965856" y="2927005"/>
            <a:ext cx="2413873" cy="10501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F69BF6E-47CB-4282-91ED-7E2297C314C9}"/>
              </a:ext>
            </a:extLst>
          </p:cNvPr>
          <p:cNvSpPr/>
          <p:nvPr/>
        </p:nvSpPr>
        <p:spPr>
          <a:xfrm>
            <a:off x="5445894" y="3979051"/>
            <a:ext cx="56867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Fun fact: there is no deterministic </a:t>
            </a:r>
            <a:r>
              <a:rPr lang="en-US" sz="2400" dirty="0" err="1"/>
              <a:t>Büchi</a:t>
            </a:r>
            <a:r>
              <a:rPr lang="en-US" sz="2400" dirty="0"/>
              <a:t> automaton that accepts this language</a:t>
            </a:r>
            <a:endParaRPr lang="en-US" sz="2400" i="1" dirty="0"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419D7A5-3B37-4203-9EA5-6CCBEC0F0155}"/>
                  </a:ext>
                </a:extLst>
              </p:cNvPr>
              <p:cNvSpPr/>
              <p:nvPr/>
            </p:nvSpPr>
            <p:spPr>
              <a:xfrm>
                <a:off x="2588628" y="3727934"/>
                <a:ext cx="1001031" cy="544223"/>
              </a:xfrm>
              <a:prstGeom prst="ellipse">
                <a:avLst/>
              </a:prstGeom>
              <a:ln w="28575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419D7A5-3B37-4203-9EA5-6CCBEC0F01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8628" y="3727934"/>
                <a:ext cx="1001031" cy="544223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285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3308C53-AF45-4120-8784-B9ECFDE4576F}"/>
              </a:ext>
            </a:extLst>
          </p:cNvPr>
          <p:cNvCxnSpPr>
            <a:cxnSpLocks/>
            <a:stCxn id="6" idx="4"/>
            <a:endCxn id="7" idx="6"/>
          </p:cNvCxnSpPr>
          <p:nvPr/>
        </p:nvCxnSpPr>
        <p:spPr>
          <a:xfrm flipH="1">
            <a:off x="3589659" y="3199116"/>
            <a:ext cx="1290586" cy="800930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6188B87-0834-45EB-89BA-8B94DB7846A2}"/>
              </a:ext>
            </a:extLst>
          </p:cNvPr>
          <p:cNvSpPr/>
          <p:nvPr/>
        </p:nvSpPr>
        <p:spPr>
          <a:xfrm rot="4906972" flipH="1" flipV="1">
            <a:off x="2116778" y="3790345"/>
            <a:ext cx="580181" cy="691959"/>
          </a:xfrm>
          <a:custGeom>
            <a:avLst/>
            <a:gdLst>
              <a:gd name="connsiteX0" fmla="*/ 215715 w 742225"/>
              <a:gd name="connsiteY0" fmla="*/ 717019 h 717019"/>
              <a:gd name="connsiteX1" fmla="*/ 5322 w 742225"/>
              <a:gd name="connsiteY1" fmla="*/ 449982 h 717019"/>
              <a:gd name="connsiteX2" fmla="*/ 94334 w 742225"/>
              <a:gd name="connsiteY2" fmla="*/ 85840 h 717019"/>
              <a:gd name="connsiteX3" fmla="*/ 426108 w 742225"/>
              <a:gd name="connsiteY3" fmla="*/ 4920 h 717019"/>
              <a:gd name="connsiteX4" fmla="*/ 701237 w 742225"/>
              <a:gd name="connsiteY4" fmla="*/ 182945 h 717019"/>
              <a:gd name="connsiteX5" fmla="*/ 733605 w 742225"/>
              <a:gd name="connsiteY5" fmla="*/ 514718 h 717019"/>
              <a:gd name="connsiteX6" fmla="*/ 628409 w 742225"/>
              <a:gd name="connsiteY6" fmla="*/ 652283 h 717019"/>
              <a:gd name="connsiteX0" fmla="*/ 210699 w 737209"/>
              <a:gd name="connsiteY0" fmla="*/ 722892 h 722892"/>
              <a:gd name="connsiteX1" fmla="*/ 306 w 737209"/>
              <a:gd name="connsiteY1" fmla="*/ 455855 h 722892"/>
              <a:gd name="connsiteX2" fmla="*/ 170239 w 737209"/>
              <a:gd name="connsiteY2" fmla="*/ 67437 h 722892"/>
              <a:gd name="connsiteX3" fmla="*/ 421092 w 737209"/>
              <a:gd name="connsiteY3" fmla="*/ 10793 h 722892"/>
              <a:gd name="connsiteX4" fmla="*/ 696221 w 737209"/>
              <a:gd name="connsiteY4" fmla="*/ 188818 h 722892"/>
              <a:gd name="connsiteX5" fmla="*/ 728589 w 737209"/>
              <a:gd name="connsiteY5" fmla="*/ 520591 h 722892"/>
              <a:gd name="connsiteX6" fmla="*/ 623393 w 737209"/>
              <a:gd name="connsiteY6" fmla="*/ 658156 h 722892"/>
              <a:gd name="connsiteX0" fmla="*/ 210675 w 740044"/>
              <a:gd name="connsiteY0" fmla="*/ 743338 h 743338"/>
              <a:gd name="connsiteX1" fmla="*/ 282 w 740044"/>
              <a:gd name="connsiteY1" fmla="*/ 476301 h 743338"/>
              <a:gd name="connsiteX2" fmla="*/ 170215 w 740044"/>
              <a:gd name="connsiteY2" fmla="*/ 87883 h 743338"/>
              <a:gd name="connsiteX3" fmla="*/ 364424 w 740044"/>
              <a:gd name="connsiteY3" fmla="*/ 6963 h 743338"/>
              <a:gd name="connsiteX4" fmla="*/ 696197 w 740044"/>
              <a:gd name="connsiteY4" fmla="*/ 209264 h 743338"/>
              <a:gd name="connsiteX5" fmla="*/ 728565 w 740044"/>
              <a:gd name="connsiteY5" fmla="*/ 541037 h 743338"/>
              <a:gd name="connsiteX6" fmla="*/ 623369 w 740044"/>
              <a:gd name="connsiteY6" fmla="*/ 678602 h 743338"/>
              <a:gd name="connsiteX0" fmla="*/ 210675 w 728565"/>
              <a:gd name="connsiteY0" fmla="*/ 740650 h 740650"/>
              <a:gd name="connsiteX1" fmla="*/ 282 w 728565"/>
              <a:gd name="connsiteY1" fmla="*/ 473613 h 740650"/>
              <a:gd name="connsiteX2" fmla="*/ 170215 w 728565"/>
              <a:gd name="connsiteY2" fmla="*/ 85195 h 740650"/>
              <a:gd name="connsiteX3" fmla="*/ 364424 w 728565"/>
              <a:gd name="connsiteY3" fmla="*/ 4275 h 740650"/>
              <a:gd name="connsiteX4" fmla="*/ 623369 w 728565"/>
              <a:gd name="connsiteY4" fmla="*/ 166116 h 740650"/>
              <a:gd name="connsiteX5" fmla="*/ 728565 w 728565"/>
              <a:gd name="connsiteY5" fmla="*/ 538349 h 740650"/>
              <a:gd name="connsiteX6" fmla="*/ 623369 w 728565"/>
              <a:gd name="connsiteY6" fmla="*/ 675914 h 740650"/>
              <a:gd name="connsiteX0" fmla="*/ 210675 w 760933"/>
              <a:gd name="connsiteY0" fmla="*/ 740650 h 740650"/>
              <a:gd name="connsiteX1" fmla="*/ 282 w 760933"/>
              <a:gd name="connsiteY1" fmla="*/ 473613 h 740650"/>
              <a:gd name="connsiteX2" fmla="*/ 170215 w 760933"/>
              <a:gd name="connsiteY2" fmla="*/ 85195 h 740650"/>
              <a:gd name="connsiteX3" fmla="*/ 364424 w 760933"/>
              <a:gd name="connsiteY3" fmla="*/ 4275 h 740650"/>
              <a:gd name="connsiteX4" fmla="*/ 623369 w 760933"/>
              <a:gd name="connsiteY4" fmla="*/ 166116 h 740650"/>
              <a:gd name="connsiteX5" fmla="*/ 760933 w 760933"/>
              <a:gd name="connsiteY5" fmla="*/ 376509 h 740650"/>
              <a:gd name="connsiteX6" fmla="*/ 623369 w 760933"/>
              <a:gd name="connsiteY6" fmla="*/ 675914 h 740650"/>
              <a:gd name="connsiteX0" fmla="*/ 138127 w 688385"/>
              <a:gd name="connsiteY0" fmla="*/ 739184 h 739184"/>
              <a:gd name="connsiteX1" fmla="*/ 562 w 688385"/>
              <a:gd name="connsiteY1" fmla="*/ 350767 h 739184"/>
              <a:gd name="connsiteX2" fmla="*/ 97667 w 688385"/>
              <a:gd name="connsiteY2" fmla="*/ 83729 h 739184"/>
              <a:gd name="connsiteX3" fmla="*/ 291876 w 688385"/>
              <a:gd name="connsiteY3" fmla="*/ 2809 h 739184"/>
              <a:gd name="connsiteX4" fmla="*/ 550821 w 688385"/>
              <a:gd name="connsiteY4" fmla="*/ 164650 h 739184"/>
              <a:gd name="connsiteX5" fmla="*/ 688385 w 688385"/>
              <a:gd name="connsiteY5" fmla="*/ 375043 h 739184"/>
              <a:gd name="connsiteX6" fmla="*/ 550821 w 688385"/>
              <a:gd name="connsiteY6" fmla="*/ 674448 h 739184"/>
              <a:gd name="connsiteX0" fmla="*/ 218751 w 769009"/>
              <a:gd name="connsiteY0" fmla="*/ 739184 h 739184"/>
              <a:gd name="connsiteX1" fmla="*/ 266 w 769009"/>
              <a:gd name="connsiteY1" fmla="*/ 350767 h 739184"/>
              <a:gd name="connsiteX2" fmla="*/ 178291 w 769009"/>
              <a:gd name="connsiteY2" fmla="*/ 83729 h 739184"/>
              <a:gd name="connsiteX3" fmla="*/ 372500 w 769009"/>
              <a:gd name="connsiteY3" fmla="*/ 2809 h 739184"/>
              <a:gd name="connsiteX4" fmla="*/ 631445 w 769009"/>
              <a:gd name="connsiteY4" fmla="*/ 164650 h 739184"/>
              <a:gd name="connsiteX5" fmla="*/ 769009 w 769009"/>
              <a:gd name="connsiteY5" fmla="*/ 375043 h 739184"/>
              <a:gd name="connsiteX6" fmla="*/ 631445 w 769009"/>
              <a:gd name="connsiteY6" fmla="*/ 674448 h 739184"/>
              <a:gd name="connsiteX0" fmla="*/ 222731 w 772989"/>
              <a:gd name="connsiteY0" fmla="*/ 736827 h 736827"/>
              <a:gd name="connsiteX1" fmla="*/ 4246 w 772989"/>
              <a:gd name="connsiteY1" fmla="*/ 348410 h 736827"/>
              <a:gd name="connsiteX2" fmla="*/ 101350 w 772989"/>
              <a:gd name="connsiteY2" fmla="*/ 121832 h 736827"/>
              <a:gd name="connsiteX3" fmla="*/ 376480 w 772989"/>
              <a:gd name="connsiteY3" fmla="*/ 452 h 736827"/>
              <a:gd name="connsiteX4" fmla="*/ 635425 w 772989"/>
              <a:gd name="connsiteY4" fmla="*/ 162293 h 736827"/>
              <a:gd name="connsiteX5" fmla="*/ 772989 w 772989"/>
              <a:gd name="connsiteY5" fmla="*/ 372686 h 736827"/>
              <a:gd name="connsiteX6" fmla="*/ 635425 w 772989"/>
              <a:gd name="connsiteY6" fmla="*/ 672091 h 736827"/>
              <a:gd name="connsiteX0" fmla="*/ 253971 w 804229"/>
              <a:gd name="connsiteY0" fmla="*/ 736969 h 736969"/>
              <a:gd name="connsiteX1" fmla="*/ 3118 w 804229"/>
              <a:gd name="connsiteY1" fmla="*/ 461841 h 736969"/>
              <a:gd name="connsiteX2" fmla="*/ 132590 w 804229"/>
              <a:gd name="connsiteY2" fmla="*/ 121974 h 736969"/>
              <a:gd name="connsiteX3" fmla="*/ 407720 w 804229"/>
              <a:gd name="connsiteY3" fmla="*/ 594 h 736969"/>
              <a:gd name="connsiteX4" fmla="*/ 666665 w 804229"/>
              <a:gd name="connsiteY4" fmla="*/ 162435 h 736969"/>
              <a:gd name="connsiteX5" fmla="*/ 804229 w 804229"/>
              <a:gd name="connsiteY5" fmla="*/ 372828 h 736969"/>
              <a:gd name="connsiteX6" fmla="*/ 666665 w 804229"/>
              <a:gd name="connsiteY6" fmla="*/ 672233 h 736969"/>
              <a:gd name="connsiteX0" fmla="*/ 253971 w 739493"/>
              <a:gd name="connsiteY0" fmla="*/ 736969 h 736969"/>
              <a:gd name="connsiteX1" fmla="*/ 3118 w 739493"/>
              <a:gd name="connsiteY1" fmla="*/ 461841 h 736969"/>
              <a:gd name="connsiteX2" fmla="*/ 132590 w 739493"/>
              <a:gd name="connsiteY2" fmla="*/ 121974 h 736969"/>
              <a:gd name="connsiteX3" fmla="*/ 407720 w 739493"/>
              <a:gd name="connsiteY3" fmla="*/ 594 h 736969"/>
              <a:gd name="connsiteX4" fmla="*/ 666665 w 739493"/>
              <a:gd name="connsiteY4" fmla="*/ 162435 h 736969"/>
              <a:gd name="connsiteX5" fmla="*/ 739493 w 739493"/>
              <a:gd name="connsiteY5" fmla="*/ 469932 h 736969"/>
              <a:gd name="connsiteX6" fmla="*/ 666665 w 739493"/>
              <a:gd name="connsiteY6" fmla="*/ 672233 h 736969"/>
              <a:gd name="connsiteX0" fmla="*/ 253971 w 747593"/>
              <a:gd name="connsiteY0" fmla="*/ 736969 h 736969"/>
              <a:gd name="connsiteX1" fmla="*/ 3118 w 747593"/>
              <a:gd name="connsiteY1" fmla="*/ 461841 h 736969"/>
              <a:gd name="connsiteX2" fmla="*/ 132590 w 747593"/>
              <a:gd name="connsiteY2" fmla="*/ 121974 h 736969"/>
              <a:gd name="connsiteX3" fmla="*/ 407720 w 747593"/>
              <a:gd name="connsiteY3" fmla="*/ 594 h 736969"/>
              <a:gd name="connsiteX4" fmla="*/ 666665 w 747593"/>
              <a:gd name="connsiteY4" fmla="*/ 162435 h 736969"/>
              <a:gd name="connsiteX5" fmla="*/ 739493 w 747593"/>
              <a:gd name="connsiteY5" fmla="*/ 469932 h 736969"/>
              <a:gd name="connsiteX6" fmla="*/ 504824 w 747593"/>
              <a:gd name="connsiteY6" fmla="*/ 639865 h 736969"/>
              <a:gd name="connsiteX0" fmla="*/ 313237 w 750215"/>
              <a:gd name="connsiteY0" fmla="*/ 639865 h 639865"/>
              <a:gd name="connsiteX1" fmla="*/ 5740 w 750215"/>
              <a:gd name="connsiteY1" fmla="*/ 461841 h 639865"/>
              <a:gd name="connsiteX2" fmla="*/ 135212 w 750215"/>
              <a:gd name="connsiteY2" fmla="*/ 121974 h 639865"/>
              <a:gd name="connsiteX3" fmla="*/ 410342 w 750215"/>
              <a:gd name="connsiteY3" fmla="*/ 594 h 639865"/>
              <a:gd name="connsiteX4" fmla="*/ 669287 w 750215"/>
              <a:gd name="connsiteY4" fmla="*/ 162435 h 639865"/>
              <a:gd name="connsiteX5" fmla="*/ 742115 w 750215"/>
              <a:gd name="connsiteY5" fmla="*/ 469932 h 639865"/>
              <a:gd name="connsiteX6" fmla="*/ 507446 w 750215"/>
              <a:gd name="connsiteY6" fmla="*/ 639865 h 639865"/>
              <a:gd name="connsiteX0" fmla="*/ 313237 w 798541"/>
              <a:gd name="connsiteY0" fmla="*/ 639865 h 704601"/>
              <a:gd name="connsiteX1" fmla="*/ 5740 w 798541"/>
              <a:gd name="connsiteY1" fmla="*/ 461841 h 704601"/>
              <a:gd name="connsiteX2" fmla="*/ 135212 w 798541"/>
              <a:gd name="connsiteY2" fmla="*/ 121974 h 704601"/>
              <a:gd name="connsiteX3" fmla="*/ 410342 w 798541"/>
              <a:gd name="connsiteY3" fmla="*/ 594 h 704601"/>
              <a:gd name="connsiteX4" fmla="*/ 669287 w 798541"/>
              <a:gd name="connsiteY4" fmla="*/ 162435 h 704601"/>
              <a:gd name="connsiteX5" fmla="*/ 742115 w 798541"/>
              <a:gd name="connsiteY5" fmla="*/ 469932 h 704601"/>
              <a:gd name="connsiteX6" fmla="*/ 782576 w 798541"/>
              <a:gd name="connsiteY6" fmla="*/ 704601 h 704601"/>
              <a:gd name="connsiteX0" fmla="*/ 313237 w 742181"/>
              <a:gd name="connsiteY0" fmla="*/ 639865 h 696509"/>
              <a:gd name="connsiteX1" fmla="*/ 5740 w 742181"/>
              <a:gd name="connsiteY1" fmla="*/ 461841 h 696509"/>
              <a:gd name="connsiteX2" fmla="*/ 135212 w 742181"/>
              <a:gd name="connsiteY2" fmla="*/ 121974 h 696509"/>
              <a:gd name="connsiteX3" fmla="*/ 410342 w 742181"/>
              <a:gd name="connsiteY3" fmla="*/ 594 h 696509"/>
              <a:gd name="connsiteX4" fmla="*/ 669287 w 742181"/>
              <a:gd name="connsiteY4" fmla="*/ 162435 h 696509"/>
              <a:gd name="connsiteX5" fmla="*/ 742115 w 742181"/>
              <a:gd name="connsiteY5" fmla="*/ 469932 h 696509"/>
              <a:gd name="connsiteX6" fmla="*/ 661195 w 742181"/>
              <a:gd name="connsiteY6" fmla="*/ 696509 h 696509"/>
              <a:gd name="connsiteX0" fmla="*/ 220343 w 738299"/>
              <a:gd name="connsiteY0" fmla="*/ 777430 h 777430"/>
              <a:gd name="connsiteX1" fmla="*/ 1858 w 738299"/>
              <a:gd name="connsiteY1" fmla="*/ 461841 h 777430"/>
              <a:gd name="connsiteX2" fmla="*/ 131330 w 738299"/>
              <a:gd name="connsiteY2" fmla="*/ 121974 h 777430"/>
              <a:gd name="connsiteX3" fmla="*/ 406460 w 738299"/>
              <a:gd name="connsiteY3" fmla="*/ 594 h 777430"/>
              <a:gd name="connsiteX4" fmla="*/ 665405 w 738299"/>
              <a:gd name="connsiteY4" fmla="*/ 162435 h 777430"/>
              <a:gd name="connsiteX5" fmla="*/ 738233 w 738299"/>
              <a:gd name="connsiteY5" fmla="*/ 469932 h 777430"/>
              <a:gd name="connsiteX6" fmla="*/ 657313 w 738299"/>
              <a:gd name="connsiteY6" fmla="*/ 696509 h 777430"/>
              <a:gd name="connsiteX0" fmla="*/ 180963 w 698919"/>
              <a:gd name="connsiteY0" fmla="*/ 777360 h 777360"/>
              <a:gd name="connsiteX1" fmla="*/ 2938 w 698919"/>
              <a:gd name="connsiteY1" fmla="*/ 413219 h 777360"/>
              <a:gd name="connsiteX2" fmla="*/ 91950 w 698919"/>
              <a:gd name="connsiteY2" fmla="*/ 121904 h 777360"/>
              <a:gd name="connsiteX3" fmla="*/ 367080 w 698919"/>
              <a:gd name="connsiteY3" fmla="*/ 524 h 777360"/>
              <a:gd name="connsiteX4" fmla="*/ 626025 w 698919"/>
              <a:gd name="connsiteY4" fmla="*/ 162365 h 777360"/>
              <a:gd name="connsiteX5" fmla="*/ 698853 w 698919"/>
              <a:gd name="connsiteY5" fmla="*/ 469862 h 777360"/>
              <a:gd name="connsiteX6" fmla="*/ 617933 w 698919"/>
              <a:gd name="connsiteY6" fmla="*/ 696439 h 77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8919" h="777360">
                <a:moveTo>
                  <a:pt x="180963" y="777360"/>
                </a:moveTo>
                <a:cubicBezTo>
                  <a:pt x="85881" y="696439"/>
                  <a:pt x="17773" y="522462"/>
                  <a:pt x="2938" y="413219"/>
                </a:cubicBezTo>
                <a:cubicBezTo>
                  <a:pt x="-11897" y="303976"/>
                  <a:pt x="31260" y="190687"/>
                  <a:pt x="91950" y="121904"/>
                </a:cubicBezTo>
                <a:cubicBezTo>
                  <a:pt x="152640" y="53122"/>
                  <a:pt x="278068" y="-6220"/>
                  <a:pt x="367080" y="524"/>
                </a:cubicBezTo>
                <a:cubicBezTo>
                  <a:pt x="456093" y="7268"/>
                  <a:pt x="570729" y="84142"/>
                  <a:pt x="626025" y="162365"/>
                </a:cubicBezTo>
                <a:cubicBezTo>
                  <a:pt x="681321" y="240588"/>
                  <a:pt x="700202" y="380850"/>
                  <a:pt x="698853" y="469862"/>
                </a:cubicBezTo>
                <a:cubicBezTo>
                  <a:pt x="697504" y="558874"/>
                  <a:pt x="664462" y="666768"/>
                  <a:pt x="617933" y="696439"/>
                </a:cubicBezTo>
              </a:path>
            </a:pathLst>
          </a:cu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D41C5F3-0281-432B-B07D-172819181D5C}"/>
                  </a:ext>
                </a:extLst>
              </p:cNvPr>
              <p:cNvSpPr txBox="1"/>
              <p:nvPr/>
            </p:nvSpPr>
            <p:spPr>
              <a:xfrm>
                <a:off x="597954" y="3874714"/>
                <a:ext cx="15252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 0|1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D41C5F3-0281-432B-B07D-172819181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954" y="3874714"/>
                <a:ext cx="152522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70D713-341D-40DE-8313-19A11284ADD8}"/>
                  </a:ext>
                </a:extLst>
              </p:cNvPr>
              <p:cNvSpPr txBox="1"/>
              <p:nvPr/>
            </p:nvSpPr>
            <p:spPr>
              <a:xfrm>
                <a:off x="3871506" y="3515210"/>
                <a:ext cx="15855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70D713-341D-40DE-8313-19A11284A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506" y="3515210"/>
                <a:ext cx="1585552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374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349FC4D-E4A6-4522-A15C-6FB09D4DD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8695" y="1332703"/>
                <a:ext cx="6107073" cy="4351338"/>
              </a:xfrm>
            </p:spPr>
            <p:txBody>
              <a:bodyPr/>
              <a:lstStyle/>
              <a:p>
                <a:r>
                  <a:rPr lang="en-US" dirty="0"/>
                  <a:t>What is the language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Infinite strings where:</a:t>
                </a:r>
              </a:p>
              <a:p>
                <a:pPr lvl="1"/>
                <a:r>
                  <a:rPr lang="en-US" dirty="0"/>
                  <a:t>Always when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r>
                  <a:rPr lang="en-US" dirty="0"/>
                  <a:t>, in some future step,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or x is never 1</a:t>
                </a:r>
              </a:p>
              <a:p>
                <a:pPr lvl="1"/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r>
                      <a:rPr lang="mr-I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dirty="0"/>
                  <a:t> must be followed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349FC4D-E4A6-4522-A15C-6FB09D4DD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8695" y="1332703"/>
                <a:ext cx="6107073" cy="4351338"/>
              </a:xfrm>
              <a:blipFill>
                <a:blip r:embed="rId2"/>
                <a:stretch>
                  <a:fillRect l="-799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D77A11A-60B4-4362-8358-886D712A0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 Example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B1D70-7207-43E0-8BC7-B94535931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29E8EA-FD7C-44CE-B96C-C3E80CBFAB86}"/>
              </a:ext>
            </a:extLst>
          </p:cNvPr>
          <p:cNvGrpSpPr/>
          <p:nvPr/>
        </p:nvGrpSpPr>
        <p:grpSpPr>
          <a:xfrm>
            <a:off x="138799" y="1111257"/>
            <a:ext cx="5118246" cy="2433772"/>
            <a:chOff x="2947132" y="2049660"/>
            <a:chExt cx="5118246" cy="24337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E0509A7-DB2C-4F71-A45A-8F20DBEB376F}"/>
                    </a:ext>
                  </a:extLst>
                </p:cNvPr>
                <p:cNvSpPr/>
                <p:nvPr/>
              </p:nvSpPr>
              <p:spPr>
                <a:xfrm>
                  <a:off x="7064347" y="3698648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E0509A7-DB2C-4F71-A45A-8F20DBEB37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47" y="3698648"/>
                  <a:ext cx="1001031" cy="544223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008A861-9020-44C4-A586-08A2454D6C89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008A861-9020-44C4-A586-08A2454D6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E63B181-685E-4806-8000-54E034177D2A}"/>
                </a:ext>
              </a:extLst>
            </p:cNvPr>
            <p:cNvCxnSpPr>
              <a:cxnSpLocks/>
            </p:cNvCxnSpPr>
            <p:nvPr/>
          </p:nvCxnSpPr>
          <p:spPr>
            <a:xfrm>
              <a:off x="2947132" y="4036214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9858346-68F8-4C9E-AAB2-4F0E67F85F44}"/>
                </a:ext>
              </a:extLst>
            </p:cNvPr>
            <p:cNvSpPr/>
            <p:nvPr/>
          </p:nvSpPr>
          <p:spPr>
            <a:xfrm>
              <a:off x="4539632" y="3503763"/>
              <a:ext cx="2629911" cy="291401"/>
            </a:xfrm>
            <a:custGeom>
              <a:avLst/>
              <a:gdLst>
                <a:gd name="connsiteX0" fmla="*/ 0 w 2629911"/>
                <a:gd name="connsiteY0" fmla="*/ 291401 h 291401"/>
                <a:gd name="connsiteX1" fmla="*/ 1213805 w 2629911"/>
                <a:gd name="connsiteY1" fmla="*/ 88 h 291401"/>
                <a:gd name="connsiteX2" fmla="*/ 2629911 w 2629911"/>
                <a:gd name="connsiteY2" fmla="*/ 267125 h 29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9911" h="291401">
                  <a:moveTo>
                    <a:pt x="0" y="291401"/>
                  </a:moveTo>
                  <a:cubicBezTo>
                    <a:pt x="387743" y="147767"/>
                    <a:pt x="775487" y="4134"/>
                    <a:pt x="1213805" y="88"/>
                  </a:cubicBezTo>
                  <a:cubicBezTo>
                    <a:pt x="1652123" y="-3958"/>
                    <a:pt x="2141017" y="131583"/>
                    <a:pt x="2629911" y="267125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EB7AAB5-628B-4099-9ABB-0DA172EDB023}"/>
                </a:ext>
              </a:extLst>
            </p:cNvPr>
            <p:cNvSpPr/>
            <p:nvPr/>
          </p:nvSpPr>
          <p:spPr>
            <a:xfrm>
              <a:off x="4531540" y="4151214"/>
              <a:ext cx="2621819" cy="332218"/>
            </a:xfrm>
            <a:custGeom>
              <a:avLst/>
              <a:gdLst>
                <a:gd name="connsiteX0" fmla="*/ 2621819 w 2621819"/>
                <a:gd name="connsiteY0" fmla="*/ 0 h 332218"/>
                <a:gd name="connsiteX1" fmla="*/ 1359462 w 2621819"/>
                <a:gd name="connsiteY1" fmla="*/ 331773 h 332218"/>
                <a:gd name="connsiteX2" fmla="*/ 0 w 2621819"/>
                <a:gd name="connsiteY2" fmla="*/ 56644 h 33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1819" h="332218">
                  <a:moveTo>
                    <a:pt x="2621819" y="0"/>
                  </a:moveTo>
                  <a:cubicBezTo>
                    <a:pt x="2209125" y="161166"/>
                    <a:pt x="1796432" y="322332"/>
                    <a:pt x="1359462" y="331773"/>
                  </a:cubicBezTo>
                  <a:cubicBezTo>
                    <a:pt x="922492" y="341214"/>
                    <a:pt x="461246" y="198929"/>
                    <a:pt x="0" y="56644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D62C5E-ECEF-468D-901E-1DB300FF5970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868A533-1DA4-4685-AEDD-8435CA4E08F1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B23470E-E088-46CF-9285-87BD5E22DBE2}"/>
                    </a:ext>
                  </a:extLst>
                </p:cNvPr>
                <p:cNvSpPr txBox="1"/>
                <p:nvPr/>
              </p:nvSpPr>
              <p:spPr>
                <a:xfrm>
                  <a:off x="3419586" y="2049660"/>
                  <a:ext cx="1377749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a14:m>
                  <a:r>
                    <a:rPr lang="en-US" sz="2800" dirty="0"/>
                    <a:t> |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B23470E-E088-46CF-9285-87BD5E22DB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586" y="2049660"/>
                  <a:ext cx="1377749" cy="954107"/>
                </a:xfrm>
                <a:prstGeom prst="rect">
                  <a:avLst/>
                </a:prstGeom>
                <a:blipFill>
                  <a:blip r:embed="rId6"/>
                  <a:stretch>
                    <a:fillRect t="-5732" r="-8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A4C7CE-D0A7-4E48-8799-27F1CD585412}"/>
                    </a:ext>
                  </a:extLst>
                </p:cNvPr>
                <p:cNvSpPr txBox="1"/>
                <p:nvPr/>
              </p:nvSpPr>
              <p:spPr>
                <a:xfrm>
                  <a:off x="4732097" y="3017987"/>
                  <a:ext cx="229960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1 &amp;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A4C7CE-D0A7-4E48-8799-27F1CD5854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2097" y="3017987"/>
                  <a:ext cx="2299604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10465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0512194-5DD7-45EB-AC26-623FD9F34C9E}"/>
                  </a:ext>
                </a:extLst>
              </p:cNvPr>
              <p:cNvSpPr/>
              <p:nvPr/>
            </p:nvSpPr>
            <p:spPr>
              <a:xfrm>
                <a:off x="4292268" y="1452888"/>
                <a:ext cx="1138966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0512194-5DD7-45EB-AC26-623FD9F34C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268" y="1452888"/>
                <a:ext cx="113896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6C8D52A-C0C7-4A9B-8369-FB7BF4A56AB9}"/>
                  </a:ext>
                </a:extLst>
              </p:cNvPr>
              <p:cNvSpPr/>
              <p:nvPr/>
            </p:nvSpPr>
            <p:spPr>
              <a:xfrm>
                <a:off x="2316463" y="3545029"/>
                <a:ext cx="1138966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6C8D52A-C0C7-4A9B-8369-FB7BF4A56A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463" y="3545029"/>
                <a:ext cx="113896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5BB65FB8-2785-48E3-9126-5158C74742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5332" y="4249598"/>
                <a:ext cx="4879943" cy="10037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Transitions: (as shown)</a:t>
                </a:r>
              </a:p>
            </p:txBody>
          </p:sp>
        </mc:Choice>
        <mc:Fallback xmlns="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5BB65FB8-2785-48E3-9126-5158C747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32" y="4249598"/>
                <a:ext cx="4879943" cy="1003707"/>
              </a:xfrm>
              <a:prstGeom prst="rect">
                <a:avLst/>
              </a:prstGeom>
              <a:blipFill>
                <a:blip r:embed="rId10"/>
                <a:stretch>
                  <a:fillRect l="-1000" t="-7273"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8E10BD0-E057-40B5-BA12-C2590ED06A89}"/>
                  </a:ext>
                </a:extLst>
              </p:cNvPr>
              <p:cNvSpPr/>
              <p:nvPr/>
            </p:nvSpPr>
            <p:spPr>
              <a:xfrm>
                <a:off x="849483" y="2836202"/>
                <a:ext cx="1001031" cy="523220"/>
              </a:xfrm>
              <a:prstGeom prst="ellipse">
                <a:avLst/>
              </a:prstGeom>
              <a:ln w="95250" cmpd="dbl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8E10BD0-E057-40B5-BA12-C2590ED06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83" y="2836202"/>
                <a:ext cx="1001031" cy="52322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0" cmpd="dbl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2044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552041-6713-4A8E-BF02-4C7C6B868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130346"/>
            <a:ext cx="11699087" cy="706490"/>
          </a:xfrm>
        </p:spPr>
        <p:txBody>
          <a:bodyPr/>
          <a:lstStyle/>
          <a:p>
            <a:r>
              <a:rPr lang="en-US" dirty="0"/>
              <a:t>Language of an automaton: set of all strings accepted by the automaton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A4B56C-397C-4CBF-ACF1-1E2484AB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 and LTL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C0C33-FEF7-43A7-97B5-B48BBD19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66</a:t>
            </a:fld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6F4438-B83B-4A2C-A893-5EFFDC10880A}"/>
              </a:ext>
            </a:extLst>
          </p:cNvPr>
          <p:cNvGrpSpPr/>
          <p:nvPr/>
        </p:nvGrpSpPr>
        <p:grpSpPr>
          <a:xfrm>
            <a:off x="166680" y="1677172"/>
            <a:ext cx="5126619" cy="2335827"/>
            <a:chOff x="2975013" y="2147605"/>
            <a:chExt cx="5126619" cy="23358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/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/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ln w="95250" cmpd="dbl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0" cmpd="dbl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1801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18017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545D9D2-9D17-4E1D-9229-777F8E6C969A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2975013" y="3996248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F1AEA05E-E402-4B1D-8FA3-A23B30A4F5A5}"/>
                </a:ext>
              </a:extLst>
            </p:cNvPr>
            <p:cNvSpPr/>
            <p:nvPr/>
          </p:nvSpPr>
          <p:spPr>
            <a:xfrm>
              <a:off x="4539632" y="3503763"/>
              <a:ext cx="2629911" cy="291401"/>
            </a:xfrm>
            <a:custGeom>
              <a:avLst/>
              <a:gdLst>
                <a:gd name="connsiteX0" fmla="*/ 0 w 2629911"/>
                <a:gd name="connsiteY0" fmla="*/ 291401 h 291401"/>
                <a:gd name="connsiteX1" fmla="*/ 1213805 w 2629911"/>
                <a:gd name="connsiteY1" fmla="*/ 88 h 291401"/>
                <a:gd name="connsiteX2" fmla="*/ 2629911 w 2629911"/>
                <a:gd name="connsiteY2" fmla="*/ 267125 h 29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9911" h="291401">
                  <a:moveTo>
                    <a:pt x="0" y="291401"/>
                  </a:moveTo>
                  <a:cubicBezTo>
                    <a:pt x="387743" y="147767"/>
                    <a:pt x="775487" y="4134"/>
                    <a:pt x="1213805" y="88"/>
                  </a:cubicBezTo>
                  <a:cubicBezTo>
                    <a:pt x="1652123" y="-3958"/>
                    <a:pt x="2141017" y="131583"/>
                    <a:pt x="2629911" y="267125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6CDBBD7-6F78-482F-A039-83289AF6AACF}"/>
                </a:ext>
              </a:extLst>
            </p:cNvPr>
            <p:cNvSpPr/>
            <p:nvPr/>
          </p:nvSpPr>
          <p:spPr>
            <a:xfrm>
              <a:off x="4531540" y="4151214"/>
              <a:ext cx="2621819" cy="332218"/>
            </a:xfrm>
            <a:custGeom>
              <a:avLst/>
              <a:gdLst>
                <a:gd name="connsiteX0" fmla="*/ 2621819 w 2621819"/>
                <a:gd name="connsiteY0" fmla="*/ 0 h 332218"/>
                <a:gd name="connsiteX1" fmla="*/ 1359462 w 2621819"/>
                <a:gd name="connsiteY1" fmla="*/ 331773 h 332218"/>
                <a:gd name="connsiteX2" fmla="*/ 0 w 2621819"/>
                <a:gd name="connsiteY2" fmla="*/ 56644 h 33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1819" h="332218">
                  <a:moveTo>
                    <a:pt x="2621819" y="0"/>
                  </a:moveTo>
                  <a:cubicBezTo>
                    <a:pt x="2209125" y="161166"/>
                    <a:pt x="1796432" y="322332"/>
                    <a:pt x="1359462" y="331773"/>
                  </a:cubicBezTo>
                  <a:cubicBezTo>
                    <a:pt x="922492" y="341214"/>
                    <a:pt x="461246" y="198929"/>
                    <a:pt x="0" y="56644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13DDD61-AFC2-45C5-AE1C-726A8126ABF5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A866723-060D-407B-A642-910A900DACB9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/>
                <p:nvPr/>
              </p:nvSpPr>
              <p:spPr>
                <a:xfrm>
                  <a:off x="3664098" y="2502984"/>
                  <a:ext cx="101829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0</a:t>
                  </a: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098" y="2502984"/>
                  <a:ext cx="1018292" cy="523220"/>
                </a:xfrm>
                <a:prstGeom prst="rect">
                  <a:avLst/>
                </a:prstGeom>
                <a:blipFill>
                  <a:blip r:embed="rId5"/>
                  <a:stretch>
                    <a:fillRect t="-10465" r="-10778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/>
                <p:nvPr/>
              </p:nvSpPr>
              <p:spPr>
                <a:xfrm>
                  <a:off x="5394482" y="2934657"/>
                  <a:ext cx="101829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1</a:t>
                  </a: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482" y="2934657"/>
                  <a:ext cx="1018292" cy="523220"/>
                </a:xfrm>
                <a:prstGeom prst="rect">
                  <a:avLst/>
                </a:prstGeom>
                <a:blipFill>
                  <a:blip r:embed="rId6"/>
                  <a:stretch>
                    <a:fillRect t="-10465" r="-10778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Content Placeholder 1">
            <a:extLst>
              <a:ext uri="{FF2B5EF4-FFF2-40B4-BE49-F238E27FC236}">
                <a16:creationId xmlns:a16="http://schemas.microsoft.com/office/drawing/2014/main" id="{16FD0E49-E738-46FB-8E04-C8FBA470C6B7}"/>
              </a:ext>
            </a:extLst>
          </p:cNvPr>
          <p:cNvSpPr txBox="1">
            <a:spLocks/>
          </p:cNvSpPr>
          <p:nvPr/>
        </p:nvSpPr>
        <p:spPr>
          <a:xfrm>
            <a:off x="5349706" y="1629765"/>
            <a:ext cx="6744563" cy="2804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9B9B"/>
              </a:buClr>
              <a:buSzPct val="80000"/>
              <a:buFont typeface="Wingdings 3" panose="05040102010807070707" pitchFamily="18" charset="2"/>
              <a:buChar char="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marR="0" indent="-27432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A3A3"/>
              </a:buClr>
              <a:buSzPct val="75000"/>
              <a:buFont typeface="Wingdings 3" panose="05040102010807070707" pitchFamily="18" charset="2"/>
              <a:buChar char="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797"/>
              </a:buClr>
              <a:buSzPct val="7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5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marR="0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FF9B9B"/>
              </a:buClr>
              <a:buSzPct val="60000"/>
              <a:buFont typeface="Wingdings 3" panose="05040102010807070707" pitchFamily="18" charset="2"/>
              <a:buChar char=""/>
              <a:tabLst/>
              <a:defRPr lang="en-US" sz="28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20323" y="2332077"/>
                <a:ext cx="4879893" cy="10691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What is the language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LTL formula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0323" y="2332077"/>
                <a:ext cx="4879893" cy="1069193"/>
              </a:xfrm>
              <a:prstGeom prst="rect">
                <a:avLst/>
              </a:prstGeom>
              <a:blipFill>
                <a:blip r:embed="rId7"/>
                <a:stretch>
                  <a:fillRect l="-1625" t="-9714" b="-9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D0D7FF-4138-4B78-AA27-CCEFE00D0E44}"/>
                  </a:ext>
                </a:extLst>
              </p:cNvPr>
              <p:cNvSpPr txBox="1"/>
              <p:nvPr/>
            </p:nvSpPr>
            <p:spPr>
              <a:xfrm>
                <a:off x="4259480" y="1969559"/>
                <a:ext cx="10182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1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D0D7FF-4138-4B78-AA27-CCEFE00D0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480" y="1969559"/>
                <a:ext cx="1018292" cy="523220"/>
              </a:xfrm>
              <a:prstGeom prst="rect">
                <a:avLst/>
              </a:prstGeom>
              <a:blipFill>
                <a:blip r:embed="rId9"/>
                <a:stretch>
                  <a:fillRect t="-10465" r="-10180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615141B-20C8-4135-A8A5-1618407A531F}"/>
                  </a:ext>
                </a:extLst>
              </p:cNvPr>
              <p:cNvSpPr txBox="1"/>
              <p:nvPr/>
            </p:nvSpPr>
            <p:spPr>
              <a:xfrm>
                <a:off x="2446952" y="3484328"/>
                <a:ext cx="10182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0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615141B-20C8-4135-A8A5-1618407A5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952" y="3484328"/>
                <a:ext cx="1018292" cy="523220"/>
              </a:xfrm>
              <a:prstGeom prst="rect">
                <a:avLst/>
              </a:prstGeom>
              <a:blipFill>
                <a:blip r:embed="rId10"/>
                <a:stretch>
                  <a:fillRect t="-11765" r="-10778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8555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A4B56C-397C-4CBF-ACF1-1E2484ABE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 Example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C0C33-FEF7-43A7-97B5-B48BBD194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67</a:t>
            </a:fld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66F4438-B83B-4A2C-A893-5EFFDC10880A}"/>
              </a:ext>
            </a:extLst>
          </p:cNvPr>
          <p:cNvGrpSpPr/>
          <p:nvPr/>
        </p:nvGrpSpPr>
        <p:grpSpPr>
          <a:xfrm>
            <a:off x="254141" y="1078361"/>
            <a:ext cx="5159186" cy="2120755"/>
            <a:chOff x="2975013" y="2147605"/>
            <a:chExt cx="5159186" cy="212075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/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692E9FBA-778B-4909-9111-1097DFF823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5697" y="3724137"/>
                  <a:ext cx="1001031" cy="544223"/>
                </a:xfrm>
                <a:prstGeom prst="ellipse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/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ln w="95250" cmpd="dbl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9ED9724A-05A9-433C-B76F-E9C6E31B4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601" y="3745140"/>
                  <a:ext cx="1001031" cy="52322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95250" cmpd="dbl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D4A4156-5387-4A8A-AE53-9D847EB4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545D9D2-9D17-4E1D-9229-777F8E6C969A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2975013" y="3996248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13DDD61-AFC2-45C5-AE1C-726A8126ABF5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A866723-060D-407B-A642-910A900DACB9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/>
                <p:nvPr/>
              </p:nvSpPr>
              <p:spPr>
                <a:xfrm>
                  <a:off x="3410790" y="2470770"/>
                  <a:ext cx="152522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 0|1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C70D3BAA-7D18-45C8-AF8D-08DA11303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0790" y="2470770"/>
                  <a:ext cx="1525226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/>
                <p:nvPr/>
              </p:nvSpPr>
              <p:spPr>
                <a:xfrm>
                  <a:off x="5319176" y="3412258"/>
                  <a:ext cx="152522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 0|1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66371FC4-7945-4A8E-967D-03B0F5DAEB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176" y="3412258"/>
                  <a:ext cx="1525226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0CE0D4D-8293-4F1A-A137-F7815C1D8DC7}"/>
                    </a:ext>
                  </a:extLst>
                </p:cNvPr>
                <p:cNvSpPr txBox="1"/>
                <p:nvPr/>
              </p:nvSpPr>
              <p:spPr>
                <a:xfrm>
                  <a:off x="7000106" y="2488573"/>
                  <a:ext cx="113409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0CE0D4D-8293-4F1A-A137-F7815C1D8D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0106" y="2488573"/>
                  <a:ext cx="1134093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356" y="3830358"/>
                <a:ext cx="4879943" cy="10037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Transitions: (as shown)</a:t>
                </a:r>
              </a:p>
            </p:txBody>
          </p:sp>
        </mc:Choice>
        <mc:Fallback xmlns="">
          <p:sp>
            <p:nvSpPr>
              <p:cNvPr id="22" name="Content Placeholder 1">
                <a:extLst>
                  <a:ext uri="{FF2B5EF4-FFF2-40B4-BE49-F238E27FC236}">
                    <a16:creationId xmlns:a16="http://schemas.microsoft.com/office/drawing/2014/main" id="{16FD0E49-E738-46FB-8E04-C8FBA470C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56" y="3830358"/>
                <a:ext cx="4879943" cy="1003707"/>
              </a:xfrm>
              <a:prstGeom prst="rect">
                <a:avLst/>
              </a:prstGeom>
              <a:blipFill>
                <a:blip r:embed="rId8"/>
                <a:stretch>
                  <a:fillRect l="-1000" t="-5455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03983" y="1078361"/>
                <a:ext cx="4985909" cy="43049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What is the language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? </a:t>
                </a:r>
              </a:p>
              <a:p>
                <a:r>
                  <a:rPr lang="en-US" dirty="0"/>
                  <a:t>LTL formula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3" name="Content Placeholder 1">
                <a:extLst>
                  <a:ext uri="{FF2B5EF4-FFF2-40B4-BE49-F238E27FC236}">
                    <a16:creationId xmlns:a16="http://schemas.microsoft.com/office/drawing/2014/main" id="{894C9597-4376-4943-AB06-A772771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3983" y="1078361"/>
                <a:ext cx="4985909" cy="4304963"/>
              </a:xfrm>
              <a:prstGeom prst="rect">
                <a:avLst/>
              </a:prstGeom>
              <a:blipFill>
                <a:blip r:embed="rId9"/>
                <a:stretch>
                  <a:fillRect l="-2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6D85EF-1ACC-467C-B347-19BD1D6F4681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1965856" y="2927005"/>
            <a:ext cx="2413873" cy="10501"/>
          </a:xfrm>
          <a:prstGeom prst="straightConnector1">
            <a:avLst/>
          </a:prstGeom>
          <a:ln w="4445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28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349FC4D-E4A6-4522-A15C-6FB09D4DD2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8695" y="1332703"/>
                <a:ext cx="610707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is the language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LTL formula: </a:t>
                </a:r>
              </a:p>
              <a:p>
                <a:pPr marL="18288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⇒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=1)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I.e. always when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r>
                  <a:rPr lang="en-US" dirty="0"/>
                  <a:t>, in some future step,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r>
                      <a:rPr lang="mr-IN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dirty="0"/>
                  <a:t> must be followed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349FC4D-E4A6-4522-A15C-6FB09D4DD2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8695" y="1332703"/>
                <a:ext cx="6107073" cy="4351338"/>
              </a:xfrm>
              <a:blipFill>
                <a:blip r:embed="rId2"/>
                <a:stretch>
                  <a:fillRect l="-2098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D77A11A-60B4-4362-8358-886D712A0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Büchi</a:t>
            </a:r>
            <a:r>
              <a:rPr lang="en-US" dirty="0"/>
              <a:t> automaton Example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B1D70-7207-43E0-8BC7-B94535931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29E8EA-FD7C-44CE-B96C-C3E80CBFAB86}"/>
              </a:ext>
            </a:extLst>
          </p:cNvPr>
          <p:cNvGrpSpPr/>
          <p:nvPr/>
        </p:nvGrpSpPr>
        <p:grpSpPr>
          <a:xfrm>
            <a:off x="138799" y="1111257"/>
            <a:ext cx="5118246" cy="2433772"/>
            <a:chOff x="2947132" y="2049660"/>
            <a:chExt cx="5118246" cy="24337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E0509A7-DB2C-4F71-A45A-8F20DBEB376F}"/>
                    </a:ext>
                  </a:extLst>
                </p:cNvPr>
                <p:cNvSpPr/>
                <p:nvPr/>
              </p:nvSpPr>
              <p:spPr>
                <a:xfrm>
                  <a:off x="7064347" y="3698648"/>
                  <a:ext cx="1001031" cy="544223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CE0509A7-DB2C-4F71-A45A-8F20DBEB37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4347" y="3698648"/>
                  <a:ext cx="1001031" cy="544223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2857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008A861-9020-44C4-A586-08A2454D6C89}"/>
                    </a:ext>
                  </a:extLst>
                </p:cNvPr>
                <p:cNvSpPr txBox="1"/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008A861-9020-44C4-A586-08A2454D6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23" y="2147605"/>
                  <a:ext cx="727507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E63B181-685E-4806-8000-54E034177D2A}"/>
                </a:ext>
              </a:extLst>
            </p:cNvPr>
            <p:cNvCxnSpPr>
              <a:cxnSpLocks/>
            </p:cNvCxnSpPr>
            <p:nvPr/>
          </p:nvCxnSpPr>
          <p:spPr>
            <a:xfrm>
              <a:off x="2947132" y="4036214"/>
              <a:ext cx="710684" cy="1"/>
            </a:xfrm>
            <a:prstGeom prst="straightConnector1">
              <a:avLst/>
            </a:pr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9858346-68F8-4C9E-AAB2-4F0E67F85F44}"/>
                </a:ext>
              </a:extLst>
            </p:cNvPr>
            <p:cNvSpPr/>
            <p:nvPr/>
          </p:nvSpPr>
          <p:spPr>
            <a:xfrm>
              <a:off x="4539632" y="3503763"/>
              <a:ext cx="2629911" cy="291401"/>
            </a:xfrm>
            <a:custGeom>
              <a:avLst/>
              <a:gdLst>
                <a:gd name="connsiteX0" fmla="*/ 0 w 2629911"/>
                <a:gd name="connsiteY0" fmla="*/ 291401 h 291401"/>
                <a:gd name="connsiteX1" fmla="*/ 1213805 w 2629911"/>
                <a:gd name="connsiteY1" fmla="*/ 88 h 291401"/>
                <a:gd name="connsiteX2" fmla="*/ 2629911 w 2629911"/>
                <a:gd name="connsiteY2" fmla="*/ 267125 h 29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9911" h="291401">
                  <a:moveTo>
                    <a:pt x="0" y="291401"/>
                  </a:moveTo>
                  <a:cubicBezTo>
                    <a:pt x="387743" y="147767"/>
                    <a:pt x="775487" y="4134"/>
                    <a:pt x="1213805" y="88"/>
                  </a:cubicBezTo>
                  <a:cubicBezTo>
                    <a:pt x="1652123" y="-3958"/>
                    <a:pt x="2141017" y="131583"/>
                    <a:pt x="2629911" y="267125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EB7AAB5-628B-4099-9ABB-0DA172EDB023}"/>
                </a:ext>
              </a:extLst>
            </p:cNvPr>
            <p:cNvSpPr/>
            <p:nvPr/>
          </p:nvSpPr>
          <p:spPr>
            <a:xfrm>
              <a:off x="4531540" y="4151214"/>
              <a:ext cx="2621819" cy="332218"/>
            </a:xfrm>
            <a:custGeom>
              <a:avLst/>
              <a:gdLst>
                <a:gd name="connsiteX0" fmla="*/ 2621819 w 2621819"/>
                <a:gd name="connsiteY0" fmla="*/ 0 h 332218"/>
                <a:gd name="connsiteX1" fmla="*/ 1359462 w 2621819"/>
                <a:gd name="connsiteY1" fmla="*/ 331773 h 332218"/>
                <a:gd name="connsiteX2" fmla="*/ 0 w 2621819"/>
                <a:gd name="connsiteY2" fmla="*/ 56644 h 33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21819" h="332218">
                  <a:moveTo>
                    <a:pt x="2621819" y="0"/>
                  </a:moveTo>
                  <a:cubicBezTo>
                    <a:pt x="2209125" y="161166"/>
                    <a:pt x="1796432" y="322332"/>
                    <a:pt x="1359462" y="331773"/>
                  </a:cubicBezTo>
                  <a:cubicBezTo>
                    <a:pt x="922492" y="341214"/>
                    <a:pt x="461246" y="198929"/>
                    <a:pt x="0" y="56644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D62C5E-ECEF-468D-901E-1DB300FF5970}"/>
                </a:ext>
              </a:extLst>
            </p:cNvPr>
            <p:cNvSpPr/>
            <p:nvPr/>
          </p:nvSpPr>
          <p:spPr>
            <a:xfrm rot="385658">
              <a:off x="3708742" y="3017804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868A533-1DA4-4685-AEDD-8435CA4E08F1}"/>
                </a:ext>
              </a:extLst>
            </p:cNvPr>
            <p:cNvSpPr/>
            <p:nvPr/>
          </p:nvSpPr>
          <p:spPr>
            <a:xfrm rot="615089">
              <a:off x="7251657" y="2990646"/>
              <a:ext cx="698919" cy="777360"/>
            </a:xfrm>
            <a:custGeom>
              <a:avLst/>
              <a:gdLst>
                <a:gd name="connsiteX0" fmla="*/ 215715 w 742225"/>
                <a:gd name="connsiteY0" fmla="*/ 717019 h 717019"/>
                <a:gd name="connsiteX1" fmla="*/ 5322 w 742225"/>
                <a:gd name="connsiteY1" fmla="*/ 449982 h 717019"/>
                <a:gd name="connsiteX2" fmla="*/ 94334 w 742225"/>
                <a:gd name="connsiteY2" fmla="*/ 85840 h 717019"/>
                <a:gd name="connsiteX3" fmla="*/ 426108 w 742225"/>
                <a:gd name="connsiteY3" fmla="*/ 4920 h 717019"/>
                <a:gd name="connsiteX4" fmla="*/ 701237 w 742225"/>
                <a:gd name="connsiteY4" fmla="*/ 182945 h 717019"/>
                <a:gd name="connsiteX5" fmla="*/ 733605 w 742225"/>
                <a:gd name="connsiteY5" fmla="*/ 514718 h 717019"/>
                <a:gd name="connsiteX6" fmla="*/ 628409 w 742225"/>
                <a:gd name="connsiteY6" fmla="*/ 652283 h 717019"/>
                <a:gd name="connsiteX0" fmla="*/ 210699 w 737209"/>
                <a:gd name="connsiteY0" fmla="*/ 722892 h 722892"/>
                <a:gd name="connsiteX1" fmla="*/ 306 w 737209"/>
                <a:gd name="connsiteY1" fmla="*/ 455855 h 722892"/>
                <a:gd name="connsiteX2" fmla="*/ 170239 w 737209"/>
                <a:gd name="connsiteY2" fmla="*/ 67437 h 722892"/>
                <a:gd name="connsiteX3" fmla="*/ 421092 w 737209"/>
                <a:gd name="connsiteY3" fmla="*/ 10793 h 722892"/>
                <a:gd name="connsiteX4" fmla="*/ 696221 w 737209"/>
                <a:gd name="connsiteY4" fmla="*/ 188818 h 722892"/>
                <a:gd name="connsiteX5" fmla="*/ 728589 w 737209"/>
                <a:gd name="connsiteY5" fmla="*/ 520591 h 722892"/>
                <a:gd name="connsiteX6" fmla="*/ 623393 w 737209"/>
                <a:gd name="connsiteY6" fmla="*/ 658156 h 722892"/>
                <a:gd name="connsiteX0" fmla="*/ 210675 w 740044"/>
                <a:gd name="connsiteY0" fmla="*/ 743338 h 743338"/>
                <a:gd name="connsiteX1" fmla="*/ 282 w 740044"/>
                <a:gd name="connsiteY1" fmla="*/ 476301 h 743338"/>
                <a:gd name="connsiteX2" fmla="*/ 170215 w 740044"/>
                <a:gd name="connsiteY2" fmla="*/ 87883 h 743338"/>
                <a:gd name="connsiteX3" fmla="*/ 364424 w 740044"/>
                <a:gd name="connsiteY3" fmla="*/ 6963 h 743338"/>
                <a:gd name="connsiteX4" fmla="*/ 696197 w 740044"/>
                <a:gd name="connsiteY4" fmla="*/ 209264 h 743338"/>
                <a:gd name="connsiteX5" fmla="*/ 728565 w 740044"/>
                <a:gd name="connsiteY5" fmla="*/ 541037 h 743338"/>
                <a:gd name="connsiteX6" fmla="*/ 623369 w 740044"/>
                <a:gd name="connsiteY6" fmla="*/ 678602 h 743338"/>
                <a:gd name="connsiteX0" fmla="*/ 210675 w 728565"/>
                <a:gd name="connsiteY0" fmla="*/ 740650 h 740650"/>
                <a:gd name="connsiteX1" fmla="*/ 282 w 728565"/>
                <a:gd name="connsiteY1" fmla="*/ 473613 h 740650"/>
                <a:gd name="connsiteX2" fmla="*/ 170215 w 728565"/>
                <a:gd name="connsiteY2" fmla="*/ 85195 h 740650"/>
                <a:gd name="connsiteX3" fmla="*/ 364424 w 728565"/>
                <a:gd name="connsiteY3" fmla="*/ 4275 h 740650"/>
                <a:gd name="connsiteX4" fmla="*/ 623369 w 728565"/>
                <a:gd name="connsiteY4" fmla="*/ 166116 h 740650"/>
                <a:gd name="connsiteX5" fmla="*/ 728565 w 728565"/>
                <a:gd name="connsiteY5" fmla="*/ 538349 h 740650"/>
                <a:gd name="connsiteX6" fmla="*/ 623369 w 728565"/>
                <a:gd name="connsiteY6" fmla="*/ 675914 h 740650"/>
                <a:gd name="connsiteX0" fmla="*/ 210675 w 760933"/>
                <a:gd name="connsiteY0" fmla="*/ 740650 h 740650"/>
                <a:gd name="connsiteX1" fmla="*/ 282 w 760933"/>
                <a:gd name="connsiteY1" fmla="*/ 473613 h 740650"/>
                <a:gd name="connsiteX2" fmla="*/ 170215 w 760933"/>
                <a:gd name="connsiteY2" fmla="*/ 85195 h 740650"/>
                <a:gd name="connsiteX3" fmla="*/ 364424 w 760933"/>
                <a:gd name="connsiteY3" fmla="*/ 4275 h 740650"/>
                <a:gd name="connsiteX4" fmla="*/ 623369 w 760933"/>
                <a:gd name="connsiteY4" fmla="*/ 166116 h 740650"/>
                <a:gd name="connsiteX5" fmla="*/ 760933 w 760933"/>
                <a:gd name="connsiteY5" fmla="*/ 376509 h 740650"/>
                <a:gd name="connsiteX6" fmla="*/ 623369 w 760933"/>
                <a:gd name="connsiteY6" fmla="*/ 675914 h 740650"/>
                <a:gd name="connsiteX0" fmla="*/ 138127 w 688385"/>
                <a:gd name="connsiteY0" fmla="*/ 739184 h 739184"/>
                <a:gd name="connsiteX1" fmla="*/ 562 w 688385"/>
                <a:gd name="connsiteY1" fmla="*/ 350767 h 739184"/>
                <a:gd name="connsiteX2" fmla="*/ 97667 w 688385"/>
                <a:gd name="connsiteY2" fmla="*/ 83729 h 739184"/>
                <a:gd name="connsiteX3" fmla="*/ 291876 w 688385"/>
                <a:gd name="connsiteY3" fmla="*/ 2809 h 739184"/>
                <a:gd name="connsiteX4" fmla="*/ 550821 w 688385"/>
                <a:gd name="connsiteY4" fmla="*/ 164650 h 739184"/>
                <a:gd name="connsiteX5" fmla="*/ 688385 w 688385"/>
                <a:gd name="connsiteY5" fmla="*/ 375043 h 739184"/>
                <a:gd name="connsiteX6" fmla="*/ 550821 w 688385"/>
                <a:gd name="connsiteY6" fmla="*/ 674448 h 739184"/>
                <a:gd name="connsiteX0" fmla="*/ 218751 w 769009"/>
                <a:gd name="connsiteY0" fmla="*/ 739184 h 739184"/>
                <a:gd name="connsiteX1" fmla="*/ 266 w 769009"/>
                <a:gd name="connsiteY1" fmla="*/ 350767 h 739184"/>
                <a:gd name="connsiteX2" fmla="*/ 178291 w 769009"/>
                <a:gd name="connsiteY2" fmla="*/ 83729 h 739184"/>
                <a:gd name="connsiteX3" fmla="*/ 372500 w 769009"/>
                <a:gd name="connsiteY3" fmla="*/ 2809 h 739184"/>
                <a:gd name="connsiteX4" fmla="*/ 631445 w 769009"/>
                <a:gd name="connsiteY4" fmla="*/ 164650 h 739184"/>
                <a:gd name="connsiteX5" fmla="*/ 769009 w 769009"/>
                <a:gd name="connsiteY5" fmla="*/ 375043 h 739184"/>
                <a:gd name="connsiteX6" fmla="*/ 631445 w 769009"/>
                <a:gd name="connsiteY6" fmla="*/ 674448 h 739184"/>
                <a:gd name="connsiteX0" fmla="*/ 222731 w 772989"/>
                <a:gd name="connsiteY0" fmla="*/ 736827 h 736827"/>
                <a:gd name="connsiteX1" fmla="*/ 4246 w 772989"/>
                <a:gd name="connsiteY1" fmla="*/ 348410 h 736827"/>
                <a:gd name="connsiteX2" fmla="*/ 101350 w 772989"/>
                <a:gd name="connsiteY2" fmla="*/ 121832 h 736827"/>
                <a:gd name="connsiteX3" fmla="*/ 376480 w 772989"/>
                <a:gd name="connsiteY3" fmla="*/ 452 h 736827"/>
                <a:gd name="connsiteX4" fmla="*/ 635425 w 772989"/>
                <a:gd name="connsiteY4" fmla="*/ 162293 h 736827"/>
                <a:gd name="connsiteX5" fmla="*/ 772989 w 772989"/>
                <a:gd name="connsiteY5" fmla="*/ 372686 h 736827"/>
                <a:gd name="connsiteX6" fmla="*/ 635425 w 772989"/>
                <a:gd name="connsiteY6" fmla="*/ 672091 h 736827"/>
                <a:gd name="connsiteX0" fmla="*/ 253971 w 804229"/>
                <a:gd name="connsiteY0" fmla="*/ 736969 h 736969"/>
                <a:gd name="connsiteX1" fmla="*/ 3118 w 804229"/>
                <a:gd name="connsiteY1" fmla="*/ 461841 h 736969"/>
                <a:gd name="connsiteX2" fmla="*/ 132590 w 804229"/>
                <a:gd name="connsiteY2" fmla="*/ 121974 h 736969"/>
                <a:gd name="connsiteX3" fmla="*/ 407720 w 804229"/>
                <a:gd name="connsiteY3" fmla="*/ 594 h 736969"/>
                <a:gd name="connsiteX4" fmla="*/ 666665 w 804229"/>
                <a:gd name="connsiteY4" fmla="*/ 162435 h 736969"/>
                <a:gd name="connsiteX5" fmla="*/ 804229 w 804229"/>
                <a:gd name="connsiteY5" fmla="*/ 372828 h 736969"/>
                <a:gd name="connsiteX6" fmla="*/ 666665 w 804229"/>
                <a:gd name="connsiteY6" fmla="*/ 672233 h 736969"/>
                <a:gd name="connsiteX0" fmla="*/ 253971 w 739493"/>
                <a:gd name="connsiteY0" fmla="*/ 736969 h 736969"/>
                <a:gd name="connsiteX1" fmla="*/ 3118 w 739493"/>
                <a:gd name="connsiteY1" fmla="*/ 461841 h 736969"/>
                <a:gd name="connsiteX2" fmla="*/ 132590 w 739493"/>
                <a:gd name="connsiteY2" fmla="*/ 121974 h 736969"/>
                <a:gd name="connsiteX3" fmla="*/ 407720 w 739493"/>
                <a:gd name="connsiteY3" fmla="*/ 594 h 736969"/>
                <a:gd name="connsiteX4" fmla="*/ 666665 w 739493"/>
                <a:gd name="connsiteY4" fmla="*/ 162435 h 736969"/>
                <a:gd name="connsiteX5" fmla="*/ 739493 w 739493"/>
                <a:gd name="connsiteY5" fmla="*/ 469932 h 736969"/>
                <a:gd name="connsiteX6" fmla="*/ 666665 w 739493"/>
                <a:gd name="connsiteY6" fmla="*/ 672233 h 736969"/>
                <a:gd name="connsiteX0" fmla="*/ 253971 w 747593"/>
                <a:gd name="connsiteY0" fmla="*/ 736969 h 736969"/>
                <a:gd name="connsiteX1" fmla="*/ 3118 w 747593"/>
                <a:gd name="connsiteY1" fmla="*/ 461841 h 736969"/>
                <a:gd name="connsiteX2" fmla="*/ 132590 w 747593"/>
                <a:gd name="connsiteY2" fmla="*/ 121974 h 736969"/>
                <a:gd name="connsiteX3" fmla="*/ 407720 w 747593"/>
                <a:gd name="connsiteY3" fmla="*/ 594 h 736969"/>
                <a:gd name="connsiteX4" fmla="*/ 666665 w 747593"/>
                <a:gd name="connsiteY4" fmla="*/ 162435 h 736969"/>
                <a:gd name="connsiteX5" fmla="*/ 739493 w 747593"/>
                <a:gd name="connsiteY5" fmla="*/ 469932 h 736969"/>
                <a:gd name="connsiteX6" fmla="*/ 504824 w 747593"/>
                <a:gd name="connsiteY6" fmla="*/ 639865 h 736969"/>
                <a:gd name="connsiteX0" fmla="*/ 313237 w 750215"/>
                <a:gd name="connsiteY0" fmla="*/ 639865 h 639865"/>
                <a:gd name="connsiteX1" fmla="*/ 5740 w 750215"/>
                <a:gd name="connsiteY1" fmla="*/ 461841 h 639865"/>
                <a:gd name="connsiteX2" fmla="*/ 135212 w 750215"/>
                <a:gd name="connsiteY2" fmla="*/ 121974 h 639865"/>
                <a:gd name="connsiteX3" fmla="*/ 410342 w 750215"/>
                <a:gd name="connsiteY3" fmla="*/ 594 h 639865"/>
                <a:gd name="connsiteX4" fmla="*/ 669287 w 750215"/>
                <a:gd name="connsiteY4" fmla="*/ 162435 h 639865"/>
                <a:gd name="connsiteX5" fmla="*/ 742115 w 750215"/>
                <a:gd name="connsiteY5" fmla="*/ 469932 h 639865"/>
                <a:gd name="connsiteX6" fmla="*/ 507446 w 750215"/>
                <a:gd name="connsiteY6" fmla="*/ 639865 h 639865"/>
                <a:gd name="connsiteX0" fmla="*/ 313237 w 798541"/>
                <a:gd name="connsiteY0" fmla="*/ 639865 h 704601"/>
                <a:gd name="connsiteX1" fmla="*/ 5740 w 798541"/>
                <a:gd name="connsiteY1" fmla="*/ 461841 h 704601"/>
                <a:gd name="connsiteX2" fmla="*/ 135212 w 798541"/>
                <a:gd name="connsiteY2" fmla="*/ 121974 h 704601"/>
                <a:gd name="connsiteX3" fmla="*/ 410342 w 798541"/>
                <a:gd name="connsiteY3" fmla="*/ 594 h 704601"/>
                <a:gd name="connsiteX4" fmla="*/ 669287 w 798541"/>
                <a:gd name="connsiteY4" fmla="*/ 162435 h 704601"/>
                <a:gd name="connsiteX5" fmla="*/ 742115 w 798541"/>
                <a:gd name="connsiteY5" fmla="*/ 469932 h 704601"/>
                <a:gd name="connsiteX6" fmla="*/ 782576 w 798541"/>
                <a:gd name="connsiteY6" fmla="*/ 704601 h 704601"/>
                <a:gd name="connsiteX0" fmla="*/ 313237 w 742181"/>
                <a:gd name="connsiteY0" fmla="*/ 639865 h 696509"/>
                <a:gd name="connsiteX1" fmla="*/ 5740 w 742181"/>
                <a:gd name="connsiteY1" fmla="*/ 461841 h 696509"/>
                <a:gd name="connsiteX2" fmla="*/ 135212 w 742181"/>
                <a:gd name="connsiteY2" fmla="*/ 121974 h 696509"/>
                <a:gd name="connsiteX3" fmla="*/ 410342 w 742181"/>
                <a:gd name="connsiteY3" fmla="*/ 594 h 696509"/>
                <a:gd name="connsiteX4" fmla="*/ 669287 w 742181"/>
                <a:gd name="connsiteY4" fmla="*/ 162435 h 696509"/>
                <a:gd name="connsiteX5" fmla="*/ 742115 w 742181"/>
                <a:gd name="connsiteY5" fmla="*/ 469932 h 696509"/>
                <a:gd name="connsiteX6" fmla="*/ 661195 w 742181"/>
                <a:gd name="connsiteY6" fmla="*/ 696509 h 696509"/>
                <a:gd name="connsiteX0" fmla="*/ 220343 w 738299"/>
                <a:gd name="connsiteY0" fmla="*/ 777430 h 777430"/>
                <a:gd name="connsiteX1" fmla="*/ 1858 w 738299"/>
                <a:gd name="connsiteY1" fmla="*/ 461841 h 777430"/>
                <a:gd name="connsiteX2" fmla="*/ 131330 w 738299"/>
                <a:gd name="connsiteY2" fmla="*/ 121974 h 777430"/>
                <a:gd name="connsiteX3" fmla="*/ 406460 w 738299"/>
                <a:gd name="connsiteY3" fmla="*/ 594 h 777430"/>
                <a:gd name="connsiteX4" fmla="*/ 665405 w 738299"/>
                <a:gd name="connsiteY4" fmla="*/ 162435 h 777430"/>
                <a:gd name="connsiteX5" fmla="*/ 738233 w 738299"/>
                <a:gd name="connsiteY5" fmla="*/ 469932 h 777430"/>
                <a:gd name="connsiteX6" fmla="*/ 657313 w 738299"/>
                <a:gd name="connsiteY6" fmla="*/ 696509 h 777430"/>
                <a:gd name="connsiteX0" fmla="*/ 180963 w 698919"/>
                <a:gd name="connsiteY0" fmla="*/ 777360 h 777360"/>
                <a:gd name="connsiteX1" fmla="*/ 2938 w 698919"/>
                <a:gd name="connsiteY1" fmla="*/ 413219 h 777360"/>
                <a:gd name="connsiteX2" fmla="*/ 91950 w 698919"/>
                <a:gd name="connsiteY2" fmla="*/ 121904 h 777360"/>
                <a:gd name="connsiteX3" fmla="*/ 367080 w 698919"/>
                <a:gd name="connsiteY3" fmla="*/ 524 h 777360"/>
                <a:gd name="connsiteX4" fmla="*/ 626025 w 698919"/>
                <a:gd name="connsiteY4" fmla="*/ 162365 h 777360"/>
                <a:gd name="connsiteX5" fmla="*/ 698853 w 698919"/>
                <a:gd name="connsiteY5" fmla="*/ 469862 h 777360"/>
                <a:gd name="connsiteX6" fmla="*/ 617933 w 698919"/>
                <a:gd name="connsiteY6" fmla="*/ 696439 h 77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919" h="777360">
                  <a:moveTo>
                    <a:pt x="180963" y="777360"/>
                  </a:moveTo>
                  <a:cubicBezTo>
                    <a:pt x="85881" y="696439"/>
                    <a:pt x="17773" y="522462"/>
                    <a:pt x="2938" y="413219"/>
                  </a:cubicBezTo>
                  <a:cubicBezTo>
                    <a:pt x="-11897" y="303976"/>
                    <a:pt x="31260" y="190687"/>
                    <a:pt x="91950" y="121904"/>
                  </a:cubicBezTo>
                  <a:cubicBezTo>
                    <a:pt x="152640" y="53122"/>
                    <a:pt x="278068" y="-6220"/>
                    <a:pt x="367080" y="524"/>
                  </a:cubicBezTo>
                  <a:cubicBezTo>
                    <a:pt x="456093" y="7268"/>
                    <a:pt x="570729" y="84142"/>
                    <a:pt x="626025" y="162365"/>
                  </a:cubicBezTo>
                  <a:cubicBezTo>
                    <a:pt x="681321" y="240588"/>
                    <a:pt x="700202" y="380850"/>
                    <a:pt x="698853" y="469862"/>
                  </a:cubicBezTo>
                  <a:cubicBezTo>
                    <a:pt x="697504" y="558874"/>
                    <a:pt x="664462" y="666768"/>
                    <a:pt x="617933" y="696439"/>
                  </a:cubicBezTo>
                </a:path>
              </a:pathLst>
            </a:custGeom>
            <a:ln w="4445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B23470E-E088-46CF-9285-87BD5E22DBE2}"/>
                    </a:ext>
                  </a:extLst>
                </p:cNvPr>
                <p:cNvSpPr txBox="1"/>
                <p:nvPr/>
              </p:nvSpPr>
              <p:spPr>
                <a:xfrm>
                  <a:off x="3419586" y="2049660"/>
                  <a:ext cx="1377749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a14:m>
                  <a:r>
                    <a:rPr lang="en-US" sz="2800" dirty="0"/>
                    <a:t> |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B23470E-E088-46CF-9285-87BD5E22DB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9586" y="2049660"/>
                  <a:ext cx="1377749" cy="954107"/>
                </a:xfrm>
                <a:prstGeom prst="rect">
                  <a:avLst/>
                </a:prstGeom>
                <a:blipFill>
                  <a:blip r:embed="rId6"/>
                  <a:stretch>
                    <a:fillRect t="-5732" r="-84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A4C7CE-D0A7-4E48-8799-27F1CD585412}"/>
                    </a:ext>
                  </a:extLst>
                </p:cNvPr>
                <p:cNvSpPr txBox="1"/>
                <p:nvPr/>
              </p:nvSpPr>
              <p:spPr>
                <a:xfrm>
                  <a:off x="4732097" y="3017987"/>
                  <a:ext cx="2299604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2800" dirty="0"/>
                    <a:t> 1 &amp;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7A4C7CE-D0A7-4E48-8799-27F1CD5854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2097" y="3017987"/>
                  <a:ext cx="2299604" cy="523220"/>
                </a:xfrm>
                <a:prstGeom prst="rect">
                  <a:avLst/>
                </a:prstGeom>
                <a:blipFill>
                  <a:blip r:embed="rId7"/>
                  <a:stretch>
                    <a:fillRect t="-10465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0512194-5DD7-45EB-AC26-623FD9F34C9E}"/>
                  </a:ext>
                </a:extLst>
              </p:cNvPr>
              <p:cNvSpPr/>
              <p:nvPr/>
            </p:nvSpPr>
            <p:spPr>
              <a:xfrm>
                <a:off x="4292268" y="1452888"/>
                <a:ext cx="1138966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0512194-5DD7-45EB-AC26-623FD9F34C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268" y="1452888"/>
                <a:ext cx="113896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6C8D52A-C0C7-4A9B-8369-FB7BF4A56AB9}"/>
                  </a:ext>
                </a:extLst>
              </p:cNvPr>
              <p:cNvSpPr/>
              <p:nvPr/>
            </p:nvSpPr>
            <p:spPr>
              <a:xfrm>
                <a:off x="2316463" y="3545029"/>
                <a:ext cx="1138966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66C8D52A-C0C7-4A9B-8369-FB7BF4A56A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463" y="3545029"/>
                <a:ext cx="113896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5BB65FB8-2785-48E3-9126-5158C74742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5332" y="4249598"/>
                <a:ext cx="4879943" cy="10037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Transitions: (as shown)</a:t>
                </a:r>
              </a:p>
            </p:txBody>
          </p:sp>
        </mc:Choice>
        <mc:Fallback xmlns="">
          <p:sp>
            <p:nvSpPr>
              <p:cNvPr id="18" name="Content Placeholder 1">
                <a:extLst>
                  <a:ext uri="{FF2B5EF4-FFF2-40B4-BE49-F238E27FC236}">
                    <a16:creationId xmlns:a16="http://schemas.microsoft.com/office/drawing/2014/main" id="{5BB65FB8-2785-48E3-9126-5158C7474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32" y="4249598"/>
                <a:ext cx="4879943" cy="1003707"/>
              </a:xfrm>
              <a:prstGeom prst="rect">
                <a:avLst/>
              </a:prstGeom>
              <a:blipFill>
                <a:blip r:embed="rId10"/>
                <a:stretch>
                  <a:fillRect l="-1000" t="-7273" b="-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8E10BD0-E057-40B5-BA12-C2590ED06A89}"/>
                  </a:ext>
                </a:extLst>
              </p:cNvPr>
              <p:cNvSpPr/>
              <p:nvPr/>
            </p:nvSpPr>
            <p:spPr>
              <a:xfrm>
                <a:off x="849483" y="2836202"/>
                <a:ext cx="1001031" cy="523220"/>
              </a:xfrm>
              <a:prstGeom prst="ellipse">
                <a:avLst/>
              </a:prstGeom>
              <a:ln w="95250" cmpd="dbl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8E10BD0-E057-40B5-BA12-C2590ED06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83" y="2836202"/>
                <a:ext cx="1001031" cy="52322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0" cmpd="dbl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812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EB444EA-D2E8-4066-ADD7-D6CD2324C1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2363821"/>
                <a:ext cx="11769071" cy="30740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Theoretical result: Every LTL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 can be converted to a </a:t>
                </a:r>
                <a:r>
                  <a:rPr lang="en-US" dirty="0" err="1"/>
                  <a:t>Büchi</a:t>
                </a:r>
                <a:r>
                  <a:rPr lang="en-US" dirty="0"/>
                  <a:t> monitor/automaton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Size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sub>
                    </m:sSub>
                  </m:oMath>
                </a14:m>
                <a:r>
                  <a:rPr lang="en-US" dirty="0"/>
                  <a:t> is generally exponential in the size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dirty="0"/>
                  <a:t>; blow-up unavoidable in general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EB444EA-D2E8-4066-ADD7-D6CD2324C1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2363821"/>
                <a:ext cx="11769071" cy="3074027"/>
              </a:xfrm>
              <a:blipFill>
                <a:blip r:embed="rId2"/>
                <a:stretch>
                  <a:fillRect l="-621" t="-3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2BFAF98-54A9-4568-90B0-EA4ED4D17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US" dirty="0" err="1"/>
              <a:t>Büchi</a:t>
            </a:r>
            <a:r>
              <a:rPr lang="en-US" dirty="0"/>
              <a:t> monitors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1E830-2D88-4E52-A81F-074161B36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1532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EF6CD3D-8087-EBCB-4DF8-9B82FE7EF8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Runtime monitoring: return a verdict based on only a finite portion of the trace</a:t>
                </a:r>
              </a:p>
              <a:p>
                <a:r>
                  <a:rPr lang="en-US" dirty="0"/>
                  <a:t>Some kinds of formulas can be monitored on finite traces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(¬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Finitely satisfiable: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Finitely refutable: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(¬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Some formulas can never return a verdict on finite traces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𝐆𝐅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EF6CD3D-8087-EBCB-4DF8-9B82FE7EF8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9D0AE8B-1E68-9600-A92B-766F68708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Büchi monitors for runtime monitoring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326E3B-11D1-65CB-462B-F03D20D46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9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99F4456-DC0D-4E53-9BA4-3289B49241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" y="1581665"/>
                <a:ext cx="12115800" cy="4102376"/>
              </a:xfrm>
            </p:spPr>
            <p:txBody>
              <a:bodyPr/>
              <a:lstStyle/>
              <a:p>
                <a:r>
                  <a:rPr lang="en-US" dirty="0"/>
                  <a:t>Construct composition of the original transition system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the </a:t>
                </a:r>
                <a:r>
                  <a:rPr lang="en-US" dirty="0" err="1"/>
                  <a:t>Büchi</a:t>
                </a:r>
                <a:r>
                  <a:rPr lang="en-US" dirty="0"/>
                  <a:t> monitor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𝜑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If there are cycles in the </a:t>
                </a:r>
                <a:r>
                  <a:rPr lang="en-US" i="1" dirty="0"/>
                  <a:t>product automaton </a:t>
                </a:r>
                <a:r>
                  <a:rPr lang="en-US" dirty="0"/>
                  <a:t>that visit the states specified by the Büchi condition, then we have found a violation</a:t>
                </a:r>
              </a:p>
              <a:p>
                <a:r>
                  <a:rPr lang="en-US" dirty="0"/>
                  <a:t>Reachable cycles in process composition correspond to counterexamples!</a:t>
                </a:r>
              </a:p>
              <a:p>
                <a:r>
                  <a:rPr lang="en-US" dirty="0"/>
                  <a:t>Implemented in many verification tools (e.g. the SPIN model checker developed at NASA JPL)</a:t>
                </a:r>
              </a:p>
              <a:p>
                <a:r>
                  <a:rPr lang="en-US" dirty="0"/>
                  <a:t>Many open-source tools to translate LTL properties to Büchi monitors: quite popular in the robotics domain [Spot, LTL2BA, …]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99F4456-DC0D-4E53-9BA4-3289B49241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1581665"/>
                <a:ext cx="12115800" cy="4102376"/>
              </a:xfrm>
              <a:blipFill>
                <a:blip r:embed="rId2"/>
                <a:stretch>
                  <a:fillRect l="-402" t="-2080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03209AE3-65D4-4C5D-8680-7944FBBA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LTL Model 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B9358-5503-49A1-ABD4-A11F2BA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1073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E7AA8D-B526-4B9A-1065-84AEF0459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C62539-93A0-6AC6-9EE5-6B4C5CCE9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LTL model checking for Blinker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021C5-BDAA-94AA-8347-EE997D20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7551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D8E9583-79D8-475B-B686-7636D81B2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Processes &amp; Fairness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8174A7-1E54-4BE9-BBA9-B0C4748D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73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0692C5A-B8BB-40E0-973E-2E4BDF7378E1}"/>
              </a:ext>
            </a:extLst>
          </p:cNvPr>
          <p:cNvGrpSpPr/>
          <p:nvPr/>
        </p:nvGrpSpPr>
        <p:grpSpPr>
          <a:xfrm>
            <a:off x="586291" y="1849292"/>
            <a:ext cx="3211205" cy="2463764"/>
            <a:chOff x="1206585" y="1723597"/>
            <a:chExt cx="3719413" cy="271022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68DDCF0-5937-4478-8727-BFD18F92DDA5}"/>
                </a:ext>
              </a:extLst>
            </p:cNvPr>
            <p:cNvSpPr/>
            <p:nvPr/>
          </p:nvSpPr>
          <p:spPr>
            <a:xfrm>
              <a:off x="1206585" y="1723597"/>
              <a:ext cx="3719413" cy="2710224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69E4D36-E8D2-4163-BBF6-18EBD45C5DBC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5" y="2567222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37D3B20-40BD-4A29-A4F0-725F94B2D719}"/>
                </a:ext>
              </a:extLst>
            </p:cNvPr>
            <p:cNvSpPr txBox="1"/>
            <p:nvPr/>
          </p:nvSpPr>
          <p:spPr>
            <a:xfrm>
              <a:off x="1484210" y="1888296"/>
              <a:ext cx="3222109" cy="5078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nat</a:t>
              </a:r>
              <a:r>
                <a:rPr lang="en-US" sz="2400" dirty="0"/>
                <a:t> x := 0; bool y:= 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AEE2A0A-6205-4377-A7B8-F18ED299B0F5}"/>
                    </a:ext>
                  </a:extLst>
                </p:cNvPr>
                <p:cNvSpPr txBox="1"/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800" dirty="0"/>
                    <a:t>  x := x + 1</a:t>
                  </a: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AEE2A0A-6205-4377-A7B8-F18ED299B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blipFill>
                  <a:blip r:embed="rId2"/>
                  <a:stretch>
                    <a:fillRect l="-6329" t="-10465" r="-5380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F9FE9F2-333A-40FA-A5A5-C315A2DFFBDE}"/>
                    </a:ext>
                  </a:extLst>
                </p:cNvPr>
                <p:cNvSpPr txBox="1"/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endParaRPr lang="en-US" sz="2800" dirty="0"/>
                </a:p>
                <a:p>
                  <a:r>
                    <a:rPr lang="en-US" sz="2800" dirty="0"/>
                    <a:t>    	y: = 1-y</a:t>
                  </a: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F9FE9F2-333A-40FA-A5A5-C315A2DFFB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blipFill>
                  <a:blip r:embed="rId3"/>
                  <a:stretch>
                    <a:fillRect l="-5634" t="-5732" r="-4789" b="-17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5EFC7A7-20DF-483D-8784-5FC2BFEB2B7C}"/>
              </a:ext>
            </a:extLst>
          </p:cNvPr>
          <p:cNvSpPr txBox="1"/>
          <p:nvPr/>
        </p:nvSpPr>
        <p:spPr>
          <a:xfrm>
            <a:off x="1577173" y="4311236"/>
            <a:ext cx="1228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Blinker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CC2035F6-4A37-4275-9FFD-2BB3913BB2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37331" y="1332703"/>
                <a:ext cx="7528437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Liveness property: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10)</a:t>
                </a:r>
                <a:endParaRPr lang="en-US" b="1" dirty="0"/>
              </a:p>
              <a:p>
                <a:pPr lvl="1"/>
                <a:r>
                  <a:rPr lang="en-US" dirty="0"/>
                  <a:t>Is this property guaranteed to hold?</a:t>
                </a:r>
              </a:p>
              <a:p>
                <a:pPr lvl="1"/>
                <a:r>
                  <a:rPr lang="en-US" dirty="0"/>
                  <a:t>No, task A may be executed less than 10 times.</a:t>
                </a:r>
              </a:p>
              <a:p>
                <a:r>
                  <a:rPr lang="en-US" dirty="0"/>
                  <a:t>Liveness Property: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dirty="0"/>
                  <a:t> y (eventually y is 1)</a:t>
                </a:r>
              </a:p>
              <a:p>
                <a:pPr lvl="1"/>
                <a:r>
                  <a:rPr lang="en-US" dirty="0"/>
                  <a:t>Is this property guaranteed to hold?</a:t>
                </a:r>
              </a:p>
              <a:p>
                <a:pPr lvl="1"/>
                <a:r>
                  <a:rPr lang="en-US" dirty="0"/>
                  <a:t>No, task B may never be selected for execution!</a:t>
                </a:r>
              </a:p>
              <a:p>
                <a:r>
                  <a:rPr lang="en-US" dirty="0"/>
                  <a:t>But, this seems like a very unrealistic or broken scheduler!</a:t>
                </a:r>
              </a:p>
              <a:p>
                <a:r>
                  <a:rPr lang="en-US" dirty="0"/>
                  <a:t>For infinite executions involving multiple tasks, it is important for the execution to be </a:t>
                </a:r>
                <a:r>
                  <a:rPr lang="en-US" i="1" dirty="0"/>
                  <a:t>fair</a:t>
                </a:r>
                <a:r>
                  <a:rPr lang="en-US" dirty="0"/>
                  <a:t> to each task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5" name="Content Placeholder 1">
                <a:extLst>
                  <a:ext uri="{FF2B5EF4-FFF2-40B4-BE49-F238E27FC236}">
                    <a16:creationId xmlns:a16="http://schemas.microsoft.com/office/drawing/2014/main" id="{CC2035F6-4A37-4275-9FFD-2BB3913BB2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37331" y="1332703"/>
                <a:ext cx="7528437" cy="4351338"/>
              </a:xfrm>
              <a:blipFill>
                <a:blip r:embed="rId4"/>
                <a:stretch>
                  <a:fillRect l="-648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67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96B205-A777-4426-A942-7DA750B32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2269" y="1332703"/>
            <a:ext cx="7973499" cy="4351338"/>
          </a:xfrm>
        </p:spPr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i="1" dirty="0"/>
              <a:t>fairness assumption </a:t>
            </a:r>
            <a:r>
              <a:rPr lang="en-US" dirty="0"/>
              <a:t>is a property that encodes the meaning of what it means for an infinite execution to be fair with respect to a task.</a:t>
            </a:r>
          </a:p>
          <a:p>
            <a:r>
              <a:rPr lang="en-US" b="1" dirty="0"/>
              <a:t>Weak fairness: </a:t>
            </a:r>
            <a:r>
              <a:rPr lang="en-US" dirty="0"/>
              <a:t>If a task is persistently enabled, then it is repeatedly executed.</a:t>
            </a:r>
          </a:p>
          <a:p>
            <a:pPr lvl="1"/>
            <a:r>
              <a:rPr lang="en-US" dirty="0"/>
              <a:t>I.e. if after some point the task guard is always true, then the task is infinitely often executed.</a:t>
            </a:r>
          </a:p>
          <a:p>
            <a:r>
              <a:rPr lang="en-US" b="1" dirty="0"/>
              <a:t>Strong fairness</a:t>
            </a:r>
            <a:r>
              <a:rPr lang="en-US" dirty="0"/>
              <a:t>: If a task is repeatedly enabled, then it is repeatedly executed.</a:t>
            </a:r>
          </a:p>
          <a:p>
            <a:pPr lvl="1"/>
            <a:r>
              <a:rPr lang="en-US" dirty="0"/>
              <a:t>I.e. if the task guard is infinitely often true, then the task is infinitely often executed.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F05320C-1ECD-413E-87EC-6B273F66F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vs. Strong fairness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8F2A5-A276-4209-B6C3-85057505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920A5B5-8B46-4328-8B07-BD58C57ECB78}"/>
              </a:ext>
            </a:extLst>
          </p:cNvPr>
          <p:cNvGrpSpPr/>
          <p:nvPr/>
        </p:nvGrpSpPr>
        <p:grpSpPr>
          <a:xfrm>
            <a:off x="390969" y="1873568"/>
            <a:ext cx="3211205" cy="2463764"/>
            <a:chOff x="1206585" y="1723597"/>
            <a:chExt cx="3719413" cy="2710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DDF437-9A66-4686-A07C-9ED49112A3F5}"/>
                </a:ext>
              </a:extLst>
            </p:cNvPr>
            <p:cNvSpPr/>
            <p:nvPr/>
          </p:nvSpPr>
          <p:spPr>
            <a:xfrm>
              <a:off x="1206585" y="1723597"/>
              <a:ext cx="3719413" cy="2710224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5FC8B01-4D34-4DBA-A0F9-F3DE12CA5E7B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5" y="2567222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288AF-11FB-4D89-BEB3-C279BE4DC817}"/>
                </a:ext>
              </a:extLst>
            </p:cNvPr>
            <p:cNvSpPr txBox="1"/>
            <p:nvPr/>
          </p:nvSpPr>
          <p:spPr>
            <a:xfrm>
              <a:off x="1484210" y="1888296"/>
              <a:ext cx="3222109" cy="50784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nat</a:t>
              </a:r>
              <a:r>
                <a:rPr lang="en-US" sz="2400" dirty="0"/>
                <a:t> x := 0; bool y:= 0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3502C7F-4F24-46A4-A771-168070C2CEC0}"/>
                    </a:ext>
                  </a:extLst>
                </p:cNvPr>
                <p:cNvSpPr txBox="1"/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800" dirty="0"/>
                    <a:t>  x := x + 1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3502C7F-4F24-46A4-A771-168070C2CE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3" y="2674884"/>
                  <a:ext cx="2232120" cy="575560"/>
                </a:xfrm>
                <a:prstGeom prst="rect">
                  <a:avLst/>
                </a:prstGeom>
                <a:blipFill>
                  <a:blip r:embed="rId2"/>
                  <a:stretch>
                    <a:fillRect l="-6329" t="-10465" r="-5380" b="-325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A57EE97-E5B6-4980-AFAF-F3727DA5744D}"/>
                    </a:ext>
                  </a:extLst>
                </p:cNvPr>
                <p:cNvSpPr txBox="1"/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endParaRPr lang="en-US" sz="2800" dirty="0"/>
                </a:p>
                <a:p>
                  <a:r>
                    <a:rPr lang="en-US" sz="2800" dirty="0"/>
                    <a:t>    	y: = 1-y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0A57EE97-E5B6-4980-AFAF-F3727DA574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8100" y="3246198"/>
                  <a:ext cx="2506910" cy="1049550"/>
                </a:xfrm>
                <a:prstGeom prst="rect">
                  <a:avLst/>
                </a:prstGeom>
                <a:blipFill>
                  <a:blip r:embed="rId3"/>
                  <a:stretch>
                    <a:fillRect l="-5634" t="-5732" r="-4789" b="-17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AD1DEE5-BFB2-4360-A817-8BD12E49E1ED}"/>
              </a:ext>
            </a:extLst>
          </p:cNvPr>
          <p:cNvSpPr txBox="1"/>
          <p:nvPr/>
        </p:nvSpPr>
        <p:spPr>
          <a:xfrm>
            <a:off x="1272689" y="4384337"/>
            <a:ext cx="1228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Blinker</a:t>
            </a:r>
          </a:p>
        </p:txBody>
      </p:sp>
    </p:spTree>
    <p:extLst>
      <p:ext uri="{BB962C8B-B14F-4D97-AF65-F5344CB8AC3E}">
        <p14:creationId xmlns:p14="http://schemas.microsoft.com/office/powerpoint/2010/main" val="23458941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95608AB-2AA4-48EB-8BB2-D1FB7B880C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2729" y="1332703"/>
                <a:ext cx="79330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Fairness assumptions can be expressed in LTL!</a:t>
                </a:r>
              </a:p>
              <a:p>
                <a:r>
                  <a:rPr lang="en-US" dirty="0"/>
                  <a:t>Add a new variable </a:t>
                </a:r>
                <a:r>
                  <a:rPr lang="en-US" i="1" dirty="0"/>
                  <a:t>taken </a:t>
                </a:r>
                <a:r>
                  <a:rPr lang="en-US" dirty="0"/>
                  <a:t>that takes value ‘A’, ‘B’</a:t>
                </a:r>
              </a:p>
              <a:p>
                <a:r>
                  <a:rPr lang="en-US" dirty="0"/>
                  <a:t>Weak fairness: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𝑔𝑢𝑎𝑟𝑑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dirty="0"/>
                  <a:t>(taken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))</a:t>
                </a:r>
              </a:p>
              <a:p>
                <a:r>
                  <a:rPr lang="en-US" dirty="0"/>
                  <a:t>Task A: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𝑔𝑢𝑎𝑟𝑑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</m:oMath>
                </a14:m>
                <a:r>
                  <a:rPr lang="en-US" dirty="0"/>
                  <a:t>, so this simplifies to: </a:t>
                </a:r>
                <a:r>
                  <a:rPr lang="en-US" dirty="0" err="1"/>
                  <a:t>wf</a:t>
                </a:r>
                <a:r>
                  <a:rPr lang="en-US" dirty="0"/>
                  <a:t>(A)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dirty="0"/>
                  <a:t>(taken=A)</a:t>
                </a:r>
              </a:p>
              <a:p>
                <a:r>
                  <a:rPr lang="en-US" dirty="0"/>
                  <a:t>Task B: </a:t>
                </a:r>
                <a:r>
                  <a:rPr lang="en-US" dirty="0" err="1"/>
                  <a:t>wf</a:t>
                </a:r>
                <a:r>
                  <a:rPr lang="en-US" dirty="0"/>
                  <a:t>(B)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𝐅𝐆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(even(x))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(taken=B)</a:t>
                </a:r>
              </a:p>
              <a:p>
                <a:r>
                  <a:rPr lang="en-US" dirty="0"/>
                  <a:t>Does (</a:t>
                </a:r>
                <a:r>
                  <a:rPr lang="en-US" dirty="0" err="1"/>
                  <a:t>wf</a:t>
                </a:r>
                <a:r>
                  <a:rPr lang="en-US" dirty="0"/>
                  <a:t>(A)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wf</a:t>
                </a:r>
                <a:r>
                  <a:rPr lang="en-US" dirty="0"/>
                  <a:t>(B))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10)? </a:t>
                </a:r>
              </a:p>
              <a:p>
                <a:pPr lvl="1"/>
                <a:r>
                  <a:rPr lang="en-US" b="1" dirty="0"/>
                  <a:t>Yes!</a:t>
                </a:r>
              </a:p>
              <a:p>
                <a:r>
                  <a:rPr lang="en-US" dirty="0"/>
                  <a:t>Does (</a:t>
                </a:r>
                <a:r>
                  <a:rPr lang="en-US" dirty="0" err="1"/>
                  <a:t>wf</a:t>
                </a:r>
                <a:r>
                  <a:rPr lang="en-US" dirty="0"/>
                  <a:t>(A)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wf</a:t>
                </a:r>
                <a:r>
                  <a:rPr lang="en-US" dirty="0"/>
                  <a:t>(B))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y?</a:t>
                </a:r>
              </a:p>
              <a:p>
                <a:pPr lvl="1"/>
                <a:r>
                  <a:rPr lang="en-US" b="1" dirty="0"/>
                  <a:t>No!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95608AB-2AA4-48EB-8BB2-D1FB7B880C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2729" y="1332703"/>
                <a:ext cx="7933039" cy="4351338"/>
              </a:xfrm>
              <a:blipFill>
                <a:blip r:embed="rId2"/>
                <a:stretch>
                  <a:fillRect l="-615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CEAEB44-B2D0-4E62-9D2A-4EA7325AC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Expressing fairness assumptions in LTL: 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46B17-D3DE-407A-97E7-C96B412A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01B6B38-8599-47E3-A968-B0F7028F80D8}"/>
              </a:ext>
            </a:extLst>
          </p:cNvPr>
          <p:cNvGrpSpPr/>
          <p:nvPr/>
        </p:nvGrpSpPr>
        <p:grpSpPr>
          <a:xfrm>
            <a:off x="355157" y="1399921"/>
            <a:ext cx="3247017" cy="2362876"/>
            <a:chOff x="1165105" y="1723597"/>
            <a:chExt cx="3760893" cy="21457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C7F525F-A808-41B2-8871-5502B3052D56}"/>
                </a:ext>
              </a:extLst>
            </p:cNvPr>
            <p:cNvSpPr/>
            <p:nvPr/>
          </p:nvSpPr>
          <p:spPr>
            <a:xfrm>
              <a:off x="1206585" y="1723597"/>
              <a:ext cx="3719413" cy="2145788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4E462D1-9CDC-4B15-B2CA-5FAF6E0602FE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5" y="2567222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2AF07B6-7024-473C-9729-7C6C65BA671C}"/>
                    </a:ext>
                  </a:extLst>
                </p:cNvPr>
                <p:cNvSpPr txBox="1"/>
                <p:nvPr/>
              </p:nvSpPr>
              <p:spPr>
                <a:xfrm>
                  <a:off x="1206585" y="1730318"/>
                  <a:ext cx="3639198" cy="4259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 err="1"/>
                    <a:t>nat</a:t>
                  </a:r>
                  <a:r>
                    <a:rPr lang="en-US" sz="2400" dirty="0"/>
                    <a:t> x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:= 0</m:t>
                      </m:r>
                    </m:oMath>
                  </a14:m>
                  <a:r>
                    <a:rPr lang="en-US" sz="2400" dirty="0"/>
                    <a:t>; bool y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:= 0</m:t>
                      </m:r>
                    </m:oMath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2AF07B6-7024-473C-9729-7C6C65BA6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6585" y="1730318"/>
                  <a:ext cx="3639198" cy="425959"/>
                </a:xfrm>
                <a:prstGeom prst="rect">
                  <a:avLst/>
                </a:prstGeom>
                <a:blipFill>
                  <a:blip r:embed="rId3"/>
                  <a:stretch>
                    <a:fillRect l="-2907" t="-10390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00FAA58-FDBD-4C65-A48D-248D4CF37EAA}"/>
                    </a:ext>
                  </a:extLst>
                </p:cNvPr>
                <p:cNvSpPr txBox="1"/>
                <p:nvPr/>
              </p:nvSpPr>
              <p:spPr>
                <a:xfrm>
                  <a:off x="1165105" y="2689102"/>
                  <a:ext cx="3567849" cy="4259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400" dirty="0"/>
                    <a:t>  x := x + 1; taken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2400" dirty="0"/>
                    <a:t>A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00FAA58-FDBD-4C65-A48D-248D4CF37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5105" y="2689102"/>
                  <a:ext cx="3567849" cy="425959"/>
                </a:xfrm>
                <a:prstGeom prst="rect">
                  <a:avLst/>
                </a:prstGeom>
                <a:blipFill>
                  <a:blip r:embed="rId4"/>
                  <a:stretch>
                    <a:fillRect l="-2964" t="-10390" r="-79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ECEDD44-EE8B-4793-A313-A4F01C864682}"/>
                    </a:ext>
                  </a:extLst>
                </p:cNvPr>
                <p:cNvSpPr txBox="1"/>
                <p:nvPr/>
              </p:nvSpPr>
              <p:spPr>
                <a:xfrm>
                  <a:off x="1204975" y="3027485"/>
                  <a:ext cx="3719413" cy="7667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endParaRPr lang="en-US" sz="2400" dirty="0"/>
                </a:p>
                <a:p>
                  <a:r>
                    <a:rPr lang="en-US" sz="2400" dirty="0"/>
                    <a:t>         y: = 1-y; taken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a14:m>
                  <a:r>
                    <a:rPr lang="en-US" sz="2400" dirty="0"/>
                    <a:t> B 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ECEDD44-EE8B-4793-A313-A4F01C8646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4975" y="3027485"/>
                  <a:ext cx="3719413" cy="766726"/>
                </a:xfrm>
                <a:prstGeom prst="rect">
                  <a:avLst/>
                </a:prstGeom>
                <a:blipFill>
                  <a:blip r:embed="rId5"/>
                  <a:stretch>
                    <a:fillRect l="-3036" t="-5755" r="-1898" b="-136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9D1802D-3209-4D97-ACBA-6B160E632AE1}"/>
              </a:ext>
            </a:extLst>
          </p:cNvPr>
          <p:cNvSpPr txBox="1"/>
          <p:nvPr/>
        </p:nvSpPr>
        <p:spPr>
          <a:xfrm>
            <a:off x="1151308" y="3754601"/>
            <a:ext cx="1228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Blinker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4D2538-571A-4B30-94F3-5957F750076C}"/>
                  </a:ext>
                </a:extLst>
              </p:cNvPr>
              <p:cNvSpPr txBox="1"/>
              <p:nvPr/>
            </p:nvSpPr>
            <p:spPr>
              <a:xfrm>
                <a:off x="355157" y="1754724"/>
                <a:ext cx="26012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{A,B,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2400" dirty="0"/>
                  <a:t>} taken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4D2538-571A-4B30-94F3-5957F7500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57" y="1754724"/>
                <a:ext cx="2601225" cy="461665"/>
              </a:xfrm>
              <a:prstGeom prst="rect">
                <a:avLst/>
              </a:prstGeom>
              <a:blipFill>
                <a:blip r:embed="rId6"/>
                <a:stretch>
                  <a:fillRect l="-351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15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95608AB-2AA4-48EB-8BB2-D1FB7B880C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2729" y="1332702"/>
                <a:ext cx="7933039" cy="340922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Strong fairness: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𝐆𝐅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𝑔𝑢𝑎𝑟𝑑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dirty="0"/>
                  <a:t>(taken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))</a:t>
                </a:r>
              </a:p>
              <a:p>
                <a:r>
                  <a:rPr lang="en-US" dirty="0"/>
                  <a:t>Task A: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𝑔𝑢𝑎𝑟𝑑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</m:oMath>
                </a14:m>
                <a:r>
                  <a:rPr lang="en-US" dirty="0"/>
                  <a:t>, so this simplifies to: sf(A)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dirty="0"/>
                  <a:t>(taken=A)</a:t>
                </a:r>
              </a:p>
              <a:p>
                <a:r>
                  <a:rPr lang="en-US" dirty="0"/>
                  <a:t>Task B: sf(B)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(even(x))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𝐆𝐅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(taken=B)</a:t>
                </a:r>
              </a:p>
              <a:p>
                <a:r>
                  <a:rPr lang="en-US" dirty="0"/>
                  <a:t>Does (sf(A)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/>
                  <a:t> sf(B))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0)? </a:t>
                </a:r>
              </a:p>
              <a:p>
                <a:pPr lvl="1"/>
                <a:r>
                  <a:rPr lang="en-US" b="1" dirty="0"/>
                  <a:t>Yes!</a:t>
                </a:r>
              </a:p>
              <a:p>
                <a:r>
                  <a:rPr lang="en-US" dirty="0"/>
                  <a:t>Does (sf(A)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n-US" dirty="0"/>
                  <a:t> sf(B))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𝐅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y?</a:t>
                </a:r>
              </a:p>
              <a:p>
                <a:pPr lvl="1"/>
                <a:r>
                  <a:rPr lang="en-US" b="1" dirty="0"/>
                  <a:t>Yes!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95608AB-2AA4-48EB-8BB2-D1FB7B880C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2729" y="1332702"/>
                <a:ext cx="7933039" cy="3409229"/>
              </a:xfrm>
              <a:blipFill>
                <a:blip r:embed="rId2"/>
                <a:stretch>
                  <a:fillRect l="-615" t="-2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CEAEB44-B2D0-4E62-9D2A-4EA7325AC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Expressing fairness assumptions in LTL: II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46B17-D3DE-407A-97E7-C96B412A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01B6B38-8599-47E3-A968-B0F7028F80D8}"/>
              </a:ext>
            </a:extLst>
          </p:cNvPr>
          <p:cNvGrpSpPr/>
          <p:nvPr/>
        </p:nvGrpSpPr>
        <p:grpSpPr>
          <a:xfrm>
            <a:off x="355157" y="1399921"/>
            <a:ext cx="3247017" cy="2362876"/>
            <a:chOff x="1165105" y="1723597"/>
            <a:chExt cx="3760893" cy="21457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C7F525F-A808-41B2-8871-5502B3052D56}"/>
                </a:ext>
              </a:extLst>
            </p:cNvPr>
            <p:cNvSpPr/>
            <p:nvPr/>
          </p:nvSpPr>
          <p:spPr>
            <a:xfrm>
              <a:off x="1206585" y="1723597"/>
              <a:ext cx="3719413" cy="2145788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4E462D1-9CDC-4B15-B2CA-5FAF6E0602FE}"/>
                </a:ext>
              </a:extLst>
            </p:cNvPr>
            <p:cNvCxnSpPr>
              <a:cxnSpLocks/>
            </p:cNvCxnSpPr>
            <p:nvPr/>
          </p:nvCxnSpPr>
          <p:spPr>
            <a:xfrm>
              <a:off x="1206585" y="2567222"/>
              <a:ext cx="3719413" cy="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2AF07B6-7024-473C-9729-7C6C65BA671C}"/>
                    </a:ext>
                  </a:extLst>
                </p:cNvPr>
                <p:cNvSpPr txBox="1"/>
                <p:nvPr/>
              </p:nvSpPr>
              <p:spPr>
                <a:xfrm>
                  <a:off x="1206585" y="1730318"/>
                  <a:ext cx="3639198" cy="4259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 err="1"/>
                    <a:t>nat</a:t>
                  </a:r>
                  <a:r>
                    <a:rPr lang="en-US" sz="2400" dirty="0"/>
                    <a:t> x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:= 0</m:t>
                      </m:r>
                    </m:oMath>
                  </a14:m>
                  <a:r>
                    <a:rPr lang="en-US" sz="2400" dirty="0"/>
                    <a:t>; bool y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:= 0</m:t>
                      </m:r>
                    </m:oMath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2AF07B6-7024-473C-9729-7C6C65BA6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6585" y="1730318"/>
                  <a:ext cx="3639198" cy="425959"/>
                </a:xfrm>
                <a:prstGeom prst="rect">
                  <a:avLst/>
                </a:prstGeom>
                <a:blipFill>
                  <a:blip r:embed="rId3"/>
                  <a:stretch>
                    <a:fillRect l="-2907" t="-10390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00FAA58-FDBD-4C65-A48D-248D4CF37EAA}"/>
                    </a:ext>
                  </a:extLst>
                </p:cNvPr>
                <p:cNvSpPr txBox="1"/>
                <p:nvPr/>
              </p:nvSpPr>
              <p:spPr>
                <a:xfrm>
                  <a:off x="1165105" y="2689102"/>
                  <a:ext cx="3567849" cy="4259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0" dirty="0"/>
                    <a:t>A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r>
                    <a:rPr lang="en-US" sz="2400" dirty="0"/>
                    <a:t>  x := x + 1; taken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≔ </m:t>
                      </m:r>
                    </m:oMath>
                  </a14:m>
                  <a:r>
                    <a:rPr lang="en-US" sz="2400" dirty="0"/>
                    <a:t>A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00FAA58-FDBD-4C65-A48D-248D4CF37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5105" y="2689102"/>
                  <a:ext cx="3567849" cy="425959"/>
                </a:xfrm>
                <a:prstGeom prst="rect">
                  <a:avLst/>
                </a:prstGeom>
                <a:blipFill>
                  <a:blip r:embed="rId4"/>
                  <a:stretch>
                    <a:fillRect l="-2964" t="-10390" r="-79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ECEDD44-EE8B-4793-A313-A4F01C864682}"/>
                    </a:ext>
                  </a:extLst>
                </p:cNvPr>
                <p:cNvSpPr txBox="1"/>
                <p:nvPr/>
              </p:nvSpPr>
              <p:spPr>
                <a:xfrm>
                  <a:off x="1204975" y="3027485"/>
                  <a:ext cx="3719413" cy="7667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b="0" dirty="0"/>
                    <a:t>B: even(x) </a:t>
                  </a:r>
                  <a14:m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endParaRPr lang="en-US" sz="2400" dirty="0"/>
                </a:p>
                <a:p>
                  <a:r>
                    <a:rPr lang="en-US" sz="2400" dirty="0"/>
                    <a:t>         y: = 1-y; taken </a:t>
                  </a:r>
                  <a14:m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≔</m:t>
                      </m:r>
                    </m:oMath>
                  </a14:m>
                  <a:r>
                    <a:rPr lang="en-US" sz="2400" dirty="0"/>
                    <a:t> B 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ECEDD44-EE8B-4793-A313-A4F01C8646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4975" y="3027485"/>
                  <a:ext cx="3719413" cy="766726"/>
                </a:xfrm>
                <a:prstGeom prst="rect">
                  <a:avLst/>
                </a:prstGeom>
                <a:blipFill>
                  <a:blip r:embed="rId5"/>
                  <a:stretch>
                    <a:fillRect l="-3036" t="-5755" r="-1898" b="-136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9D1802D-3209-4D97-ACBA-6B160E632AE1}"/>
              </a:ext>
            </a:extLst>
          </p:cNvPr>
          <p:cNvSpPr txBox="1"/>
          <p:nvPr/>
        </p:nvSpPr>
        <p:spPr>
          <a:xfrm>
            <a:off x="1151308" y="3754601"/>
            <a:ext cx="1228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Blinker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4D2538-571A-4B30-94F3-5957F750076C}"/>
                  </a:ext>
                </a:extLst>
              </p:cNvPr>
              <p:cNvSpPr txBox="1"/>
              <p:nvPr/>
            </p:nvSpPr>
            <p:spPr>
              <a:xfrm>
                <a:off x="355157" y="1754724"/>
                <a:ext cx="26012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{A,B,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2400" dirty="0"/>
                  <a:t>} taken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≔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84D2538-571A-4B30-94F3-5957F7500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57" y="1754724"/>
                <a:ext cx="2601225" cy="461665"/>
              </a:xfrm>
              <a:prstGeom prst="rect">
                <a:avLst/>
              </a:prstGeom>
              <a:blipFill>
                <a:blip r:embed="rId6"/>
                <a:stretch>
                  <a:fillRect l="-351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8A82523F-B2A8-4C60-93FD-19CD9B72883E}"/>
              </a:ext>
            </a:extLst>
          </p:cNvPr>
          <p:cNvSpPr/>
          <p:nvPr/>
        </p:nvSpPr>
        <p:spPr>
          <a:xfrm>
            <a:off x="486880" y="4664565"/>
            <a:ext cx="11378887" cy="1323439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If a process satisfies a liveness requirement under weak fairness, it satisfies it under strong fairness, but converse is not true in general.</a:t>
            </a: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Weak = scheduler is less stringent, so if liveness holds when scheduler gives more freedom, then liveness will hold when scheduler gives less freedom.</a:t>
            </a:r>
          </a:p>
        </p:txBody>
      </p:sp>
    </p:spTree>
    <p:extLst>
      <p:ext uri="{BB962C8B-B14F-4D97-AF65-F5344CB8AC3E}">
        <p14:creationId xmlns:p14="http://schemas.microsoft.com/office/powerpoint/2010/main" val="1078185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1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1EC061-E25A-41D5-83DE-B7F316651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en-US" dirty="0"/>
              <a:t>Formal verification for Dynamical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0314E-2482-499A-BBC4-5A1F3EC1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03826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89B527-7CF6-489B-880A-28A12C181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Barrier certificate: safety invariant for a continuous dynamical system</a:t>
            </a:r>
          </a:p>
          <a:p>
            <a:r>
              <a:rPr lang="en-US" dirty="0"/>
              <a:t>It establishes an invisible barrier that trajectories of a system cannot cross</a:t>
            </a:r>
          </a:p>
          <a:p>
            <a:pPr lvl="1"/>
            <a:r>
              <a:rPr lang="en-US" dirty="0"/>
              <a:t>(think of it as a force-field)</a:t>
            </a:r>
          </a:p>
          <a:p>
            <a:r>
              <a:rPr lang="en-US" dirty="0"/>
              <a:t>Reasoning very similar to that of an inductive invariant</a:t>
            </a:r>
          </a:p>
          <a:p>
            <a:pPr lvl="1"/>
            <a:r>
              <a:rPr lang="en-US" dirty="0"/>
              <a:t>Establish that the initial states all lie within the barrier</a:t>
            </a:r>
          </a:p>
          <a:p>
            <a:pPr lvl="1"/>
            <a:r>
              <a:rPr lang="en-US" dirty="0"/>
              <a:t>Establish that the unsafe states are all outside the barrier</a:t>
            </a:r>
          </a:p>
          <a:p>
            <a:pPr lvl="1"/>
            <a:r>
              <a:rPr lang="en-US" dirty="0"/>
              <a:t>Show that the next states for all states on the barrier are inside the barrier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66FDB6-4FA5-40DB-81A9-B18CBC1B6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 verification using barrier certificates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C0818-20B9-4F13-B464-E46B76F77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9793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4F2FAB0-FE5E-4696-BB2B-23B65140F0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27102" y="1291771"/>
                <a:ext cx="6538666" cy="4392269"/>
              </a:xfrm>
            </p:spPr>
            <p:txBody>
              <a:bodyPr/>
              <a:lstStyle/>
              <a:p>
                <a:r>
                  <a:rPr lang="en-US" dirty="0"/>
                  <a:t>Given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serves as a classifier between good and bad states</a:t>
                </a:r>
              </a:p>
              <a:p>
                <a:r>
                  <a:rPr lang="en-US" dirty="0"/>
                  <a:t>Barrier conditions:</a:t>
                </a:r>
              </a:p>
              <a:p>
                <a:pPr marL="92583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1" dirty="0"/>
              </a:p>
              <a:p>
                <a:pPr marL="92583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b="0" dirty="0"/>
              </a:p>
              <a:p>
                <a:pPr marL="92583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b="0" dirty="0"/>
              </a:p>
              <a:p>
                <a:pPr marL="411480" lvl="1" indent="0">
                  <a:buNone/>
                </a:pPr>
                <a:r>
                  <a:rPr lang="en-US" dirty="0"/>
                  <a:t>(The last condition models the barrier pushing the system back!)</a:t>
                </a:r>
                <a:endParaRPr lang="en-US" b="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4F2FAB0-FE5E-4696-BB2B-23B65140F0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27102" y="1291771"/>
                <a:ext cx="6538666" cy="4392269"/>
              </a:xfrm>
              <a:blipFill>
                <a:blip r:embed="rId2"/>
                <a:stretch>
                  <a:fillRect l="-1213" t="-2361" r="-280" b="-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73E3B30-BF6F-4FA1-8408-6A4AB1BA6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Strict barrier certificate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87500-74A8-450E-9E88-1B36F957B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79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A2F0F8D-109C-4DD8-8E87-600E35AFB351}"/>
              </a:ext>
            </a:extLst>
          </p:cNvPr>
          <p:cNvSpPr/>
          <p:nvPr/>
        </p:nvSpPr>
        <p:spPr>
          <a:xfrm>
            <a:off x="246404" y="1697715"/>
            <a:ext cx="3904343" cy="3621314"/>
          </a:xfrm>
          <a:prstGeom prst="ellipse">
            <a:avLst/>
          </a:prstGeom>
          <a:ln w="76200" cmpd="dbl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4CCA03-AB0E-4151-9EF1-98D6D0EEE2EE}"/>
              </a:ext>
            </a:extLst>
          </p:cNvPr>
          <p:cNvSpPr/>
          <p:nvPr/>
        </p:nvSpPr>
        <p:spPr>
          <a:xfrm>
            <a:off x="4005943" y="1697715"/>
            <a:ext cx="936171" cy="718000"/>
          </a:xfrm>
          <a:prstGeom prst="rect">
            <a:avLst/>
          </a:prstGeom>
          <a:solidFill>
            <a:srgbClr val="FFAFB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Unsafe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307B40E-08B7-4EDA-AB6D-8D436C4D7A8D}"/>
              </a:ext>
            </a:extLst>
          </p:cNvPr>
          <p:cNvSpPr/>
          <p:nvPr/>
        </p:nvSpPr>
        <p:spPr>
          <a:xfrm>
            <a:off x="1204685" y="3737428"/>
            <a:ext cx="1328058" cy="63862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accent6">
                    <a:lumMod val="50000"/>
                  </a:schemeClr>
                </a:solidFill>
              </a:rPr>
              <a:t>Initial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AB50FA-A45D-461D-9DC2-95CEA1BD3945}"/>
              </a:ext>
            </a:extLst>
          </p:cNvPr>
          <p:cNvCxnSpPr>
            <a:cxnSpLocks/>
          </p:cNvCxnSpPr>
          <p:nvPr/>
        </p:nvCxnSpPr>
        <p:spPr>
          <a:xfrm>
            <a:off x="2198575" y="1713345"/>
            <a:ext cx="0" cy="3820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1B245C-55DF-423E-89AC-5BA86AA32488}"/>
              </a:ext>
            </a:extLst>
          </p:cNvPr>
          <p:cNvCxnSpPr>
            <a:cxnSpLocks/>
          </p:cNvCxnSpPr>
          <p:nvPr/>
        </p:nvCxnSpPr>
        <p:spPr>
          <a:xfrm flipH="1">
            <a:off x="2690731" y="1844100"/>
            <a:ext cx="185057" cy="478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B838647-2DB0-41A9-8C3F-C04BABEBD453}"/>
              </a:ext>
            </a:extLst>
          </p:cNvPr>
          <p:cNvCxnSpPr>
            <a:cxnSpLocks/>
          </p:cNvCxnSpPr>
          <p:nvPr/>
        </p:nvCxnSpPr>
        <p:spPr>
          <a:xfrm>
            <a:off x="993808" y="2138243"/>
            <a:ext cx="341506" cy="4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83513A-4122-456D-8542-1045E77D3749}"/>
              </a:ext>
            </a:extLst>
          </p:cNvPr>
          <p:cNvCxnSpPr>
            <a:cxnSpLocks/>
          </p:cNvCxnSpPr>
          <p:nvPr/>
        </p:nvCxnSpPr>
        <p:spPr>
          <a:xfrm flipH="1">
            <a:off x="3069179" y="2095359"/>
            <a:ext cx="290793" cy="4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BD4FF7-A1F5-42DB-84AE-6F1C25019670}"/>
              </a:ext>
            </a:extLst>
          </p:cNvPr>
          <p:cNvCxnSpPr>
            <a:cxnSpLocks/>
          </p:cNvCxnSpPr>
          <p:nvPr/>
        </p:nvCxnSpPr>
        <p:spPr>
          <a:xfrm flipH="1">
            <a:off x="3333412" y="2563470"/>
            <a:ext cx="509191" cy="274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3EE8A6-42B8-4001-9494-8824E4BF778D}"/>
              </a:ext>
            </a:extLst>
          </p:cNvPr>
          <p:cNvCxnSpPr>
            <a:cxnSpLocks/>
          </p:cNvCxnSpPr>
          <p:nvPr/>
        </p:nvCxnSpPr>
        <p:spPr>
          <a:xfrm>
            <a:off x="1574882" y="1844100"/>
            <a:ext cx="170753" cy="4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EE12F70-4481-49E4-B6AF-6BA314072C7A}"/>
              </a:ext>
            </a:extLst>
          </p:cNvPr>
          <p:cNvCxnSpPr>
            <a:cxnSpLocks/>
          </p:cNvCxnSpPr>
          <p:nvPr/>
        </p:nvCxnSpPr>
        <p:spPr>
          <a:xfrm>
            <a:off x="341010" y="3114982"/>
            <a:ext cx="563875" cy="198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7AF40C3-2776-4337-A127-B45BA34CDC69}"/>
              </a:ext>
            </a:extLst>
          </p:cNvPr>
          <p:cNvCxnSpPr>
            <a:cxnSpLocks/>
          </p:cNvCxnSpPr>
          <p:nvPr/>
        </p:nvCxnSpPr>
        <p:spPr>
          <a:xfrm>
            <a:off x="273976" y="3669049"/>
            <a:ext cx="667576" cy="57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89F1FB-115F-43B6-8F83-3FC112945552}"/>
              </a:ext>
            </a:extLst>
          </p:cNvPr>
          <p:cNvCxnSpPr>
            <a:cxnSpLocks/>
          </p:cNvCxnSpPr>
          <p:nvPr/>
        </p:nvCxnSpPr>
        <p:spPr>
          <a:xfrm>
            <a:off x="607764" y="2556302"/>
            <a:ext cx="587748" cy="402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40A4B-566E-412E-A767-40CA31554C6C}"/>
              </a:ext>
            </a:extLst>
          </p:cNvPr>
          <p:cNvCxnSpPr>
            <a:cxnSpLocks/>
          </p:cNvCxnSpPr>
          <p:nvPr/>
        </p:nvCxnSpPr>
        <p:spPr>
          <a:xfrm flipV="1">
            <a:off x="468086" y="4096594"/>
            <a:ext cx="433552" cy="129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6931984-35FE-49C6-8581-ABF0A7F28045}"/>
              </a:ext>
            </a:extLst>
          </p:cNvPr>
          <p:cNvCxnSpPr>
            <a:cxnSpLocks/>
          </p:cNvCxnSpPr>
          <p:nvPr/>
        </p:nvCxnSpPr>
        <p:spPr>
          <a:xfrm flipV="1">
            <a:off x="801976" y="4436917"/>
            <a:ext cx="362585" cy="277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3AFBD4C-03A3-44CD-9DEC-199CA1D01EB1}"/>
              </a:ext>
            </a:extLst>
          </p:cNvPr>
          <p:cNvCxnSpPr>
            <a:cxnSpLocks/>
          </p:cNvCxnSpPr>
          <p:nvPr/>
        </p:nvCxnSpPr>
        <p:spPr>
          <a:xfrm flipV="1">
            <a:off x="1212297" y="4708763"/>
            <a:ext cx="239132" cy="3613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2F7FA98-45EE-4296-B935-45F94C7A9F4B}"/>
              </a:ext>
            </a:extLst>
          </p:cNvPr>
          <p:cNvCxnSpPr>
            <a:cxnSpLocks/>
          </p:cNvCxnSpPr>
          <p:nvPr/>
        </p:nvCxnSpPr>
        <p:spPr>
          <a:xfrm flipV="1">
            <a:off x="1703801" y="4708763"/>
            <a:ext cx="164913" cy="517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A1014DD-6274-4662-BE06-EF227984B949}"/>
              </a:ext>
            </a:extLst>
          </p:cNvPr>
          <p:cNvCxnSpPr>
            <a:cxnSpLocks/>
          </p:cNvCxnSpPr>
          <p:nvPr/>
        </p:nvCxnSpPr>
        <p:spPr>
          <a:xfrm flipH="1" flipV="1">
            <a:off x="2198575" y="4752085"/>
            <a:ext cx="16634" cy="5171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8939AE7-3650-4E7E-8B72-DCF55A7D77C2}"/>
              </a:ext>
            </a:extLst>
          </p:cNvPr>
          <p:cNvCxnSpPr>
            <a:cxnSpLocks/>
          </p:cNvCxnSpPr>
          <p:nvPr/>
        </p:nvCxnSpPr>
        <p:spPr>
          <a:xfrm flipV="1">
            <a:off x="2475931" y="4752085"/>
            <a:ext cx="64763" cy="488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F3BD9EF-DC00-4857-93E8-C650A1DF9C16}"/>
              </a:ext>
            </a:extLst>
          </p:cNvPr>
          <p:cNvCxnSpPr>
            <a:cxnSpLocks/>
          </p:cNvCxnSpPr>
          <p:nvPr/>
        </p:nvCxnSpPr>
        <p:spPr>
          <a:xfrm flipV="1">
            <a:off x="2783259" y="4802689"/>
            <a:ext cx="392444" cy="415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107559-C48F-45A6-B2DB-2FD97C8FD295}"/>
              </a:ext>
            </a:extLst>
          </p:cNvPr>
          <p:cNvCxnSpPr>
            <a:cxnSpLocks/>
          </p:cNvCxnSpPr>
          <p:nvPr/>
        </p:nvCxnSpPr>
        <p:spPr>
          <a:xfrm flipH="1" flipV="1">
            <a:off x="3498636" y="4299689"/>
            <a:ext cx="21099" cy="503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48C06B0-96B7-4B77-BA2C-AAC484CECFCA}"/>
              </a:ext>
            </a:extLst>
          </p:cNvPr>
          <p:cNvCxnSpPr>
            <a:cxnSpLocks/>
          </p:cNvCxnSpPr>
          <p:nvPr/>
        </p:nvCxnSpPr>
        <p:spPr>
          <a:xfrm flipH="1" flipV="1">
            <a:off x="3588007" y="3940629"/>
            <a:ext cx="290905" cy="3676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84E78E6-66E4-4D53-8D71-AC6B2FC5DED7}"/>
              </a:ext>
            </a:extLst>
          </p:cNvPr>
          <p:cNvCxnSpPr>
            <a:cxnSpLocks/>
          </p:cNvCxnSpPr>
          <p:nvPr/>
        </p:nvCxnSpPr>
        <p:spPr>
          <a:xfrm flipH="1" flipV="1">
            <a:off x="3588007" y="3726286"/>
            <a:ext cx="520071" cy="1139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0CFA29A-2820-4EE6-9D7F-BA246C1CEE18}"/>
              </a:ext>
            </a:extLst>
          </p:cNvPr>
          <p:cNvCxnSpPr>
            <a:cxnSpLocks/>
          </p:cNvCxnSpPr>
          <p:nvPr/>
        </p:nvCxnSpPr>
        <p:spPr>
          <a:xfrm flipH="1" flipV="1">
            <a:off x="3509185" y="3482028"/>
            <a:ext cx="66387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B3B6732-F27E-401E-9815-C03F9F28ABE9}"/>
              </a:ext>
            </a:extLst>
          </p:cNvPr>
          <p:cNvCxnSpPr>
            <a:cxnSpLocks/>
          </p:cNvCxnSpPr>
          <p:nvPr/>
        </p:nvCxnSpPr>
        <p:spPr>
          <a:xfrm flipH="1" flipV="1">
            <a:off x="3363845" y="3046136"/>
            <a:ext cx="66387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37663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B383095-7865-4BC5-9894-D00CA1A34E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;</m:t>
                    </m:r>
                    <m:acc>
                      <m:accPr>
                        <m:chr m:val="̇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Initial state set: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&lt;1/4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Unsafe set: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&gt;4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Barrier: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−3 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From plot: </a:t>
                </a:r>
              </a:p>
              <a:p>
                <a:pPr lvl="2"/>
                <a:r>
                  <a:rPr lang="en-US" sz="2400" dirty="0"/>
                  <a:t>for initial states,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sz="2400" dirty="0"/>
                  <a:t>, </a:t>
                </a:r>
              </a:p>
              <a:p>
                <a:pPr lvl="2"/>
                <a:r>
                  <a:rPr lang="en-US" sz="2400" dirty="0"/>
                  <a:t>for unsafe states,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B383095-7865-4BC5-9894-D00CA1A34E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DF2DC37-604D-4F4F-B0B0-0645AD64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72A2EE-2D5A-47AB-A068-148CDAD6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9F4719-766F-46ED-B003-EAB3D818AA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623"/>
          <a:stretch/>
        </p:blipFill>
        <p:spPr>
          <a:xfrm>
            <a:off x="7845970" y="944131"/>
            <a:ext cx="4179348" cy="42390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373D38-B066-4633-B12C-58001417D2F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382" t="62755"/>
          <a:stretch/>
        </p:blipFill>
        <p:spPr>
          <a:xfrm>
            <a:off x="5076404" y="3679726"/>
            <a:ext cx="2904496" cy="207214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A3DE3FA-75AC-45F9-8E9F-079B1F3091DB}"/>
              </a:ext>
            </a:extLst>
          </p:cNvPr>
          <p:cNvCxnSpPr/>
          <p:nvPr/>
        </p:nvCxnSpPr>
        <p:spPr>
          <a:xfrm>
            <a:off x="7922103" y="1209202"/>
            <a:ext cx="1197621" cy="66815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EDE6C4-0516-4C1E-97DE-11236BBFE17F}"/>
              </a:ext>
            </a:extLst>
          </p:cNvPr>
          <p:cNvCxnSpPr>
            <a:cxnSpLocks/>
          </p:cNvCxnSpPr>
          <p:nvPr/>
        </p:nvCxnSpPr>
        <p:spPr>
          <a:xfrm>
            <a:off x="7845970" y="2285426"/>
            <a:ext cx="1993945" cy="66816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9D1C28-74D2-48C9-B706-181AC220FC63}"/>
              </a:ext>
            </a:extLst>
          </p:cNvPr>
          <p:cNvCxnSpPr>
            <a:cxnSpLocks/>
          </p:cNvCxnSpPr>
          <p:nvPr/>
        </p:nvCxnSpPr>
        <p:spPr>
          <a:xfrm>
            <a:off x="7783189" y="1809065"/>
            <a:ext cx="1474099" cy="582044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19D6922-0FBF-4405-A3E7-CE7EA1D01084}"/>
              </a:ext>
            </a:extLst>
          </p:cNvPr>
          <p:cNvSpPr txBox="1"/>
          <p:nvPr/>
        </p:nvSpPr>
        <p:spPr>
          <a:xfrm>
            <a:off x="7062743" y="823928"/>
            <a:ext cx="1050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Unsafe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4B52FA-DA71-45CC-BF4F-402FE6196B25}"/>
              </a:ext>
            </a:extLst>
          </p:cNvPr>
          <p:cNvSpPr txBox="1"/>
          <p:nvPr/>
        </p:nvSpPr>
        <p:spPr>
          <a:xfrm>
            <a:off x="6960791" y="2100087"/>
            <a:ext cx="8851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</a:rPr>
              <a:t>Initial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C57C9E-1A0D-47E6-B5C5-96A3B4172BF7}"/>
              </a:ext>
            </a:extLst>
          </p:cNvPr>
          <p:cNvSpPr txBox="1"/>
          <p:nvPr/>
        </p:nvSpPr>
        <p:spPr>
          <a:xfrm>
            <a:off x="6868836" y="1470932"/>
            <a:ext cx="10454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Barrier</a:t>
            </a:r>
          </a:p>
        </p:txBody>
      </p:sp>
    </p:spTree>
    <p:extLst>
      <p:ext uri="{BB962C8B-B14F-4D97-AF65-F5344CB8AC3E}">
        <p14:creationId xmlns:p14="http://schemas.microsoft.com/office/powerpoint/2010/main" val="35016135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8863907-4856-47D5-834A-17C0532AD6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106126"/>
                <a:ext cx="7300918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Finally,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+2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+6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mr>
                    </m:m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sz="2000" dirty="0"/>
                  <a:t> =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−4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+2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+6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−6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000" dirty="0"/>
                  <a:t>=</a:t>
                </a:r>
              </a:p>
              <a:p>
                <a:pPr marL="914400" lvl="2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−2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+2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−6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000" dirty="0"/>
                  <a:t> = </a:t>
                </a:r>
              </a:p>
              <a:p>
                <a:pPr marL="914400" lvl="2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+3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)−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4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+9</m:t>
                        </m:r>
                        <m:sSubSup>
                          <m:sSub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2000" dirty="0"/>
                  <a:t> =</a:t>
                </a:r>
              </a:p>
              <a:p>
                <a:pPr marL="914400" lvl="2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3 −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+9</m:t>
                        </m:r>
                        <m:sSubSup>
                          <m:sSub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sz="2000" dirty="0"/>
              </a:p>
              <a:p>
                <a:r>
                  <a:rPr lang="en-US" sz="2000" dirty="0"/>
                  <a:t>From the plot, the above function is always negative for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/>
                  <a:t>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sz="20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0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8863907-4856-47D5-834A-17C0532AD6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106126"/>
                <a:ext cx="7300918" cy="4351338"/>
              </a:xfrm>
              <a:blipFill>
                <a:blip r:embed="rId2"/>
                <a:stretch>
                  <a:fillRect l="-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068518D-13BD-48E1-91ED-4E097D341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E5411-9CDE-4A38-8A8B-F467905F8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951C5-FC7E-4B01-9B0A-69A5F431F8E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623"/>
          <a:stretch/>
        </p:blipFill>
        <p:spPr>
          <a:xfrm>
            <a:off x="7845970" y="944131"/>
            <a:ext cx="4179348" cy="42390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C69C40-2D40-40CD-A284-42CB3A0DCA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5382" t="62755"/>
          <a:stretch/>
        </p:blipFill>
        <p:spPr>
          <a:xfrm>
            <a:off x="5076404" y="3679726"/>
            <a:ext cx="2904496" cy="207214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A8F78A-4F47-4C27-96CE-DD2CE0773BCC}"/>
              </a:ext>
            </a:extLst>
          </p:cNvPr>
          <p:cNvCxnSpPr>
            <a:cxnSpLocks/>
          </p:cNvCxnSpPr>
          <p:nvPr/>
        </p:nvCxnSpPr>
        <p:spPr>
          <a:xfrm>
            <a:off x="8640945" y="848862"/>
            <a:ext cx="851013" cy="1335988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2337665-60F9-4B01-A73F-76F9CA80EFA3}"/>
              </a:ext>
            </a:extLst>
          </p:cNvPr>
          <p:cNvSpPr txBox="1"/>
          <p:nvPr/>
        </p:nvSpPr>
        <p:spPr>
          <a:xfrm>
            <a:off x="7726592" y="510729"/>
            <a:ext cx="10454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4">
                    <a:lumMod val="75000"/>
                  </a:schemeClr>
                </a:solidFill>
              </a:rPr>
              <a:t>Barrier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EF844B6-382B-477F-BB69-555D84E634B5}"/>
              </a:ext>
            </a:extLst>
          </p:cNvPr>
          <p:cNvCxnSpPr>
            <a:cxnSpLocks/>
          </p:cNvCxnSpPr>
          <p:nvPr/>
        </p:nvCxnSpPr>
        <p:spPr>
          <a:xfrm flipV="1">
            <a:off x="4321147" y="2854338"/>
            <a:ext cx="5235547" cy="5879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9321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CFA3B8-41AD-2F26-98EC-58C792C76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E2AF48-E8EF-98ED-CFBC-A436CDFF3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Barrier Functions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93FBA-95F4-53EC-063C-458C81B22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217909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1F025-8FD3-D1BF-167A-348A7F5EA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A3CA69-21CB-15D9-6614-EE5E487F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Viability Kernels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BFF04-82D1-B304-B701-787BC1F1E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5346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29370B-959B-4260-ABB6-AD25245C4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332703"/>
            <a:ext cx="11699087" cy="4218433"/>
          </a:xfrm>
        </p:spPr>
        <p:txBody>
          <a:bodyPr>
            <a:normAutofit/>
          </a:bodyPr>
          <a:lstStyle/>
          <a:p>
            <a:r>
              <a:rPr lang="en-US" dirty="0"/>
              <a:t>Verification basics and Hybrid Systems lecture: reachability analysis using a “fix-point based algorithm” </a:t>
            </a:r>
          </a:p>
          <a:p>
            <a:pPr lvl="1"/>
            <a:r>
              <a:rPr lang="en-US" dirty="0"/>
              <a:t>uses a breadth-first approach to compute reachable states over an infinite time-horizon</a:t>
            </a:r>
          </a:p>
          <a:p>
            <a:r>
              <a:rPr lang="en-US" dirty="0"/>
              <a:t>Barrier certificates: also provide infinite time safety results, but require manual ingenuity in coming up with a barrier; difficult to do for hybrid/nonlinear systems</a:t>
            </a:r>
          </a:p>
          <a:p>
            <a:r>
              <a:rPr lang="en-US" dirty="0"/>
              <a:t>Time-bounded reachability: Starting from some initial state in a given set of initial states, does the system behavior ever reach an unsafe state within a given time bound?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D11FE3-F407-4D72-B56A-2D2EADB8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Time-bounded Reachability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6E5D3-527E-40A0-AA3D-347CE2D3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86939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09E6E-3B4C-4522-8634-CF7E2EBEB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Problem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02CDD-7EC3-43B6-BF42-8A234295A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ontent Placeholder 1">
                <a:extLst>
                  <a:ext uri="{FF2B5EF4-FFF2-40B4-BE49-F238E27FC236}">
                    <a16:creationId xmlns:a16="http://schemas.microsoft.com/office/drawing/2014/main" id="{655386DB-57DE-4F0B-A576-785FC262B6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456" y="1203702"/>
                <a:ext cx="11699087" cy="2434386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be the solution trajectory of a given dynamical system (could be nonlinear, hybrid, timed, …) when the system starts in initial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Time-bounded reachability: Prove that: </a:t>
                </a: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∀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1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:</m:t>
                      </m:r>
                      <m:d>
                        <m:d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∉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𝑈𝑛𝑠𝑎𝑓𝑒</m:t>
                          </m:r>
                        </m:e>
                      </m:d>
                    </m:oMath>
                  </m:oMathPara>
                </a14:m>
                <a:endParaRPr lang="en-US" sz="2400" b="1" dirty="0"/>
              </a:p>
              <a:p>
                <a:r>
                  <a:rPr lang="en-US" sz="2400" dirty="0"/>
                  <a:t>Counterexample to time-bounded reachability shown below</a:t>
                </a:r>
              </a:p>
            </p:txBody>
          </p:sp>
        </mc:Choice>
        <mc:Fallback xmlns="">
          <p:sp>
            <p:nvSpPr>
              <p:cNvPr id="46" name="Content Placeholder 1">
                <a:extLst>
                  <a:ext uri="{FF2B5EF4-FFF2-40B4-BE49-F238E27FC236}">
                    <a16:creationId xmlns:a16="http://schemas.microsoft.com/office/drawing/2014/main" id="{655386DB-57DE-4F0B-A576-785FC262B6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456" y="1203702"/>
                <a:ext cx="11699087" cy="2434386"/>
              </a:xfrm>
              <a:blipFill>
                <a:blip r:embed="rId2"/>
                <a:stretch>
                  <a:fillRect l="-417" t="-3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7105C5B2-AF66-4A31-BDEA-411B068A3852}"/>
              </a:ext>
            </a:extLst>
          </p:cNvPr>
          <p:cNvSpPr/>
          <p:nvPr/>
        </p:nvSpPr>
        <p:spPr>
          <a:xfrm>
            <a:off x="1236733" y="3429000"/>
            <a:ext cx="1448475" cy="2063469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620070B-EFF5-4703-BC84-C1DC04E679F0}"/>
              </a:ext>
            </a:extLst>
          </p:cNvPr>
          <p:cNvSpPr/>
          <p:nvPr/>
        </p:nvSpPr>
        <p:spPr>
          <a:xfrm rot="18402694">
            <a:off x="8906550" y="3848979"/>
            <a:ext cx="1165253" cy="2249586"/>
          </a:xfrm>
          <a:prstGeom prst="ellipse">
            <a:avLst/>
          </a:prstGeom>
          <a:solidFill>
            <a:srgbClr val="FFD1D2"/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4FD3D3-E4E8-4990-8825-718F646D111A}"/>
              </a:ext>
            </a:extLst>
          </p:cNvPr>
          <p:cNvSpPr txBox="1"/>
          <p:nvPr/>
        </p:nvSpPr>
        <p:spPr>
          <a:xfrm>
            <a:off x="8583732" y="3656445"/>
            <a:ext cx="10720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Unsafe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6555F11-88A2-48BA-A1A1-1A0CAEAB0DDE}"/>
              </a:ext>
            </a:extLst>
          </p:cNvPr>
          <p:cNvSpPr/>
          <p:nvPr/>
        </p:nvSpPr>
        <p:spPr>
          <a:xfrm>
            <a:off x="1768109" y="4876668"/>
            <a:ext cx="113288" cy="97104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689B306-0F68-4E13-9987-0D90F498F95B}"/>
                  </a:ext>
                </a:extLst>
              </p:cNvPr>
              <p:cNvSpPr/>
              <p:nvPr/>
            </p:nvSpPr>
            <p:spPr>
              <a:xfrm>
                <a:off x="650897" y="3568711"/>
                <a:ext cx="66422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689B306-0F68-4E13-9987-0D90F498F9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97" y="3568711"/>
                <a:ext cx="66422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FF822E-A833-4E0E-8FA6-4426E7C32B10}"/>
                  </a:ext>
                </a:extLst>
              </p:cNvPr>
              <p:cNvSpPr/>
              <p:nvPr/>
            </p:nvSpPr>
            <p:spPr>
              <a:xfrm>
                <a:off x="1526883" y="4385370"/>
                <a:ext cx="55528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EFF822E-A833-4E0E-8FA6-4426E7C32B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883" y="4385370"/>
                <a:ext cx="555280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3585A30-BC74-4FEC-8518-12E42591A6D6}"/>
                  </a:ext>
                </a:extLst>
              </p:cNvPr>
              <p:cNvSpPr/>
              <p:nvPr/>
            </p:nvSpPr>
            <p:spPr>
              <a:xfrm>
                <a:off x="4103219" y="4163894"/>
                <a:ext cx="12969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3585A30-BC74-4FEC-8518-12E42591A6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3219" y="4163894"/>
                <a:ext cx="1296958" cy="461665"/>
              </a:xfrm>
              <a:prstGeom prst="rect">
                <a:avLst/>
              </a:prstGeom>
              <a:blipFill>
                <a:blip r:embed="rId5"/>
                <a:stretch>
                  <a:fillRect r="-939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7316DA0-61DB-432F-ADB8-EC368BCFCE44}"/>
              </a:ext>
            </a:extLst>
          </p:cNvPr>
          <p:cNvCxnSpPr/>
          <p:nvPr/>
        </p:nvCxnSpPr>
        <p:spPr>
          <a:xfrm flipH="1">
            <a:off x="3780527" y="4636449"/>
            <a:ext cx="633721" cy="55592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99B0656-88E7-4690-A362-A9F095EB44EA}"/>
                  </a:ext>
                </a:extLst>
              </p:cNvPr>
              <p:cNvSpPr/>
              <p:nvPr/>
            </p:nvSpPr>
            <p:spPr>
              <a:xfrm>
                <a:off x="2564095" y="3667721"/>
                <a:ext cx="133754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,0)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99B0656-88E7-4690-A362-A9F095EB44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4095" y="3667721"/>
                <a:ext cx="1337546" cy="461665"/>
              </a:xfrm>
              <a:prstGeom prst="rect">
                <a:avLst/>
              </a:prstGeom>
              <a:blipFill>
                <a:blip r:embed="rId6"/>
                <a:stretch>
                  <a:fillRect r="-913" b="-18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2E94C9F-BB39-4391-AD38-A1D776FC7039}"/>
              </a:ext>
            </a:extLst>
          </p:cNvPr>
          <p:cNvCxnSpPr>
            <a:cxnSpLocks/>
          </p:cNvCxnSpPr>
          <p:nvPr/>
        </p:nvCxnSpPr>
        <p:spPr>
          <a:xfrm flipH="1">
            <a:off x="1904123" y="4141038"/>
            <a:ext cx="1173230" cy="76248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CEFB4EC-FD31-4CE1-A516-7C4BE2639758}"/>
                  </a:ext>
                </a:extLst>
              </p:cNvPr>
              <p:cNvSpPr/>
              <p:nvPr/>
            </p:nvSpPr>
            <p:spPr>
              <a:xfrm>
                <a:off x="10000358" y="3889179"/>
                <a:ext cx="129695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CEFB4EC-FD31-4CE1-A516-7C4BE26397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0358" y="3889179"/>
                <a:ext cx="1296957" cy="461665"/>
              </a:xfrm>
              <a:prstGeom prst="rect">
                <a:avLst/>
              </a:prstGeom>
              <a:blipFill>
                <a:blip r:embed="rId7"/>
                <a:stretch>
                  <a:fillRect t="-11842" r="-14085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6A369DC-1615-4BC9-A036-91C830860BF2}"/>
              </a:ext>
            </a:extLst>
          </p:cNvPr>
          <p:cNvCxnSpPr>
            <a:cxnSpLocks/>
          </p:cNvCxnSpPr>
          <p:nvPr/>
        </p:nvCxnSpPr>
        <p:spPr>
          <a:xfrm flipH="1">
            <a:off x="9342255" y="4350844"/>
            <a:ext cx="828603" cy="665539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64764BC-C271-489F-AD74-7DF7236E653D}"/>
                  </a:ext>
                </a:extLst>
              </p:cNvPr>
              <p:cNvSpPr/>
              <p:nvPr/>
            </p:nvSpPr>
            <p:spPr>
              <a:xfrm>
                <a:off x="10429877" y="4440893"/>
                <a:ext cx="1434239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̂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acc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∈[0,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64764BC-C271-489F-AD74-7DF7236E65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9877" y="4440893"/>
                <a:ext cx="1434239" cy="461665"/>
              </a:xfrm>
              <a:prstGeom prst="rect">
                <a:avLst/>
              </a:prstGeom>
              <a:blipFill>
                <a:blip r:embed="rId8"/>
                <a:stretch>
                  <a:fillRect t="-11842" r="-851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138815E-918D-4B8A-9F1C-27085F48F395}"/>
              </a:ext>
            </a:extLst>
          </p:cNvPr>
          <p:cNvSpPr/>
          <p:nvPr/>
        </p:nvSpPr>
        <p:spPr>
          <a:xfrm>
            <a:off x="8591249" y="4803881"/>
            <a:ext cx="1360837" cy="242678"/>
          </a:xfrm>
          <a:custGeom>
            <a:avLst/>
            <a:gdLst>
              <a:gd name="connsiteX0" fmla="*/ 0 w 1360837"/>
              <a:gd name="connsiteY0" fmla="*/ 0 h 242678"/>
              <a:gd name="connsiteX1" fmla="*/ 419100 w 1360837"/>
              <a:gd name="connsiteY1" fmla="*/ 234950 h 242678"/>
              <a:gd name="connsiteX2" fmla="*/ 1225550 w 1360837"/>
              <a:gd name="connsiteY2" fmla="*/ 177800 h 242678"/>
              <a:gd name="connsiteX3" fmla="*/ 1352550 w 1360837"/>
              <a:gd name="connsiteY3" fmla="*/ 95250 h 242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60837" h="242678">
                <a:moveTo>
                  <a:pt x="0" y="0"/>
                </a:moveTo>
                <a:cubicBezTo>
                  <a:pt x="107421" y="102658"/>
                  <a:pt x="214842" y="205317"/>
                  <a:pt x="419100" y="234950"/>
                </a:cubicBezTo>
                <a:cubicBezTo>
                  <a:pt x="623358" y="264583"/>
                  <a:pt x="1069975" y="201083"/>
                  <a:pt x="1225550" y="177800"/>
                </a:cubicBezTo>
                <a:cubicBezTo>
                  <a:pt x="1381125" y="154517"/>
                  <a:pt x="1366837" y="124883"/>
                  <a:pt x="1352550" y="95250"/>
                </a:cubicBezTo>
              </a:path>
            </a:pathLst>
          </a:cu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0870F67-CC00-4E55-8973-7703DB0DD66B}"/>
              </a:ext>
            </a:extLst>
          </p:cNvPr>
          <p:cNvSpPr/>
          <p:nvPr/>
        </p:nvSpPr>
        <p:spPr>
          <a:xfrm>
            <a:off x="1784350" y="4496467"/>
            <a:ext cx="6813550" cy="764158"/>
          </a:xfrm>
          <a:custGeom>
            <a:avLst/>
            <a:gdLst>
              <a:gd name="connsiteX0" fmla="*/ 0 w 6813550"/>
              <a:gd name="connsiteY0" fmla="*/ 405733 h 764158"/>
              <a:gd name="connsiteX1" fmla="*/ 2305050 w 6813550"/>
              <a:gd name="connsiteY1" fmla="*/ 754983 h 764158"/>
              <a:gd name="connsiteX2" fmla="*/ 4546600 w 6813550"/>
              <a:gd name="connsiteY2" fmla="*/ 75533 h 764158"/>
              <a:gd name="connsiteX3" fmla="*/ 6064250 w 6813550"/>
              <a:gd name="connsiteY3" fmla="*/ 43783 h 764158"/>
              <a:gd name="connsiteX4" fmla="*/ 6813550 w 6813550"/>
              <a:gd name="connsiteY4" fmla="*/ 316833 h 764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13550" h="764158">
                <a:moveTo>
                  <a:pt x="0" y="405733"/>
                </a:moveTo>
                <a:cubicBezTo>
                  <a:pt x="773641" y="607874"/>
                  <a:pt x="1547283" y="810016"/>
                  <a:pt x="2305050" y="754983"/>
                </a:cubicBezTo>
                <a:cubicBezTo>
                  <a:pt x="3062817" y="699950"/>
                  <a:pt x="3920067" y="194066"/>
                  <a:pt x="4546600" y="75533"/>
                </a:cubicBezTo>
                <a:cubicBezTo>
                  <a:pt x="5173133" y="-43000"/>
                  <a:pt x="5686425" y="3566"/>
                  <a:pt x="6064250" y="43783"/>
                </a:cubicBezTo>
                <a:cubicBezTo>
                  <a:pt x="6442075" y="84000"/>
                  <a:pt x="6627812" y="200416"/>
                  <a:pt x="6813550" y="316833"/>
                </a:cubicBez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F8097C-6C5C-47BC-9254-0DCA7520E1F5}"/>
              </a:ext>
            </a:extLst>
          </p:cNvPr>
          <p:cNvSpPr txBox="1"/>
          <p:nvPr/>
        </p:nvSpPr>
        <p:spPr>
          <a:xfrm>
            <a:off x="5398569" y="4335063"/>
            <a:ext cx="5613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  <a:latin typeface="Arial Black" panose="020B0A04020102020204" pitchFamily="34" charset="0"/>
              </a:rPr>
              <a:t>?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91AF6169-D944-4E7B-8B31-91DFA7228776}"/>
              </a:ext>
            </a:extLst>
          </p:cNvPr>
          <p:cNvGrpSpPr/>
          <p:nvPr/>
        </p:nvGrpSpPr>
        <p:grpSpPr>
          <a:xfrm>
            <a:off x="3981417" y="3439623"/>
            <a:ext cx="4002402" cy="479748"/>
            <a:chOff x="5102182" y="3287485"/>
            <a:chExt cx="4002402" cy="479748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573C598-D844-42C3-8556-9F7FF33C3283}"/>
                </a:ext>
              </a:extLst>
            </p:cNvPr>
            <p:cNvCxnSpPr>
              <a:cxnSpLocks/>
            </p:cNvCxnSpPr>
            <p:nvPr/>
          </p:nvCxnSpPr>
          <p:spPr>
            <a:xfrm>
              <a:off x="5102182" y="3287485"/>
              <a:ext cx="296387" cy="0"/>
            </a:xfrm>
            <a:prstGeom prst="line">
              <a:avLst/>
            </a:prstGeom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93D338E-7940-4D5F-BEBB-D355302B55DF}"/>
                </a:ext>
              </a:extLst>
            </p:cNvPr>
            <p:cNvCxnSpPr>
              <a:cxnSpLocks/>
            </p:cNvCxnSpPr>
            <p:nvPr/>
          </p:nvCxnSpPr>
          <p:spPr>
            <a:xfrm>
              <a:off x="5102182" y="3573488"/>
              <a:ext cx="296387" cy="0"/>
            </a:xfrm>
            <a:prstGeom prst="lin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92C29DA-EA76-4FCD-A491-F1355CE97E21}"/>
                </a:ext>
              </a:extLst>
            </p:cNvPr>
            <p:cNvSpPr txBox="1"/>
            <p:nvPr/>
          </p:nvSpPr>
          <p:spPr>
            <a:xfrm>
              <a:off x="5374973" y="3397901"/>
              <a:ext cx="37296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Trajectory segment with unsafe states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C3DA3E72-58BE-4AEB-8459-111D64A72C28}"/>
              </a:ext>
            </a:extLst>
          </p:cNvPr>
          <p:cNvSpPr txBox="1"/>
          <p:nvPr/>
        </p:nvSpPr>
        <p:spPr>
          <a:xfrm>
            <a:off x="4254208" y="3244334"/>
            <a:ext cx="3485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Trajectory segment with safe states</a:t>
            </a:r>
          </a:p>
        </p:txBody>
      </p:sp>
    </p:spTree>
    <p:extLst>
      <p:ext uri="{BB962C8B-B14F-4D97-AF65-F5344CB8AC3E}">
        <p14:creationId xmlns:p14="http://schemas.microsoft.com/office/powerpoint/2010/main" val="200843572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D6B63AA-8C14-4BD8-AFE6-A3CA835C64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2"/>
                <a:ext cx="11699087" cy="4517839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solve time-bounded reachability exactly:</a:t>
                </a:r>
              </a:p>
              <a:p>
                <a:pPr lvl="1"/>
                <a:r>
                  <a:rPr lang="en-US" dirty="0"/>
                  <a:t>Compute set of all states reachable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Reach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∈[0,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dirty="0"/>
              </a:p>
              <a:p>
                <a:pPr lvl="1"/>
                <a:r>
                  <a:rPr lang="en-US" dirty="0"/>
                  <a:t>Check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Reach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𝑈𝑛𝑠𝑎𝑓𝑒</m:t>
                    </m:r>
                  </m:oMath>
                </a14:m>
                <a:r>
                  <a:rPr lang="en-US" dirty="0"/>
                  <a:t> is empty</a:t>
                </a:r>
              </a:p>
              <a:p>
                <a:pPr lvl="1"/>
                <a:r>
                  <a:rPr lang="en-US" dirty="0"/>
                  <a:t>Challenge: 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Reach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very hard (even for the simplest case of general linear dynamical systems)</a:t>
                </a:r>
              </a:p>
              <a:p>
                <a:r>
                  <a:rPr lang="en-US" dirty="0"/>
                  <a:t>Instead, we focus on approximating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Reach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Under-approximation</a:t>
                </a:r>
              </a:p>
              <a:p>
                <a:pPr lvl="1"/>
                <a:r>
                  <a:rPr lang="en-US" dirty="0"/>
                  <a:t>Over-approximation</a:t>
                </a:r>
              </a:p>
              <a:p>
                <a:pPr lvl="1"/>
                <a:r>
                  <a:rPr lang="en-US" dirty="0"/>
                  <a:t>Combination of both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D6B63AA-8C14-4BD8-AFE6-A3CA835C64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2"/>
                <a:ext cx="11699087" cy="4517839"/>
              </a:xfrm>
              <a:blipFill>
                <a:blip r:embed="rId2"/>
                <a:stretch>
                  <a:fillRect l="-625" t="-2294" r="-834" b="-2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1C1D1B-9AF6-4D57-A803-09444FC63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Solutions to time-bounded reachability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309D8-3546-41EE-A6E0-A41EC8B0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19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07BA22-4C9D-4FCA-ABB6-7E90202CF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209202"/>
            <a:ext cx="11699087" cy="4582575"/>
          </a:xfrm>
        </p:spPr>
        <p:txBody>
          <a:bodyPr>
            <a:normAutofit/>
          </a:bodyPr>
          <a:lstStyle/>
          <a:p>
            <a:r>
              <a:rPr lang="en-US" dirty="0"/>
              <a:t>When we </a:t>
            </a:r>
            <a:r>
              <a:rPr lang="en-US" i="1" dirty="0"/>
              <a:t>under-approximate</a:t>
            </a:r>
            <a:r>
              <a:rPr lang="en-US" dirty="0"/>
              <a:t> the set of initial states, at each time, the set of reachable states that we compute is a subset of the </a:t>
            </a:r>
            <a:r>
              <a:rPr lang="en-US" i="1" dirty="0"/>
              <a:t>actual</a:t>
            </a:r>
            <a:r>
              <a:rPr lang="en-US" b="1" i="1" dirty="0"/>
              <a:t> </a:t>
            </a:r>
            <a:r>
              <a:rPr lang="en-US" dirty="0"/>
              <a:t>set of reachable states</a:t>
            </a:r>
          </a:p>
          <a:p>
            <a:r>
              <a:rPr lang="en-US" dirty="0"/>
              <a:t>Best example of under-approximation is (guaranteed) numerical simulation </a:t>
            </a:r>
          </a:p>
          <a:p>
            <a:pPr lvl="1"/>
            <a:r>
              <a:rPr lang="en-US" dirty="0"/>
              <a:t>Guaranteed numerical simulation: better than numerical integration schemes as it gives bounds on error in numerical integration (e.g. VNODE)</a:t>
            </a:r>
          </a:p>
          <a:p>
            <a:r>
              <a:rPr lang="en-US" dirty="0"/>
              <a:t>Under-approximation is:</a:t>
            </a:r>
          </a:p>
          <a:p>
            <a:pPr lvl="1"/>
            <a:r>
              <a:rPr lang="en-US" dirty="0"/>
              <a:t>Sound for bug-finding: if we find a bug, then it is really a bug</a:t>
            </a:r>
          </a:p>
          <a:p>
            <a:pPr lvl="1"/>
            <a:r>
              <a:rPr lang="en-US" dirty="0"/>
              <a:t>Unsound for verification: if we do not find a bug, does not mean the system is safe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7A056B-5D12-4662-952B-3A95823D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Under-approximation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4451C-898F-4153-9BB2-84CC2C1DB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94155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09E6E-3B4C-4522-8634-CF7E2EBEB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Under-approximation: sound for bug-finding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02CDD-7EC3-43B6-BF42-8A234295A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88</a:t>
            </a:fld>
            <a:endParaRPr lang="en-US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B61140D-6DA6-41D0-8EF0-F27AB37F35D6}"/>
              </a:ext>
            </a:extLst>
          </p:cNvPr>
          <p:cNvGrpSpPr/>
          <p:nvPr/>
        </p:nvGrpSpPr>
        <p:grpSpPr>
          <a:xfrm>
            <a:off x="886526" y="2656114"/>
            <a:ext cx="10612484" cy="2816449"/>
            <a:chOff x="901041" y="2281984"/>
            <a:chExt cx="10612484" cy="3184483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105C5B2-AF66-4A31-BDEA-411B068A3852}"/>
                </a:ext>
              </a:extLst>
            </p:cNvPr>
            <p:cNvSpPr/>
            <p:nvPr/>
          </p:nvSpPr>
          <p:spPr>
            <a:xfrm>
              <a:off x="901041" y="2431079"/>
              <a:ext cx="1448475" cy="2063469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620070B-EFF5-4703-BC84-C1DC04E679F0}"/>
                </a:ext>
              </a:extLst>
            </p:cNvPr>
            <p:cNvSpPr/>
            <p:nvPr/>
          </p:nvSpPr>
          <p:spPr>
            <a:xfrm rot="18402694">
              <a:off x="9038593" y="3320427"/>
              <a:ext cx="1165253" cy="2249586"/>
            </a:xfrm>
            <a:prstGeom prst="ellipse">
              <a:avLst/>
            </a:prstGeom>
            <a:solidFill>
              <a:srgbClr val="FFD1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4FD3D3-E4E8-4990-8825-718F646D111A}"/>
                    </a:ext>
                  </a:extLst>
                </p:cNvPr>
                <p:cNvSpPr txBox="1"/>
                <p:nvPr/>
              </p:nvSpPr>
              <p:spPr>
                <a:xfrm>
                  <a:off x="10228879" y="3899452"/>
                  <a:ext cx="128464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𝑈𝑛𝑠𝑎𝑓𝑒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8E4FD3D3-E4E8-4990-8825-718F646D11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28879" y="3899452"/>
                  <a:ext cx="1284646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52" r="-476" b="-32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537C611-C46F-4580-9A39-BA0A81D66E82}"/>
                    </a:ext>
                  </a:extLst>
                </p:cNvPr>
                <p:cNvSpPr txBox="1"/>
                <p:nvPr/>
              </p:nvSpPr>
              <p:spPr>
                <a:xfrm>
                  <a:off x="1234931" y="4511115"/>
                  <a:ext cx="5948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E537C611-C46F-4580-9A39-BA0A81D66E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4931" y="4511115"/>
                  <a:ext cx="594843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1020" b="-283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529B9A7-B391-482F-A749-160984CC0775}"/>
                </a:ext>
              </a:extLst>
            </p:cNvPr>
            <p:cNvSpPr/>
            <p:nvPr/>
          </p:nvSpPr>
          <p:spPr>
            <a:xfrm>
              <a:off x="1531257" y="2281984"/>
              <a:ext cx="7685314" cy="446702"/>
            </a:xfrm>
            <a:custGeom>
              <a:avLst/>
              <a:gdLst>
                <a:gd name="connsiteX0" fmla="*/ 0 w 7685314"/>
                <a:gd name="connsiteY0" fmla="*/ 446702 h 446702"/>
                <a:gd name="connsiteX1" fmla="*/ 3447143 w 7685314"/>
                <a:gd name="connsiteY1" fmla="*/ 11273 h 446702"/>
                <a:gd name="connsiteX2" fmla="*/ 7685314 w 7685314"/>
                <a:gd name="connsiteY2" fmla="*/ 170931 h 446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85314" h="446702">
                  <a:moveTo>
                    <a:pt x="0" y="446702"/>
                  </a:moveTo>
                  <a:cubicBezTo>
                    <a:pt x="1083128" y="251968"/>
                    <a:pt x="2166257" y="57235"/>
                    <a:pt x="3447143" y="11273"/>
                  </a:cubicBezTo>
                  <a:cubicBezTo>
                    <a:pt x="4728029" y="-34689"/>
                    <a:pt x="6206671" y="68121"/>
                    <a:pt x="7685314" y="170931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13D12332-A661-40E4-9B59-B7C8C8B01280}"/>
                </a:ext>
              </a:extLst>
            </p:cNvPr>
            <p:cNvSpPr/>
            <p:nvPr/>
          </p:nvSpPr>
          <p:spPr>
            <a:xfrm>
              <a:off x="1930400" y="2582188"/>
              <a:ext cx="7242628" cy="400498"/>
            </a:xfrm>
            <a:custGeom>
              <a:avLst/>
              <a:gdLst>
                <a:gd name="connsiteX0" fmla="*/ 0 w 7242628"/>
                <a:gd name="connsiteY0" fmla="*/ 400498 h 400498"/>
                <a:gd name="connsiteX1" fmla="*/ 1952171 w 7242628"/>
                <a:gd name="connsiteY1" fmla="*/ 320669 h 400498"/>
                <a:gd name="connsiteX2" fmla="*/ 3127828 w 7242628"/>
                <a:gd name="connsiteY2" fmla="*/ 52155 h 400498"/>
                <a:gd name="connsiteX3" fmla="*/ 4985657 w 7242628"/>
                <a:gd name="connsiteY3" fmla="*/ 15869 h 400498"/>
                <a:gd name="connsiteX4" fmla="*/ 6212114 w 7242628"/>
                <a:gd name="connsiteY4" fmla="*/ 240841 h 400498"/>
                <a:gd name="connsiteX5" fmla="*/ 7242628 w 7242628"/>
                <a:gd name="connsiteY5" fmla="*/ 139241 h 400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2628" h="400498">
                  <a:moveTo>
                    <a:pt x="0" y="400498"/>
                  </a:moveTo>
                  <a:cubicBezTo>
                    <a:pt x="715433" y="389612"/>
                    <a:pt x="1430866" y="378726"/>
                    <a:pt x="1952171" y="320669"/>
                  </a:cubicBezTo>
                  <a:cubicBezTo>
                    <a:pt x="2473476" y="262612"/>
                    <a:pt x="2622247" y="102955"/>
                    <a:pt x="3127828" y="52155"/>
                  </a:cubicBezTo>
                  <a:cubicBezTo>
                    <a:pt x="3633409" y="1355"/>
                    <a:pt x="4471609" y="-15579"/>
                    <a:pt x="4985657" y="15869"/>
                  </a:cubicBezTo>
                  <a:cubicBezTo>
                    <a:pt x="5499705" y="47317"/>
                    <a:pt x="5835952" y="220279"/>
                    <a:pt x="6212114" y="240841"/>
                  </a:cubicBezTo>
                  <a:cubicBezTo>
                    <a:pt x="6588276" y="261403"/>
                    <a:pt x="6915452" y="200322"/>
                    <a:pt x="7242628" y="139241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BEA9346-892A-4D62-8B6E-F4126E5942B0}"/>
                </a:ext>
              </a:extLst>
            </p:cNvPr>
            <p:cNvSpPr/>
            <p:nvPr/>
          </p:nvSpPr>
          <p:spPr>
            <a:xfrm>
              <a:off x="1270000" y="2852722"/>
              <a:ext cx="8665970" cy="407023"/>
            </a:xfrm>
            <a:custGeom>
              <a:avLst/>
              <a:gdLst>
                <a:gd name="connsiteX0" fmla="*/ 0 w 8665970"/>
                <a:gd name="connsiteY0" fmla="*/ 304135 h 407023"/>
                <a:gd name="connsiteX1" fmla="*/ 2634343 w 8665970"/>
                <a:gd name="connsiteY1" fmla="*/ 391221 h 407023"/>
                <a:gd name="connsiteX2" fmla="*/ 4463143 w 8665970"/>
                <a:gd name="connsiteY2" fmla="*/ 21107 h 407023"/>
                <a:gd name="connsiteX3" fmla="*/ 8004628 w 8665970"/>
                <a:gd name="connsiteY3" fmla="*/ 64650 h 407023"/>
                <a:gd name="connsiteX4" fmla="*/ 8657771 w 8665970"/>
                <a:gd name="connsiteY4" fmla="*/ 224307 h 407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65970" h="407023">
                  <a:moveTo>
                    <a:pt x="0" y="304135"/>
                  </a:moveTo>
                  <a:cubicBezTo>
                    <a:pt x="945243" y="371263"/>
                    <a:pt x="1890486" y="438392"/>
                    <a:pt x="2634343" y="391221"/>
                  </a:cubicBezTo>
                  <a:cubicBezTo>
                    <a:pt x="3378200" y="344050"/>
                    <a:pt x="3568096" y="75535"/>
                    <a:pt x="4463143" y="21107"/>
                  </a:cubicBezTo>
                  <a:cubicBezTo>
                    <a:pt x="5358190" y="-33321"/>
                    <a:pt x="7305523" y="30783"/>
                    <a:pt x="8004628" y="64650"/>
                  </a:cubicBezTo>
                  <a:cubicBezTo>
                    <a:pt x="8703733" y="98517"/>
                    <a:pt x="8680752" y="161412"/>
                    <a:pt x="8657771" y="224307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C93251B-47FA-429D-A640-C4281C0EDEBA}"/>
                </a:ext>
              </a:extLst>
            </p:cNvPr>
            <p:cNvSpPr/>
            <p:nvPr/>
          </p:nvSpPr>
          <p:spPr>
            <a:xfrm>
              <a:off x="1944914" y="3053374"/>
              <a:ext cx="8098971" cy="670226"/>
            </a:xfrm>
            <a:custGeom>
              <a:avLst/>
              <a:gdLst>
                <a:gd name="connsiteX0" fmla="*/ 0 w 8098971"/>
                <a:gd name="connsiteY0" fmla="*/ 575198 h 670226"/>
                <a:gd name="connsiteX1" fmla="*/ 3200400 w 8098971"/>
                <a:gd name="connsiteY1" fmla="*/ 625998 h 670226"/>
                <a:gd name="connsiteX2" fmla="*/ 5399314 w 8098971"/>
                <a:gd name="connsiteY2" fmla="*/ 16398 h 670226"/>
                <a:gd name="connsiteX3" fmla="*/ 8098971 w 8098971"/>
                <a:gd name="connsiteY3" fmla="*/ 234112 h 670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98971" h="670226">
                  <a:moveTo>
                    <a:pt x="0" y="575198"/>
                  </a:moveTo>
                  <a:cubicBezTo>
                    <a:pt x="1150257" y="647164"/>
                    <a:pt x="2300514" y="719131"/>
                    <a:pt x="3200400" y="625998"/>
                  </a:cubicBezTo>
                  <a:cubicBezTo>
                    <a:pt x="4100286" y="532865"/>
                    <a:pt x="4582886" y="81712"/>
                    <a:pt x="5399314" y="16398"/>
                  </a:cubicBezTo>
                  <a:cubicBezTo>
                    <a:pt x="6215742" y="-48916"/>
                    <a:pt x="7157356" y="92598"/>
                    <a:pt x="8098971" y="234112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92AD398-0EF3-4169-8108-671A7AEE83D5}"/>
                </a:ext>
              </a:extLst>
            </p:cNvPr>
            <p:cNvSpPr/>
            <p:nvPr/>
          </p:nvSpPr>
          <p:spPr>
            <a:xfrm>
              <a:off x="1386114" y="3322334"/>
              <a:ext cx="9093200" cy="1061592"/>
            </a:xfrm>
            <a:custGeom>
              <a:avLst/>
              <a:gdLst>
                <a:gd name="connsiteX0" fmla="*/ 0 w 9093200"/>
                <a:gd name="connsiteY0" fmla="*/ 480409 h 1061592"/>
                <a:gd name="connsiteX1" fmla="*/ 1139371 w 9093200"/>
                <a:gd name="connsiteY1" fmla="*/ 480409 h 1061592"/>
                <a:gd name="connsiteX2" fmla="*/ 2097314 w 9093200"/>
                <a:gd name="connsiteY2" fmla="*/ 1060981 h 1061592"/>
                <a:gd name="connsiteX3" fmla="*/ 5377543 w 9093200"/>
                <a:gd name="connsiteY3" fmla="*/ 357038 h 1061592"/>
                <a:gd name="connsiteX4" fmla="*/ 7605486 w 9093200"/>
                <a:gd name="connsiteY4" fmla="*/ 1438 h 1061592"/>
                <a:gd name="connsiteX5" fmla="*/ 9093200 w 9093200"/>
                <a:gd name="connsiteY5" fmla="*/ 255438 h 1061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093200" h="1061592">
                  <a:moveTo>
                    <a:pt x="0" y="480409"/>
                  </a:moveTo>
                  <a:cubicBezTo>
                    <a:pt x="394909" y="432028"/>
                    <a:pt x="789819" y="383647"/>
                    <a:pt x="1139371" y="480409"/>
                  </a:cubicBezTo>
                  <a:cubicBezTo>
                    <a:pt x="1488923" y="577171"/>
                    <a:pt x="1390952" y="1081543"/>
                    <a:pt x="2097314" y="1060981"/>
                  </a:cubicBezTo>
                  <a:cubicBezTo>
                    <a:pt x="2803676" y="1040419"/>
                    <a:pt x="4459514" y="533628"/>
                    <a:pt x="5377543" y="357038"/>
                  </a:cubicBezTo>
                  <a:cubicBezTo>
                    <a:pt x="6295572" y="180448"/>
                    <a:pt x="6986210" y="18371"/>
                    <a:pt x="7605486" y="1438"/>
                  </a:cubicBezTo>
                  <a:cubicBezTo>
                    <a:pt x="8224762" y="-15495"/>
                    <a:pt x="8658981" y="119971"/>
                    <a:pt x="9093200" y="255438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DAD06399-0BFB-48D6-BE0E-B40A588AECFB}"/>
                </a:ext>
              </a:extLst>
            </p:cNvPr>
            <p:cNvSpPr/>
            <p:nvPr/>
          </p:nvSpPr>
          <p:spPr>
            <a:xfrm>
              <a:off x="1706650" y="4028031"/>
              <a:ext cx="6943864" cy="966695"/>
            </a:xfrm>
            <a:custGeom>
              <a:avLst/>
              <a:gdLst>
                <a:gd name="connsiteX0" fmla="*/ 0 w 7453086"/>
                <a:gd name="connsiteY0" fmla="*/ 159657 h 1271509"/>
                <a:gd name="connsiteX1" fmla="*/ 812800 w 7453086"/>
                <a:gd name="connsiteY1" fmla="*/ 246742 h 1271509"/>
                <a:gd name="connsiteX2" fmla="*/ 1618343 w 7453086"/>
                <a:gd name="connsiteY2" fmla="*/ 1081314 h 1271509"/>
                <a:gd name="connsiteX3" fmla="*/ 2968172 w 7453086"/>
                <a:gd name="connsiteY3" fmla="*/ 1182914 h 1271509"/>
                <a:gd name="connsiteX4" fmla="*/ 7453086 w 7453086"/>
                <a:gd name="connsiteY4" fmla="*/ 0 h 1271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53086" h="1271509">
                  <a:moveTo>
                    <a:pt x="0" y="159657"/>
                  </a:moveTo>
                  <a:cubicBezTo>
                    <a:pt x="271538" y="126395"/>
                    <a:pt x="543076" y="93133"/>
                    <a:pt x="812800" y="246742"/>
                  </a:cubicBezTo>
                  <a:cubicBezTo>
                    <a:pt x="1082524" y="400351"/>
                    <a:pt x="1259114" y="925285"/>
                    <a:pt x="1618343" y="1081314"/>
                  </a:cubicBezTo>
                  <a:cubicBezTo>
                    <a:pt x="1977572" y="1237343"/>
                    <a:pt x="1995715" y="1363133"/>
                    <a:pt x="2968172" y="1182914"/>
                  </a:cubicBezTo>
                  <a:cubicBezTo>
                    <a:pt x="3940629" y="1002695"/>
                    <a:pt x="5696857" y="501347"/>
                    <a:pt x="7453086" y="0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333B3397-7631-4D81-9940-EEA6F6604223}"/>
                </a:ext>
              </a:extLst>
            </p:cNvPr>
            <p:cNvSpPr/>
            <p:nvPr/>
          </p:nvSpPr>
          <p:spPr>
            <a:xfrm>
              <a:off x="8657771" y="3788229"/>
              <a:ext cx="638629" cy="232228"/>
            </a:xfrm>
            <a:custGeom>
              <a:avLst/>
              <a:gdLst>
                <a:gd name="connsiteX0" fmla="*/ 0 w 638629"/>
                <a:gd name="connsiteY0" fmla="*/ 232228 h 232228"/>
                <a:gd name="connsiteX1" fmla="*/ 428172 w 638629"/>
                <a:gd name="connsiteY1" fmla="*/ 101600 h 232228"/>
                <a:gd name="connsiteX2" fmla="*/ 638629 w 638629"/>
                <a:gd name="connsiteY2" fmla="*/ 0 h 232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8629" h="232228">
                  <a:moveTo>
                    <a:pt x="0" y="232228"/>
                  </a:moveTo>
                  <a:cubicBezTo>
                    <a:pt x="160867" y="186266"/>
                    <a:pt x="321734" y="140305"/>
                    <a:pt x="428172" y="101600"/>
                  </a:cubicBezTo>
                  <a:cubicBezTo>
                    <a:pt x="534610" y="62895"/>
                    <a:pt x="586619" y="31447"/>
                    <a:pt x="638629" y="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07687CF-CFE2-4D1E-9049-61B838D262F8}"/>
                </a:ext>
              </a:extLst>
            </p:cNvPr>
            <p:cNvSpPr/>
            <p:nvPr/>
          </p:nvSpPr>
          <p:spPr>
            <a:xfrm>
              <a:off x="1596571" y="4434115"/>
              <a:ext cx="8781143" cy="1032352"/>
            </a:xfrm>
            <a:custGeom>
              <a:avLst/>
              <a:gdLst>
                <a:gd name="connsiteX0" fmla="*/ 0 w 8781143"/>
                <a:gd name="connsiteY0" fmla="*/ 0 h 1336281"/>
                <a:gd name="connsiteX1" fmla="*/ 834572 w 8781143"/>
                <a:gd name="connsiteY1" fmla="*/ 174171 h 1336281"/>
                <a:gd name="connsiteX2" fmla="*/ 1654629 w 8781143"/>
                <a:gd name="connsiteY2" fmla="*/ 965200 h 1336281"/>
                <a:gd name="connsiteX3" fmla="*/ 3563257 w 8781143"/>
                <a:gd name="connsiteY3" fmla="*/ 1299028 h 1336281"/>
                <a:gd name="connsiteX4" fmla="*/ 8781143 w 8781143"/>
                <a:gd name="connsiteY4" fmla="*/ 1313542 h 1336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81143" h="1336281">
                  <a:moveTo>
                    <a:pt x="0" y="0"/>
                  </a:moveTo>
                  <a:cubicBezTo>
                    <a:pt x="279400" y="6652"/>
                    <a:pt x="558801" y="13304"/>
                    <a:pt x="834572" y="174171"/>
                  </a:cubicBezTo>
                  <a:cubicBezTo>
                    <a:pt x="1110344" y="335038"/>
                    <a:pt x="1199848" y="777724"/>
                    <a:pt x="1654629" y="965200"/>
                  </a:cubicBezTo>
                  <a:cubicBezTo>
                    <a:pt x="2109410" y="1152676"/>
                    <a:pt x="2375505" y="1240971"/>
                    <a:pt x="3563257" y="1299028"/>
                  </a:cubicBezTo>
                  <a:cubicBezTo>
                    <a:pt x="4751009" y="1357085"/>
                    <a:pt x="6766076" y="1335313"/>
                    <a:pt x="8781143" y="1313542"/>
                  </a:cubicBezTo>
                </a:path>
              </a:pathLst>
            </a:custGeom>
            <a:noFill/>
            <a:ln w="254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C78825B-9613-4158-932F-C8A3E130D9EC}"/>
                </a:ext>
              </a:extLst>
            </p:cNvPr>
            <p:cNvSpPr/>
            <p:nvPr/>
          </p:nvSpPr>
          <p:spPr>
            <a:xfrm>
              <a:off x="1511990" y="2681932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BAAEAB5-E14A-4CC6-9F07-693278086B40}"/>
                </a:ext>
              </a:extLst>
            </p:cNvPr>
            <p:cNvSpPr/>
            <p:nvPr/>
          </p:nvSpPr>
          <p:spPr>
            <a:xfrm>
              <a:off x="1227420" y="3077093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DB6E1A-6434-4BD3-A2C2-7CDFB0FCCC9A}"/>
                </a:ext>
              </a:extLst>
            </p:cNvPr>
            <p:cNvSpPr/>
            <p:nvPr/>
          </p:nvSpPr>
          <p:spPr>
            <a:xfrm>
              <a:off x="1889619" y="3587542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6E24C3A-5084-4449-B209-2022C61458F2}"/>
                </a:ext>
              </a:extLst>
            </p:cNvPr>
            <p:cNvSpPr/>
            <p:nvPr/>
          </p:nvSpPr>
          <p:spPr>
            <a:xfrm>
              <a:off x="1625277" y="4081733"/>
              <a:ext cx="113288" cy="97104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DF9D559-8BF1-4D09-8BDB-2D42286D9E46}"/>
                </a:ext>
              </a:extLst>
            </p:cNvPr>
            <p:cNvSpPr/>
            <p:nvPr/>
          </p:nvSpPr>
          <p:spPr>
            <a:xfrm>
              <a:off x="1896362" y="2953016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276C65B-B0D1-4FA3-AB83-7E53DEA4D251}"/>
                </a:ext>
              </a:extLst>
            </p:cNvPr>
            <p:cNvSpPr/>
            <p:nvPr/>
          </p:nvSpPr>
          <p:spPr>
            <a:xfrm>
              <a:off x="1340708" y="3737268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8DDA9BA-A83C-4458-946F-51CF8D2EDADC}"/>
                </a:ext>
              </a:extLst>
            </p:cNvPr>
            <p:cNvSpPr/>
            <p:nvPr/>
          </p:nvSpPr>
          <p:spPr>
            <a:xfrm>
              <a:off x="1489738" y="4375229"/>
              <a:ext cx="113288" cy="97104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Content Placeholder 1">
            <a:extLst>
              <a:ext uri="{FF2B5EF4-FFF2-40B4-BE49-F238E27FC236}">
                <a16:creationId xmlns:a16="http://schemas.microsoft.com/office/drawing/2014/main" id="{193565B9-1184-40BC-99E8-D3BA89B79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209203"/>
            <a:ext cx="11699087" cy="960870"/>
          </a:xfrm>
        </p:spPr>
        <p:txBody>
          <a:bodyPr>
            <a:normAutofit/>
          </a:bodyPr>
          <a:lstStyle/>
          <a:p>
            <a:r>
              <a:rPr lang="en-US" dirty="0"/>
              <a:t>The good case: under-approximation found a trace that contained unsafe states – we found a bug in the system!</a:t>
            </a:r>
          </a:p>
        </p:txBody>
      </p:sp>
    </p:spTree>
    <p:extLst>
      <p:ext uri="{BB962C8B-B14F-4D97-AF65-F5344CB8AC3E}">
        <p14:creationId xmlns:p14="http://schemas.microsoft.com/office/powerpoint/2010/main" val="53754794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09E6E-3B4C-4522-8634-CF7E2EBEB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Under-approximation: unsound for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02CDD-7EC3-43B6-BF42-8A234295A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89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105C5B2-AF66-4A31-BDEA-411B068A3852}"/>
              </a:ext>
            </a:extLst>
          </p:cNvPr>
          <p:cNvSpPr/>
          <p:nvPr/>
        </p:nvSpPr>
        <p:spPr>
          <a:xfrm>
            <a:off x="886526" y="2787978"/>
            <a:ext cx="1448475" cy="182499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620070B-EFF5-4703-BC84-C1DC04E679F0}"/>
              </a:ext>
            </a:extLst>
          </p:cNvPr>
          <p:cNvSpPr/>
          <p:nvPr/>
        </p:nvSpPr>
        <p:spPr>
          <a:xfrm rot="18402694">
            <a:off x="9091413" y="3444550"/>
            <a:ext cx="1030584" cy="2249586"/>
          </a:xfrm>
          <a:prstGeom prst="ellipse">
            <a:avLst/>
          </a:prstGeom>
          <a:solidFill>
            <a:srgbClr val="FFD1D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4FD3D3-E4E8-4990-8825-718F646D111A}"/>
                  </a:ext>
                </a:extLst>
              </p:cNvPr>
              <p:cNvSpPr txBox="1"/>
              <p:nvPr/>
            </p:nvSpPr>
            <p:spPr>
              <a:xfrm>
                <a:off x="10214364" y="4086650"/>
                <a:ext cx="1284646" cy="408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E4FD3D3-E4E8-4990-8825-718F646D1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4364" y="4086650"/>
                <a:ext cx="1284646" cy="408310"/>
              </a:xfrm>
              <a:prstGeom prst="rect">
                <a:avLst/>
              </a:prstGeom>
              <a:blipFill>
                <a:blip r:embed="rId2"/>
                <a:stretch>
                  <a:fillRect l="-952" r="-476" b="-32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537C611-C46F-4580-9A39-BA0A81D66E82}"/>
                  </a:ext>
                </a:extLst>
              </p:cNvPr>
              <p:cNvSpPr txBox="1"/>
              <p:nvPr/>
            </p:nvSpPr>
            <p:spPr>
              <a:xfrm>
                <a:off x="1220416" y="4627622"/>
                <a:ext cx="594843" cy="4083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537C611-C46F-4580-9A39-BA0A81D66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416" y="4627622"/>
                <a:ext cx="594843" cy="408310"/>
              </a:xfrm>
              <a:prstGeom prst="rect">
                <a:avLst/>
              </a:prstGeom>
              <a:blipFill>
                <a:blip r:embed="rId3"/>
                <a:stretch>
                  <a:fillRect l="-1020" b="-28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529B9A7-B391-482F-A749-160984CC0775}"/>
              </a:ext>
            </a:extLst>
          </p:cNvPr>
          <p:cNvSpPr/>
          <p:nvPr/>
        </p:nvSpPr>
        <p:spPr>
          <a:xfrm>
            <a:off x="1516742" y="2656114"/>
            <a:ext cx="7685314" cy="395076"/>
          </a:xfrm>
          <a:custGeom>
            <a:avLst/>
            <a:gdLst>
              <a:gd name="connsiteX0" fmla="*/ 0 w 7685314"/>
              <a:gd name="connsiteY0" fmla="*/ 446702 h 446702"/>
              <a:gd name="connsiteX1" fmla="*/ 3447143 w 7685314"/>
              <a:gd name="connsiteY1" fmla="*/ 11273 h 446702"/>
              <a:gd name="connsiteX2" fmla="*/ 7685314 w 7685314"/>
              <a:gd name="connsiteY2" fmla="*/ 170931 h 446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685314" h="446702">
                <a:moveTo>
                  <a:pt x="0" y="446702"/>
                </a:moveTo>
                <a:cubicBezTo>
                  <a:pt x="1083128" y="251968"/>
                  <a:pt x="2166257" y="57235"/>
                  <a:pt x="3447143" y="11273"/>
                </a:cubicBezTo>
                <a:cubicBezTo>
                  <a:pt x="4728029" y="-34689"/>
                  <a:pt x="6206671" y="68121"/>
                  <a:pt x="7685314" y="170931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13D12332-A661-40E4-9B59-B7C8C8B01280}"/>
              </a:ext>
            </a:extLst>
          </p:cNvPr>
          <p:cNvSpPr/>
          <p:nvPr/>
        </p:nvSpPr>
        <p:spPr>
          <a:xfrm>
            <a:off x="1915885" y="2921623"/>
            <a:ext cx="7242628" cy="354212"/>
          </a:xfrm>
          <a:custGeom>
            <a:avLst/>
            <a:gdLst>
              <a:gd name="connsiteX0" fmla="*/ 0 w 7242628"/>
              <a:gd name="connsiteY0" fmla="*/ 400498 h 400498"/>
              <a:gd name="connsiteX1" fmla="*/ 1952171 w 7242628"/>
              <a:gd name="connsiteY1" fmla="*/ 320669 h 400498"/>
              <a:gd name="connsiteX2" fmla="*/ 3127828 w 7242628"/>
              <a:gd name="connsiteY2" fmla="*/ 52155 h 400498"/>
              <a:gd name="connsiteX3" fmla="*/ 4985657 w 7242628"/>
              <a:gd name="connsiteY3" fmla="*/ 15869 h 400498"/>
              <a:gd name="connsiteX4" fmla="*/ 6212114 w 7242628"/>
              <a:gd name="connsiteY4" fmla="*/ 240841 h 400498"/>
              <a:gd name="connsiteX5" fmla="*/ 7242628 w 7242628"/>
              <a:gd name="connsiteY5" fmla="*/ 139241 h 400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242628" h="400498">
                <a:moveTo>
                  <a:pt x="0" y="400498"/>
                </a:moveTo>
                <a:cubicBezTo>
                  <a:pt x="715433" y="389612"/>
                  <a:pt x="1430866" y="378726"/>
                  <a:pt x="1952171" y="320669"/>
                </a:cubicBezTo>
                <a:cubicBezTo>
                  <a:pt x="2473476" y="262612"/>
                  <a:pt x="2622247" y="102955"/>
                  <a:pt x="3127828" y="52155"/>
                </a:cubicBezTo>
                <a:cubicBezTo>
                  <a:pt x="3633409" y="1355"/>
                  <a:pt x="4471609" y="-15579"/>
                  <a:pt x="4985657" y="15869"/>
                </a:cubicBezTo>
                <a:cubicBezTo>
                  <a:pt x="5499705" y="47317"/>
                  <a:pt x="5835952" y="220279"/>
                  <a:pt x="6212114" y="240841"/>
                </a:cubicBezTo>
                <a:cubicBezTo>
                  <a:pt x="6588276" y="261403"/>
                  <a:pt x="6915452" y="200322"/>
                  <a:pt x="7242628" y="139241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BEA9346-892A-4D62-8B6E-F4126E5942B0}"/>
              </a:ext>
            </a:extLst>
          </p:cNvPr>
          <p:cNvSpPr/>
          <p:nvPr/>
        </p:nvSpPr>
        <p:spPr>
          <a:xfrm>
            <a:off x="1255485" y="3160891"/>
            <a:ext cx="8665970" cy="359983"/>
          </a:xfrm>
          <a:custGeom>
            <a:avLst/>
            <a:gdLst>
              <a:gd name="connsiteX0" fmla="*/ 0 w 8665970"/>
              <a:gd name="connsiteY0" fmla="*/ 304135 h 407023"/>
              <a:gd name="connsiteX1" fmla="*/ 2634343 w 8665970"/>
              <a:gd name="connsiteY1" fmla="*/ 391221 h 407023"/>
              <a:gd name="connsiteX2" fmla="*/ 4463143 w 8665970"/>
              <a:gd name="connsiteY2" fmla="*/ 21107 h 407023"/>
              <a:gd name="connsiteX3" fmla="*/ 8004628 w 8665970"/>
              <a:gd name="connsiteY3" fmla="*/ 64650 h 407023"/>
              <a:gd name="connsiteX4" fmla="*/ 8657771 w 8665970"/>
              <a:gd name="connsiteY4" fmla="*/ 224307 h 4070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65970" h="407023">
                <a:moveTo>
                  <a:pt x="0" y="304135"/>
                </a:moveTo>
                <a:cubicBezTo>
                  <a:pt x="945243" y="371263"/>
                  <a:pt x="1890486" y="438392"/>
                  <a:pt x="2634343" y="391221"/>
                </a:cubicBezTo>
                <a:cubicBezTo>
                  <a:pt x="3378200" y="344050"/>
                  <a:pt x="3568096" y="75535"/>
                  <a:pt x="4463143" y="21107"/>
                </a:cubicBezTo>
                <a:cubicBezTo>
                  <a:pt x="5358190" y="-33321"/>
                  <a:pt x="7305523" y="30783"/>
                  <a:pt x="8004628" y="64650"/>
                </a:cubicBezTo>
                <a:cubicBezTo>
                  <a:pt x="8703733" y="98517"/>
                  <a:pt x="8680752" y="161412"/>
                  <a:pt x="8657771" y="224307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2C93251B-47FA-429D-A640-C4281C0EDEBA}"/>
              </a:ext>
            </a:extLst>
          </p:cNvPr>
          <p:cNvSpPr/>
          <p:nvPr/>
        </p:nvSpPr>
        <p:spPr>
          <a:xfrm>
            <a:off x="1930399" y="3338354"/>
            <a:ext cx="8098971" cy="592767"/>
          </a:xfrm>
          <a:custGeom>
            <a:avLst/>
            <a:gdLst>
              <a:gd name="connsiteX0" fmla="*/ 0 w 8098971"/>
              <a:gd name="connsiteY0" fmla="*/ 575198 h 670226"/>
              <a:gd name="connsiteX1" fmla="*/ 3200400 w 8098971"/>
              <a:gd name="connsiteY1" fmla="*/ 625998 h 670226"/>
              <a:gd name="connsiteX2" fmla="*/ 5399314 w 8098971"/>
              <a:gd name="connsiteY2" fmla="*/ 16398 h 670226"/>
              <a:gd name="connsiteX3" fmla="*/ 8098971 w 8098971"/>
              <a:gd name="connsiteY3" fmla="*/ 234112 h 670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98971" h="670226">
                <a:moveTo>
                  <a:pt x="0" y="575198"/>
                </a:moveTo>
                <a:cubicBezTo>
                  <a:pt x="1150257" y="647164"/>
                  <a:pt x="2300514" y="719131"/>
                  <a:pt x="3200400" y="625998"/>
                </a:cubicBezTo>
                <a:cubicBezTo>
                  <a:pt x="4100286" y="532865"/>
                  <a:pt x="4582886" y="81712"/>
                  <a:pt x="5399314" y="16398"/>
                </a:cubicBezTo>
                <a:cubicBezTo>
                  <a:pt x="6215742" y="-48916"/>
                  <a:pt x="7157356" y="92598"/>
                  <a:pt x="8098971" y="234112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92AD398-0EF3-4169-8108-671A7AEE83D5}"/>
              </a:ext>
            </a:extLst>
          </p:cNvPr>
          <p:cNvSpPr/>
          <p:nvPr/>
        </p:nvSpPr>
        <p:spPr>
          <a:xfrm>
            <a:off x="1371599" y="3576230"/>
            <a:ext cx="9093200" cy="938903"/>
          </a:xfrm>
          <a:custGeom>
            <a:avLst/>
            <a:gdLst>
              <a:gd name="connsiteX0" fmla="*/ 0 w 9093200"/>
              <a:gd name="connsiteY0" fmla="*/ 480409 h 1061592"/>
              <a:gd name="connsiteX1" fmla="*/ 1139371 w 9093200"/>
              <a:gd name="connsiteY1" fmla="*/ 480409 h 1061592"/>
              <a:gd name="connsiteX2" fmla="*/ 2097314 w 9093200"/>
              <a:gd name="connsiteY2" fmla="*/ 1060981 h 1061592"/>
              <a:gd name="connsiteX3" fmla="*/ 5377543 w 9093200"/>
              <a:gd name="connsiteY3" fmla="*/ 357038 h 1061592"/>
              <a:gd name="connsiteX4" fmla="*/ 7605486 w 9093200"/>
              <a:gd name="connsiteY4" fmla="*/ 1438 h 1061592"/>
              <a:gd name="connsiteX5" fmla="*/ 9093200 w 9093200"/>
              <a:gd name="connsiteY5" fmla="*/ 255438 h 1061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93200" h="1061592">
                <a:moveTo>
                  <a:pt x="0" y="480409"/>
                </a:moveTo>
                <a:cubicBezTo>
                  <a:pt x="394909" y="432028"/>
                  <a:pt x="789819" y="383647"/>
                  <a:pt x="1139371" y="480409"/>
                </a:cubicBezTo>
                <a:cubicBezTo>
                  <a:pt x="1488923" y="577171"/>
                  <a:pt x="1390952" y="1081543"/>
                  <a:pt x="2097314" y="1060981"/>
                </a:cubicBezTo>
                <a:cubicBezTo>
                  <a:pt x="2803676" y="1040419"/>
                  <a:pt x="4459514" y="533628"/>
                  <a:pt x="5377543" y="357038"/>
                </a:cubicBezTo>
                <a:cubicBezTo>
                  <a:pt x="6295572" y="180448"/>
                  <a:pt x="6986210" y="18371"/>
                  <a:pt x="7605486" y="1438"/>
                </a:cubicBezTo>
                <a:cubicBezTo>
                  <a:pt x="8224762" y="-15495"/>
                  <a:pt x="8658981" y="119971"/>
                  <a:pt x="9093200" y="255438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407687CF-CFE2-4D1E-9049-61B838D262F8}"/>
              </a:ext>
            </a:extLst>
          </p:cNvPr>
          <p:cNvSpPr/>
          <p:nvPr/>
        </p:nvSpPr>
        <p:spPr>
          <a:xfrm>
            <a:off x="1582056" y="4559521"/>
            <a:ext cx="8781143" cy="913042"/>
          </a:xfrm>
          <a:custGeom>
            <a:avLst/>
            <a:gdLst>
              <a:gd name="connsiteX0" fmla="*/ 0 w 8781143"/>
              <a:gd name="connsiteY0" fmla="*/ 0 h 1336281"/>
              <a:gd name="connsiteX1" fmla="*/ 834572 w 8781143"/>
              <a:gd name="connsiteY1" fmla="*/ 174171 h 1336281"/>
              <a:gd name="connsiteX2" fmla="*/ 1654629 w 8781143"/>
              <a:gd name="connsiteY2" fmla="*/ 965200 h 1336281"/>
              <a:gd name="connsiteX3" fmla="*/ 3563257 w 8781143"/>
              <a:gd name="connsiteY3" fmla="*/ 1299028 h 1336281"/>
              <a:gd name="connsiteX4" fmla="*/ 8781143 w 8781143"/>
              <a:gd name="connsiteY4" fmla="*/ 1313542 h 1336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81143" h="1336281">
                <a:moveTo>
                  <a:pt x="0" y="0"/>
                </a:moveTo>
                <a:cubicBezTo>
                  <a:pt x="279400" y="6652"/>
                  <a:pt x="558801" y="13304"/>
                  <a:pt x="834572" y="174171"/>
                </a:cubicBezTo>
                <a:cubicBezTo>
                  <a:pt x="1110344" y="335038"/>
                  <a:pt x="1199848" y="777724"/>
                  <a:pt x="1654629" y="965200"/>
                </a:cubicBezTo>
                <a:cubicBezTo>
                  <a:pt x="2109410" y="1152676"/>
                  <a:pt x="2375505" y="1240971"/>
                  <a:pt x="3563257" y="1299028"/>
                </a:cubicBezTo>
                <a:cubicBezTo>
                  <a:pt x="4751009" y="1357085"/>
                  <a:pt x="6766076" y="1335313"/>
                  <a:pt x="8781143" y="1313542"/>
                </a:cubicBezTo>
              </a:path>
            </a:pathLst>
          </a:cu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C78825B-9613-4158-932F-C8A3E130D9EC}"/>
              </a:ext>
            </a:extLst>
          </p:cNvPr>
          <p:cNvSpPr/>
          <p:nvPr/>
        </p:nvSpPr>
        <p:spPr>
          <a:xfrm>
            <a:off x="1497475" y="3009840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AAEAB5-E14A-4CC6-9F07-693278086B40}"/>
              </a:ext>
            </a:extLst>
          </p:cNvPr>
          <p:cNvSpPr/>
          <p:nvPr/>
        </p:nvSpPr>
        <p:spPr>
          <a:xfrm>
            <a:off x="1212905" y="3359331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FDB6E1A-6434-4BD3-A2C2-7CDFB0FCCC9A}"/>
              </a:ext>
            </a:extLst>
          </p:cNvPr>
          <p:cNvSpPr/>
          <p:nvPr/>
        </p:nvSpPr>
        <p:spPr>
          <a:xfrm>
            <a:off x="1875104" y="3810787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DF9D559-8BF1-4D09-8BDB-2D42286D9E46}"/>
              </a:ext>
            </a:extLst>
          </p:cNvPr>
          <p:cNvSpPr/>
          <p:nvPr/>
        </p:nvSpPr>
        <p:spPr>
          <a:xfrm>
            <a:off x="1881847" y="3249594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276C65B-B0D1-4FA3-AB83-7E53DEA4D251}"/>
              </a:ext>
            </a:extLst>
          </p:cNvPr>
          <p:cNvSpPr/>
          <p:nvPr/>
        </p:nvSpPr>
        <p:spPr>
          <a:xfrm>
            <a:off x="1326193" y="3943209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8DDA9BA-A83C-4458-946F-51CF8D2EDADC}"/>
              </a:ext>
            </a:extLst>
          </p:cNvPr>
          <p:cNvSpPr/>
          <p:nvPr/>
        </p:nvSpPr>
        <p:spPr>
          <a:xfrm>
            <a:off x="1475223" y="4507441"/>
            <a:ext cx="113288" cy="85882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Content Placeholder 1">
            <a:extLst>
              <a:ext uri="{FF2B5EF4-FFF2-40B4-BE49-F238E27FC236}">
                <a16:creationId xmlns:a16="http://schemas.microsoft.com/office/drawing/2014/main" id="{193565B9-1184-40BC-99E8-D3BA89B79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0" y="1209203"/>
            <a:ext cx="11699087" cy="960870"/>
          </a:xfrm>
        </p:spPr>
        <p:txBody>
          <a:bodyPr>
            <a:normAutofit/>
          </a:bodyPr>
          <a:lstStyle/>
          <a:p>
            <a:r>
              <a:rPr lang="en-US" dirty="0"/>
              <a:t>The bad case: under-approximation did not find a trace that contained unsafe states – we cannot conclude anything.</a:t>
            </a:r>
          </a:p>
        </p:txBody>
      </p:sp>
    </p:spTree>
    <p:extLst>
      <p:ext uri="{BB962C8B-B14F-4D97-AF65-F5344CB8AC3E}">
        <p14:creationId xmlns:p14="http://schemas.microsoft.com/office/powerpoint/2010/main" val="23593909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007BA22-4C9D-4FCA-ABB6-7E90202CF4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0" y="1209202"/>
                <a:ext cx="11699087" cy="45825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When we </a:t>
                </a:r>
                <a:r>
                  <a:rPr lang="en-US" i="1" dirty="0"/>
                  <a:t>over-approximate</a:t>
                </a:r>
                <a:r>
                  <a:rPr lang="en-US" dirty="0"/>
                  <a:t> the set of initial states, at each time, the set of reachable states that we compute is a </a:t>
                </a:r>
                <a:r>
                  <a:rPr lang="en-US" b="1" i="1" dirty="0"/>
                  <a:t>superset </a:t>
                </a:r>
                <a:r>
                  <a:rPr lang="en-US" dirty="0"/>
                  <a:t>of the </a:t>
                </a:r>
                <a:r>
                  <a:rPr lang="en-US" i="1" dirty="0"/>
                  <a:t>actual</a:t>
                </a:r>
                <a:r>
                  <a:rPr lang="en-US" b="1" i="1" dirty="0"/>
                  <a:t> </a:t>
                </a:r>
                <a:r>
                  <a:rPr lang="en-US" dirty="0"/>
                  <a:t>set of reachable states</a:t>
                </a:r>
              </a:p>
              <a:p>
                <a:r>
                  <a:rPr lang="en-US" dirty="0"/>
                  <a:t>Most formal verification techniques are based on over-approximation</a:t>
                </a:r>
              </a:p>
              <a:p>
                <a:r>
                  <a:rPr lang="en-US" dirty="0"/>
                  <a:t>Over-approximation is:</a:t>
                </a:r>
              </a:p>
              <a:p>
                <a:pPr lvl="1"/>
                <a:r>
                  <a:rPr lang="en-US" dirty="0"/>
                  <a:t>Unsound for bug-finding: if we find a bug, then it may not really be a bug</a:t>
                </a:r>
              </a:p>
              <a:p>
                <a:pPr lvl="2"/>
                <a:r>
                  <a:rPr lang="en-US" dirty="0"/>
                  <a:t>Because of over-approximation error</a:t>
                </a:r>
              </a:p>
              <a:p>
                <a:pPr lvl="1"/>
                <a:r>
                  <a:rPr lang="en-US" dirty="0"/>
                  <a:t>Sound for verification: if we do not find a bug, we have a </a:t>
                </a:r>
                <a:r>
                  <a:rPr lang="en-US" b="1" dirty="0"/>
                  <a:t>proof</a:t>
                </a:r>
                <a:r>
                  <a:rPr lang="en-US" dirty="0"/>
                  <a:t> that the system cannot reach an unsafe state in any time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007BA22-4C9D-4FCA-ABB6-7E90202CF4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0" y="1209202"/>
                <a:ext cx="11699087" cy="4582575"/>
              </a:xfrm>
              <a:blipFill>
                <a:blip r:embed="rId2"/>
                <a:stretch>
                  <a:fillRect l="-625" t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17A056B-5D12-4662-952B-3A95823D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Over-approximation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4451C-898F-4153-9BB2-84CC2C1DB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1337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A62A8DB-EC4B-4706-BBC4-3ED722D696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PWA systems are a simplification of hybrid automata</a:t>
                </a:r>
              </a:p>
              <a:p>
                <a:r>
                  <a:rPr lang="en-US" dirty="0"/>
                  <a:t>For a PWA system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modes:</a:t>
                </a:r>
              </a:p>
              <a:p>
                <a:pPr lvl="1"/>
                <a:r>
                  <a:rPr lang="en-US" dirty="0"/>
                  <a:t>Each mode described by an affine invariant of the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 each mode the dynamics are described as: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acc>
                    <m:r>
                      <a:rPr lang="en-US" b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1" dirty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A lot of research over last 20 years on computing the set of reachable states for PWA systems</a:t>
                </a:r>
              </a:p>
              <a:p>
                <a:pPr lvl="1"/>
                <a:r>
                  <a:rPr lang="en-US" dirty="0"/>
                  <a:t>Focus: reduce approximation error and increase scalability (in number of modes)</a:t>
                </a:r>
              </a:p>
              <a:p>
                <a:pPr lvl="1"/>
                <a:r>
                  <a:rPr lang="en-US" dirty="0"/>
                  <a:t>Tools: </a:t>
                </a:r>
                <a:r>
                  <a:rPr lang="en-US" dirty="0" err="1"/>
                  <a:t>PHAver</a:t>
                </a:r>
                <a:r>
                  <a:rPr lang="en-US" dirty="0"/>
                  <a:t>, d/</a:t>
                </a:r>
                <a:r>
                  <a:rPr lang="en-US" dirty="0" err="1"/>
                  <a:t>dt</a:t>
                </a:r>
                <a:r>
                  <a:rPr lang="en-US" dirty="0"/>
                  <a:t>, </a:t>
                </a:r>
                <a:r>
                  <a:rPr lang="en-US" dirty="0" err="1"/>
                  <a:t>CheckMate</a:t>
                </a:r>
                <a:r>
                  <a:rPr lang="en-US" dirty="0"/>
                  <a:t>, </a:t>
                </a:r>
                <a:r>
                  <a:rPr lang="en-US" dirty="0" err="1"/>
                  <a:t>SpaceEx</a:t>
                </a: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A62A8DB-EC4B-4706-BBC4-3ED722D696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384" r="-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B820C98-34B8-485E-9410-88B3148BE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Reachability for piecewise affine (PWA)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A8CBE-5F4F-4E61-8CD2-703F73B4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5162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7561F0-98C7-47FD-9E7A-7A71FA693138}"/>
              </a:ext>
            </a:extLst>
          </p:cNvPr>
          <p:cNvSpPr/>
          <p:nvPr/>
        </p:nvSpPr>
        <p:spPr>
          <a:xfrm>
            <a:off x="547575" y="1708185"/>
            <a:ext cx="2975430" cy="2723042"/>
          </a:xfrm>
          <a:custGeom>
            <a:avLst/>
            <a:gdLst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017486 w 2982686"/>
              <a:gd name="connsiteY5" fmla="*/ 1139371 h 2685142"/>
              <a:gd name="connsiteX6" fmla="*/ 1052286 w 2982686"/>
              <a:gd name="connsiteY6" fmla="*/ 1857828 h 2685142"/>
              <a:gd name="connsiteX7" fmla="*/ 0 w 2982686"/>
              <a:gd name="connsiteY7" fmla="*/ 2140857 h 2685142"/>
              <a:gd name="connsiteX8" fmla="*/ 7257 w 2982686"/>
              <a:gd name="connsiteY8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45657 w 2982686"/>
              <a:gd name="connsiteY5" fmla="*/ 638628 h 2685142"/>
              <a:gd name="connsiteX6" fmla="*/ 2017486 w 2982686"/>
              <a:gd name="connsiteY6" fmla="*/ 1139371 h 2685142"/>
              <a:gd name="connsiteX7" fmla="*/ 1052286 w 2982686"/>
              <a:gd name="connsiteY7" fmla="*/ 1857828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52286 w 2982686"/>
              <a:gd name="connsiteY7" fmla="*/ 1857828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609600 w 2982686"/>
              <a:gd name="connsiteY8" fmla="*/ 1959428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88571 w 2982686"/>
              <a:gd name="connsiteY7" fmla="*/ 1814286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88571 w 2982686"/>
              <a:gd name="connsiteY7" fmla="*/ 1814286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0 w 2982686"/>
              <a:gd name="connsiteY8" fmla="*/ 2140857 h 2698670"/>
              <a:gd name="connsiteX9" fmla="*/ 7257 w 2982686"/>
              <a:gd name="connsiteY9" fmla="*/ 2685142 h 2698670"/>
              <a:gd name="connsiteX0" fmla="*/ 7257 w 2982686"/>
              <a:gd name="connsiteY0" fmla="*/ 2685142 h 2700919"/>
              <a:gd name="connsiteX1" fmla="*/ 1081314 w 2982686"/>
              <a:gd name="connsiteY1" fmla="*/ 2525486 h 2700919"/>
              <a:gd name="connsiteX2" fmla="*/ 2126343 w 2982686"/>
              <a:gd name="connsiteY2" fmla="*/ 2090057 h 2700919"/>
              <a:gd name="connsiteX3" fmla="*/ 2982686 w 2982686"/>
              <a:gd name="connsiteY3" fmla="*/ 1299028 h 2700919"/>
              <a:gd name="connsiteX4" fmla="*/ 2975429 w 2982686"/>
              <a:gd name="connsiteY4" fmla="*/ 0 h 2700919"/>
              <a:gd name="connsiteX5" fmla="*/ 2489200 w 2982686"/>
              <a:gd name="connsiteY5" fmla="*/ 631371 h 2700919"/>
              <a:gd name="connsiteX6" fmla="*/ 2017486 w 2982686"/>
              <a:gd name="connsiteY6" fmla="*/ 1139371 h 2700919"/>
              <a:gd name="connsiteX7" fmla="*/ 1088571 w 2982686"/>
              <a:gd name="connsiteY7" fmla="*/ 1814286 h 2700919"/>
              <a:gd name="connsiteX8" fmla="*/ 0 w 2982686"/>
              <a:gd name="connsiteY8" fmla="*/ 2140857 h 2700919"/>
              <a:gd name="connsiteX9" fmla="*/ 7257 w 2982686"/>
              <a:gd name="connsiteY9" fmla="*/ 2685142 h 2700919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17486 w 2982686"/>
              <a:gd name="connsiteY6" fmla="*/ 1139371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24743 w 2982686"/>
              <a:gd name="connsiteY6" fmla="*/ 1168399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24743 w 2982686"/>
              <a:gd name="connsiteY6" fmla="*/ 1168399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99907 h 2716360"/>
              <a:gd name="connsiteX1" fmla="*/ 1059543 w 2982686"/>
              <a:gd name="connsiteY1" fmla="*/ 2547508 h 2716360"/>
              <a:gd name="connsiteX2" fmla="*/ 2126343 w 2982686"/>
              <a:gd name="connsiteY2" fmla="*/ 2104822 h 2716360"/>
              <a:gd name="connsiteX3" fmla="*/ 2982686 w 2982686"/>
              <a:gd name="connsiteY3" fmla="*/ 1313793 h 2716360"/>
              <a:gd name="connsiteX4" fmla="*/ 2975429 w 2982686"/>
              <a:gd name="connsiteY4" fmla="*/ 14765 h 2716360"/>
              <a:gd name="connsiteX5" fmla="*/ 2489200 w 2982686"/>
              <a:gd name="connsiteY5" fmla="*/ 646136 h 2716360"/>
              <a:gd name="connsiteX6" fmla="*/ 2024743 w 2982686"/>
              <a:gd name="connsiteY6" fmla="*/ 1183164 h 2716360"/>
              <a:gd name="connsiteX7" fmla="*/ 1088571 w 2982686"/>
              <a:gd name="connsiteY7" fmla="*/ 1829051 h 2716360"/>
              <a:gd name="connsiteX8" fmla="*/ 0 w 2982686"/>
              <a:gd name="connsiteY8" fmla="*/ 2155622 h 2716360"/>
              <a:gd name="connsiteX9" fmla="*/ 7257 w 2982686"/>
              <a:gd name="connsiteY9" fmla="*/ 2699907 h 2716360"/>
              <a:gd name="connsiteX0" fmla="*/ 12899 w 2988328"/>
              <a:gd name="connsiteY0" fmla="*/ 2699907 h 2716360"/>
              <a:gd name="connsiteX1" fmla="*/ 1065185 w 2988328"/>
              <a:gd name="connsiteY1" fmla="*/ 2547508 h 2716360"/>
              <a:gd name="connsiteX2" fmla="*/ 2131985 w 2988328"/>
              <a:gd name="connsiteY2" fmla="*/ 2104822 h 2716360"/>
              <a:gd name="connsiteX3" fmla="*/ 2988328 w 2988328"/>
              <a:gd name="connsiteY3" fmla="*/ 1313793 h 2716360"/>
              <a:gd name="connsiteX4" fmla="*/ 2981071 w 2988328"/>
              <a:gd name="connsiteY4" fmla="*/ 14765 h 2716360"/>
              <a:gd name="connsiteX5" fmla="*/ 2494842 w 2988328"/>
              <a:gd name="connsiteY5" fmla="*/ 646136 h 2716360"/>
              <a:gd name="connsiteX6" fmla="*/ 2030385 w 2988328"/>
              <a:gd name="connsiteY6" fmla="*/ 1183164 h 2716360"/>
              <a:gd name="connsiteX7" fmla="*/ 1094213 w 2988328"/>
              <a:gd name="connsiteY7" fmla="*/ 1829051 h 2716360"/>
              <a:gd name="connsiteX8" fmla="*/ 118102 w 2988328"/>
              <a:gd name="connsiteY8" fmla="*/ 2112031 h 2716360"/>
              <a:gd name="connsiteX9" fmla="*/ 5642 w 2988328"/>
              <a:gd name="connsiteY9" fmla="*/ 2155622 h 2716360"/>
              <a:gd name="connsiteX10" fmla="*/ 12899 w 2988328"/>
              <a:gd name="connsiteY10" fmla="*/ 2699907 h 2716360"/>
              <a:gd name="connsiteX0" fmla="*/ 7257 w 2982686"/>
              <a:gd name="connsiteY0" fmla="*/ 2699907 h 2716360"/>
              <a:gd name="connsiteX1" fmla="*/ 1059543 w 2982686"/>
              <a:gd name="connsiteY1" fmla="*/ 2547508 h 2716360"/>
              <a:gd name="connsiteX2" fmla="*/ 2126343 w 2982686"/>
              <a:gd name="connsiteY2" fmla="*/ 2104822 h 2716360"/>
              <a:gd name="connsiteX3" fmla="*/ 2982686 w 2982686"/>
              <a:gd name="connsiteY3" fmla="*/ 1313793 h 2716360"/>
              <a:gd name="connsiteX4" fmla="*/ 2975429 w 2982686"/>
              <a:gd name="connsiteY4" fmla="*/ 14765 h 2716360"/>
              <a:gd name="connsiteX5" fmla="*/ 2489200 w 2982686"/>
              <a:gd name="connsiteY5" fmla="*/ 646136 h 2716360"/>
              <a:gd name="connsiteX6" fmla="*/ 2024743 w 2982686"/>
              <a:gd name="connsiteY6" fmla="*/ 1183164 h 2716360"/>
              <a:gd name="connsiteX7" fmla="*/ 1088571 w 2982686"/>
              <a:gd name="connsiteY7" fmla="*/ 1829051 h 2716360"/>
              <a:gd name="connsiteX8" fmla="*/ 0 w 2982686"/>
              <a:gd name="connsiteY8" fmla="*/ 2155622 h 2716360"/>
              <a:gd name="connsiteX9" fmla="*/ 7257 w 2982686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21772 w 2975429"/>
              <a:gd name="connsiteY8" fmla="*/ 2162879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21772 w 2975429"/>
              <a:gd name="connsiteY8" fmla="*/ 2162879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7257 w 2968172"/>
              <a:gd name="connsiteY0" fmla="*/ 2707164 h 2723042"/>
              <a:gd name="connsiteX1" fmla="*/ 1045029 w 2968172"/>
              <a:gd name="connsiteY1" fmla="*/ 2547508 h 2723042"/>
              <a:gd name="connsiteX2" fmla="*/ 2111829 w 2968172"/>
              <a:gd name="connsiteY2" fmla="*/ 2104822 h 2723042"/>
              <a:gd name="connsiteX3" fmla="*/ 2968172 w 2968172"/>
              <a:gd name="connsiteY3" fmla="*/ 1313793 h 2723042"/>
              <a:gd name="connsiteX4" fmla="*/ 2960915 w 2968172"/>
              <a:gd name="connsiteY4" fmla="*/ 14765 h 2723042"/>
              <a:gd name="connsiteX5" fmla="*/ 2474686 w 2968172"/>
              <a:gd name="connsiteY5" fmla="*/ 646136 h 2723042"/>
              <a:gd name="connsiteX6" fmla="*/ 2010229 w 2968172"/>
              <a:gd name="connsiteY6" fmla="*/ 1183164 h 2723042"/>
              <a:gd name="connsiteX7" fmla="*/ 1074057 w 2968172"/>
              <a:gd name="connsiteY7" fmla="*/ 1829051 h 2723042"/>
              <a:gd name="connsiteX8" fmla="*/ 0 w 2968172"/>
              <a:gd name="connsiteY8" fmla="*/ 2104822 h 2723042"/>
              <a:gd name="connsiteX9" fmla="*/ 7257 w 2968172"/>
              <a:gd name="connsiteY9" fmla="*/ 2707164 h 2723042"/>
              <a:gd name="connsiteX0" fmla="*/ 14515 w 2975430"/>
              <a:gd name="connsiteY0" fmla="*/ 2707164 h 2723042"/>
              <a:gd name="connsiteX1" fmla="*/ 1052287 w 2975430"/>
              <a:gd name="connsiteY1" fmla="*/ 2547508 h 2723042"/>
              <a:gd name="connsiteX2" fmla="*/ 2119087 w 2975430"/>
              <a:gd name="connsiteY2" fmla="*/ 2104822 h 2723042"/>
              <a:gd name="connsiteX3" fmla="*/ 2975430 w 2975430"/>
              <a:gd name="connsiteY3" fmla="*/ 1313793 h 2723042"/>
              <a:gd name="connsiteX4" fmla="*/ 2968173 w 2975430"/>
              <a:gd name="connsiteY4" fmla="*/ 14765 h 2723042"/>
              <a:gd name="connsiteX5" fmla="*/ 2481944 w 2975430"/>
              <a:gd name="connsiteY5" fmla="*/ 646136 h 2723042"/>
              <a:gd name="connsiteX6" fmla="*/ 2017487 w 2975430"/>
              <a:gd name="connsiteY6" fmla="*/ 1183164 h 2723042"/>
              <a:gd name="connsiteX7" fmla="*/ 1081315 w 2975430"/>
              <a:gd name="connsiteY7" fmla="*/ 1829051 h 2723042"/>
              <a:gd name="connsiteX8" fmla="*/ 0 w 2975430"/>
              <a:gd name="connsiteY8" fmla="*/ 2141107 h 2723042"/>
              <a:gd name="connsiteX9" fmla="*/ 14515 w 2975430"/>
              <a:gd name="connsiteY9" fmla="*/ 2707164 h 2723042"/>
              <a:gd name="connsiteX0" fmla="*/ 14515 w 2975430"/>
              <a:gd name="connsiteY0" fmla="*/ 2707164 h 2723042"/>
              <a:gd name="connsiteX1" fmla="*/ 1052287 w 2975430"/>
              <a:gd name="connsiteY1" fmla="*/ 2547508 h 2723042"/>
              <a:gd name="connsiteX2" fmla="*/ 2119087 w 2975430"/>
              <a:gd name="connsiteY2" fmla="*/ 2104822 h 2723042"/>
              <a:gd name="connsiteX3" fmla="*/ 2975430 w 2975430"/>
              <a:gd name="connsiteY3" fmla="*/ 1313793 h 2723042"/>
              <a:gd name="connsiteX4" fmla="*/ 2968173 w 2975430"/>
              <a:gd name="connsiteY4" fmla="*/ 14765 h 2723042"/>
              <a:gd name="connsiteX5" fmla="*/ 2481944 w 2975430"/>
              <a:gd name="connsiteY5" fmla="*/ 646136 h 2723042"/>
              <a:gd name="connsiteX6" fmla="*/ 2017487 w 2975430"/>
              <a:gd name="connsiteY6" fmla="*/ 1183164 h 2723042"/>
              <a:gd name="connsiteX7" fmla="*/ 1081315 w 2975430"/>
              <a:gd name="connsiteY7" fmla="*/ 1829051 h 2723042"/>
              <a:gd name="connsiteX8" fmla="*/ 0 w 2975430"/>
              <a:gd name="connsiteY8" fmla="*/ 2141107 h 2723042"/>
              <a:gd name="connsiteX9" fmla="*/ 14515 w 2975430"/>
              <a:gd name="connsiteY9" fmla="*/ 2707164 h 272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75430" h="2723042">
                <a:moveTo>
                  <a:pt x="14515" y="2707164"/>
                </a:moveTo>
                <a:cubicBezTo>
                  <a:pt x="194734" y="2766431"/>
                  <a:pt x="701525" y="2647898"/>
                  <a:pt x="1052287" y="2547508"/>
                </a:cubicBezTo>
                <a:cubicBezTo>
                  <a:pt x="1403049" y="2447118"/>
                  <a:pt x="1798563" y="2310441"/>
                  <a:pt x="2119087" y="2104822"/>
                </a:cubicBezTo>
                <a:cubicBezTo>
                  <a:pt x="2439611" y="1899203"/>
                  <a:pt x="2689982" y="1577469"/>
                  <a:pt x="2975430" y="1313793"/>
                </a:cubicBezTo>
                <a:lnTo>
                  <a:pt x="2968173" y="14765"/>
                </a:lnTo>
                <a:cubicBezTo>
                  <a:pt x="2885925" y="-96511"/>
                  <a:pt x="2640392" y="451403"/>
                  <a:pt x="2481944" y="646136"/>
                </a:cubicBezTo>
                <a:cubicBezTo>
                  <a:pt x="2323496" y="840869"/>
                  <a:pt x="2250925" y="986012"/>
                  <a:pt x="2017487" y="1183164"/>
                </a:cubicBezTo>
                <a:cubicBezTo>
                  <a:pt x="1784049" y="1380316"/>
                  <a:pt x="1416353" y="1675441"/>
                  <a:pt x="1081315" y="1829051"/>
                </a:cubicBezTo>
                <a:cubicBezTo>
                  <a:pt x="862391" y="1975404"/>
                  <a:pt x="394002" y="2134869"/>
                  <a:pt x="0" y="2141107"/>
                </a:cubicBezTo>
                <a:lnTo>
                  <a:pt x="14515" y="2707164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7895-C4FC-4B56-BBC2-D302EC58E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for affine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41BB2-C080-406C-B450-D0A5D9FF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92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EF1E3D7-ABDA-4662-9CA9-28FF20EA9068}"/>
              </a:ext>
            </a:extLst>
          </p:cNvPr>
          <p:cNvCxnSpPr/>
          <p:nvPr/>
        </p:nvCxnSpPr>
        <p:spPr>
          <a:xfrm flipV="1">
            <a:off x="572950" y="2049474"/>
            <a:ext cx="0" cy="2786742"/>
          </a:xfrm>
          <a:prstGeom prst="straightConnector1">
            <a:avLst/>
          </a:prstGeom>
          <a:ln w="31750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8BCAA8D-392E-42CF-B66E-70CA9324D672}"/>
              </a:ext>
            </a:extLst>
          </p:cNvPr>
          <p:cNvCxnSpPr>
            <a:cxnSpLocks/>
          </p:cNvCxnSpPr>
          <p:nvPr/>
        </p:nvCxnSpPr>
        <p:spPr>
          <a:xfrm>
            <a:off x="217350" y="4480616"/>
            <a:ext cx="3976914" cy="0"/>
          </a:xfrm>
          <a:prstGeom prst="straightConnector1">
            <a:avLst/>
          </a:prstGeom>
          <a:ln w="31750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96C7DD9-8CB1-4113-88E1-2625BDD96C75}"/>
              </a:ext>
            </a:extLst>
          </p:cNvPr>
          <p:cNvSpPr/>
          <p:nvPr/>
        </p:nvSpPr>
        <p:spPr>
          <a:xfrm>
            <a:off x="482266" y="3765792"/>
            <a:ext cx="181365" cy="714825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584A8A1-BB27-4838-ADBA-B0C492276E1A}"/>
              </a:ext>
            </a:extLst>
          </p:cNvPr>
          <p:cNvSpPr/>
          <p:nvPr/>
        </p:nvSpPr>
        <p:spPr>
          <a:xfrm>
            <a:off x="1534552" y="3493645"/>
            <a:ext cx="181357" cy="791025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3D9611A-B528-40F4-8D22-F58C50C3E742}"/>
              </a:ext>
            </a:extLst>
          </p:cNvPr>
          <p:cNvSpPr/>
          <p:nvPr/>
        </p:nvSpPr>
        <p:spPr>
          <a:xfrm>
            <a:off x="2496153" y="2840501"/>
            <a:ext cx="217624" cy="1066799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4541346-D1D7-454C-BBF9-038A6661CA77}"/>
              </a:ext>
            </a:extLst>
          </p:cNvPr>
          <p:cNvSpPr/>
          <p:nvPr/>
        </p:nvSpPr>
        <p:spPr>
          <a:xfrm>
            <a:off x="3432324" y="1695562"/>
            <a:ext cx="217634" cy="1388052"/>
          </a:xfrm>
          <a:prstGeom prst="roundRect">
            <a:avLst>
              <a:gd name="adj" fmla="val 133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B8DD66-E9E0-467F-933C-9C0901C14791}"/>
                  </a:ext>
                </a:extLst>
              </p:cNvPr>
              <p:cNvSpPr txBox="1"/>
              <p:nvPr/>
            </p:nvSpPr>
            <p:spPr>
              <a:xfrm>
                <a:off x="4002801" y="4530006"/>
                <a:ext cx="3829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B8DD66-E9E0-467F-933C-9C0901C1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801" y="4530006"/>
                <a:ext cx="38292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0EABF9-90A7-4B5D-8B72-0876238072B8}"/>
                  </a:ext>
                </a:extLst>
              </p:cNvPr>
              <p:cNvSpPr txBox="1"/>
              <p:nvPr/>
            </p:nvSpPr>
            <p:spPr>
              <a:xfrm>
                <a:off x="0" y="3293245"/>
                <a:ext cx="5948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0EABF9-90A7-4B5D-8B72-087623807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93245"/>
                <a:ext cx="594842" cy="461665"/>
              </a:xfrm>
              <a:prstGeom prst="rect">
                <a:avLst/>
              </a:prstGeom>
              <a:blipFill>
                <a:blip r:embed="rId3"/>
                <a:stretch>
                  <a:fillRect l="-1020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A02A6A-68F9-4629-AE6D-626DA42BC1DB}"/>
                  </a:ext>
                </a:extLst>
              </p:cNvPr>
              <p:cNvSpPr txBox="1"/>
              <p:nvPr/>
            </p:nvSpPr>
            <p:spPr>
              <a:xfrm>
                <a:off x="1241273" y="2852781"/>
                <a:ext cx="6084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A02A6A-68F9-4629-AE6D-626DA42BC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273" y="2852781"/>
                <a:ext cx="608436" cy="461665"/>
              </a:xfrm>
              <a:prstGeom prst="rect">
                <a:avLst/>
              </a:prstGeom>
              <a:blipFill>
                <a:blip r:embed="rId4"/>
                <a:stretch>
                  <a:fillRect l="-1010" b="-1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49AA19-995E-4393-8481-1332EC4DB58D}"/>
                  </a:ext>
                </a:extLst>
              </p:cNvPr>
              <p:cNvSpPr txBox="1"/>
              <p:nvPr/>
            </p:nvSpPr>
            <p:spPr>
              <a:xfrm>
                <a:off x="2076086" y="2282322"/>
                <a:ext cx="7382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49AA19-995E-4393-8481-1332EC4DB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086" y="2282322"/>
                <a:ext cx="738279" cy="461665"/>
              </a:xfrm>
              <a:prstGeom prst="rect">
                <a:avLst/>
              </a:prstGeom>
              <a:blipFill>
                <a:blip r:embed="rId5"/>
                <a:stretch>
                  <a:fillRect l="-826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D4D94A2-12BC-4D85-A180-B801DE108207}"/>
                  </a:ext>
                </a:extLst>
              </p:cNvPr>
              <p:cNvSpPr txBox="1"/>
              <p:nvPr/>
            </p:nvSpPr>
            <p:spPr>
              <a:xfrm>
                <a:off x="3008572" y="1209202"/>
                <a:ext cx="7382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D4D94A2-12BC-4D85-A180-B801DE108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572" y="1209202"/>
                <a:ext cx="738279" cy="461665"/>
              </a:xfrm>
              <a:prstGeom prst="rect">
                <a:avLst/>
              </a:prstGeom>
              <a:blipFill>
                <a:blip r:embed="rId6"/>
                <a:stretch>
                  <a:fillRect l="-826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1">
                <a:extLst>
                  <a:ext uri="{FF2B5EF4-FFF2-40B4-BE49-F238E27FC236}">
                    <a16:creationId xmlns:a16="http://schemas.microsoft.com/office/drawing/2014/main" id="{CB916938-D747-4BDC-815A-1635482CA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59573" y="1209202"/>
                <a:ext cx="7606194" cy="4487653"/>
              </a:xfrm>
              <a:ln>
                <a:noFill/>
              </a:ln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Recall that for a linear system (for now assume no inputs):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𝐴𝑡</m:t>
                        </m:r>
                      </m:sup>
                    </m:sSup>
                  </m:oMath>
                </a14:m>
                <a:endParaRPr lang="en-US" sz="2400" dirty="0"/>
              </a:p>
              <a:p>
                <a:r>
                  <a:rPr lang="en-US" sz="2400" b="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b="0" dirty="0"/>
                  <a:t>, now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𝛿</m:t>
                        </m:r>
                      </m:sup>
                    </m:sSup>
                  </m:oMath>
                </a14:m>
                <a:r>
                  <a:rPr lang="en-US" sz="2400" b="0" dirty="0"/>
                  <a:t> is just some constant matrix</a:t>
                </a:r>
              </a:p>
              <a:p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b="0" dirty="0"/>
                  <a:t> is some polyhedral set, </a:t>
                </a:r>
                <a:r>
                  <a:rPr lang="en-US" sz="2400" dirty="0"/>
                  <a:t>we can compute the </a:t>
                </a:r>
                <a:r>
                  <a:rPr lang="en-US" sz="2400" b="1" i="1" dirty="0"/>
                  <a:t>exact </a:t>
                </a:r>
                <a:r>
                  <a:rPr lang="en-US" sz="2400" dirty="0"/>
                  <a:t>set of reachable states for every state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b="0" dirty="0"/>
                  <a:t> at time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400" b="0" dirty="0"/>
                  <a:t>,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p>
                    </m:sSup>
                  </m:oMath>
                </a14:m>
                <a:r>
                  <a:rPr lang="en-US" sz="2400" b="0" dirty="0"/>
                  <a:t> is just a linear transform</a:t>
                </a:r>
              </a:p>
              <a:p>
                <a:r>
                  <a:rPr lang="en-US" sz="2400" dirty="0"/>
                  <a:t>Thus, 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p>
                    </m:sSup>
                  </m:oMath>
                </a14:m>
                <a:endParaRPr lang="en-US" sz="2400" dirty="0"/>
              </a:p>
              <a:p>
                <a:r>
                  <a:rPr lang="en-US" sz="2400" dirty="0"/>
                  <a:t>Could be acceptable for continuous systems: between discrete time steps, solution remains in the neighborhood of the aproximations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</m:oMath>
                </a14:m>
                <a:r>
                  <a:rPr lang="en-US" sz="2400" dirty="0"/>
                  <a:t> (and we can over-estimate this neighborhood numerically)</a:t>
                </a:r>
              </a:p>
            </p:txBody>
          </p:sp>
        </mc:Choice>
        <mc:Fallback xmlns="">
          <p:sp>
            <p:nvSpPr>
              <p:cNvPr id="24" name="Content Placeholder 1">
                <a:extLst>
                  <a:ext uri="{FF2B5EF4-FFF2-40B4-BE49-F238E27FC236}">
                    <a16:creationId xmlns:a16="http://schemas.microsoft.com/office/drawing/2014/main" id="{CB916938-D747-4BDC-815A-1635482CA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59573" y="1209202"/>
                <a:ext cx="7606194" cy="4487653"/>
              </a:xfrm>
              <a:blipFill>
                <a:blip r:embed="rId7"/>
                <a:stretch>
                  <a:fillRect l="-642" t="-19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7C6B0C-7604-41FC-B5FD-88696A9B2CB7}"/>
                  </a:ext>
                </a:extLst>
              </p:cNvPr>
              <p:cNvSpPr txBox="1"/>
              <p:nvPr/>
            </p:nvSpPr>
            <p:spPr>
              <a:xfrm>
                <a:off x="119308" y="1859980"/>
                <a:ext cx="42639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7C6B0C-7604-41FC-B5FD-88696A9B2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08" y="1859980"/>
                <a:ext cx="426399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26644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7561F0-98C7-47FD-9E7A-7A71FA693138}"/>
              </a:ext>
            </a:extLst>
          </p:cNvPr>
          <p:cNvSpPr/>
          <p:nvPr/>
        </p:nvSpPr>
        <p:spPr>
          <a:xfrm>
            <a:off x="547572" y="3224441"/>
            <a:ext cx="1625601" cy="1209276"/>
          </a:xfrm>
          <a:custGeom>
            <a:avLst/>
            <a:gdLst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017486 w 2982686"/>
              <a:gd name="connsiteY5" fmla="*/ 1139371 h 2685142"/>
              <a:gd name="connsiteX6" fmla="*/ 1052286 w 2982686"/>
              <a:gd name="connsiteY6" fmla="*/ 1857828 h 2685142"/>
              <a:gd name="connsiteX7" fmla="*/ 0 w 2982686"/>
              <a:gd name="connsiteY7" fmla="*/ 2140857 h 2685142"/>
              <a:gd name="connsiteX8" fmla="*/ 7257 w 2982686"/>
              <a:gd name="connsiteY8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45657 w 2982686"/>
              <a:gd name="connsiteY5" fmla="*/ 638628 h 2685142"/>
              <a:gd name="connsiteX6" fmla="*/ 2017486 w 2982686"/>
              <a:gd name="connsiteY6" fmla="*/ 1139371 h 2685142"/>
              <a:gd name="connsiteX7" fmla="*/ 1052286 w 2982686"/>
              <a:gd name="connsiteY7" fmla="*/ 1857828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52286 w 2982686"/>
              <a:gd name="connsiteY7" fmla="*/ 1857828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0 w 2982686"/>
              <a:gd name="connsiteY8" fmla="*/ 2140857 h 2685142"/>
              <a:gd name="connsiteX9" fmla="*/ 7257 w 2982686"/>
              <a:gd name="connsiteY9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609600 w 2982686"/>
              <a:gd name="connsiteY8" fmla="*/ 1959428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168400 w 2982686"/>
              <a:gd name="connsiteY7" fmla="*/ 1799771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88571 w 2982686"/>
              <a:gd name="connsiteY7" fmla="*/ 1814286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85142"/>
              <a:gd name="connsiteX1" fmla="*/ 1081314 w 2982686"/>
              <a:gd name="connsiteY1" fmla="*/ 2496457 h 2685142"/>
              <a:gd name="connsiteX2" fmla="*/ 2126343 w 2982686"/>
              <a:gd name="connsiteY2" fmla="*/ 2090057 h 2685142"/>
              <a:gd name="connsiteX3" fmla="*/ 2982686 w 2982686"/>
              <a:gd name="connsiteY3" fmla="*/ 1299028 h 2685142"/>
              <a:gd name="connsiteX4" fmla="*/ 2975429 w 2982686"/>
              <a:gd name="connsiteY4" fmla="*/ 0 h 2685142"/>
              <a:gd name="connsiteX5" fmla="*/ 2489200 w 2982686"/>
              <a:gd name="connsiteY5" fmla="*/ 631371 h 2685142"/>
              <a:gd name="connsiteX6" fmla="*/ 2017486 w 2982686"/>
              <a:gd name="connsiteY6" fmla="*/ 1139371 h 2685142"/>
              <a:gd name="connsiteX7" fmla="*/ 1088571 w 2982686"/>
              <a:gd name="connsiteY7" fmla="*/ 1814286 h 2685142"/>
              <a:gd name="connsiteX8" fmla="*/ 384629 w 2982686"/>
              <a:gd name="connsiteY8" fmla="*/ 2046514 h 2685142"/>
              <a:gd name="connsiteX9" fmla="*/ 0 w 2982686"/>
              <a:gd name="connsiteY9" fmla="*/ 2140857 h 2685142"/>
              <a:gd name="connsiteX10" fmla="*/ 7257 w 2982686"/>
              <a:gd name="connsiteY10" fmla="*/ 2685142 h 2685142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384629 w 2982686"/>
              <a:gd name="connsiteY8" fmla="*/ 2046514 h 2698670"/>
              <a:gd name="connsiteX9" fmla="*/ 0 w 2982686"/>
              <a:gd name="connsiteY9" fmla="*/ 2140857 h 2698670"/>
              <a:gd name="connsiteX10" fmla="*/ 7257 w 2982686"/>
              <a:gd name="connsiteY10" fmla="*/ 2685142 h 2698670"/>
              <a:gd name="connsiteX0" fmla="*/ 7257 w 2982686"/>
              <a:gd name="connsiteY0" fmla="*/ 2685142 h 2698670"/>
              <a:gd name="connsiteX1" fmla="*/ 1081314 w 2982686"/>
              <a:gd name="connsiteY1" fmla="*/ 2496457 h 2698670"/>
              <a:gd name="connsiteX2" fmla="*/ 2126343 w 2982686"/>
              <a:gd name="connsiteY2" fmla="*/ 2090057 h 2698670"/>
              <a:gd name="connsiteX3" fmla="*/ 2982686 w 2982686"/>
              <a:gd name="connsiteY3" fmla="*/ 1299028 h 2698670"/>
              <a:gd name="connsiteX4" fmla="*/ 2975429 w 2982686"/>
              <a:gd name="connsiteY4" fmla="*/ 0 h 2698670"/>
              <a:gd name="connsiteX5" fmla="*/ 2489200 w 2982686"/>
              <a:gd name="connsiteY5" fmla="*/ 631371 h 2698670"/>
              <a:gd name="connsiteX6" fmla="*/ 2017486 w 2982686"/>
              <a:gd name="connsiteY6" fmla="*/ 1139371 h 2698670"/>
              <a:gd name="connsiteX7" fmla="*/ 1088571 w 2982686"/>
              <a:gd name="connsiteY7" fmla="*/ 1814286 h 2698670"/>
              <a:gd name="connsiteX8" fmla="*/ 0 w 2982686"/>
              <a:gd name="connsiteY8" fmla="*/ 2140857 h 2698670"/>
              <a:gd name="connsiteX9" fmla="*/ 7257 w 2982686"/>
              <a:gd name="connsiteY9" fmla="*/ 2685142 h 2698670"/>
              <a:gd name="connsiteX0" fmla="*/ 7257 w 2982686"/>
              <a:gd name="connsiteY0" fmla="*/ 2685142 h 2700919"/>
              <a:gd name="connsiteX1" fmla="*/ 1081314 w 2982686"/>
              <a:gd name="connsiteY1" fmla="*/ 2525486 h 2700919"/>
              <a:gd name="connsiteX2" fmla="*/ 2126343 w 2982686"/>
              <a:gd name="connsiteY2" fmla="*/ 2090057 h 2700919"/>
              <a:gd name="connsiteX3" fmla="*/ 2982686 w 2982686"/>
              <a:gd name="connsiteY3" fmla="*/ 1299028 h 2700919"/>
              <a:gd name="connsiteX4" fmla="*/ 2975429 w 2982686"/>
              <a:gd name="connsiteY4" fmla="*/ 0 h 2700919"/>
              <a:gd name="connsiteX5" fmla="*/ 2489200 w 2982686"/>
              <a:gd name="connsiteY5" fmla="*/ 631371 h 2700919"/>
              <a:gd name="connsiteX6" fmla="*/ 2017486 w 2982686"/>
              <a:gd name="connsiteY6" fmla="*/ 1139371 h 2700919"/>
              <a:gd name="connsiteX7" fmla="*/ 1088571 w 2982686"/>
              <a:gd name="connsiteY7" fmla="*/ 1814286 h 2700919"/>
              <a:gd name="connsiteX8" fmla="*/ 0 w 2982686"/>
              <a:gd name="connsiteY8" fmla="*/ 2140857 h 2700919"/>
              <a:gd name="connsiteX9" fmla="*/ 7257 w 2982686"/>
              <a:gd name="connsiteY9" fmla="*/ 2685142 h 2700919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17486 w 2982686"/>
              <a:gd name="connsiteY6" fmla="*/ 1139371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24743 w 2982686"/>
              <a:gd name="connsiteY6" fmla="*/ 1168399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85142 h 2701595"/>
              <a:gd name="connsiteX1" fmla="*/ 1059543 w 2982686"/>
              <a:gd name="connsiteY1" fmla="*/ 2532743 h 2701595"/>
              <a:gd name="connsiteX2" fmla="*/ 2126343 w 2982686"/>
              <a:gd name="connsiteY2" fmla="*/ 2090057 h 2701595"/>
              <a:gd name="connsiteX3" fmla="*/ 2982686 w 2982686"/>
              <a:gd name="connsiteY3" fmla="*/ 1299028 h 2701595"/>
              <a:gd name="connsiteX4" fmla="*/ 2975429 w 2982686"/>
              <a:gd name="connsiteY4" fmla="*/ 0 h 2701595"/>
              <a:gd name="connsiteX5" fmla="*/ 2489200 w 2982686"/>
              <a:gd name="connsiteY5" fmla="*/ 631371 h 2701595"/>
              <a:gd name="connsiteX6" fmla="*/ 2024743 w 2982686"/>
              <a:gd name="connsiteY6" fmla="*/ 1168399 h 2701595"/>
              <a:gd name="connsiteX7" fmla="*/ 1088571 w 2982686"/>
              <a:gd name="connsiteY7" fmla="*/ 1814286 h 2701595"/>
              <a:gd name="connsiteX8" fmla="*/ 0 w 2982686"/>
              <a:gd name="connsiteY8" fmla="*/ 2140857 h 2701595"/>
              <a:gd name="connsiteX9" fmla="*/ 7257 w 2982686"/>
              <a:gd name="connsiteY9" fmla="*/ 2685142 h 2701595"/>
              <a:gd name="connsiteX0" fmla="*/ 7257 w 2982686"/>
              <a:gd name="connsiteY0" fmla="*/ 2699907 h 2716360"/>
              <a:gd name="connsiteX1" fmla="*/ 1059543 w 2982686"/>
              <a:gd name="connsiteY1" fmla="*/ 2547508 h 2716360"/>
              <a:gd name="connsiteX2" fmla="*/ 2126343 w 2982686"/>
              <a:gd name="connsiteY2" fmla="*/ 2104822 h 2716360"/>
              <a:gd name="connsiteX3" fmla="*/ 2982686 w 2982686"/>
              <a:gd name="connsiteY3" fmla="*/ 1313793 h 2716360"/>
              <a:gd name="connsiteX4" fmla="*/ 2975429 w 2982686"/>
              <a:gd name="connsiteY4" fmla="*/ 14765 h 2716360"/>
              <a:gd name="connsiteX5" fmla="*/ 2489200 w 2982686"/>
              <a:gd name="connsiteY5" fmla="*/ 646136 h 2716360"/>
              <a:gd name="connsiteX6" fmla="*/ 2024743 w 2982686"/>
              <a:gd name="connsiteY6" fmla="*/ 1183164 h 2716360"/>
              <a:gd name="connsiteX7" fmla="*/ 1088571 w 2982686"/>
              <a:gd name="connsiteY7" fmla="*/ 1829051 h 2716360"/>
              <a:gd name="connsiteX8" fmla="*/ 0 w 2982686"/>
              <a:gd name="connsiteY8" fmla="*/ 2155622 h 2716360"/>
              <a:gd name="connsiteX9" fmla="*/ 7257 w 2982686"/>
              <a:gd name="connsiteY9" fmla="*/ 2699907 h 2716360"/>
              <a:gd name="connsiteX0" fmla="*/ 12899 w 2988328"/>
              <a:gd name="connsiteY0" fmla="*/ 2699907 h 2716360"/>
              <a:gd name="connsiteX1" fmla="*/ 1065185 w 2988328"/>
              <a:gd name="connsiteY1" fmla="*/ 2547508 h 2716360"/>
              <a:gd name="connsiteX2" fmla="*/ 2131985 w 2988328"/>
              <a:gd name="connsiteY2" fmla="*/ 2104822 h 2716360"/>
              <a:gd name="connsiteX3" fmla="*/ 2988328 w 2988328"/>
              <a:gd name="connsiteY3" fmla="*/ 1313793 h 2716360"/>
              <a:gd name="connsiteX4" fmla="*/ 2981071 w 2988328"/>
              <a:gd name="connsiteY4" fmla="*/ 14765 h 2716360"/>
              <a:gd name="connsiteX5" fmla="*/ 2494842 w 2988328"/>
              <a:gd name="connsiteY5" fmla="*/ 646136 h 2716360"/>
              <a:gd name="connsiteX6" fmla="*/ 2030385 w 2988328"/>
              <a:gd name="connsiteY6" fmla="*/ 1183164 h 2716360"/>
              <a:gd name="connsiteX7" fmla="*/ 1094213 w 2988328"/>
              <a:gd name="connsiteY7" fmla="*/ 1829051 h 2716360"/>
              <a:gd name="connsiteX8" fmla="*/ 118102 w 2988328"/>
              <a:gd name="connsiteY8" fmla="*/ 2112031 h 2716360"/>
              <a:gd name="connsiteX9" fmla="*/ 5642 w 2988328"/>
              <a:gd name="connsiteY9" fmla="*/ 2155622 h 2716360"/>
              <a:gd name="connsiteX10" fmla="*/ 12899 w 2988328"/>
              <a:gd name="connsiteY10" fmla="*/ 2699907 h 2716360"/>
              <a:gd name="connsiteX0" fmla="*/ 7257 w 2982686"/>
              <a:gd name="connsiteY0" fmla="*/ 2699907 h 2716360"/>
              <a:gd name="connsiteX1" fmla="*/ 1059543 w 2982686"/>
              <a:gd name="connsiteY1" fmla="*/ 2547508 h 2716360"/>
              <a:gd name="connsiteX2" fmla="*/ 2126343 w 2982686"/>
              <a:gd name="connsiteY2" fmla="*/ 2104822 h 2716360"/>
              <a:gd name="connsiteX3" fmla="*/ 2982686 w 2982686"/>
              <a:gd name="connsiteY3" fmla="*/ 1313793 h 2716360"/>
              <a:gd name="connsiteX4" fmla="*/ 2975429 w 2982686"/>
              <a:gd name="connsiteY4" fmla="*/ 14765 h 2716360"/>
              <a:gd name="connsiteX5" fmla="*/ 2489200 w 2982686"/>
              <a:gd name="connsiteY5" fmla="*/ 646136 h 2716360"/>
              <a:gd name="connsiteX6" fmla="*/ 2024743 w 2982686"/>
              <a:gd name="connsiteY6" fmla="*/ 1183164 h 2716360"/>
              <a:gd name="connsiteX7" fmla="*/ 1088571 w 2982686"/>
              <a:gd name="connsiteY7" fmla="*/ 1829051 h 2716360"/>
              <a:gd name="connsiteX8" fmla="*/ 0 w 2982686"/>
              <a:gd name="connsiteY8" fmla="*/ 2155622 h 2716360"/>
              <a:gd name="connsiteX9" fmla="*/ 7257 w 2982686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21772 w 2975429"/>
              <a:gd name="connsiteY8" fmla="*/ 2162879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21772 w 2975429"/>
              <a:gd name="connsiteY8" fmla="*/ 2162879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0 w 2975429"/>
              <a:gd name="connsiteY0" fmla="*/ 2699907 h 2716360"/>
              <a:gd name="connsiteX1" fmla="*/ 1052286 w 2975429"/>
              <a:gd name="connsiteY1" fmla="*/ 2547508 h 2716360"/>
              <a:gd name="connsiteX2" fmla="*/ 2119086 w 2975429"/>
              <a:gd name="connsiteY2" fmla="*/ 2104822 h 2716360"/>
              <a:gd name="connsiteX3" fmla="*/ 2975429 w 2975429"/>
              <a:gd name="connsiteY3" fmla="*/ 1313793 h 2716360"/>
              <a:gd name="connsiteX4" fmla="*/ 2968172 w 2975429"/>
              <a:gd name="connsiteY4" fmla="*/ 14765 h 2716360"/>
              <a:gd name="connsiteX5" fmla="*/ 2481943 w 2975429"/>
              <a:gd name="connsiteY5" fmla="*/ 646136 h 2716360"/>
              <a:gd name="connsiteX6" fmla="*/ 2017486 w 2975429"/>
              <a:gd name="connsiteY6" fmla="*/ 1183164 h 2716360"/>
              <a:gd name="connsiteX7" fmla="*/ 1081314 w 2975429"/>
              <a:gd name="connsiteY7" fmla="*/ 1829051 h 2716360"/>
              <a:gd name="connsiteX8" fmla="*/ 7257 w 2975429"/>
              <a:gd name="connsiteY8" fmla="*/ 2104822 h 2716360"/>
              <a:gd name="connsiteX9" fmla="*/ 0 w 2975429"/>
              <a:gd name="connsiteY9" fmla="*/ 2699907 h 2716360"/>
              <a:gd name="connsiteX0" fmla="*/ 7257 w 2968172"/>
              <a:gd name="connsiteY0" fmla="*/ 2707164 h 2723042"/>
              <a:gd name="connsiteX1" fmla="*/ 1045029 w 2968172"/>
              <a:gd name="connsiteY1" fmla="*/ 2547508 h 2723042"/>
              <a:gd name="connsiteX2" fmla="*/ 2111829 w 2968172"/>
              <a:gd name="connsiteY2" fmla="*/ 2104822 h 2723042"/>
              <a:gd name="connsiteX3" fmla="*/ 2968172 w 2968172"/>
              <a:gd name="connsiteY3" fmla="*/ 1313793 h 2723042"/>
              <a:gd name="connsiteX4" fmla="*/ 2960915 w 2968172"/>
              <a:gd name="connsiteY4" fmla="*/ 14765 h 2723042"/>
              <a:gd name="connsiteX5" fmla="*/ 2474686 w 2968172"/>
              <a:gd name="connsiteY5" fmla="*/ 646136 h 2723042"/>
              <a:gd name="connsiteX6" fmla="*/ 2010229 w 2968172"/>
              <a:gd name="connsiteY6" fmla="*/ 1183164 h 2723042"/>
              <a:gd name="connsiteX7" fmla="*/ 1074057 w 2968172"/>
              <a:gd name="connsiteY7" fmla="*/ 1829051 h 2723042"/>
              <a:gd name="connsiteX8" fmla="*/ 0 w 2968172"/>
              <a:gd name="connsiteY8" fmla="*/ 2104822 h 2723042"/>
              <a:gd name="connsiteX9" fmla="*/ 7257 w 2968172"/>
              <a:gd name="connsiteY9" fmla="*/ 2707164 h 2723042"/>
              <a:gd name="connsiteX0" fmla="*/ 14515 w 2975430"/>
              <a:gd name="connsiteY0" fmla="*/ 2707164 h 2723042"/>
              <a:gd name="connsiteX1" fmla="*/ 1052287 w 2975430"/>
              <a:gd name="connsiteY1" fmla="*/ 2547508 h 2723042"/>
              <a:gd name="connsiteX2" fmla="*/ 2119087 w 2975430"/>
              <a:gd name="connsiteY2" fmla="*/ 2104822 h 2723042"/>
              <a:gd name="connsiteX3" fmla="*/ 2975430 w 2975430"/>
              <a:gd name="connsiteY3" fmla="*/ 1313793 h 2723042"/>
              <a:gd name="connsiteX4" fmla="*/ 2968173 w 2975430"/>
              <a:gd name="connsiteY4" fmla="*/ 14765 h 2723042"/>
              <a:gd name="connsiteX5" fmla="*/ 2481944 w 2975430"/>
              <a:gd name="connsiteY5" fmla="*/ 646136 h 2723042"/>
              <a:gd name="connsiteX6" fmla="*/ 2017487 w 2975430"/>
              <a:gd name="connsiteY6" fmla="*/ 1183164 h 2723042"/>
              <a:gd name="connsiteX7" fmla="*/ 1081315 w 2975430"/>
              <a:gd name="connsiteY7" fmla="*/ 1829051 h 2723042"/>
              <a:gd name="connsiteX8" fmla="*/ 0 w 2975430"/>
              <a:gd name="connsiteY8" fmla="*/ 2141107 h 2723042"/>
              <a:gd name="connsiteX9" fmla="*/ 14515 w 2975430"/>
              <a:gd name="connsiteY9" fmla="*/ 2707164 h 2723042"/>
              <a:gd name="connsiteX0" fmla="*/ 14515 w 2975430"/>
              <a:gd name="connsiteY0" fmla="*/ 2707164 h 2723042"/>
              <a:gd name="connsiteX1" fmla="*/ 1052287 w 2975430"/>
              <a:gd name="connsiteY1" fmla="*/ 2547508 h 2723042"/>
              <a:gd name="connsiteX2" fmla="*/ 2119087 w 2975430"/>
              <a:gd name="connsiteY2" fmla="*/ 2104822 h 2723042"/>
              <a:gd name="connsiteX3" fmla="*/ 2975430 w 2975430"/>
              <a:gd name="connsiteY3" fmla="*/ 1313793 h 2723042"/>
              <a:gd name="connsiteX4" fmla="*/ 2968173 w 2975430"/>
              <a:gd name="connsiteY4" fmla="*/ 14765 h 2723042"/>
              <a:gd name="connsiteX5" fmla="*/ 2481944 w 2975430"/>
              <a:gd name="connsiteY5" fmla="*/ 646136 h 2723042"/>
              <a:gd name="connsiteX6" fmla="*/ 2017487 w 2975430"/>
              <a:gd name="connsiteY6" fmla="*/ 1183164 h 2723042"/>
              <a:gd name="connsiteX7" fmla="*/ 1081315 w 2975430"/>
              <a:gd name="connsiteY7" fmla="*/ 1829051 h 2723042"/>
              <a:gd name="connsiteX8" fmla="*/ 0 w 2975430"/>
              <a:gd name="connsiteY8" fmla="*/ 2141107 h 2723042"/>
              <a:gd name="connsiteX9" fmla="*/ 14515 w 2975430"/>
              <a:gd name="connsiteY9" fmla="*/ 2707164 h 2723042"/>
              <a:gd name="connsiteX0" fmla="*/ 14515 w 2975430"/>
              <a:gd name="connsiteY0" fmla="*/ 2692793 h 2708671"/>
              <a:gd name="connsiteX1" fmla="*/ 1052287 w 2975430"/>
              <a:gd name="connsiteY1" fmla="*/ 2533137 h 2708671"/>
              <a:gd name="connsiteX2" fmla="*/ 2119087 w 2975430"/>
              <a:gd name="connsiteY2" fmla="*/ 2090451 h 2708671"/>
              <a:gd name="connsiteX3" fmla="*/ 2975430 w 2975430"/>
              <a:gd name="connsiteY3" fmla="*/ 1299422 h 2708671"/>
              <a:gd name="connsiteX4" fmla="*/ 2968173 w 2975430"/>
              <a:gd name="connsiteY4" fmla="*/ 394 h 2708671"/>
              <a:gd name="connsiteX5" fmla="*/ 2017487 w 2975430"/>
              <a:gd name="connsiteY5" fmla="*/ 1168793 h 2708671"/>
              <a:gd name="connsiteX6" fmla="*/ 1081315 w 2975430"/>
              <a:gd name="connsiteY6" fmla="*/ 1814680 h 2708671"/>
              <a:gd name="connsiteX7" fmla="*/ 0 w 2975430"/>
              <a:gd name="connsiteY7" fmla="*/ 2126736 h 2708671"/>
              <a:gd name="connsiteX8" fmla="*/ 14515 w 2975430"/>
              <a:gd name="connsiteY8" fmla="*/ 2692793 h 2708671"/>
              <a:gd name="connsiteX0" fmla="*/ 14515 w 2975430"/>
              <a:gd name="connsiteY0" fmla="*/ 1524000 h 1539878"/>
              <a:gd name="connsiteX1" fmla="*/ 1052287 w 2975430"/>
              <a:gd name="connsiteY1" fmla="*/ 1364344 h 1539878"/>
              <a:gd name="connsiteX2" fmla="*/ 2119087 w 2975430"/>
              <a:gd name="connsiteY2" fmla="*/ 921658 h 1539878"/>
              <a:gd name="connsiteX3" fmla="*/ 2975430 w 2975430"/>
              <a:gd name="connsiteY3" fmla="*/ 130629 h 1539878"/>
              <a:gd name="connsiteX4" fmla="*/ 2017487 w 2975430"/>
              <a:gd name="connsiteY4" fmla="*/ 0 h 1539878"/>
              <a:gd name="connsiteX5" fmla="*/ 1081315 w 2975430"/>
              <a:gd name="connsiteY5" fmla="*/ 645887 h 1539878"/>
              <a:gd name="connsiteX6" fmla="*/ 0 w 2975430"/>
              <a:gd name="connsiteY6" fmla="*/ 957943 h 1539878"/>
              <a:gd name="connsiteX7" fmla="*/ 14515 w 2975430"/>
              <a:gd name="connsiteY7" fmla="*/ 1524000 h 1539878"/>
              <a:gd name="connsiteX0" fmla="*/ 14515 w 2203285"/>
              <a:gd name="connsiteY0" fmla="*/ 1524000 h 1539878"/>
              <a:gd name="connsiteX1" fmla="*/ 1052287 w 2203285"/>
              <a:gd name="connsiteY1" fmla="*/ 1364344 h 1539878"/>
              <a:gd name="connsiteX2" fmla="*/ 2119087 w 2203285"/>
              <a:gd name="connsiteY2" fmla="*/ 921658 h 1539878"/>
              <a:gd name="connsiteX3" fmla="*/ 2017487 w 2203285"/>
              <a:gd name="connsiteY3" fmla="*/ 0 h 1539878"/>
              <a:gd name="connsiteX4" fmla="*/ 1081315 w 2203285"/>
              <a:gd name="connsiteY4" fmla="*/ 645887 h 1539878"/>
              <a:gd name="connsiteX5" fmla="*/ 0 w 2203285"/>
              <a:gd name="connsiteY5" fmla="*/ 957943 h 1539878"/>
              <a:gd name="connsiteX6" fmla="*/ 14515 w 2203285"/>
              <a:gd name="connsiteY6" fmla="*/ 1524000 h 1539878"/>
              <a:gd name="connsiteX0" fmla="*/ 14515 w 2182428"/>
              <a:gd name="connsiteY0" fmla="*/ 1527340 h 1542819"/>
              <a:gd name="connsiteX1" fmla="*/ 1052287 w 2182428"/>
              <a:gd name="connsiteY1" fmla="*/ 1367684 h 1542819"/>
              <a:gd name="connsiteX2" fmla="*/ 2090059 w 2182428"/>
              <a:gd name="connsiteY2" fmla="*/ 954026 h 1542819"/>
              <a:gd name="connsiteX3" fmla="*/ 2017487 w 2182428"/>
              <a:gd name="connsiteY3" fmla="*/ 3340 h 1542819"/>
              <a:gd name="connsiteX4" fmla="*/ 1081315 w 2182428"/>
              <a:gd name="connsiteY4" fmla="*/ 649227 h 1542819"/>
              <a:gd name="connsiteX5" fmla="*/ 0 w 2182428"/>
              <a:gd name="connsiteY5" fmla="*/ 961283 h 1542819"/>
              <a:gd name="connsiteX6" fmla="*/ 14515 w 2182428"/>
              <a:gd name="connsiteY6" fmla="*/ 1527340 h 1542819"/>
              <a:gd name="connsiteX0" fmla="*/ 14515 w 2182428"/>
              <a:gd name="connsiteY0" fmla="*/ 1527340 h 1542819"/>
              <a:gd name="connsiteX1" fmla="*/ 1052287 w 2182428"/>
              <a:gd name="connsiteY1" fmla="*/ 1367684 h 1542819"/>
              <a:gd name="connsiteX2" fmla="*/ 2090059 w 2182428"/>
              <a:gd name="connsiteY2" fmla="*/ 954026 h 1542819"/>
              <a:gd name="connsiteX3" fmla="*/ 2017487 w 2182428"/>
              <a:gd name="connsiteY3" fmla="*/ 3340 h 1542819"/>
              <a:gd name="connsiteX4" fmla="*/ 1081315 w 2182428"/>
              <a:gd name="connsiteY4" fmla="*/ 649227 h 1542819"/>
              <a:gd name="connsiteX5" fmla="*/ 0 w 2182428"/>
              <a:gd name="connsiteY5" fmla="*/ 961283 h 1542819"/>
              <a:gd name="connsiteX6" fmla="*/ 14515 w 2182428"/>
              <a:gd name="connsiteY6" fmla="*/ 1527340 h 1542819"/>
              <a:gd name="connsiteX0" fmla="*/ 14515 w 2182428"/>
              <a:gd name="connsiteY0" fmla="*/ 1527340 h 1542819"/>
              <a:gd name="connsiteX1" fmla="*/ 1052287 w 2182428"/>
              <a:gd name="connsiteY1" fmla="*/ 1367684 h 1542819"/>
              <a:gd name="connsiteX2" fmla="*/ 2090059 w 2182428"/>
              <a:gd name="connsiteY2" fmla="*/ 954026 h 1542819"/>
              <a:gd name="connsiteX3" fmla="*/ 2017487 w 2182428"/>
              <a:gd name="connsiteY3" fmla="*/ 3340 h 1542819"/>
              <a:gd name="connsiteX4" fmla="*/ 1081315 w 2182428"/>
              <a:gd name="connsiteY4" fmla="*/ 649227 h 1542819"/>
              <a:gd name="connsiteX5" fmla="*/ 0 w 2182428"/>
              <a:gd name="connsiteY5" fmla="*/ 961283 h 1542819"/>
              <a:gd name="connsiteX6" fmla="*/ 14515 w 2182428"/>
              <a:gd name="connsiteY6" fmla="*/ 1527340 h 1542819"/>
              <a:gd name="connsiteX0" fmla="*/ 14515 w 2090059"/>
              <a:gd name="connsiteY0" fmla="*/ 1527340 h 1542819"/>
              <a:gd name="connsiteX1" fmla="*/ 1052287 w 2090059"/>
              <a:gd name="connsiteY1" fmla="*/ 1367684 h 1542819"/>
              <a:gd name="connsiteX2" fmla="*/ 2090059 w 2090059"/>
              <a:gd name="connsiteY2" fmla="*/ 954026 h 1542819"/>
              <a:gd name="connsiteX3" fmla="*/ 2017487 w 2090059"/>
              <a:gd name="connsiteY3" fmla="*/ 3340 h 1542819"/>
              <a:gd name="connsiteX4" fmla="*/ 1081315 w 2090059"/>
              <a:gd name="connsiteY4" fmla="*/ 649227 h 1542819"/>
              <a:gd name="connsiteX5" fmla="*/ 0 w 2090059"/>
              <a:gd name="connsiteY5" fmla="*/ 961283 h 1542819"/>
              <a:gd name="connsiteX6" fmla="*/ 14515 w 2090059"/>
              <a:gd name="connsiteY6" fmla="*/ 1527340 h 1542819"/>
              <a:gd name="connsiteX0" fmla="*/ 14515 w 2046516"/>
              <a:gd name="connsiteY0" fmla="*/ 1527340 h 1541468"/>
              <a:gd name="connsiteX1" fmla="*/ 1052287 w 2046516"/>
              <a:gd name="connsiteY1" fmla="*/ 1367684 h 1541468"/>
              <a:gd name="connsiteX2" fmla="*/ 2046516 w 2046516"/>
              <a:gd name="connsiteY2" fmla="*/ 1062884 h 1541468"/>
              <a:gd name="connsiteX3" fmla="*/ 2017487 w 2046516"/>
              <a:gd name="connsiteY3" fmla="*/ 3340 h 1541468"/>
              <a:gd name="connsiteX4" fmla="*/ 1081315 w 2046516"/>
              <a:gd name="connsiteY4" fmla="*/ 649227 h 1541468"/>
              <a:gd name="connsiteX5" fmla="*/ 0 w 2046516"/>
              <a:gd name="connsiteY5" fmla="*/ 961283 h 1541468"/>
              <a:gd name="connsiteX6" fmla="*/ 14515 w 2046516"/>
              <a:gd name="connsiteY6" fmla="*/ 1527340 h 1541468"/>
              <a:gd name="connsiteX0" fmla="*/ 14515 w 2046516"/>
              <a:gd name="connsiteY0" fmla="*/ 1190909 h 1205037"/>
              <a:gd name="connsiteX1" fmla="*/ 1052287 w 2046516"/>
              <a:gd name="connsiteY1" fmla="*/ 1031253 h 1205037"/>
              <a:gd name="connsiteX2" fmla="*/ 2046516 w 2046516"/>
              <a:gd name="connsiteY2" fmla="*/ 726453 h 1205037"/>
              <a:gd name="connsiteX3" fmla="*/ 1625601 w 2046516"/>
              <a:gd name="connsiteY3" fmla="*/ 7994 h 1205037"/>
              <a:gd name="connsiteX4" fmla="*/ 1081315 w 2046516"/>
              <a:gd name="connsiteY4" fmla="*/ 312796 h 1205037"/>
              <a:gd name="connsiteX5" fmla="*/ 0 w 2046516"/>
              <a:gd name="connsiteY5" fmla="*/ 624852 h 1205037"/>
              <a:gd name="connsiteX6" fmla="*/ 14515 w 2046516"/>
              <a:gd name="connsiteY6" fmla="*/ 1190909 h 1205037"/>
              <a:gd name="connsiteX0" fmla="*/ 14515 w 1625601"/>
              <a:gd name="connsiteY0" fmla="*/ 1190909 h 1204792"/>
              <a:gd name="connsiteX1" fmla="*/ 1052287 w 1625601"/>
              <a:gd name="connsiteY1" fmla="*/ 1031253 h 1204792"/>
              <a:gd name="connsiteX2" fmla="*/ 1611087 w 1625601"/>
              <a:gd name="connsiteY2" fmla="*/ 748224 h 1204792"/>
              <a:gd name="connsiteX3" fmla="*/ 1625601 w 1625601"/>
              <a:gd name="connsiteY3" fmla="*/ 7994 h 1204792"/>
              <a:gd name="connsiteX4" fmla="*/ 1081315 w 1625601"/>
              <a:gd name="connsiteY4" fmla="*/ 312796 h 1204792"/>
              <a:gd name="connsiteX5" fmla="*/ 0 w 1625601"/>
              <a:gd name="connsiteY5" fmla="*/ 624852 h 1204792"/>
              <a:gd name="connsiteX6" fmla="*/ 14515 w 1625601"/>
              <a:gd name="connsiteY6" fmla="*/ 1190909 h 1204792"/>
              <a:gd name="connsiteX0" fmla="*/ 14515 w 1625601"/>
              <a:gd name="connsiteY0" fmla="*/ 1190909 h 1203740"/>
              <a:gd name="connsiteX1" fmla="*/ 1052287 w 1625601"/>
              <a:gd name="connsiteY1" fmla="*/ 1031253 h 1203740"/>
              <a:gd name="connsiteX2" fmla="*/ 1494973 w 1625601"/>
              <a:gd name="connsiteY2" fmla="*/ 849824 h 1203740"/>
              <a:gd name="connsiteX3" fmla="*/ 1625601 w 1625601"/>
              <a:gd name="connsiteY3" fmla="*/ 7994 h 1203740"/>
              <a:gd name="connsiteX4" fmla="*/ 1081315 w 1625601"/>
              <a:gd name="connsiteY4" fmla="*/ 312796 h 1203740"/>
              <a:gd name="connsiteX5" fmla="*/ 0 w 1625601"/>
              <a:gd name="connsiteY5" fmla="*/ 624852 h 1203740"/>
              <a:gd name="connsiteX6" fmla="*/ 14515 w 1625601"/>
              <a:gd name="connsiteY6" fmla="*/ 1190909 h 1203740"/>
              <a:gd name="connsiteX0" fmla="*/ 14515 w 1625601"/>
              <a:gd name="connsiteY0" fmla="*/ 1190909 h 1204323"/>
              <a:gd name="connsiteX1" fmla="*/ 1052287 w 1625601"/>
              <a:gd name="connsiteY1" fmla="*/ 1031253 h 1204323"/>
              <a:gd name="connsiteX2" fmla="*/ 1603830 w 1625601"/>
              <a:gd name="connsiteY2" fmla="*/ 791767 h 1204323"/>
              <a:gd name="connsiteX3" fmla="*/ 1625601 w 1625601"/>
              <a:gd name="connsiteY3" fmla="*/ 7994 h 1204323"/>
              <a:gd name="connsiteX4" fmla="*/ 1081315 w 1625601"/>
              <a:gd name="connsiteY4" fmla="*/ 312796 h 1204323"/>
              <a:gd name="connsiteX5" fmla="*/ 0 w 1625601"/>
              <a:gd name="connsiteY5" fmla="*/ 624852 h 1204323"/>
              <a:gd name="connsiteX6" fmla="*/ 14515 w 1625601"/>
              <a:gd name="connsiteY6" fmla="*/ 1190909 h 1204323"/>
              <a:gd name="connsiteX0" fmla="*/ 14515 w 1625601"/>
              <a:gd name="connsiteY0" fmla="*/ 1190909 h 1207979"/>
              <a:gd name="connsiteX1" fmla="*/ 1103087 w 1625601"/>
              <a:gd name="connsiteY1" fmla="*/ 1074796 h 1207979"/>
              <a:gd name="connsiteX2" fmla="*/ 1603830 w 1625601"/>
              <a:gd name="connsiteY2" fmla="*/ 791767 h 1207979"/>
              <a:gd name="connsiteX3" fmla="*/ 1625601 w 1625601"/>
              <a:gd name="connsiteY3" fmla="*/ 7994 h 1207979"/>
              <a:gd name="connsiteX4" fmla="*/ 1081315 w 1625601"/>
              <a:gd name="connsiteY4" fmla="*/ 312796 h 1207979"/>
              <a:gd name="connsiteX5" fmla="*/ 0 w 1625601"/>
              <a:gd name="connsiteY5" fmla="*/ 624852 h 1207979"/>
              <a:gd name="connsiteX6" fmla="*/ 14515 w 1625601"/>
              <a:gd name="connsiteY6" fmla="*/ 1190909 h 1207979"/>
              <a:gd name="connsiteX0" fmla="*/ 14515 w 1625601"/>
              <a:gd name="connsiteY0" fmla="*/ 1190909 h 1207979"/>
              <a:gd name="connsiteX1" fmla="*/ 1103087 w 1625601"/>
              <a:gd name="connsiteY1" fmla="*/ 1074796 h 1207979"/>
              <a:gd name="connsiteX2" fmla="*/ 1603830 w 1625601"/>
              <a:gd name="connsiteY2" fmla="*/ 791767 h 1207979"/>
              <a:gd name="connsiteX3" fmla="*/ 1625601 w 1625601"/>
              <a:gd name="connsiteY3" fmla="*/ 7994 h 1207979"/>
              <a:gd name="connsiteX4" fmla="*/ 1081315 w 1625601"/>
              <a:gd name="connsiteY4" fmla="*/ 312796 h 1207979"/>
              <a:gd name="connsiteX5" fmla="*/ 0 w 1625601"/>
              <a:gd name="connsiteY5" fmla="*/ 624852 h 1207979"/>
              <a:gd name="connsiteX6" fmla="*/ 14515 w 1625601"/>
              <a:gd name="connsiteY6" fmla="*/ 1190909 h 1207979"/>
              <a:gd name="connsiteX0" fmla="*/ 14515 w 1625601"/>
              <a:gd name="connsiteY0" fmla="*/ 1190909 h 1205940"/>
              <a:gd name="connsiteX1" fmla="*/ 1103087 w 1625601"/>
              <a:gd name="connsiteY1" fmla="*/ 1053024 h 1205940"/>
              <a:gd name="connsiteX2" fmla="*/ 1603830 w 1625601"/>
              <a:gd name="connsiteY2" fmla="*/ 791767 h 1205940"/>
              <a:gd name="connsiteX3" fmla="*/ 1625601 w 1625601"/>
              <a:gd name="connsiteY3" fmla="*/ 7994 h 1205940"/>
              <a:gd name="connsiteX4" fmla="*/ 1081315 w 1625601"/>
              <a:gd name="connsiteY4" fmla="*/ 312796 h 1205940"/>
              <a:gd name="connsiteX5" fmla="*/ 0 w 1625601"/>
              <a:gd name="connsiteY5" fmla="*/ 624852 h 1205940"/>
              <a:gd name="connsiteX6" fmla="*/ 14515 w 1625601"/>
              <a:gd name="connsiteY6" fmla="*/ 1190909 h 1205940"/>
              <a:gd name="connsiteX0" fmla="*/ 14515 w 1625601"/>
              <a:gd name="connsiteY0" fmla="*/ 1190909 h 1207141"/>
              <a:gd name="connsiteX1" fmla="*/ 1103087 w 1625601"/>
              <a:gd name="connsiteY1" fmla="*/ 1053024 h 1207141"/>
              <a:gd name="connsiteX2" fmla="*/ 1603830 w 1625601"/>
              <a:gd name="connsiteY2" fmla="*/ 791767 h 1207141"/>
              <a:gd name="connsiteX3" fmla="*/ 1625601 w 1625601"/>
              <a:gd name="connsiteY3" fmla="*/ 7994 h 1207141"/>
              <a:gd name="connsiteX4" fmla="*/ 1081315 w 1625601"/>
              <a:gd name="connsiteY4" fmla="*/ 312796 h 1207141"/>
              <a:gd name="connsiteX5" fmla="*/ 0 w 1625601"/>
              <a:gd name="connsiteY5" fmla="*/ 624852 h 1207141"/>
              <a:gd name="connsiteX6" fmla="*/ 14515 w 1625601"/>
              <a:gd name="connsiteY6" fmla="*/ 1190909 h 1207141"/>
              <a:gd name="connsiteX0" fmla="*/ 14515 w 1625601"/>
              <a:gd name="connsiteY0" fmla="*/ 1190909 h 1209276"/>
              <a:gd name="connsiteX1" fmla="*/ 1103087 w 1625601"/>
              <a:gd name="connsiteY1" fmla="*/ 1053024 h 1209276"/>
              <a:gd name="connsiteX2" fmla="*/ 1603830 w 1625601"/>
              <a:gd name="connsiteY2" fmla="*/ 791767 h 1209276"/>
              <a:gd name="connsiteX3" fmla="*/ 1625601 w 1625601"/>
              <a:gd name="connsiteY3" fmla="*/ 7994 h 1209276"/>
              <a:gd name="connsiteX4" fmla="*/ 1081315 w 1625601"/>
              <a:gd name="connsiteY4" fmla="*/ 312796 h 1209276"/>
              <a:gd name="connsiteX5" fmla="*/ 0 w 1625601"/>
              <a:gd name="connsiteY5" fmla="*/ 624852 h 1209276"/>
              <a:gd name="connsiteX6" fmla="*/ 14515 w 1625601"/>
              <a:gd name="connsiteY6" fmla="*/ 1190909 h 1209276"/>
              <a:gd name="connsiteX0" fmla="*/ 14515 w 1625601"/>
              <a:gd name="connsiteY0" fmla="*/ 1190909 h 1209276"/>
              <a:gd name="connsiteX1" fmla="*/ 1103087 w 1625601"/>
              <a:gd name="connsiteY1" fmla="*/ 1053024 h 1209276"/>
              <a:gd name="connsiteX2" fmla="*/ 1603830 w 1625601"/>
              <a:gd name="connsiteY2" fmla="*/ 791767 h 1209276"/>
              <a:gd name="connsiteX3" fmla="*/ 1625601 w 1625601"/>
              <a:gd name="connsiteY3" fmla="*/ 7994 h 1209276"/>
              <a:gd name="connsiteX4" fmla="*/ 1081315 w 1625601"/>
              <a:gd name="connsiteY4" fmla="*/ 312796 h 1209276"/>
              <a:gd name="connsiteX5" fmla="*/ 0 w 1625601"/>
              <a:gd name="connsiteY5" fmla="*/ 624852 h 1209276"/>
              <a:gd name="connsiteX6" fmla="*/ 14515 w 1625601"/>
              <a:gd name="connsiteY6" fmla="*/ 1190909 h 1209276"/>
              <a:gd name="connsiteX0" fmla="*/ 14515 w 1625601"/>
              <a:gd name="connsiteY0" fmla="*/ 1190909 h 1209276"/>
              <a:gd name="connsiteX1" fmla="*/ 1103087 w 1625601"/>
              <a:gd name="connsiteY1" fmla="*/ 1053024 h 1209276"/>
              <a:gd name="connsiteX2" fmla="*/ 1603830 w 1625601"/>
              <a:gd name="connsiteY2" fmla="*/ 791767 h 1209276"/>
              <a:gd name="connsiteX3" fmla="*/ 1625601 w 1625601"/>
              <a:gd name="connsiteY3" fmla="*/ 7994 h 1209276"/>
              <a:gd name="connsiteX4" fmla="*/ 1081315 w 1625601"/>
              <a:gd name="connsiteY4" fmla="*/ 312796 h 1209276"/>
              <a:gd name="connsiteX5" fmla="*/ 0 w 1625601"/>
              <a:gd name="connsiteY5" fmla="*/ 624852 h 1209276"/>
              <a:gd name="connsiteX6" fmla="*/ 14515 w 1625601"/>
              <a:gd name="connsiteY6" fmla="*/ 1190909 h 1209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25601" h="1209276">
                <a:moveTo>
                  <a:pt x="14515" y="1190909"/>
                </a:moveTo>
                <a:cubicBezTo>
                  <a:pt x="194734" y="1250176"/>
                  <a:pt x="801914" y="1155833"/>
                  <a:pt x="1103087" y="1053024"/>
                </a:cubicBezTo>
                <a:cubicBezTo>
                  <a:pt x="1404260" y="950215"/>
                  <a:pt x="1392163" y="961101"/>
                  <a:pt x="1603830" y="791767"/>
                </a:cubicBezTo>
                <a:cubicBezTo>
                  <a:pt x="1596573" y="820795"/>
                  <a:pt x="1618344" y="269252"/>
                  <a:pt x="1625601" y="7994"/>
                </a:cubicBezTo>
                <a:cubicBezTo>
                  <a:pt x="1457477" y="-42806"/>
                  <a:pt x="1416353" y="159186"/>
                  <a:pt x="1081315" y="312796"/>
                </a:cubicBezTo>
                <a:cubicBezTo>
                  <a:pt x="862391" y="459149"/>
                  <a:pt x="394002" y="618614"/>
                  <a:pt x="0" y="624852"/>
                </a:cubicBezTo>
                <a:lnTo>
                  <a:pt x="14515" y="119090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0B7EBEE-91AC-4846-9E86-CE4178C5D089}"/>
              </a:ext>
            </a:extLst>
          </p:cNvPr>
          <p:cNvSpPr/>
          <p:nvPr/>
        </p:nvSpPr>
        <p:spPr>
          <a:xfrm>
            <a:off x="1591797" y="2701712"/>
            <a:ext cx="908325" cy="1575038"/>
          </a:xfrm>
          <a:custGeom>
            <a:avLst/>
            <a:gdLst>
              <a:gd name="connsiteX0" fmla="*/ 0 w 413657"/>
              <a:gd name="connsiteY0" fmla="*/ 500743 h 1371600"/>
              <a:gd name="connsiteX1" fmla="*/ 7257 w 413657"/>
              <a:gd name="connsiteY1" fmla="*/ 1371600 h 1371600"/>
              <a:gd name="connsiteX2" fmla="*/ 413657 w 413657"/>
              <a:gd name="connsiteY2" fmla="*/ 1081314 h 1371600"/>
              <a:gd name="connsiteX3" fmla="*/ 391886 w 413657"/>
              <a:gd name="connsiteY3" fmla="*/ 0 h 1371600"/>
              <a:gd name="connsiteX4" fmla="*/ 0 w 413657"/>
              <a:gd name="connsiteY4" fmla="*/ 500743 h 1371600"/>
              <a:gd name="connsiteX0" fmla="*/ 0 w 413657"/>
              <a:gd name="connsiteY0" fmla="*/ 834571 h 1371600"/>
              <a:gd name="connsiteX1" fmla="*/ 7257 w 413657"/>
              <a:gd name="connsiteY1" fmla="*/ 1371600 h 1371600"/>
              <a:gd name="connsiteX2" fmla="*/ 413657 w 413657"/>
              <a:gd name="connsiteY2" fmla="*/ 1081314 h 1371600"/>
              <a:gd name="connsiteX3" fmla="*/ 391886 w 413657"/>
              <a:gd name="connsiteY3" fmla="*/ 0 h 1371600"/>
              <a:gd name="connsiteX4" fmla="*/ 0 w 413657"/>
              <a:gd name="connsiteY4" fmla="*/ 834571 h 1371600"/>
              <a:gd name="connsiteX0" fmla="*/ 0 w 413657"/>
              <a:gd name="connsiteY0" fmla="*/ 834571 h 1647372"/>
              <a:gd name="connsiteX1" fmla="*/ 10562 w 413657"/>
              <a:gd name="connsiteY1" fmla="*/ 1647372 h 1647372"/>
              <a:gd name="connsiteX2" fmla="*/ 413657 w 413657"/>
              <a:gd name="connsiteY2" fmla="*/ 1081314 h 1647372"/>
              <a:gd name="connsiteX3" fmla="*/ 391886 w 413657"/>
              <a:gd name="connsiteY3" fmla="*/ 0 h 1647372"/>
              <a:gd name="connsiteX4" fmla="*/ 0 w 413657"/>
              <a:gd name="connsiteY4" fmla="*/ 834571 h 1647372"/>
              <a:gd name="connsiteX0" fmla="*/ 0 w 413657"/>
              <a:gd name="connsiteY0" fmla="*/ 834571 h 1647372"/>
              <a:gd name="connsiteX1" fmla="*/ 10562 w 413657"/>
              <a:gd name="connsiteY1" fmla="*/ 1647372 h 1647372"/>
              <a:gd name="connsiteX2" fmla="*/ 413657 w 413657"/>
              <a:gd name="connsiteY2" fmla="*/ 1081314 h 1647372"/>
              <a:gd name="connsiteX3" fmla="*/ 391886 w 413657"/>
              <a:gd name="connsiteY3" fmla="*/ 0 h 1647372"/>
              <a:gd name="connsiteX4" fmla="*/ 221970 w 413657"/>
              <a:gd name="connsiteY4" fmla="*/ 326571 h 1647372"/>
              <a:gd name="connsiteX5" fmla="*/ 0 w 413657"/>
              <a:gd name="connsiteY5" fmla="*/ 834571 h 1647372"/>
              <a:gd name="connsiteX0" fmla="*/ 0 w 413657"/>
              <a:gd name="connsiteY0" fmla="*/ 834571 h 1647372"/>
              <a:gd name="connsiteX1" fmla="*/ 10562 w 413657"/>
              <a:gd name="connsiteY1" fmla="*/ 1647372 h 1647372"/>
              <a:gd name="connsiteX2" fmla="*/ 413657 w 413657"/>
              <a:gd name="connsiteY2" fmla="*/ 1081314 h 1647372"/>
              <a:gd name="connsiteX3" fmla="*/ 391886 w 413657"/>
              <a:gd name="connsiteY3" fmla="*/ 0 h 1647372"/>
              <a:gd name="connsiteX4" fmla="*/ 264934 w 413657"/>
              <a:gd name="connsiteY4" fmla="*/ 464457 h 1647372"/>
              <a:gd name="connsiteX5" fmla="*/ 0 w 413657"/>
              <a:gd name="connsiteY5" fmla="*/ 834571 h 1647372"/>
              <a:gd name="connsiteX0" fmla="*/ 0 w 413657"/>
              <a:gd name="connsiteY0" fmla="*/ 834571 h 1647372"/>
              <a:gd name="connsiteX1" fmla="*/ 10562 w 413657"/>
              <a:gd name="connsiteY1" fmla="*/ 1647372 h 1647372"/>
              <a:gd name="connsiteX2" fmla="*/ 204564 w 413657"/>
              <a:gd name="connsiteY2" fmla="*/ 1364018 h 1647372"/>
              <a:gd name="connsiteX3" fmla="*/ 413657 w 413657"/>
              <a:gd name="connsiteY3" fmla="*/ 1081314 h 1647372"/>
              <a:gd name="connsiteX4" fmla="*/ 391886 w 413657"/>
              <a:gd name="connsiteY4" fmla="*/ 0 h 1647372"/>
              <a:gd name="connsiteX5" fmla="*/ 264934 w 413657"/>
              <a:gd name="connsiteY5" fmla="*/ 464457 h 1647372"/>
              <a:gd name="connsiteX6" fmla="*/ 0 w 413657"/>
              <a:gd name="connsiteY6" fmla="*/ 834571 h 1647372"/>
              <a:gd name="connsiteX0" fmla="*/ 0 w 413657"/>
              <a:gd name="connsiteY0" fmla="*/ 834571 h 1647372"/>
              <a:gd name="connsiteX1" fmla="*/ 10562 w 413657"/>
              <a:gd name="connsiteY1" fmla="*/ 1647372 h 1647372"/>
              <a:gd name="connsiteX2" fmla="*/ 204564 w 413657"/>
              <a:gd name="connsiteY2" fmla="*/ 1364018 h 1647372"/>
              <a:gd name="connsiteX3" fmla="*/ 413657 w 413657"/>
              <a:gd name="connsiteY3" fmla="*/ 1081314 h 1647372"/>
              <a:gd name="connsiteX4" fmla="*/ 391886 w 413657"/>
              <a:gd name="connsiteY4" fmla="*/ 0 h 1647372"/>
              <a:gd name="connsiteX5" fmla="*/ 198835 w 413657"/>
              <a:gd name="connsiteY5" fmla="*/ 558800 h 1647372"/>
              <a:gd name="connsiteX6" fmla="*/ 0 w 413657"/>
              <a:gd name="connsiteY6" fmla="*/ 834571 h 1647372"/>
              <a:gd name="connsiteX0" fmla="*/ 0 w 413657"/>
              <a:gd name="connsiteY0" fmla="*/ 844566 h 1657367"/>
              <a:gd name="connsiteX1" fmla="*/ 10562 w 413657"/>
              <a:gd name="connsiteY1" fmla="*/ 1657367 h 1657367"/>
              <a:gd name="connsiteX2" fmla="*/ 204564 w 413657"/>
              <a:gd name="connsiteY2" fmla="*/ 1374013 h 1657367"/>
              <a:gd name="connsiteX3" fmla="*/ 413657 w 413657"/>
              <a:gd name="connsiteY3" fmla="*/ 1091309 h 1657367"/>
              <a:gd name="connsiteX4" fmla="*/ 391886 w 413657"/>
              <a:gd name="connsiteY4" fmla="*/ 9995 h 1657367"/>
              <a:gd name="connsiteX5" fmla="*/ 198835 w 413657"/>
              <a:gd name="connsiteY5" fmla="*/ 568795 h 1657367"/>
              <a:gd name="connsiteX6" fmla="*/ 0 w 413657"/>
              <a:gd name="connsiteY6" fmla="*/ 844566 h 1657367"/>
              <a:gd name="connsiteX0" fmla="*/ 0 w 413657"/>
              <a:gd name="connsiteY0" fmla="*/ 845959 h 1658760"/>
              <a:gd name="connsiteX1" fmla="*/ 10562 w 413657"/>
              <a:gd name="connsiteY1" fmla="*/ 1658760 h 1658760"/>
              <a:gd name="connsiteX2" fmla="*/ 204564 w 413657"/>
              <a:gd name="connsiteY2" fmla="*/ 1375406 h 1658760"/>
              <a:gd name="connsiteX3" fmla="*/ 413657 w 413657"/>
              <a:gd name="connsiteY3" fmla="*/ 1092702 h 1658760"/>
              <a:gd name="connsiteX4" fmla="*/ 391886 w 413657"/>
              <a:gd name="connsiteY4" fmla="*/ 11388 h 1658760"/>
              <a:gd name="connsiteX5" fmla="*/ 198835 w 413657"/>
              <a:gd name="connsiteY5" fmla="*/ 570188 h 1658760"/>
              <a:gd name="connsiteX6" fmla="*/ 0 w 413657"/>
              <a:gd name="connsiteY6" fmla="*/ 845959 h 1658760"/>
              <a:gd name="connsiteX0" fmla="*/ 0 w 413657"/>
              <a:gd name="connsiteY0" fmla="*/ 846986 h 1659787"/>
              <a:gd name="connsiteX1" fmla="*/ 10562 w 413657"/>
              <a:gd name="connsiteY1" fmla="*/ 1659787 h 1659787"/>
              <a:gd name="connsiteX2" fmla="*/ 204564 w 413657"/>
              <a:gd name="connsiteY2" fmla="*/ 1376433 h 1659787"/>
              <a:gd name="connsiteX3" fmla="*/ 413657 w 413657"/>
              <a:gd name="connsiteY3" fmla="*/ 1093729 h 1659787"/>
              <a:gd name="connsiteX4" fmla="*/ 391886 w 413657"/>
              <a:gd name="connsiteY4" fmla="*/ 12415 h 1659787"/>
              <a:gd name="connsiteX5" fmla="*/ 198835 w 413657"/>
              <a:gd name="connsiteY5" fmla="*/ 571215 h 1659787"/>
              <a:gd name="connsiteX6" fmla="*/ 0 w 413657"/>
              <a:gd name="connsiteY6" fmla="*/ 846986 h 1659787"/>
              <a:gd name="connsiteX0" fmla="*/ 0 w 413657"/>
              <a:gd name="connsiteY0" fmla="*/ 848989 h 1661790"/>
              <a:gd name="connsiteX1" fmla="*/ 10562 w 413657"/>
              <a:gd name="connsiteY1" fmla="*/ 1661790 h 1661790"/>
              <a:gd name="connsiteX2" fmla="*/ 204564 w 413657"/>
              <a:gd name="connsiteY2" fmla="*/ 1378436 h 1661790"/>
              <a:gd name="connsiteX3" fmla="*/ 413657 w 413657"/>
              <a:gd name="connsiteY3" fmla="*/ 1095732 h 1661790"/>
              <a:gd name="connsiteX4" fmla="*/ 391886 w 413657"/>
              <a:gd name="connsiteY4" fmla="*/ 14418 h 1661790"/>
              <a:gd name="connsiteX5" fmla="*/ 311203 w 413657"/>
              <a:gd name="connsiteY5" fmla="*/ 507903 h 1661790"/>
              <a:gd name="connsiteX6" fmla="*/ 0 w 413657"/>
              <a:gd name="connsiteY6" fmla="*/ 848989 h 1661790"/>
              <a:gd name="connsiteX0" fmla="*/ 0 w 413657"/>
              <a:gd name="connsiteY0" fmla="*/ 845849 h 1658650"/>
              <a:gd name="connsiteX1" fmla="*/ 10562 w 413657"/>
              <a:gd name="connsiteY1" fmla="*/ 1658650 h 1658650"/>
              <a:gd name="connsiteX2" fmla="*/ 204564 w 413657"/>
              <a:gd name="connsiteY2" fmla="*/ 1375296 h 1658650"/>
              <a:gd name="connsiteX3" fmla="*/ 413657 w 413657"/>
              <a:gd name="connsiteY3" fmla="*/ 1092592 h 1658650"/>
              <a:gd name="connsiteX4" fmla="*/ 391886 w 413657"/>
              <a:gd name="connsiteY4" fmla="*/ 11278 h 1658650"/>
              <a:gd name="connsiteX5" fmla="*/ 311203 w 413657"/>
              <a:gd name="connsiteY5" fmla="*/ 504763 h 1658650"/>
              <a:gd name="connsiteX6" fmla="*/ 0 w 413657"/>
              <a:gd name="connsiteY6" fmla="*/ 845849 h 1658650"/>
              <a:gd name="connsiteX0" fmla="*/ 0 w 413657"/>
              <a:gd name="connsiteY0" fmla="*/ 850328 h 1663129"/>
              <a:gd name="connsiteX1" fmla="*/ 10562 w 413657"/>
              <a:gd name="connsiteY1" fmla="*/ 1663129 h 1663129"/>
              <a:gd name="connsiteX2" fmla="*/ 204564 w 413657"/>
              <a:gd name="connsiteY2" fmla="*/ 1379775 h 1663129"/>
              <a:gd name="connsiteX3" fmla="*/ 413657 w 413657"/>
              <a:gd name="connsiteY3" fmla="*/ 1097071 h 1663129"/>
              <a:gd name="connsiteX4" fmla="*/ 391886 w 413657"/>
              <a:gd name="connsiteY4" fmla="*/ 15757 h 1663129"/>
              <a:gd name="connsiteX5" fmla="*/ 311203 w 413657"/>
              <a:gd name="connsiteY5" fmla="*/ 509242 h 1663129"/>
              <a:gd name="connsiteX6" fmla="*/ 0 w 413657"/>
              <a:gd name="connsiteY6" fmla="*/ 850328 h 1663129"/>
              <a:gd name="connsiteX0" fmla="*/ 0 w 413657"/>
              <a:gd name="connsiteY0" fmla="*/ 846954 h 1659755"/>
              <a:gd name="connsiteX1" fmla="*/ 10562 w 413657"/>
              <a:gd name="connsiteY1" fmla="*/ 1659755 h 1659755"/>
              <a:gd name="connsiteX2" fmla="*/ 204564 w 413657"/>
              <a:gd name="connsiteY2" fmla="*/ 1376401 h 1659755"/>
              <a:gd name="connsiteX3" fmla="*/ 413657 w 413657"/>
              <a:gd name="connsiteY3" fmla="*/ 1093697 h 1659755"/>
              <a:gd name="connsiteX4" fmla="*/ 391886 w 413657"/>
              <a:gd name="connsiteY4" fmla="*/ 12383 h 1659755"/>
              <a:gd name="connsiteX5" fmla="*/ 152565 w 413657"/>
              <a:gd name="connsiteY5" fmla="*/ 607468 h 1659755"/>
              <a:gd name="connsiteX6" fmla="*/ 0 w 413657"/>
              <a:gd name="connsiteY6" fmla="*/ 846954 h 1659755"/>
              <a:gd name="connsiteX0" fmla="*/ 4718 w 418375"/>
              <a:gd name="connsiteY0" fmla="*/ 844748 h 1657549"/>
              <a:gd name="connsiteX1" fmla="*/ 15280 w 418375"/>
              <a:gd name="connsiteY1" fmla="*/ 1657549 h 1657549"/>
              <a:gd name="connsiteX2" fmla="*/ 209282 w 418375"/>
              <a:gd name="connsiteY2" fmla="*/ 1374195 h 1657549"/>
              <a:gd name="connsiteX3" fmla="*/ 418375 w 418375"/>
              <a:gd name="connsiteY3" fmla="*/ 1091491 h 1657549"/>
              <a:gd name="connsiteX4" fmla="*/ 396604 w 418375"/>
              <a:gd name="connsiteY4" fmla="*/ 10177 h 1657549"/>
              <a:gd name="connsiteX5" fmla="*/ 97794 w 418375"/>
              <a:gd name="connsiteY5" fmla="*/ 706862 h 1657549"/>
              <a:gd name="connsiteX6" fmla="*/ 4718 w 418375"/>
              <a:gd name="connsiteY6" fmla="*/ 844748 h 1657549"/>
              <a:gd name="connsiteX0" fmla="*/ 0 w 413657"/>
              <a:gd name="connsiteY0" fmla="*/ 844023 h 1656824"/>
              <a:gd name="connsiteX1" fmla="*/ 10562 w 413657"/>
              <a:gd name="connsiteY1" fmla="*/ 1656824 h 1656824"/>
              <a:gd name="connsiteX2" fmla="*/ 204564 w 413657"/>
              <a:gd name="connsiteY2" fmla="*/ 1373470 h 1656824"/>
              <a:gd name="connsiteX3" fmla="*/ 413657 w 413657"/>
              <a:gd name="connsiteY3" fmla="*/ 1090766 h 1656824"/>
              <a:gd name="connsiteX4" fmla="*/ 391886 w 413657"/>
              <a:gd name="connsiteY4" fmla="*/ 9452 h 1656824"/>
              <a:gd name="connsiteX5" fmla="*/ 129430 w 413657"/>
              <a:gd name="connsiteY5" fmla="*/ 749680 h 1656824"/>
              <a:gd name="connsiteX6" fmla="*/ 0 w 413657"/>
              <a:gd name="connsiteY6" fmla="*/ 844023 h 1656824"/>
              <a:gd name="connsiteX0" fmla="*/ 0 w 413657"/>
              <a:gd name="connsiteY0" fmla="*/ 844619 h 1657420"/>
              <a:gd name="connsiteX1" fmla="*/ 10562 w 413657"/>
              <a:gd name="connsiteY1" fmla="*/ 1657420 h 1657420"/>
              <a:gd name="connsiteX2" fmla="*/ 204564 w 413657"/>
              <a:gd name="connsiteY2" fmla="*/ 1374066 h 1657420"/>
              <a:gd name="connsiteX3" fmla="*/ 413657 w 413657"/>
              <a:gd name="connsiteY3" fmla="*/ 1091362 h 1657420"/>
              <a:gd name="connsiteX4" fmla="*/ 391886 w 413657"/>
              <a:gd name="connsiteY4" fmla="*/ 10048 h 1657420"/>
              <a:gd name="connsiteX5" fmla="*/ 126125 w 413657"/>
              <a:gd name="connsiteY5" fmla="*/ 713990 h 1657420"/>
              <a:gd name="connsiteX6" fmla="*/ 0 w 413657"/>
              <a:gd name="connsiteY6" fmla="*/ 844619 h 1657420"/>
              <a:gd name="connsiteX0" fmla="*/ 0 w 413657"/>
              <a:gd name="connsiteY0" fmla="*/ 845591 h 1658392"/>
              <a:gd name="connsiteX1" fmla="*/ 10562 w 413657"/>
              <a:gd name="connsiteY1" fmla="*/ 1658392 h 1658392"/>
              <a:gd name="connsiteX2" fmla="*/ 204564 w 413657"/>
              <a:gd name="connsiteY2" fmla="*/ 1375038 h 1658392"/>
              <a:gd name="connsiteX3" fmla="*/ 413657 w 413657"/>
              <a:gd name="connsiteY3" fmla="*/ 1092334 h 1658392"/>
              <a:gd name="connsiteX4" fmla="*/ 391886 w 413657"/>
              <a:gd name="connsiteY4" fmla="*/ 11020 h 1658392"/>
              <a:gd name="connsiteX5" fmla="*/ 136040 w 413657"/>
              <a:gd name="connsiteY5" fmla="*/ 664162 h 1658392"/>
              <a:gd name="connsiteX6" fmla="*/ 0 w 413657"/>
              <a:gd name="connsiteY6" fmla="*/ 845591 h 1658392"/>
              <a:gd name="connsiteX0" fmla="*/ 0 w 413657"/>
              <a:gd name="connsiteY0" fmla="*/ 845591 h 1675496"/>
              <a:gd name="connsiteX1" fmla="*/ 10562 w 413657"/>
              <a:gd name="connsiteY1" fmla="*/ 1658392 h 1675496"/>
              <a:gd name="connsiteX2" fmla="*/ 204564 w 413657"/>
              <a:gd name="connsiteY2" fmla="*/ 1375038 h 1675496"/>
              <a:gd name="connsiteX3" fmla="*/ 413657 w 413657"/>
              <a:gd name="connsiteY3" fmla="*/ 1092334 h 1675496"/>
              <a:gd name="connsiteX4" fmla="*/ 391886 w 413657"/>
              <a:gd name="connsiteY4" fmla="*/ 11020 h 1675496"/>
              <a:gd name="connsiteX5" fmla="*/ 136040 w 413657"/>
              <a:gd name="connsiteY5" fmla="*/ 664162 h 1675496"/>
              <a:gd name="connsiteX6" fmla="*/ 0 w 413657"/>
              <a:gd name="connsiteY6" fmla="*/ 845591 h 1675496"/>
              <a:gd name="connsiteX0" fmla="*/ 0 w 413657"/>
              <a:gd name="connsiteY0" fmla="*/ 845591 h 1690720"/>
              <a:gd name="connsiteX1" fmla="*/ 10562 w 413657"/>
              <a:gd name="connsiteY1" fmla="*/ 1658392 h 1690720"/>
              <a:gd name="connsiteX2" fmla="*/ 141770 w 413657"/>
              <a:gd name="connsiteY2" fmla="*/ 1541952 h 1690720"/>
              <a:gd name="connsiteX3" fmla="*/ 413657 w 413657"/>
              <a:gd name="connsiteY3" fmla="*/ 1092334 h 1690720"/>
              <a:gd name="connsiteX4" fmla="*/ 391886 w 413657"/>
              <a:gd name="connsiteY4" fmla="*/ 11020 h 1690720"/>
              <a:gd name="connsiteX5" fmla="*/ 136040 w 413657"/>
              <a:gd name="connsiteY5" fmla="*/ 664162 h 1690720"/>
              <a:gd name="connsiteX6" fmla="*/ 0 w 413657"/>
              <a:gd name="connsiteY6" fmla="*/ 845591 h 1690720"/>
              <a:gd name="connsiteX0" fmla="*/ 0 w 413657"/>
              <a:gd name="connsiteY0" fmla="*/ 845591 h 1701592"/>
              <a:gd name="connsiteX1" fmla="*/ 10562 w 413657"/>
              <a:gd name="connsiteY1" fmla="*/ 1658392 h 1701592"/>
              <a:gd name="connsiteX2" fmla="*/ 158295 w 413657"/>
              <a:gd name="connsiteY2" fmla="*/ 1592752 h 1701592"/>
              <a:gd name="connsiteX3" fmla="*/ 413657 w 413657"/>
              <a:gd name="connsiteY3" fmla="*/ 1092334 h 1701592"/>
              <a:gd name="connsiteX4" fmla="*/ 391886 w 413657"/>
              <a:gd name="connsiteY4" fmla="*/ 11020 h 1701592"/>
              <a:gd name="connsiteX5" fmla="*/ 136040 w 413657"/>
              <a:gd name="connsiteY5" fmla="*/ 664162 h 1701592"/>
              <a:gd name="connsiteX6" fmla="*/ 0 w 413657"/>
              <a:gd name="connsiteY6" fmla="*/ 845591 h 1701592"/>
              <a:gd name="connsiteX0" fmla="*/ 0 w 413657"/>
              <a:gd name="connsiteY0" fmla="*/ 845591 h 1690720"/>
              <a:gd name="connsiteX1" fmla="*/ 10562 w 413657"/>
              <a:gd name="connsiteY1" fmla="*/ 1658392 h 1690720"/>
              <a:gd name="connsiteX2" fmla="*/ 135161 w 413657"/>
              <a:gd name="connsiteY2" fmla="*/ 1541952 h 1690720"/>
              <a:gd name="connsiteX3" fmla="*/ 413657 w 413657"/>
              <a:gd name="connsiteY3" fmla="*/ 1092334 h 1690720"/>
              <a:gd name="connsiteX4" fmla="*/ 391886 w 413657"/>
              <a:gd name="connsiteY4" fmla="*/ 11020 h 1690720"/>
              <a:gd name="connsiteX5" fmla="*/ 136040 w 413657"/>
              <a:gd name="connsiteY5" fmla="*/ 664162 h 1690720"/>
              <a:gd name="connsiteX6" fmla="*/ 0 w 413657"/>
              <a:gd name="connsiteY6" fmla="*/ 845591 h 1690720"/>
              <a:gd name="connsiteX0" fmla="*/ 0 w 413657"/>
              <a:gd name="connsiteY0" fmla="*/ 845591 h 1689671"/>
              <a:gd name="connsiteX1" fmla="*/ 10562 w 413657"/>
              <a:gd name="connsiteY1" fmla="*/ 1658392 h 1689671"/>
              <a:gd name="connsiteX2" fmla="*/ 135161 w 413657"/>
              <a:gd name="connsiteY2" fmla="*/ 1541952 h 1689671"/>
              <a:gd name="connsiteX3" fmla="*/ 413657 w 413657"/>
              <a:gd name="connsiteY3" fmla="*/ 1092334 h 1689671"/>
              <a:gd name="connsiteX4" fmla="*/ 391886 w 413657"/>
              <a:gd name="connsiteY4" fmla="*/ 11020 h 1689671"/>
              <a:gd name="connsiteX5" fmla="*/ 136040 w 413657"/>
              <a:gd name="connsiteY5" fmla="*/ 664162 h 1689671"/>
              <a:gd name="connsiteX6" fmla="*/ 0 w 413657"/>
              <a:gd name="connsiteY6" fmla="*/ 845591 h 1689671"/>
              <a:gd name="connsiteX0" fmla="*/ 0 w 413657"/>
              <a:gd name="connsiteY0" fmla="*/ 845591 h 1708706"/>
              <a:gd name="connsiteX1" fmla="*/ 10562 w 413657"/>
              <a:gd name="connsiteY1" fmla="*/ 1658392 h 1708706"/>
              <a:gd name="connsiteX2" fmla="*/ 125246 w 413657"/>
              <a:gd name="connsiteY2" fmla="*/ 1621781 h 1708706"/>
              <a:gd name="connsiteX3" fmla="*/ 413657 w 413657"/>
              <a:gd name="connsiteY3" fmla="*/ 1092334 h 1708706"/>
              <a:gd name="connsiteX4" fmla="*/ 391886 w 413657"/>
              <a:gd name="connsiteY4" fmla="*/ 11020 h 1708706"/>
              <a:gd name="connsiteX5" fmla="*/ 136040 w 413657"/>
              <a:gd name="connsiteY5" fmla="*/ 664162 h 1708706"/>
              <a:gd name="connsiteX6" fmla="*/ 0 w 413657"/>
              <a:gd name="connsiteY6" fmla="*/ 845591 h 1708706"/>
              <a:gd name="connsiteX0" fmla="*/ 0 w 413657"/>
              <a:gd name="connsiteY0" fmla="*/ 845591 h 1702861"/>
              <a:gd name="connsiteX1" fmla="*/ 10562 w 413657"/>
              <a:gd name="connsiteY1" fmla="*/ 1658392 h 1702861"/>
              <a:gd name="connsiteX2" fmla="*/ 125246 w 413657"/>
              <a:gd name="connsiteY2" fmla="*/ 1621781 h 1702861"/>
              <a:gd name="connsiteX3" fmla="*/ 413657 w 413657"/>
              <a:gd name="connsiteY3" fmla="*/ 1092334 h 1702861"/>
              <a:gd name="connsiteX4" fmla="*/ 391886 w 413657"/>
              <a:gd name="connsiteY4" fmla="*/ 11020 h 1702861"/>
              <a:gd name="connsiteX5" fmla="*/ 136040 w 413657"/>
              <a:gd name="connsiteY5" fmla="*/ 664162 h 1702861"/>
              <a:gd name="connsiteX6" fmla="*/ 0 w 413657"/>
              <a:gd name="connsiteY6" fmla="*/ 845591 h 17028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3657" h="1702861">
                <a:moveTo>
                  <a:pt x="0" y="845591"/>
                </a:moveTo>
                <a:lnTo>
                  <a:pt x="10562" y="1658392"/>
                </a:lnTo>
                <a:cubicBezTo>
                  <a:pt x="44656" y="1746633"/>
                  <a:pt x="-21256" y="1687096"/>
                  <a:pt x="125246" y="1621781"/>
                </a:cubicBezTo>
                <a:cubicBezTo>
                  <a:pt x="271748" y="1556466"/>
                  <a:pt x="382437" y="1319670"/>
                  <a:pt x="413657" y="1092334"/>
                </a:cubicBezTo>
                <a:lnTo>
                  <a:pt x="391886" y="11020"/>
                </a:lnTo>
                <a:cubicBezTo>
                  <a:pt x="356082" y="-76066"/>
                  <a:pt x="303808" y="372669"/>
                  <a:pt x="136040" y="664162"/>
                </a:cubicBezTo>
                <a:cubicBezTo>
                  <a:pt x="-31728" y="955655"/>
                  <a:pt x="31379" y="664162"/>
                  <a:pt x="0" y="845591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7FAF590-C550-438A-8F67-E189AC0B3932}"/>
              </a:ext>
            </a:extLst>
          </p:cNvPr>
          <p:cNvSpPr/>
          <p:nvPr/>
        </p:nvSpPr>
        <p:spPr>
          <a:xfrm>
            <a:off x="2061029" y="2271087"/>
            <a:ext cx="943429" cy="1372780"/>
          </a:xfrm>
          <a:custGeom>
            <a:avLst/>
            <a:gdLst>
              <a:gd name="connsiteX0" fmla="*/ 0 w 885371"/>
              <a:gd name="connsiteY0" fmla="*/ 1444172 h 1444172"/>
              <a:gd name="connsiteX1" fmla="*/ 602342 w 885371"/>
              <a:gd name="connsiteY1" fmla="*/ 1328057 h 1444172"/>
              <a:gd name="connsiteX2" fmla="*/ 885371 w 885371"/>
              <a:gd name="connsiteY2" fmla="*/ 769257 h 1444172"/>
              <a:gd name="connsiteX3" fmla="*/ 863600 w 885371"/>
              <a:gd name="connsiteY3" fmla="*/ 0 h 1444172"/>
              <a:gd name="connsiteX4" fmla="*/ 341085 w 885371"/>
              <a:gd name="connsiteY4" fmla="*/ 674914 h 1444172"/>
              <a:gd name="connsiteX5" fmla="*/ 14514 w 885371"/>
              <a:gd name="connsiteY5" fmla="*/ 1023257 h 1444172"/>
              <a:gd name="connsiteX6" fmla="*/ 0 w 885371"/>
              <a:gd name="connsiteY6" fmla="*/ 1444172 h 1444172"/>
              <a:gd name="connsiteX0" fmla="*/ 0 w 885371"/>
              <a:gd name="connsiteY0" fmla="*/ 1444172 h 1463288"/>
              <a:gd name="connsiteX1" fmla="*/ 602342 w 885371"/>
              <a:gd name="connsiteY1" fmla="*/ 1328057 h 1463288"/>
              <a:gd name="connsiteX2" fmla="*/ 885371 w 885371"/>
              <a:gd name="connsiteY2" fmla="*/ 769257 h 1463288"/>
              <a:gd name="connsiteX3" fmla="*/ 863600 w 885371"/>
              <a:gd name="connsiteY3" fmla="*/ 0 h 1463288"/>
              <a:gd name="connsiteX4" fmla="*/ 341085 w 885371"/>
              <a:gd name="connsiteY4" fmla="*/ 674914 h 1463288"/>
              <a:gd name="connsiteX5" fmla="*/ 14514 w 885371"/>
              <a:gd name="connsiteY5" fmla="*/ 1023257 h 1463288"/>
              <a:gd name="connsiteX6" fmla="*/ 0 w 885371"/>
              <a:gd name="connsiteY6" fmla="*/ 1444172 h 1463288"/>
              <a:gd name="connsiteX0" fmla="*/ 0 w 885371"/>
              <a:gd name="connsiteY0" fmla="*/ 1444172 h 1452810"/>
              <a:gd name="connsiteX1" fmla="*/ 602342 w 885371"/>
              <a:gd name="connsiteY1" fmla="*/ 1197429 h 1452810"/>
              <a:gd name="connsiteX2" fmla="*/ 885371 w 885371"/>
              <a:gd name="connsiteY2" fmla="*/ 769257 h 1452810"/>
              <a:gd name="connsiteX3" fmla="*/ 863600 w 885371"/>
              <a:gd name="connsiteY3" fmla="*/ 0 h 1452810"/>
              <a:gd name="connsiteX4" fmla="*/ 341085 w 885371"/>
              <a:gd name="connsiteY4" fmla="*/ 674914 h 1452810"/>
              <a:gd name="connsiteX5" fmla="*/ 14514 w 885371"/>
              <a:gd name="connsiteY5" fmla="*/ 1023257 h 1452810"/>
              <a:gd name="connsiteX6" fmla="*/ 0 w 885371"/>
              <a:gd name="connsiteY6" fmla="*/ 1444172 h 1452810"/>
              <a:gd name="connsiteX0" fmla="*/ 0 w 885371"/>
              <a:gd name="connsiteY0" fmla="*/ 1444520 h 1453158"/>
              <a:gd name="connsiteX1" fmla="*/ 602342 w 885371"/>
              <a:gd name="connsiteY1" fmla="*/ 1197777 h 1453158"/>
              <a:gd name="connsiteX2" fmla="*/ 885371 w 885371"/>
              <a:gd name="connsiteY2" fmla="*/ 769605 h 1453158"/>
              <a:gd name="connsiteX3" fmla="*/ 863600 w 885371"/>
              <a:gd name="connsiteY3" fmla="*/ 348 h 1453158"/>
              <a:gd name="connsiteX4" fmla="*/ 341085 w 885371"/>
              <a:gd name="connsiteY4" fmla="*/ 675262 h 1453158"/>
              <a:gd name="connsiteX5" fmla="*/ 14514 w 885371"/>
              <a:gd name="connsiteY5" fmla="*/ 1023605 h 1453158"/>
              <a:gd name="connsiteX6" fmla="*/ 0 w 885371"/>
              <a:gd name="connsiteY6" fmla="*/ 1444520 h 1453158"/>
              <a:gd name="connsiteX0" fmla="*/ 0 w 885371"/>
              <a:gd name="connsiteY0" fmla="*/ 1444520 h 1453158"/>
              <a:gd name="connsiteX1" fmla="*/ 602342 w 885371"/>
              <a:gd name="connsiteY1" fmla="*/ 1197777 h 1453158"/>
              <a:gd name="connsiteX2" fmla="*/ 885371 w 885371"/>
              <a:gd name="connsiteY2" fmla="*/ 769605 h 1453158"/>
              <a:gd name="connsiteX3" fmla="*/ 863600 w 885371"/>
              <a:gd name="connsiteY3" fmla="*/ 348 h 1453158"/>
              <a:gd name="connsiteX4" fmla="*/ 464456 w 885371"/>
              <a:gd name="connsiteY4" fmla="*/ 675262 h 1453158"/>
              <a:gd name="connsiteX5" fmla="*/ 14514 w 885371"/>
              <a:gd name="connsiteY5" fmla="*/ 1023605 h 1453158"/>
              <a:gd name="connsiteX6" fmla="*/ 0 w 885371"/>
              <a:gd name="connsiteY6" fmla="*/ 1444520 h 1453158"/>
              <a:gd name="connsiteX0" fmla="*/ 0 w 943429"/>
              <a:gd name="connsiteY0" fmla="*/ 1364742 h 1373380"/>
              <a:gd name="connsiteX1" fmla="*/ 602342 w 943429"/>
              <a:gd name="connsiteY1" fmla="*/ 1117999 h 1373380"/>
              <a:gd name="connsiteX2" fmla="*/ 885371 w 943429"/>
              <a:gd name="connsiteY2" fmla="*/ 689827 h 1373380"/>
              <a:gd name="connsiteX3" fmla="*/ 943429 w 943429"/>
              <a:gd name="connsiteY3" fmla="*/ 399 h 1373380"/>
              <a:gd name="connsiteX4" fmla="*/ 464456 w 943429"/>
              <a:gd name="connsiteY4" fmla="*/ 595484 h 1373380"/>
              <a:gd name="connsiteX5" fmla="*/ 14514 w 943429"/>
              <a:gd name="connsiteY5" fmla="*/ 943827 h 1373380"/>
              <a:gd name="connsiteX6" fmla="*/ 0 w 943429"/>
              <a:gd name="connsiteY6" fmla="*/ 1364742 h 1373380"/>
              <a:gd name="connsiteX0" fmla="*/ 0 w 943429"/>
              <a:gd name="connsiteY0" fmla="*/ 1364742 h 1370587"/>
              <a:gd name="connsiteX1" fmla="*/ 478971 w 943429"/>
              <a:gd name="connsiteY1" fmla="*/ 1009142 h 1370587"/>
              <a:gd name="connsiteX2" fmla="*/ 885371 w 943429"/>
              <a:gd name="connsiteY2" fmla="*/ 689827 h 1370587"/>
              <a:gd name="connsiteX3" fmla="*/ 943429 w 943429"/>
              <a:gd name="connsiteY3" fmla="*/ 399 h 1370587"/>
              <a:gd name="connsiteX4" fmla="*/ 464456 w 943429"/>
              <a:gd name="connsiteY4" fmla="*/ 595484 h 1370587"/>
              <a:gd name="connsiteX5" fmla="*/ 14514 w 943429"/>
              <a:gd name="connsiteY5" fmla="*/ 943827 h 1370587"/>
              <a:gd name="connsiteX6" fmla="*/ 0 w 943429"/>
              <a:gd name="connsiteY6" fmla="*/ 1364742 h 1370587"/>
              <a:gd name="connsiteX0" fmla="*/ 0 w 943429"/>
              <a:gd name="connsiteY0" fmla="*/ 1364742 h 1372631"/>
              <a:gd name="connsiteX1" fmla="*/ 558800 w 943429"/>
              <a:gd name="connsiteY1" fmla="*/ 1096227 h 1372631"/>
              <a:gd name="connsiteX2" fmla="*/ 885371 w 943429"/>
              <a:gd name="connsiteY2" fmla="*/ 689827 h 1372631"/>
              <a:gd name="connsiteX3" fmla="*/ 943429 w 943429"/>
              <a:gd name="connsiteY3" fmla="*/ 399 h 1372631"/>
              <a:gd name="connsiteX4" fmla="*/ 464456 w 943429"/>
              <a:gd name="connsiteY4" fmla="*/ 595484 h 1372631"/>
              <a:gd name="connsiteX5" fmla="*/ 14514 w 943429"/>
              <a:gd name="connsiteY5" fmla="*/ 943827 h 1372631"/>
              <a:gd name="connsiteX6" fmla="*/ 0 w 943429"/>
              <a:gd name="connsiteY6" fmla="*/ 1364742 h 1372631"/>
              <a:gd name="connsiteX0" fmla="*/ 0 w 943429"/>
              <a:gd name="connsiteY0" fmla="*/ 1364742 h 1372780"/>
              <a:gd name="connsiteX1" fmla="*/ 558800 w 943429"/>
              <a:gd name="connsiteY1" fmla="*/ 1096227 h 1372780"/>
              <a:gd name="connsiteX2" fmla="*/ 943428 w 943429"/>
              <a:gd name="connsiteY2" fmla="*/ 660798 h 1372780"/>
              <a:gd name="connsiteX3" fmla="*/ 943429 w 943429"/>
              <a:gd name="connsiteY3" fmla="*/ 399 h 1372780"/>
              <a:gd name="connsiteX4" fmla="*/ 464456 w 943429"/>
              <a:gd name="connsiteY4" fmla="*/ 595484 h 1372780"/>
              <a:gd name="connsiteX5" fmla="*/ 14514 w 943429"/>
              <a:gd name="connsiteY5" fmla="*/ 943827 h 1372780"/>
              <a:gd name="connsiteX6" fmla="*/ 0 w 943429"/>
              <a:gd name="connsiteY6" fmla="*/ 1364742 h 1372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43429" h="1372780">
                <a:moveTo>
                  <a:pt x="0" y="1364742"/>
                </a:moveTo>
                <a:cubicBezTo>
                  <a:pt x="97971" y="1415542"/>
                  <a:pt x="401562" y="1213551"/>
                  <a:pt x="558800" y="1096227"/>
                </a:cubicBezTo>
                <a:cubicBezTo>
                  <a:pt x="716038" y="978903"/>
                  <a:pt x="899885" y="882141"/>
                  <a:pt x="943428" y="660798"/>
                </a:cubicBezTo>
                <a:cubicBezTo>
                  <a:pt x="943428" y="440665"/>
                  <a:pt x="943429" y="220532"/>
                  <a:pt x="943429" y="399"/>
                </a:cubicBezTo>
                <a:cubicBezTo>
                  <a:pt x="852715" y="-15325"/>
                  <a:pt x="619275" y="438246"/>
                  <a:pt x="464456" y="595484"/>
                </a:cubicBezTo>
                <a:cubicBezTo>
                  <a:pt x="309637" y="752722"/>
                  <a:pt x="71362" y="815617"/>
                  <a:pt x="14514" y="943827"/>
                </a:cubicBezTo>
                <a:lnTo>
                  <a:pt x="0" y="1364742"/>
                </a:lnTo>
                <a:close/>
              </a:path>
            </a:pathLst>
          </a:custGeom>
          <a:ln w="381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4A4D8819-3A4D-49C8-9859-0C04B37D6FA6}"/>
              </a:ext>
            </a:extLst>
          </p:cNvPr>
          <p:cNvSpPr/>
          <p:nvPr/>
        </p:nvSpPr>
        <p:spPr>
          <a:xfrm>
            <a:off x="2061030" y="3650344"/>
            <a:ext cx="907142" cy="803023"/>
          </a:xfrm>
          <a:custGeom>
            <a:avLst/>
            <a:gdLst>
              <a:gd name="connsiteX0" fmla="*/ 0 w 849085"/>
              <a:gd name="connsiteY0" fmla="*/ 0 h 776514"/>
              <a:gd name="connsiteX1" fmla="*/ 14514 w 849085"/>
              <a:gd name="connsiteY1" fmla="*/ 377371 h 776514"/>
              <a:gd name="connsiteX2" fmla="*/ 849085 w 849085"/>
              <a:gd name="connsiteY2" fmla="*/ 776514 h 776514"/>
              <a:gd name="connsiteX3" fmla="*/ 820057 w 849085"/>
              <a:gd name="connsiteY3" fmla="*/ 7257 h 776514"/>
              <a:gd name="connsiteX4" fmla="*/ 0 w 849085"/>
              <a:gd name="connsiteY4" fmla="*/ 0 h 776514"/>
              <a:gd name="connsiteX0" fmla="*/ 0 w 849085"/>
              <a:gd name="connsiteY0" fmla="*/ 0 h 776514"/>
              <a:gd name="connsiteX1" fmla="*/ 14514 w 849085"/>
              <a:gd name="connsiteY1" fmla="*/ 377371 h 776514"/>
              <a:gd name="connsiteX2" fmla="*/ 391885 w 849085"/>
              <a:gd name="connsiteY2" fmla="*/ 566057 h 776514"/>
              <a:gd name="connsiteX3" fmla="*/ 849085 w 849085"/>
              <a:gd name="connsiteY3" fmla="*/ 776514 h 776514"/>
              <a:gd name="connsiteX4" fmla="*/ 820057 w 849085"/>
              <a:gd name="connsiteY4" fmla="*/ 7257 h 776514"/>
              <a:gd name="connsiteX5" fmla="*/ 0 w 849085"/>
              <a:gd name="connsiteY5" fmla="*/ 0 h 776514"/>
              <a:gd name="connsiteX0" fmla="*/ 0 w 849085"/>
              <a:gd name="connsiteY0" fmla="*/ 0 h 797909"/>
              <a:gd name="connsiteX1" fmla="*/ 14514 w 849085"/>
              <a:gd name="connsiteY1" fmla="*/ 377371 h 797909"/>
              <a:gd name="connsiteX2" fmla="*/ 391885 w 849085"/>
              <a:gd name="connsiteY2" fmla="*/ 566057 h 797909"/>
              <a:gd name="connsiteX3" fmla="*/ 849085 w 849085"/>
              <a:gd name="connsiteY3" fmla="*/ 776514 h 797909"/>
              <a:gd name="connsiteX4" fmla="*/ 820057 w 849085"/>
              <a:gd name="connsiteY4" fmla="*/ 7257 h 797909"/>
              <a:gd name="connsiteX5" fmla="*/ 0 w 849085"/>
              <a:gd name="connsiteY5" fmla="*/ 0 h 797909"/>
              <a:gd name="connsiteX0" fmla="*/ 0 w 849085"/>
              <a:gd name="connsiteY0" fmla="*/ 0 h 809284"/>
              <a:gd name="connsiteX1" fmla="*/ 14514 w 849085"/>
              <a:gd name="connsiteY1" fmla="*/ 377371 h 809284"/>
              <a:gd name="connsiteX2" fmla="*/ 399142 w 849085"/>
              <a:gd name="connsiteY2" fmla="*/ 674914 h 809284"/>
              <a:gd name="connsiteX3" fmla="*/ 849085 w 849085"/>
              <a:gd name="connsiteY3" fmla="*/ 776514 h 809284"/>
              <a:gd name="connsiteX4" fmla="*/ 820057 w 849085"/>
              <a:gd name="connsiteY4" fmla="*/ 7257 h 809284"/>
              <a:gd name="connsiteX5" fmla="*/ 0 w 849085"/>
              <a:gd name="connsiteY5" fmla="*/ 0 h 809284"/>
              <a:gd name="connsiteX0" fmla="*/ 0 w 849085"/>
              <a:gd name="connsiteY0" fmla="*/ 1 h 809285"/>
              <a:gd name="connsiteX1" fmla="*/ 14514 w 849085"/>
              <a:gd name="connsiteY1" fmla="*/ 377372 h 809285"/>
              <a:gd name="connsiteX2" fmla="*/ 399142 w 849085"/>
              <a:gd name="connsiteY2" fmla="*/ 674915 h 809285"/>
              <a:gd name="connsiteX3" fmla="*/ 849085 w 849085"/>
              <a:gd name="connsiteY3" fmla="*/ 776515 h 809285"/>
              <a:gd name="connsiteX4" fmla="*/ 820057 w 849085"/>
              <a:gd name="connsiteY4" fmla="*/ 7258 h 809285"/>
              <a:gd name="connsiteX5" fmla="*/ 776514 w 849085"/>
              <a:gd name="connsiteY5" fmla="*/ 0 h 809285"/>
              <a:gd name="connsiteX6" fmla="*/ 0 w 849085"/>
              <a:gd name="connsiteY6" fmla="*/ 1 h 809285"/>
              <a:gd name="connsiteX0" fmla="*/ 0 w 849085"/>
              <a:gd name="connsiteY0" fmla="*/ 0 h 809284"/>
              <a:gd name="connsiteX1" fmla="*/ 14514 w 849085"/>
              <a:gd name="connsiteY1" fmla="*/ 377371 h 809284"/>
              <a:gd name="connsiteX2" fmla="*/ 399142 w 849085"/>
              <a:gd name="connsiteY2" fmla="*/ 674914 h 809284"/>
              <a:gd name="connsiteX3" fmla="*/ 849085 w 849085"/>
              <a:gd name="connsiteY3" fmla="*/ 776514 h 809284"/>
              <a:gd name="connsiteX4" fmla="*/ 820057 w 849085"/>
              <a:gd name="connsiteY4" fmla="*/ 7257 h 809284"/>
              <a:gd name="connsiteX5" fmla="*/ 435428 w 849085"/>
              <a:gd name="connsiteY5" fmla="*/ 101599 h 809284"/>
              <a:gd name="connsiteX6" fmla="*/ 0 w 849085"/>
              <a:gd name="connsiteY6" fmla="*/ 0 h 809284"/>
              <a:gd name="connsiteX0" fmla="*/ 0 w 907142"/>
              <a:gd name="connsiteY0" fmla="*/ 0 h 809284"/>
              <a:gd name="connsiteX1" fmla="*/ 14514 w 907142"/>
              <a:gd name="connsiteY1" fmla="*/ 377371 h 809284"/>
              <a:gd name="connsiteX2" fmla="*/ 399142 w 907142"/>
              <a:gd name="connsiteY2" fmla="*/ 674914 h 809284"/>
              <a:gd name="connsiteX3" fmla="*/ 849085 w 907142"/>
              <a:gd name="connsiteY3" fmla="*/ 776514 h 809284"/>
              <a:gd name="connsiteX4" fmla="*/ 907142 w 907142"/>
              <a:gd name="connsiteY4" fmla="*/ 94343 h 809284"/>
              <a:gd name="connsiteX5" fmla="*/ 435428 w 907142"/>
              <a:gd name="connsiteY5" fmla="*/ 101599 h 809284"/>
              <a:gd name="connsiteX6" fmla="*/ 0 w 907142"/>
              <a:gd name="connsiteY6" fmla="*/ 0 h 809284"/>
              <a:gd name="connsiteX0" fmla="*/ 0 w 979714"/>
              <a:gd name="connsiteY0" fmla="*/ 0 h 755590"/>
              <a:gd name="connsiteX1" fmla="*/ 14514 w 979714"/>
              <a:gd name="connsiteY1" fmla="*/ 377371 h 755590"/>
              <a:gd name="connsiteX2" fmla="*/ 399142 w 979714"/>
              <a:gd name="connsiteY2" fmla="*/ 674914 h 755590"/>
              <a:gd name="connsiteX3" fmla="*/ 979714 w 979714"/>
              <a:gd name="connsiteY3" fmla="*/ 711200 h 755590"/>
              <a:gd name="connsiteX4" fmla="*/ 907142 w 979714"/>
              <a:gd name="connsiteY4" fmla="*/ 94343 h 755590"/>
              <a:gd name="connsiteX5" fmla="*/ 435428 w 979714"/>
              <a:gd name="connsiteY5" fmla="*/ 101599 h 755590"/>
              <a:gd name="connsiteX6" fmla="*/ 0 w 979714"/>
              <a:gd name="connsiteY6" fmla="*/ 0 h 755590"/>
              <a:gd name="connsiteX0" fmla="*/ 0 w 1008742"/>
              <a:gd name="connsiteY0" fmla="*/ 0 h 755590"/>
              <a:gd name="connsiteX1" fmla="*/ 14514 w 1008742"/>
              <a:gd name="connsiteY1" fmla="*/ 377371 h 755590"/>
              <a:gd name="connsiteX2" fmla="*/ 399142 w 1008742"/>
              <a:gd name="connsiteY2" fmla="*/ 674914 h 755590"/>
              <a:gd name="connsiteX3" fmla="*/ 979714 w 1008742"/>
              <a:gd name="connsiteY3" fmla="*/ 711200 h 755590"/>
              <a:gd name="connsiteX4" fmla="*/ 1008742 w 1008742"/>
              <a:gd name="connsiteY4" fmla="*/ 50800 h 755590"/>
              <a:gd name="connsiteX5" fmla="*/ 435428 w 1008742"/>
              <a:gd name="connsiteY5" fmla="*/ 101599 h 755590"/>
              <a:gd name="connsiteX6" fmla="*/ 0 w 1008742"/>
              <a:gd name="connsiteY6" fmla="*/ 0 h 755590"/>
              <a:gd name="connsiteX0" fmla="*/ 0 w 1008742"/>
              <a:gd name="connsiteY0" fmla="*/ 0 h 796821"/>
              <a:gd name="connsiteX1" fmla="*/ 14514 w 1008742"/>
              <a:gd name="connsiteY1" fmla="*/ 377371 h 796821"/>
              <a:gd name="connsiteX2" fmla="*/ 399142 w 1008742"/>
              <a:gd name="connsiteY2" fmla="*/ 674914 h 796821"/>
              <a:gd name="connsiteX3" fmla="*/ 965200 w 1008742"/>
              <a:gd name="connsiteY3" fmla="*/ 762000 h 796821"/>
              <a:gd name="connsiteX4" fmla="*/ 1008742 w 1008742"/>
              <a:gd name="connsiteY4" fmla="*/ 50800 h 796821"/>
              <a:gd name="connsiteX5" fmla="*/ 435428 w 1008742"/>
              <a:gd name="connsiteY5" fmla="*/ 101599 h 796821"/>
              <a:gd name="connsiteX6" fmla="*/ 0 w 1008742"/>
              <a:gd name="connsiteY6" fmla="*/ 0 h 796821"/>
              <a:gd name="connsiteX0" fmla="*/ 0 w 965200"/>
              <a:gd name="connsiteY0" fmla="*/ 0 h 796821"/>
              <a:gd name="connsiteX1" fmla="*/ 14514 w 965200"/>
              <a:gd name="connsiteY1" fmla="*/ 377371 h 796821"/>
              <a:gd name="connsiteX2" fmla="*/ 399142 w 965200"/>
              <a:gd name="connsiteY2" fmla="*/ 674914 h 796821"/>
              <a:gd name="connsiteX3" fmla="*/ 965200 w 965200"/>
              <a:gd name="connsiteY3" fmla="*/ 762000 h 796821"/>
              <a:gd name="connsiteX4" fmla="*/ 907142 w 965200"/>
              <a:gd name="connsiteY4" fmla="*/ 108857 h 796821"/>
              <a:gd name="connsiteX5" fmla="*/ 435428 w 965200"/>
              <a:gd name="connsiteY5" fmla="*/ 101599 h 796821"/>
              <a:gd name="connsiteX6" fmla="*/ 0 w 965200"/>
              <a:gd name="connsiteY6" fmla="*/ 0 h 796821"/>
              <a:gd name="connsiteX0" fmla="*/ 0 w 907142"/>
              <a:gd name="connsiteY0" fmla="*/ 0 h 803023"/>
              <a:gd name="connsiteX1" fmla="*/ 14514 w 907142"/>
              <a:gd name="connsiteY1" fmla="*/ 377371 h 803023"/>
              <a:gd name="connsiteX2" fmla="*/ 399142 w 907142"/>
              <a:gd name="connsiteY2" fmla="*/ 674914 h 803023"/>
              <a:gd name="connsiteX3" fmla="*/ 899885 w 907142"/>
              <a:gd name="connsiteY3" fmla="*/ 769258 h 803023"/>
              <a:gd name="connsiteX4" fmla="*/ 907142 w 907142"/>
              <a:gd name="connsiteY4" fmla="*/ 108857 h 803023"/>
              <a:gd name="connsiteX5" fmla="*/ 435428 w 907142"/>
              <a:gd name="connsiteY5" fmla="*/ 101599 h 803023"/>
              <a:gd name="connsiteX6" fmla="*/ 0 w 907142"/>
              <a:gd name="connsiteY6" fmla="*/ 0 h 8030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07142" h="803023">
                <a:moveTo>
                  <a:pt x="0" y="0"/>
                </a:moveTo>
                <a:lnTo>
                  <a:pt x="14514" y="377371"/>
                </a:lnTo>
                <a:cubicBezTo>
                  <a:pt x="79828" y="471714"/>
                  <a:pt x="251580" y="609600"/>
                  <a:pt x="399142" y="674914"/>
                </a:cubicBezTo>
                <a:cubicBezTo>
                  <a:pt x="546704" y="740228"/>
                  <a:pt x="828523" y="862391"/>
                  <a:pt x="899885" y="769258"/>
                </a:cubicBezTo>
                <a:lnTo>
                  <a:pt x="907142" y="108857"/>
                </a:lnTo>
                <a:lnTo>
                  <a:pt x="435428" y="101599"/>
                </a:lnTo>
                <a:lnTo>
                  <a:pt x="0" y="0"/>
                </a:lnTo>
                <a:close/>
              </a:path>
            </a:pathLst>
          </a:custGeom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7895-C4FC-4B56-BBC2-D302EC58E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for CPS (hybrid systems)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41BB2-C080-406C-B450-D0A5D9FF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93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EF1E3D7-ABDA-4662-9CA9-28FF20EA9068}"/>
              </a:ext>
            </a:extLst>
          </p:cNvPr>
          <p:cNvCxnSpPr/>
          <p:nvPr/>
        </p:nvCxnSpPr>
        <p:spPr>
          <a:xfrm flipV="1">
            <a:off x="572950" y="2049474"/>
            <a:ext cx="0" cy="2786742"/>
          </a:xfrm>
          <a:prstGeom prst="straightConnector1">
            <a:avLst/>
          </a:prstGeom>
          <a:ln w="31750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8BCAA8D-392E-42CF-B66E-70CA9324D672}"/>
              </a:ext>
            </a:extLst>
          </p:cNvPr>
          <p:cNvCxnSpPr>
            <a:cxnSpLocks/>
          </p:cNvCxnSpPr>
          <p:nvPr/>
        </p:nvCxnSpPr>
        <p:spPr>
          <a:xfrm>
            <a:off x="217350" y="4480616"/>
            <a:ext cx="3976914" cy="0"/>
          </a:xfrm>
          <a:prstGeom prst="straightConnector1">
            <a:avLst/>
          </a:prstGeom>
          <a:ln w="31750">
            <a:solidFill>
              <a:srgbClr val="7030A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96C7DD9-8CB1-4113-88E1-2625BDD96C75}"/>
              </a:ext>
            </a:extLst>
          </p:cNvPr>
          <p:cNvSpPr/>
          <p:nvPr/>
        </p:nvSpPr>
        <p:spPr>
          <a:xfrm>
            <a:off x="482266" y="3765792"/>
            <a:ext cx="181365" cy="714825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584A8A1-BB27-4838-ADBA-B0C492276E1A}"/>
              </a:ext>
            </a:extLst>
          </p:cNvPr>
          <p:cNvSpPr/>
          <p:nvPr/>
        </p:nvSpPr>
        <p:spPr>
          <a:xfrm>
            <a:off x="1534544" y="3429001"/>
            <a:ext cx="181365" cy="855670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3D9611A-B528-40F4-8D22-F58C50C3E742}"/>
              </a:ext>
            </a:extLst>
          </p:cNvPr>
          <p:cNvSpPr/>
          <p:nvPr/>
        </p:nvSpPr>
        <p:spPr>
          <a:xfrm>
            <a:off x="2822709" y="2240046"/>
            <a:ext cx="217623" cy="748061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B8DD66-E9E0-467F-933C-9C0901C14791}"/>
                  </a:ext>
                </a:extLst>
              </p:cNvPr>
              <p:cNvSpPr txBox="1"/>
              <p:nvPr/>
            </p:nvSpPr>
            <p:spPr>
              <a:xfrm>
                <a:off x="4002801" y="4530006"/>
                <a:ext cx="3829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B8DD66-E9E0-467F-933C-9C0901C14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801" y="4530006"/>
                <a:ext cx="38292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0EABF9-90A7-4B5D-8B72-0876238072B8}"/>
                  </a:ext>
                </a:extLst>
              </p:cNvPr>
              <p:cNvSpPr txBox="1"/>
              <p:nvPr/>
            </p:nvSpPr>
            <p:spPr>
              <a:xfrm>
                <a:off x="0" y="3293245"/>
                <a:ext cx="5948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0EABF9-90A7-4B5D-8B72-087623807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293245"/>
                <a:ext cx="594842" cy="461665"/>
              </a:xfrm>
              <a:prstGeom prst="rect">
                <a:avLst/>
              </a:prstGeom>
              <a:blipFill>
                <a:blip r:embed="rId3"/>
                <a:stretch>
                  <a:fillRect l="-1020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A02A6A-68F9-4629-AE6D-626DA42BC1DB}"/>
                  </a:ext>
                </a:extLst>
              </p:cNvPr>
              <p:cNvSpPr txBox="1"/>
              <p:nvPr/>
            </p:nvSpPr>
            <p:spPr>
              <a:xfrm>
                <a:off x="1241273" y="2852781"/>
                <a:ext cx="6084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A02A6A-68F9-4629-AE6D-626DA42BC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273" y="2852781"/>
                <a:ext cx="608436" cy="461665"/>
              </a:xfrm>
              <a:prstGeom prst="rect">
                <a:avLst/>
              </a:prstGeom>
              <a:blipFill>
                <a:blip r:embed="rId4"/>
                <a:stretch>
                  <a:fillRect l="-1010" b="-11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49AA19-995E-4393-8481-1332EC4DB58D}"/>
                  </a:ext>
                </a:extLst>
              </p:cNvPr>
              <p:cNvSpPr txBox="1"/>
              <p:nvPr/>
            </p:nvSpPr>
            <p:spPr>
              <a:xfrm>
                <a:off x="2506416" y="1629147"/>
                <a:ext cx="7382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E49AA19-995E-4393-8481-1332EC4DB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416" y="1629147"/>
                <a:ext cx="738279" cy="461665"/>
              </a:xfrm>
              <a:prstGeom prst="rect">
                <a:avLst/>
              </a:prstGeom>
              <a:blipFill>
                <a:blip r:embed="rId5"/>
                <a:stretch>
                  <a:fillRect l="-826" b="-1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1">
                <a:extLst>
                  <a:ext uri="{FF2B5EF4-FFF2-40B4-BE49-F238E27FC236}">
                    <a16:creationId xmlns:a16="http://schemas.microsoft.com/office/drawing/2014/main" id="{CB916938-D747-4BDC-815A-1635482CA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194264" y="1209202"/>
                <a:ext cx="7854428" cy="4342511"/>
              </a:xfrm>
              <a:ln>
                <a:noFill/>
              </a:ln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Controller may be event-triggered, where it detects the level of a certain physical quantity, and based on that changes mode of operation</a:t>
                </a:r>
              </a:p>
              <a:p>
                <a:r>
                  <a:rPr lang="en-US" sz="2000" dirty="0"/>
                  <a:t>An event firing between consecutive time steps could take the PWA system in a different mode!</a:t>
                </a:r>
              </a:p>
              <a:p>
                <a:r>
                  <a:rPr lang="en-US" sz="2000" dirty="0"/>
                  <a:t>We need to account for what may happen between time-steps</a:t>
                </a:r>
              </a:p>
              <a:p>
                <a:r>
                  <a:rPr lang="en-US" sz="2000" dirty="0"/>
                  <a:t>This is done by covering the reach-sets computed at times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sz="2000" dirty="0"/>
                  <a:t> by a shape that includes both</a:t>
                </a:r>
              </a:p>
              <a:p>
                <a:r>
                  <a:rPr lang="en-US" sz="2000" dirty="0"/>
                  <a:t>Lots of research done on which shape is the best, and different shapes have different tradeoffs</a:t>
                </a:r>
              </a:p>
              <a:p>
                <a:pPr lvl="1"/>
                <a:r>
                  <a:rPr lang="en-US" sz="2000" dirty="0"/>
                  <a:t>Ellipsoids, Zonotopes, Support Functions</a:t>
                </a:r>
              </a:p>
              <a:p>
                <a:pPr lvl="1"/>
                <a:r>
                  <a:rPr lang="en-US" sz="2000" dirty="0" err="1"/>
                  <a:t>SpaceEx</a:t>
                </a:r>
                <a:r>
                  <a:rPr lang="en-US" sz="2000" dirty="0"/>
                  <a:t> tool uses support functions, and is pretty accurate for reasonably sized PWA systems now </a:t>
                </a: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24" name="Content Placeholder 1">
                <a:extLst>
                  <a:ext uri="{FF2B5EF4-FFF2-40B4-BE49-F238E27FC236}">
                    <a16:creationId xmlns:a16="http://schemas.microsoft.com/office/drawing/2014/main" id="{CB916938-D747-4BDC-815A-1635482CA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194264" y="1209202"/>
                <a:ext cx="7854428" cy="4342511"/>
              </a:xfrm>
              <a:blipFill>
                <a:blip r:embed="rId6"/>
                <a:stretch>
                  <a:fillRect l="-311" t="-1403" b="-12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7C6B0C-7604-41FC-B5FD-88696A9B2CB7}"/>
                  </a:ext>
                </a:extLst>
              </p:cNvPr>
              <p:cNvSpPr txBox="1"/>
              <p:nvPr/>
            </p:nvSpPr>
            <p:spPr>
              <a:xfrm>
                <a:off x="119308" y="1859980"/>
                <a:ext cx="42639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37C6B0C-7604-41FC-B5FD-88696A9B2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308" y="1859980"/>
                <a:ext cx="42639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09C2F83-07C4-44A8-A3BD-B889A9D74A3B}"/>
              </a:ext>
            </a:extLst>
          </p:cNvPr>
          <p:cNvSpPr/>
          <p:nvPr/>
        </p:nvSpPr>
        <p:spPr>
          <a:xfrm>
            <a:off x="2008842" y="3189399"/>
            <a:ext cx="164332" cy="471840"/>
          </a:xfrm>
          <a:prstGeom prst="roundRect">
            <a:avLst/>
          </a:prstGeom>
          <a:ln w="28575">
            <a:solidFill>
              <a:schemeClr val="tx1"/>
            </a:solidFill>
            <a:prstDash val="sysDot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CB602259-5E48-416F-98B6-0EBA30889788}"/>
              </a:ext>
            </a:extLst>
          </p:cNvPr>
          <p:cNvSpPr/>
          <p:nvPr/>
        </p:nvSpPr>
        <p:spPr>
          <a:xfrm>
            <a:off x="2017705" y="3696281"/>
            <a:ext cx="168953" cy="395513"/>
          </a:xfrm>
          <a:prstGeom prst="roundRect">
            <a:avLst/>
          </a:prstGeom>
          <a:solidFill>
            <a:srgbClr val="92D050"/>
          </a:solidFill>
          <a:ln w="28575">
            <a:solidFill>
              <a:schemeClr val="tx1"/>
            </a:solidFill>
            <a:prstDash val="sysDot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28EA8C7-7915-4A35-A0F9-D6F549C91B96}"/>
              </a:ext>
            </a:extLst>
          </p:cNvPr>
          <p:cNvSpPr/>
          <p:nvPr/>
        </p:nvSpPr>
        <p:spPr>
          <a:xfrm>
            <a:off x="2800116" y="3696897"/>
            <a:ext cx="217623" cy="74806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815DA0AC-E013-4AFB-9DA1-7DC2A459DFB6}"/>
              </a:ext>
            </a:extLst>
          </p:cNvPr>
          <p:cNvSpPr/>
          <p:nvPr/>
        </p:nvSpPr>
        <p:spPr>
          <a:xfrm>
            <a:off x="2432525" y="2701711"/>
            <a:ext cx="178864" cy="1053196"/>
          </a:xfrm>
          <a:prstGeom prst="roundRect">
            <a:avLst/>
          </a:prstGeom>
          <a:solidFill>
            <a:srgbClr val="FFC9CA"/>
          </a:solidFill>
          <a:ln w="28575">
            <a:solidFill>
              <a:srgbClr val="C00000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918A43-A35E-42B3-9D50-5DA75C32E854}"/>
              </a:ext>
            </a:extLst>
          </p:cNvPr>
          <p:cNvCxnSpPr/>
          <p:nvPr/>
        </p:nvCxnSpPr>
        <p:spPr>
          <a:xfrm flipH="1">
            <a:off x="2500122" y="3429000"/>
            <a:ext cx="744573" cy="544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9A0FF26-8233-4B25-97F4-AF643BA04E7C}"/>
              </a:ext>
            </a:extLst>
          </p:cNvPr>
          <p:cNvSpPr txBox="1"/>
          <p:nvPr/>
        </p:nvSpPr>
        <p:spPr>
          <a:xfrm>
            <a:off x="3029914" y="3018689"/>
            <a:ext cx="1121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Wrong!</a:t>
            </a:r>
          </a:p>
        </p:txBody>
      </p:sp>
    </p:spTree>
    <p:extLst>
      <p:ext uri="{BB962C8B-B14F-4D97-AF65-F5344CB8AC3E}">
        <p14:creationId xmlns:p14="http://schemas.microsoft.com/office/powerpoint/2010/main" val="2648143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  <p:bldP spid="46" grpId="0" animBg="1"/>
      <p:bldP spid="45" grpId="0" animBg="1"/>
      <p:bldP spid="12" grpId="0" animBg="1"/>
      <p:bldP spid="40" grpId="0" animBg="1"/>
      <p:bldP spid="42" grpId="0" animBg="1"/>
      <p:bldP spid="43" grpId="0" animBg="1"/>
      <p:bldP spid="60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597AF5-0DAD-4E95-A670-39612EB06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all systems can be modeled as PWA!</a:t>
            </a:r>
          </a:p>
          <a:p>
            <a:r>
              <a:rPr lang="en-US" dirty="0"/>
              <a:t>Nonlinear systems: </a:t>
            </a:r>
          </a:p>
          <a:p>
            <a:pPr lvl="1"/>
            <a:r>
              <a:rPr lang="en-US" dirty="0"/>
              <a:t>Approach I: first PWA-</a:t>
            </a:r>
            <a:r>
              <a:rPr lang="en-US" dirty="0" err="1"/>
              <a:t>ize</a:t>
            </a:r>
            <a:r>
              <a:rPr lang="en-US" dirty="0"/>
              <a:t> the system, then do reachability. Drawback: Error encountered during PWA-</a:t>
            </a:r>
            <a:r>
              <a:rPr lang="en-US" dirty="0" err="1"/>
              <a:t>ization</a:t>
            </a:r>
            <a:r>
              <a:rPr lang="en-US" dirty="0"/>
              <a:t> accumulates</a:t>
            </a:r>
          </a:p>
          <a:p>
            <a:pPr lvl="1"/>
            <a:r>
              <a:rPr lang="en-US" dirty="0"/>
              <a:t>Approach 2: use more interesting models such as Taylor models (based on Taylor series representations): used in tool Flow*</a:t>
            </a:r>
          </a:p>
          <a:p>
            <a:pPr lvl="1"/>
            <a:r>
              <a:rPr lang="en-US" dirty="0"/>
              <a:t>Approach 3: solve the problem using a powerful nonlinear SMT solver: used in tool </a:t>
            </a:r>
            <a:r>
              <a:rPr lang="en-US" dirty="0" err="1"/>
              <a:t>dReach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D690AA-2A6E-4509-AD6C-2F82D5FF6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Reachability for nonlinear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D5C76-0DA7-48F3-BBE1-4B2F2327C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059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FE83359-BFAA-4BE3-A128-E2FF91A87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Also known as simulation-guided reachability analysis</a:t>
            </a:r>
          </a:p>
          <a:p>
            <a:r>
              <a:rPr lang="en-US" sz="2400" dirty="0"/>
              <a:t>Main idea:</a:t>
            </a:r>
          </a:p>
          <a:p>
            <a:pPr marL="925830" lvl="1" indent="-514350">
              <a:buFont typeface="+mj-lt"/>
              <a:buAutoNum type="arabicPeriod"/>
            </a:pPr>
            <a:r>
              <a:rPr lang="en-US" sz="2400" dirty="0"/>
              <a:t>Sample some initial states, perform simulations starting from these states</a:t>
            </a:r>
          </a:p>
          <a:p>
            <a:pPr marL="925830" lvl="1" indent="-514350">
              <a:buFont typeface="+mj-lt"/>
              <a:buAutoNum type="arabicPeriod"/>
            </a:pPr>
            <a:r>
              <a:rPr lang="en-US" sz="2400" dirty="0"/>
              <a:t>Use “continuity”-like arguments to bloat the trajectories in a sound manner</a:t>
            </a:r>
          </a:p>
          <a:p>
            <a:pPr marL="925830" lvl="1" indent="-514350">
              <a:buFont typeface="+mj-lt"/>
              <a:buAutoNum type="arabicPeriod"/>
            </a:pPr>
            <a:r>
              <a:rPr lang="en-US" sz="2400" dirty="0"/>
              <a:t>If bloated trajectories cover initial state space, go to step 4, if not go back to step 1</a:t>
            </a:r>
          </a:p>
          <a:p>
            <a:pPr marL="925830" lvl="1" indent="-514350">
              <a:buFont typeface="+mj-lt"/>
              <a:buAutoNum type="arabicPeriod"/>
            </a:pPr>
            <a:r>
              <a:rPr lang="en-US" sz="2400" dirty="0"/>
              <a:t>If bloated trajectories do not intersect unsafe set, conclude system is safe. If bloated trajectories intersect unsafe set, try to refine bloated trajectories to check if there is a true counterexample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78AD84-9A4C-4242-96C9-821AFED7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under and over-approximations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549D4-56AA-4ECE-89E4-124D2544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9498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62430A1-2EAA-47A1-866A-D087D624B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Simlulation</a:t>
            </a:r>
            <a:r>
              <a:rPr lang="en-US" dirty="0"/>
              <a:t>-guided reachability depiction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ECEAD-E431-4CF9-8188-1DA58E48B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96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FD66A2E-4F60-40A2-AA01-E7D2E5F9C55D}"/>
              </a:ext>
            </a:extLst>
          </p:cNvPr>
          <p:cNvSpPr/>
          <p:nvPr/>
        </p:nvSpPr>
        <p:spPr>
          <a:xfrm>
            <a:off x="6381455" y="3794318"/>
            <a:ext cx="1603148" cy="685821"/>
          </a:xfrm>
          <a:prstGeom prst="ellipse">
            <a:avLst/>
          </a:prstGeom>
          <a:solidFill>
            <a:srgbClr val="FFB8A7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Unsafe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7535E37-89B7-4B29-A321-0EF57CA656E9}"/>
              </a:ext>
            </a:extLst>
          </p:cNvPr>
          <p:cNvSpPr/>
          <p:nvPr/>
        </p:nvSpPr>
        <p:spPr>
          <a:xfrm>
            <a:off x="1340112" y="2367107"/>
            <a:ext cx="1591731" cy="1572195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scene3d>
            <a:camera prst="orthographicFront">
              <a:rot lat="0" lon="20399994" rev="0"/>
            </a:camera>
            <a:lightRig rig="threePt" dir="t"/>
          </a:scene3d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D47949-0493-4FD3-8FF6-707DAEDF0486}"/>
              </a:ext>
            </a:extLst>
          </p:cNvPr>
          <p:cNvSpPr/>
          <p:nvPr/>
        </p:nvSpPr>
        <p:spPr>
          <a:xfrm>
            <a:off x="1718871" y="3435296"/>
            <a:ext cx="533400" cy="4191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C3CA445-0D0F-4FBA-BBBA-AB43584F7DF1}"/>
              </a:ext>
            </a:extLst>
          </p:cNvPr>
          <p:cNvSpPr/>
          <p:nvPr/>
        </p:nvSpPr>
        <p:spPr>
          <a:xfrm>
            <a:off x="1455391" y="2918698"/>
            <a:ext cx="453980" cy="443455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1D9B6C7-2DE0-4A2E-BF2F-49EACF0790B8}"/>
              </a:ext>
            </a:extLst>
          </p:cNvPr>
          <p:cNvGrpSpPr/>
          <p:nvPr/>
        </p:nvGrpSpPr>
        <p:grpSpPr>
          <a:xfrm>
            <a:off x="2135730" y="2252207"/>
            <a:ext cx="4949962" cy="856332"/>
            <a:chOff x="1638300" y="2185703"/>
            <a:chExt cx="4949962" cy="856332"/>
          </a:xfrm>
        </p:grpSpPr>
        <p:sp>
          <p:nvSpPr>
            <p:cNvPr id="10" name="Flowchart: Direct Access Storage 9">
              <a:extLst>
                <a:ext uri="{FF2B5EF4-FFF2-40B4-BE49-F238E27FC236}">
                  <a16:creationId xmlns:a16="http://schemas.microsoft.com/office/drawing/2014/main" id="{B4979F37-521F-4394-9456-8208C7EA26FF}"/>
                </a:ext>
              </a:extLst>
            </p:cNvPr>
            <p:cNvSpPr/>
            <p:nvPr/>
          </p:nvSpPr>
          <p:spPr>
            <a:xfrm>
              <a:off x="1638300" y="2476500"/>
              <a:ext cx="1718982" cy="408503"/>
            </a:xfrm>
            <a:prstGeom prst="flowChartMagneticDrum">
              <a:avLst/>
            </a:prstGeom>
            <a:gradFill>
              <a:gsLst>
                <a:gs pos="51000">
                  <a:schemeClr val="accent5">
                    <a:tint val="50000"/>
                    <a:satMod val="300000"/>
                    <a:alpha val="9000"/>
                  </a:schemeClr>
                </a:gs>
                <a:gs pos="100000">
                  <a:schemeClr val="accent5">
                    <a:tint val="15000"/>
                    <a:satMod val="350000"/>
                  </a:schemeClr>
                </a:gs>
              </a:gsLst>
              <a:lin ang="16200000" scaled="1"/>
            </a:gradFill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Flowchart: Direct Access Storage 10">
              <a:extLst>
                <a:ext uri="{FF2B5EF4-FFF2-40B4-BE49-F238E27FC236}">
                  <a16:creationId xmlns:a16="http://schemas.microsoft.com/office/drawing/2014/main" id="{049A071C-61CE-47FE-81EC-90B9406BE309}"/>
                </a:ext>
              </a:extLst>
            </p:cNvPr>
            <p:cNvSpPr/>
            <p:nvPr/>
          </p:nvSpPr>
          <p:spPr>
            <a:xfrm rot="20351685">
              <a:off x="2772915" y="2214493"/>
              <a:ext cx="1676400" cy="475073"/>
            </a:xfrm>
            <a:prstGeom prst="flowChartMagneticDrum">
              <a:avLst/>
            </a:prstGeom>
            <a:gradFill>
              <a:gsLst>
                <a:gs pos="51000">
                  <a:schemeClr val="accent5">
                    <a:tint val="50000"/>
                    <a:satMod val="300000"/>
                    <a:alpha val="9000"/>
                  </a:schemeClr>
                </a:gs>
                <a:gs pos="100000">
                  <a:schemeClr val="accent5">
                    <a:tint val="15000"/>
                    <a:satMod val="350000"/>
                  </a:schemeClr>
                </a:gs>
              </a:gsLst>
              <a:lin ang="16200000" scaled="1"/>
            </a:gradFill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Flowchart: Direct Access Storage 11">
              <a:extLst>
                <a:ext uri="{FF2B5EF4-FFF2-40B4-BE49-F238E27FC236}">
                  <a16:creationId xmlns:a16="http://schemas.microsoft.com/office/drawing/2014/main" id="{8446B516-820F-4851-BCA4-FA8E8D950FCB}"/>
                </a:ext>
              </a:extLst>
            </p:cNvPr>
            <p:cNvSpPr/>
            <p:nvPr/>
          </p:nvSpPr>
          <p:spPr>
            <a:xfrm rot="1298004">
              <a:off x="3856881" y="2185703"/>
              <a:ext cx="1676400" cy="675960"/>
            </a:xfrm>
            <a:prstGeom prst="flowChartMagneticDrum">
              <a:avLst/>
            </a:prstGeom>
            <a:gradFill>
              <a:gsLst>
                <a:gs pos="51000">
                  <a:schemeClr val="accent5">
                    <a:tint val="50000"/>
                    <a:satMod val="300000"/>
                    <a:alpha val="9000"/>
                  </a:schemeClr>
                </a:gs>
                <a:gs pos="100000">
                  <a:schemeClr val="accent5">
                    <a:tint val="15000"/>
                    <a:satMod val="350000"/>
                  </a:schemeClr>
                </a:gs>
              </a:gsLst>
              <a:lin ang="16200000" scaled="1"/>
            </a:gradFill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Flowchart: Direct Access Storage 12">
              <a:extLst>
                <a:ext uri="{FF2B5EF4-FFF2-40B4-BE49-F238E27FC236}">
                  <a16:creationId xmlns:a16="http://schemas.microsoft.com/office/drawing/2014/main" id="{AFFEE1FE-DD98-49AE-8342-46FF937A75F9}"/>
                </a:ext>
              </a:extLst>
            </p:cNvPr>
            <p:cNvSpPr/>
            <p:nvPr/>
          </p:nvSpPr>
          <p:spPr>
            <a:xfrm rot="21254325">
              <a:off x="4911862" y="2259129"/>
              <a:ext cx="1676400" cy="782906"/>
            </a:xfrm>
            <a:prstGeom prst="flowChartMagneticDrum">
              <a:avLst/>
            </a:prstGeom>
            <a:gradFill>
              <a:gsLst>
                <a:gs pos="51000">
                  <a:schemeClr val="accent5">
                    <a:tint val="50000"/>
                    <a:satMod val="300000"/>
                    <a:alpha val="9000"/>
                  </a:schemeClr>
                </a:gs>
                <a:gs pos="100000">
                  <a:schemeClr val="accent5">
                    <a:tint val="15000"/>
                    <a:satMod val="350000"/>
                  </a:schemeClr>
                </a:gs>
              </a:gsLst>
              <a:lin ang="16200000" scaled="1"/>
            </a:gradFill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9E7346D-F600-48A9-98CF-D7F38D56D65B}"/>
              </a:ext>
            </a:extLst>
          </p:cNvPr>
          <p:cNvGrpSpPr/>
          <p:nvPr/>
        </p:nvGrpSpPr>
        <p:grpSpPr>
          <a:xfrm rot="1654039" flipV="1">
            <a:off x="1843651" y="2905250"/>
            <a:ext cx="4710368" cy="1869141"/>
            <a:chOff x="2336427" y="4038600"/>
            <a:chExt cx="4710368" cy="1869141"/>
          </a:xfrm>
        </p:grpSpPr>
        <p:sp>
          <p:nvSpPr>
            <p:cNvPr id="15" name="Freeform 40">
              <a:extLst>
                <a:ext uri="{FF2B5EF4-FFF2-40B4-BE49-F238E27FC236}">
                  <a16:creationId xmlns:a16="http://schemas.microsoft.com/office/drawing/2014/main" id="{ADE1B8E3-694C-4A33-8B03-46E2196B98F7}"/>
                </a:ext>
              </a:extLst>
            </p:cNvPr>
            <p:cNvSpPr/>
            <p:nvPr/>
          </p:nvSpPr>
          <p:spPr>
            <a:xfrm>
              <a:off x="2535891" y="4038600"/>
              <a:ext cx="4114800" cy="1869141"/>
            </a:xfrm>
            <a:custGeom>
              <a:avLst/>
              <a:gdLst>
                <a:gd name="connsiteX0" fmla="*/ 0 w 4114800"/>
                <a:gd name="connsiteY0" fmla="*/ 0 h 1869141"/>
                <a:gd name="connsiteX1" fmla="*/ 1102658 w 4114800"/>
                <a:gd name="connsiteY1" fmla="*/ 430305 h 1869141"/>
                <a:gd name="connsiteX2" fmla="*/ 1922929 w 4114800"/>
                <a:gd name="connsiteY2" fmla="*/ 1237129 h 1869141"/>
                <a:gd name="connsiteX3" fmla="*/ 3186953 w 4114800"/>
                <a:gd name="connsiteY3" fmla="*/ 1102658 h 1869141"/>
                <a:gd name="connsiteX4" fmla="*/ 4114800 w 4114800"/>
                <a:gd name="connsiteY4" fmla="*/ 1869141 h 1869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14800" h="1869141">
                  <a:moveTo>
                    <a:pt x="0" y="0"/>
                  </a:moveTo>
                  <a:cubicBezTo>
                    <a:pt x="391085" y="112058"/>
                    <a:pt x="782170" y="224117"/>
                    <a:pt x="1102658" y="430305"/>
                  </a:cubicBezTo>
                  <a:cubicBezTo>
                    <a:pt x="1423146" y="636493"/>
                    <a:pt x="1575547" y="1125070"/>
                    <a:pt x="1922929" y="1237129"/>
                  </a:cubicBezTo>
                  <a:cubicBezTo>
                    <a:pt x="2270312" y="1349188"/>
                    <a:pt x="2821641" y="997323"/>
                    <a:pt x="3186953" y="1102658"/>
                  </a:cubicBezTo>
                  <a:cubicBezTo>
                    <a:pt x="3552265" y="1207993"/>
                    <a:pt x="3833532" y="1538567"/>
                    <a:pt x="4114800" y="1869141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DCDF84C-B9CC-43B6-8B2C-12356242D583}"/>
                </a:ext>
              </a:extLst>
            </p:cNvPr>
            <p:cNvGrpSpPr/>
            <p:nvPr/>
          </p:nvGrpSpPr>
          <p:grpSpPr>
            <a:xfrm>
              <a:off x="2336427" y="4118980"/>
              <a:ext cx="4710368" cy="1767536"/>
              <a:chOff x="1237534" y="3627527"/>
              <a:chExt cx="4710368" cy="1767536"/>
            </a:xfrm>
          </p:grpSpPr>
          <p:sp>
            <p:nvSpPr>
              <p:cNvPr id="17" name="Flowchart: Direct Access Storage 16">
                <a:extLst>
                  <a:ext uri="{FF2B5EF4-FFF2-40B4-BE49-F238E27FC236}">
                    <a16:creationId xmlns:a16="http://schemas.microsoft.com/office/drawing/2014/main" id="{68F087CB-5F0A-45D9-B60A-7D435C8A21DE}"/>
                  </a:ext>
                </a:extLst>
              </p:cNvPr>
              <p:cNvSpPr/>
              <p:nvPr/>
            </p:nvSpPr>
            <p:spPr>
              <a:xfrm rot="12069459" flipH="1">
                <a:off x="1237534" y="3627527"/>
                <a:ext cx="1718982" cy="408503"/>
              </a:xfrm>
              <a:prstGeom prst="flowChartMagneticDrum">
                <a:avLst/>
              </a:prstGeom>
              <a:gradFill>
                <a:gsLst>
                  <a:gs pos="51000">
                    <a:schemeClr val="accent5">
                      <a:tint val="50000"/>
                      <a:satMod val="300000"/>
                      <a:alpha val="9000"/>
                    </a:schemeClr>
                  </a:gs>
                  <a:gs pos="100000">
                    <a:schemeClr val="accent5">
                      <a:tint val="15000"/>
                      <a:satMod val="350000"/>
                    </a:schemeClr>
                  </a:gs>
                </a:gsLst>
                <a:lin ang="16200000" scaled="1"/>
              </a:gradFill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Flowchart: Direct Access Storage 17">
                <a:extLst>
                  <a:ext uri="{FF2B5EF4-FFF2-40B4-BE49-F238E27FC236}">
                    <a16:creationId xmlns:a16="http://schemas.microsoft.com/office/drawing/2014/main" id="{6583783F-88C6-488C-98C8-EACBF32658B9}"/>
                  </a:ext>
                </a:extLst>
              </p:cNvPr>
              <p:cNvSpPr/>
              <p:nvPr/>
            </p:nvSpPr>
            <p:spPr>
              <a:xfrm rot="13317774" flipH="1">
                <a:off x="2185530" y="4166809"/>
                <a:ext cx="1676400" cy="475073"/>
              </a:xfrm>
              <a:prstGeom prst="flowChartMagneticDrum">
                <a:avLst/>
              </a:prstGeom>
              <a:gradFill>
                <a:gsLst>
                  <a:gs pos="51000">
                    <a:schemeClr val="accent5">
                      <a:tint val="50000"/>
                      <a:satMod val="300000"/>
                      <a:alpha val="9000"/>
                    </a:schemeClr>
                  </a:gs>
                  <a:gs pos="100000">
                    <a:schemeClr val="accent5">
                      <a:tint val="15000"/>
                      <a:satMod val="350000"/>
                    </a:schemeClr>
                  </a:gs>
                </a:gsLst>
                <a:lin ang="16200000" scaled="1"/>
              </a:gradFill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Flowchart: Direct Access Storage 18">
                <a:extLst>
                  <a:ext uri="{FF2B5EF4-FFF2-40B4-BE49-F238E27FC236}">
                    <a16:creationId xmlns:a16="http://schemas.microsoft.com/office/drawing/2014/main" id="{42227923-6FD7-4E99-AA7E-E0D25DFCDAB3}"/>
                  </a:ext>
                </a:extLst>
              </p:cNvPr>
              <p:cNvSpPr/>
              <p:nvPr/>
            </p:nvSpPr>
            <p:spPr>
              <a:xfrm rot="10771455" flipH="1">
                <a:off x="3222289" y="4390784"/>
                <a:ext cx="1676400" cy="675960"/>
              </a:xfrm>
              <a:prstGeom prst="flowChartMagneticDrum">
                <a:avLst/>
              </a:prstGeom>
              <a:gradFill>
                <a:gsLst>
                  <a:gs pos="51000">
                    <a:schemeClr val="accent5">
                      <a:tint val="50000"/>
                      <a:satMod val="300000"/>
                      <a:alpha val="9000"/>
                    </a:schemeClr>
                  </a:gs>
                  <a:gs pos="100000">
                    <a:schemeClr val="accent5">
                      <a:tint val="15000"/>
                      <a:satMod val="350000"/>
                    </a:schemeClr>
                  </a:gs>
                </a:gsLst>
                <a:lin ang="16200000" scaled="1"/>
              </a:gradFill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Flowchart: Direct Access Storage 19">
                <a:extLst>
                  <a:ext uri="{FF2B5EF4-FFF2-40B4-BE49-F238E27FC236}">
                    <a16:creationId xmlns:a16="http://schemas.microsoft.com/office/drawing/2014/main" id="{719FDA4F-F976-4F18-BB78-53C6B5C2B06A}"/>
                  </a:ext>
                </a:extLst>
              </p:cNvPr>
              <p:cNvSpPr/>
              <p:nvPr/>
            </p:nvSpPr>
            <p:spPr>
              <a:xfrm rot="12415134" flipH="1">
                <a:off x="4271502" y="4612157"/>
                <a:ext cx="1676400" cy="782906"/>
              </a:xfrm>
              <a:prstGeom prst="flowChartMagneticDrum">
                <a:avLst/>
              </a:prstGeom>
              <a:gradFill>
                <a:gsLst>
                  <a:gs pos="51000">
                    <a:schemeClr val="accent5">
                      <a:tint val="50000"/>
                      <a:satMod val="300000"/>
                      <a:alpha val="9000"/>
                    </a:schemeClr>
                  </a:gs>
                  <a:gs pos="100000">
                    <a:schemeClr val="accent5">
                      <a:tint val="15000"/>
                      <a:satMod val="350000"/>
                    </a:schemeClr>
                  </a:gs>
                </a:gsLst>
                <a:lin ang="16200000" scaled="1"/>
              </a:gradFill>
              <a:ln/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21" name="Oval 20">
            <a:extLst>
              <a:ext uri="{FF2B5EF4-FFF2-40B4-BE49-F238E27FC236}">
                <a16:creationId xmlns:a16="http://schemas.microsoft.com/office/drawing/2014/main" id="{82A9A491-C90A-41C0-8F70-5509526C806B}"/>
              </a:ext>
            </a:extLst>
          </p:cNvPr>
          <p:cNvSpPr/>
          <p:nvPr/>
        </p:nvSpPr>
        <p:spPr>
          <a:xfrm>
            <a:off x="1830930" y="3565739"/>
            <a:ext cx="156883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2554628-7940-4333-9732-C47B0C14E4D7}"/>
              </a:ext>
            </a:extLst>
          </p:cNvPr>
          <p:cNvSpPr/>
          <p:nvPr/>
        </p:nvSpPr>
        <p:spPr>
          <a:xfrm>
            <a:off x="2129006" y="2543004"/>
            <a:ext cx="533400" cy="4191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/>
          </a:p>
        </p:txBody>
      </p:sp>
      <p:sp>
        <p:nvSpPr>
          <p:cNvPr id="23" name="Freeform 41">
            <a:extLst>
              <a:ext uri="{FF2B5EF4-FFF2-40B4-BE49-F238E27FC236}">
                <a16:creationId xmlns:a16="http://schemas.microsoft.com/office/drawing/2014/main" id="{7B25A521-4ED1-4A28-8993-D7BA0121D891}"/>
              </a:ext>
            </a:extLst>
          </p:cNvPr>
          <p:cNvSpPr/>
          <p:nvPr/>
        </p:nvSpPr>
        <p:spPr>
          <a:xfrm>
            <a:off x="2395706" y="2250753"/>
            <a:ext cx="4437530" cy="667946"/>
          </a:xfrm>
          <a:custGeom>
            <a:avLst/>
            <a:gdLst>
              <a:gd name="connsiteX0" fmla="*/ 0 w 4437530"/>
              <a:gd name="connsiteY0" fmla="*/ 472304 h 667946"/>
              <a:gd name="connsiteX1" fmla="*/ 1143000 w 4437530"/>
              <a:gd name="connsiteY1" fmla="*/ 472304 h 667946"/>
              <a:gd name="connsiteX2" fmla="*/ 2232212 w 4437530"/>
              <a:gd name="connsiteY2" fmla="*/ 1657 h 667946"/>
              <a:gd name="connsiteX3" fmla="*/ 3186953 w 4437530"/>
              <a:gd name="connsiteY3" fmla="*/ 660562 h 667946"/>
              <a:gd name="connsiteX4" fmla="*/ 4437530 w 4437530"/>
              <a:gd name="connsiteY4" fmla="*/ 297492 h 667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37530" h="667946">
                <a:moveTo>
                  <a:pt x="0" y="472304"/>
                </a:moveTo>
                <a:cubicBezTo>
                  <a:pt x="385482" y="511524"/>
                  <a:pt x="770965" y="550745"/>
                  <a:pt x="1143000" y="472304"/>
                </a:cubicBezTo>
                <a:cubicBezTo>
                  <a:pt x="1515035" y="393863"/>
                  <a:pt x="1891553" y="-29719"/>
                  <a:pt x="2232212" y="1657"/>
                </a:cubicBezTo>
                <a:cubicBezTo>
                  <a:pt x="2572871" y="33033"/>
                  <a:pt x="2819400" y="611256"/>
                  <a:pt x="3186953" y="660562"/>
                </a:cubicBezTo>
                <a:cubicBezTo>
                  <a:pt x="3554506" y="709868"/>
                  <a:pt x="3996018" y="503680"/>
                  <a:pt x="4437530" y="297492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0B10976-1B43-4BCE-A4EF-4390C1444134}"/>
              </a:ext>
            </a:extLst>
          </p:cNvPr>
          <p:cNvSpPr/>
          <p:nvPr/>
        </p:nvSpPr>
        <p:spPr>
          <a:xfrm>
            <a:off x="2288130" y="2651339"/>
            <a:ext cx="156883" cy="1524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64A33-8844-4EF0-9BFB-21D5FF5E0906}"/>
              </a:ext>
            </a:extLst>
          </p:cNvPr>
          <p:cNvSpPr txBox="1"/>
          <p:nvPr/>
        </p:nvSpPr>
        <p:spPr>
          <a:xfrm>
            <a:off x="1568714" y="1649394"/>
            <a:ext cx="7713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Initial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622221-D668-4C90-8BC6-0FF9A1D5786F}"/>
              </a:ext>
            </a:extLst>
          </p:cNvPr>
          <p:cNvSpPr txBox="1"/>
          <p:nvPr/>
        </p:nvSpPr>
        <p:spPr>
          <a:xfrm>
            <a:off x="6368007" y="1649394"/>
            <a:ext cx="32331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Simulation Trace up to time 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B502FA-66D0-4B0F-A06E-2D6E98A7E9E5}"/>
              </a:ext>
            </a:extLst>
          </p:cNvPr>
          <p:cNvSpPr txBox="1"/>
          <p:nvPr/>
        </p:nvSpPr>
        <p:spPr>
          <a:xfrm>
            <a:off x="7414459" y="2988290"/>
            <a:ext cx="15792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Reach-Tube up to time T</a:t>
            </a:r>
          </a:p>
        </p:txBody>
      </p:sp>
      <p:sp>
        <p:nvSpPr>
          <p:cNvPr id="28" name="Freeform 53">
            <a:extLst>
              <a:ext uri="{FF2B5EF4-FFF2-40B4-BE49-F238E27FC236}">
                <a16:creationId xmlns:a16="http://schemas.microsoft.com/office/drawing/2014/main" id="{52909F4D-377F-4940-BDC1-9BC7E7192670}"/>
              </a:ext>
            </a:extLst>
          </p:cNvPr>
          <p:cNvSpPr/>
          <p:nvPr/>
        </p:nvSpPr>
        <p:spPr>
          <a:xfrm>
            <a:off x="1344313" y="1966997"/>
            <a:ext cx="311805" cy="546685"/>
          </a:xfrm>
          <a:custGeom>
            <a:avLst/>
            <a:gdLst>
              <a:gd name="connsiteX0" fmla="*/ 190782 w 311805"/>
              <a:gd name="connsiteY0" fmla="*/ 0 h 234378"/>
              <a:gd name="connsiteX1" fmla="*/ 2523 w 311805"/>
              <a:gd name="connsiteY1" fmla="*/ 67235 h 234378"/>
              <a:gd name="connsiteX2" fmla="*/ 311805 w 311805"/>
              <a:gd name="connsiteY2" fmla="*/ 228600 h 234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1805" h="234378">
                <a:moveTo>
                  <a:pt x="190782" y="0"/>
                </a:moveTo>
                <a:cubicBezTo>
                  <a:pt x="86567" y="14567"/>
                  <a:pt x="-17648" y="29135"/>
                  <a:pt x="2523" y="67235"/>
                </a:cubicBezTo>
                <a:cubicBezTo>
                  <a:pt x="22693" y="105335"/>
                  <a:pt x="271464" y="266700"/>
                  <a:pt x="311805" y="228600"/>
                </a:cubicBezTo>
              </a:path>
            </a:pathLst>
          </a:custGeom>
          <a:ln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AA9DE26-D88B-49A6-93C2-371EF5E23A18}"/>
              </a:ext>
            </a:extLst>
          </p:cNvPr>
          <p:cNvCxnSpPr>
            <a:stCxn id="26" idx="1"/>
          </p:cNvCxnSpPr>
          <p:nvPr/>
        </p:nvCxnSpPr>
        <p:spPr>
          <a:xfrm>
            <a:off x="6368007" y="1849449"/>
            <a:ext cx="0" cy="8780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5AF196B-5880-4FE4-8A7C-30522D711B6F}"/>
              </a:ext>
            </a:extLst>
          </p:cNvPr>
          <p:cNvCxnSpPr>
            <a:stCxn id="26" idx="1"/>
          </p:cNvCxnSpPr>
          <p:nvPr/>
        </p:nvCxnSpPr>
        <p:spPr>
          <a:xfrm flipH="1">
            <a:off x="5785120" y="1849449"/>
            <a:ext cx="582887" cy="227768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B2B43FD-A724-4825-AAA2-0407674BEF82}"/>
              </a:ext>
            </a:extLst>
          </p:cNvPr>
          <p:cNvCxnSpPr/>
          <p:nvPr/>
        </p:nvCxnSpPr>
        <p:spPr>
          <a:xfrm flipH="1" flipV="1">
            <a:off x="6479130" y="3130496"/>
            <a:ext cx="935329" cy="8288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5873C4-8436-45E9-BFB0-CCEA7D64AA8E}"/>
              </a:ext>
            </a:extLst>
          </p:cNvPr>
          <p:cNvCxnSpPr/>
          <p:nvPr/>
        </p:nvCxnSpPr>
        <p:spPr>
          <a:xfrm flipH="1">
            <a:off x="6627697" y="3435296"/>
            <a:ext cx="786763" cy="3590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110520E1-181F-41AA-B6D2-670058A2FAC4}"/>
              </a:ext>
            </a:extLst>
          </p:cNvPr>
          <p:cNvSpPr/>
          <p:nvPr/>
        </p:nvSpPr>
        <p:spPr>
          <a:xfrm>
            <a:off x="2064013" y="2991308"/>
            <a:ext cx="453980" cy="443455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5290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8688F40-4CD4-410B-B37F-BC078CC254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Main idea: Solutions of ODEs are “sensitive” to their initial conditions</a:t>
                </a:r>
              </a:p>
              <a:p>
                <a:r>
                  <a:rPr lang="en-US" dirty="0"/>
                  <a:t>Such sensitivity gives an estimate on how far two trajectories can go if they start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apart</a:t>
                </a:r>
              </a:p>
              <a:p>
                <a:r>
                  <a:rPr lang="en-US" dirty="0"/>
                  <a:t>A key notion is a discrepancy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that bounds how far trajectories can grow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‖"/>
                          <m:endChr m:val="‖"/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Obtaining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that shows trajectories remain bounded within some reasonable factor of the distance between their initial conditions is very useful</a:t>
                </a:r>
              </a:p>
              <a:p>
                <a:pPr lvl="1"/>
                <a:r>
                  <a:rPr lang="en-US" dirty="0"/>
                  <a:t>We only simulate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and we know how all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will behave!</a:t>
                </a:r>
              </a:p>
              <a:p>
                <a:pPr>
                  <a:tabLst>
                    <a:tab pos="6740525" algn="l"/>
                  </a:tabLst>
                </a:pPr>
                <a:r>
                  <a:rPr lang="en-US" dirty="0"/>
                  <a:t>Technique implemented in tool C2E2, </a:t>
                </a:r>
                <a:r>
                  <a:rPr lang="en-US" dirty="0" err="1"/>
                  <a:t>DryVR</a:t>
                </a: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8688F40-4CD4-410B-B37F-BC078CC254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797" r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D3FBCC2-E687-4E6E-B9E6-A9FF33BA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 sauce: how to bloat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4C9E8C-473A-4FF8-9B35-E02C5EC0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97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880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01BA47-D4B1-4895-8EFC-757EAD900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2754" y="2936631"/>
            <a:ext cx="4466492" cy="58908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Probabilistic Verification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E12D20-EA79-4063-A6C9-38F64F62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AC764-1BB2-4DBE-B8C8-B549B5400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181183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983FCE-9381-432C-9DE5-FFD3FBBF3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810265"/>
            <a:ext cx="11699087" cy="3873776"/>
          </a:xfrm>
        </p:spPr>
        <p:txBody>
          <a:bodyPr/>
          <a:lstStyle/>
          <a:p>
            <a:r>
              <a:rPr lang="en-US" dirty="0"/>
              <a:t>Models for components that we studied so far were either deterministic or nondeterministic.</a:t>
            </a:r>
          </a:p>
          <a:p>
            <a:r>
              <a:rPr lang="en-US" dirty="0"/>
              <a:t>The goal of such models is to represent computation or time-evolution of a physical phenomenon.</a:t>
            </a:r>
          </a:p>
          <a:p>
            <a:r>
              <a:rPr lang="en-US" dirty="0"/>
              <a:t>These models </a:t>
            </a:r>
            <a:r>
              <a:rPr lang="en-US" i="1" dirty="0"/>
              <a:t>do not </a:t>
            </a:r>
            <a:r>
              <a:rPr lang="en-US" dirty="0"/>
              <a:t>do a great job of capturing uncertainty.</a:t>
            </a:r>
          </a:p>
          <a:p>
            <a:r>
              <a:rPr lang="en-US" dirty="0"/>
              <a:t>We can usually model uncertainty using probabilities, so probabilistic models allow us to account for likelihood of environment behaviors</a:t>
            </a:r>
          </a:p>
          <a:p>
            <a:r>
              <a:rPr lang="en-US" dirty="0"/>
              <a:t>Machine learning/AI algorithms also require probabilistic modelling!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945410-3B95-4C9F-9E1C-3D5F1746E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A2776-0511-4188-9784-2686BE2B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99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8378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902A4C3-A641-446A-9C6D-91979502DA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711411"/>
                <a:ext cx="11699087" cy="3972630"/>
              </a:xfrm>
            </p:spPr>
            <p:txBody>
              <a:bodyPr/>
              <a:lstStyle/>
              <a:p>
                <a:r>
                  <a:rPr lang="en-US" dirty="0"/>
                  <a:t>Collection of finite or infinite random variables, indexed by time</a:t>
                </a:r>
              </a:p>
              <a:p>
                <a:r>
                  <a:rPr lang="en-US" dirty="0"/>
                  <a:t>Discrete</a:t>
                </a:r>
                <a:r>
                  <a:rPr lang="en-US" b="0" i="0" dirty="0">
                    <a:latin typeface="+mj-lt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∪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m:rPr>
                        <m:lit/>
                      </m:rP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b="0" i="0" dirty="0">
                  <a:latin typeface="+mj-lt"/>
                </a:endParaRPr>
              </a:p>
              <a:p>
                <a:r>
                  <a:rPr lang="en-US" dirty="0"/>
                  <a:t>Continuous: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r>
                  <a:rPr lang="en-US" dirty="0"/>
                  <a:t>Joint distribution of a (discrete-time) stochastic process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Many kinds of stochastic processes: Markov process, Martingales, Levy Process, </a:t>
                </a:r>
                <a:r>
                  <a:rPr lang="en-US" dirty="0" err="1"/>
                  <a:t>AutoRegressive</a:t>
                </a:r>
                <a:r>
                  <a:rPr lang="en-US" dirty="0"/>
                  <a:t> process, Moving Average process, ….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902A4C3-A641-446A-9C6D-91979502DA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711411"/>
                <a:ext cx="11699087" cy="3972630"/>
              </a:xfrm>
              <a:blipFill>
                <a:blip r:embed="rId2"/>
                <a:stretch>
                  <a:fillRect l="-417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31CDDF2-5F7E-4EB1-8B0F-15F483F1B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Process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6282A-36B8-45CE-9B0B-9D7739E96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54520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269C43D-400F-49C1-9E74-5279B4F5DF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2224215"/>
                <a:ext cx="11699087" cy="345982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Markov process: special case of a stochastic process</a:t>
                </a:r>
              </a:p>
              <a:p>
                <a:r>
                  <a:rPr lang="en-US" dirty="0"/>
                  <a:t>Markov property:</a:t>
                </a: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</m:oMath>
                  </m:oMathPara>
                </a14:m>
                <a:endParaRPr lang="en-US" b="0" dirty="0"/>
              </a:p>
              <a:p>
                <a:pPr marL="411480" lvl="1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1148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 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411480" lvl="1" indent="0">
                  <a:buNone/>
                </a:pPr>
                <a:endParaRPr lang="en-US" dirty="0"/>
              </a:p>
              <a:p>
                <a:r>
                  <a:rPr lang="en-US" dirty="0"/>
                  <a:t>Distribution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only depends on the current state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269C43D-400F-49C1-9E74-5279B4F5DF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2224215"/>
                <a:ext cx="11699087" cy="3459825"/>
              </a:xfrm>
              <a:blipFill>
                <a:blip r:embed="rId2"/>
                <a:stretch>
                  <a:fillRect l="-417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52D10BB-B8AD-4270-BA4E-4648BE8FB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E52A0-6254-4C62-9902-B07566D31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48986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F7FA895-FCF9-41B9-BA0D-AEE9E026B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88256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DTMC is a </a:t>
                </a:r>
                <a:r>
                  <a:rPr lang="en-US" i="1" dirty="0"/>
                  <a:t>time-homogeneous </a:t>
                </a:r>
                <a:r>
                  <a:rPr lang="en-US" dirty="0"/>
                  <a:t>Markov process</a:t>
                </a:r>
              </a:p>
              <a:p>
                <a:pPr lvl="1"/>
                <a:r>
                  <a:rPr lang="en-US" dirty="0"/>
                  <a:t>Each step in the process takes the same time</a:t>
                </a:r>
              </a:p>
              <a:p>
                <a:pPr lvl="1"/>
                <a:r>
                  <a:rPr lang="en-US" dirty="0"/>
                  <a:t>Time-steps are discrete</a:t>
                </a:r>
              </a:p>
              <a:p>
                <a:pPr lvl="1"/>
                <a:r>
                  <a:rPr lang="en-US" dirty="0"/>
                  <a:t>State-space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discrete (values taken by the time-indexed random variables)</a:t>
                </a:r>
              </a:p>
              <a:p>
                <a:endParaRPr lang="en-US" dirty="0"/>
              </a:p>
              <a:p>
                <a:r>
                  <a:rPr lang="en-US" dirty="0"/>
                  <a:t>Transition probability to go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F7FA895-FCF9-41B9-BA0D-AEE9E026B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882565" cy="4351338"/>
              </a:xfrm>
              <a:blipFill>
                <a:blip r:embed="rId2"/>
                <a:stretch>
                  <a:fillRect l="-615" t="-23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C27F35F-F2D0-484E-844F-9CD6E779B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Discrete-time Markov chain (DTMC)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29FE8-766B-4D88-A9C2-F7883FE9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41410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D504B68-D9D4-4B85-8A3A-68F1943098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r>
                  <a:rPr lang="en-US" dirty="0"/>
                  <a:t>Discrete-Time Markov chain (DTMC), described as a tuple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𝐴𝑃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finite set of states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dirty="0"/>
                  <a:t> is a transition probability function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dirty="0"/>
                  <a:t> is the initial distribution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 is a set of Boolean propositions,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𝐴𝑃</m:t>
                        </m:r>
                      </m:sup>
                    </m:sSup>
                  </m:oMath>
                </a14:m>
                <a:r>
                  <a:rPr lang="en-US" dirty="0"/>
                  <a:t> is a function that assigns some subset of Boolean propositions to each state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D504B68-D9D4-4B85-8A3A-68F1943098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819B8AB-039E-44A7-A15A-52417723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definition: DTMC as a transition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C9736-0420-4177-B183-6CFB13DB8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368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E22FB8-D76F-4E67-8A3A-DA723934F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 example: Driver modeling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E4B41-ED80-456E-A978-A158B9A7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104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4176F8-B194-4EA3-B1FB-8F2ACD9E0BF5}"/>
              </a:ext>
            </a:extLst>
          </p:cNvPr>
          <p:cNvSpPr/>
          <p:nvPr/>
        </p:nvSpPr>
        <p:spPr>
          <a:xfrm>
            <a:off x="1423851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Accelerate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B02712B-A395-4535-9963-45CED17835B9}"/>
              </a:ext>
            </a:extLst>
          </p:cNvPr>
          <p:cNvSpPr/>
          <p:nvPr/>
        </p:nvSpPr>
        <p:spPr>
          <a:xfrm>
            <a:off x="4841966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Constant Speed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84811A5-5DED-4CDC-8D36-DDB3577DC83B}"/>
              </a:ext>
            </a:extLst>
          </p:cNvPr>
          <p:cNvSpPr/>
          <p:nvPr/>
        </p:nvSpPr>
        <p:spPr>
          <a:xfrm>
            <a:off x="1423850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Idling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32AC3A-62AB-4890-AA2F-70CC4C44D3FB}"/>
              </a:ext>
            </a:extLst>
          </p:cNvPr>
          <p:cNvSpPr/>
          <p:nvPr/>
        </p:nvSpPr>
        <p:spPr>
          <a:xfrm>
            <a:off x="4841966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Brake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FD6A2AD-AEC2-441B-8B1A-C110FF648ACF}"/>
              </a:ext>
            </a:extLst>
          </p:cNvPr>
          <p:cNvCxnSpPr>
            <a:stCxn id="7" idx="6"/>
            <a:endCxn id="10" idx="2"/>
          </p:cNvCxnSpPr>
          <p:nvPr/>
        </p:nvCxnSpPr>
        <p:spPr>
          <a:xfrm>
            <a:off x="3396342" y="2786739"/>
            <a:ext cx="1445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6995C10-A039-446A-806D-F9F65FE09276}"/>
              </a:ext>
            </a:extLst>
          </p:cNvPr>
          <p:cNvCxnSpPr>
            <a:cxnSpLocks/>
            <a:stCxn id="7" idx="6"/>
            <a:endCxn id="12" idx="1"/>
          </p:cNvCxnSpPr>
          <p:nvPr/>
        </p:nvCxnSpPr>
        <p:spPr>
          <a:xfrm>
            <a:off x="3396342" y="2786739"/>
            <a:ext cx="1734489" cy="1302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07C0D3D-CA6A-4DFB-AA95-16660BE6B996}"/>
              </a:ext>
            </a:extLst>
          </p:cNvPr>
          <p:cNvCxnSpPr>
            <a:cxnSpLocks/>
            <a:stCxn id="10" idx="4"/>
            <a:endCxn id="12" idx="0"/>
          </p:cNvCxnSpPr>
          <p:nvPr/>
        </p:nvCxnSpPr>
        <p:spPr>
          <a:xfrm>
            <a:off x="5828212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FED9FE-D133-412A-BF7C-EF2ECD5266D1}"/>
              </a:ext>
            </a:extLst>
          </p:cNvPr>
          <p:cNvCxnSpPr>
            <a:cxnSpLocks/>
          </p:cNvCxnSpPr>
          <p:nvPr/>
        </p:nvCxnSpPr>
        <p:spPr>
          <a:xfrm flipV="1">
            <a:off x="6096000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E68E30C-C006-4507-8B19-85E923A1FC66}"/>
              </a:ext>
            </a:extLst>
          </p:cNvPr>
          <p:cNvCxnSpPr>
            <a:cxnSpLocks/>
            <a:stCxn id="12" idx="2"/>
            <a:endCxn id="11" idx="6"/>
          </p:cNvCxnSpPr>
          <p:nvPr/>
        </p:nvCxnSpPr>
        <p:spPr>
          <a:xfrm flipH="1">
            <a:off x="3396341" y="4364276"/>
            <a:ext cx="144562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C119A78-34CF-4240-9A82-A0B1F9035D4B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410096" y="3176153"/>
            <a:ext cx="1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2BE4C61-7F82-479B-AA5E-348A35FEFDFC}"/>
              </a:ext>
            </a:extLst>
          </p:cNvPr>
          <p:cNvSpPr/>
          <p:nvPr/>
        </p:nvSpPr>
        <p:spPr>
          <a:xfrm>
            <a:off x="6643007" y="2227824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E3A2C2E-3ED4-4092-BCB5-155091BABFFA}"/>
              </a:ext>
            </a:extLst>
          </p:cNvPr>
          <p:cNvSpPr/>
          <p:nvPr/>
        </p:nvSpPr>
        <p:spPr>
          <a:xfrm rot="5619972">
            <a:off x="6602190" y="4385003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6DE3873-D304-4226-81A5-57C0345257AF}"/>
              </a:ext>
            </a:extLst>
          </p:cNvPr>
          <p:cNvSpPr/>
          <p:nvPr/>
        </p:nvSpPr>
        <p:spPr>
          <a:xfrm rot="7308126">
            <a:off x="2131419" y="4682439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7A2624C-28EC-4A6B-A7A9-4ED8FD446E2F}"/>
              </a:ext>
            </a:extLst>
          </p:cNvPr>
          <p:cNvSpPr/>
          <p:nvPr/>
        </p:nvSpPr>
        <p:spPr>
          <a:xfrm rot="18334946">
            <a:off x="2123951" y="1883845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64BE69D-73E8-42B7-AA8D-B919B4A79D10}"/>
              </a:ext>
            </a:extLst>
          </p:cNvPr>
          <p:cNvCxnSpPr>
            <a:cxnSpLocks/>
          </p:cNvCxnSpPr>
          <p:nvPr/>
        </p:nvCxnSpPr>
        <p:spPr>
          <a:xfrm flipH="1" flipV="1">
            <a:off x="3243264" y="2971800"/>
            <a:ext cx="1651703" cy="125968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9F411EE-737B-4656-861A-46C59D88DF17}"/>
              </a:ext>
            </a:extLst>
          </p:cNvPr>
          <p:cNvSpPr txBox="1"/>
          <p:nvPr/>
        </p:nvSpPr>
        <p:spPr>
          <a:xfrm>
            <a:off x="3974805" y="270539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5A81FB-4A85-4477-BF7E-5436F9E0D9C7}"/>
              </a:ext>
            </a:extLst>
          </p:cNvPr>
          <p:cNvSpPr txBox="1"/>
          <p:nvPr/>
        </p:nvSpPr>
        <p:spPr>
          <a:xfrm>
            <a:off x="4270729" y="308765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EC0AF3-F433-435B-BAF2-34817364DA56}"/>
              </a:ext>
            </a:extLst>
          </p:cNvPr>
          <p:cNvSpPr txBox="1"/>
          <p:nvPr/>
        </p:nvSpPr>
        <p:spPr>
          <a:xfrm>
            <a:off x="2123798" y="1598616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0A1EFF7-C058-4E7E-AD74-510E942D5968}"/>
              </a:ext>
            </a:extLst>
          </p:cNvPr>
          <p:cNvSpPr txBox="1"/>
          <p:nvPr/>
        </p:nvSpPr>
        <p:spPr>
          <a:xfrm>
            <a:off x="2116331" y="512350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D01005C-1ABD-4C4F-B2D9-D8C30C803745}"/>
              </a:ext>
            </a:extLst>
          </p:cNvPr>
          <p:cNvSpPr txBox="1"/>
          <p:nvPr/>
        </p:nvSpPr>
        <p:spPr>
          <a:xfrm>
            <a:off x="2431173" y="3318490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6A6F671-1A84-46AC-A748-40E62E26779A}"/>
              </a:ext>
            </a:extLst>
          </p:cNvPr>
          <p:cNvSpPr txBox="1"/>
          <p:nvPr/>
        </p:nvSpPr>
        <p:spPr>
          <a:xfrm>
            <a:off x="6935426" y="4689595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F70989-CE3F-42EA-8DB9-F2A4BA3C8796}"/>
              </a:ext>
            </a:extLst>
          </p:cNvPr>
          <p:cNvSpPr txBox="1"/>
          <p:nvPr/>
        </p:nvSpPr>
        <p:spPr>
          <a:xfrm>
            <a:off x="6086373" y="3387461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4DC0F3-AA23-4B41-8CDB-15ACFBFDBFA0}"/>
              </a:ext>
            </a:extLst>
          </p:cNvPr>
          <p:cNvSpPr txBox="1"/>
          <p:nvPr/>
        </p:nvSpPr>
        <p:spPr>
          <a:xfrm>
            <a:off x="3793474" y="434429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C274D2-98BB-4577-8703-B9DBFABFD9AC}"/>
              </a:ext>
            </a:extLst>
          </p:cNvPr>
          <p:cNvSpPr txBox="1"/>
          <p:nvPr/>
        </p:nvSpPr>
        <p:spPr>
          <a:xfrm>
            <a:off x="3437408" y="346770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E3E8F3-3ABA-403D-84B5-73E44C8C1A0F}"/>
              </a:ext>
            </a:extLst>
          </p:cNvPr>
          <p:cNvSpPr txBox="1"/>
          <p:nvPr/>
        </p:nvSpPr>
        <p:spPr>
          <a:xfrm>
            <a:off x="5265247" y="3220442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371590-12DC-418F-B273-08F5309B3537}"/>
              </a:ext>
            </a:extLst>
          </p:cNvPr>
          <p:cNvSpPr txBox="1"/>
          <p:nvPr/>
        </p:nvSpPr>
        <p:spPr>
          <a:xfrm>
            <a:off x="7090917" y="218613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CE82EC7-6B60-4AAC-8EF0-1EE416396E87}"/>
                  </a:ext>
                </a:extLst>
              </p:cNvPr>
              <p:cNvSpPr txBox="1"/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CE82EC7-6B60-4AAC-8EF0-1EE416396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D09C59-62E1-4F78-AB79-C1E6924F6C5D}"/>
                  </a:ext>
                </a:extLst>
              </p:cNvPr>
              <p:cNvSpPr txBox="1"/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D09C59-62E1-4F78-AB79-C1E6924F6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128B890-CB59-4E28-9771-363FCEA1700A}"/>
                  </a:ext>
                </a:extLst>
              </p:cNvPr>
              <p:cNvSpPr txBox="1"/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128B890-CB59-4E28-9771-363FCEA17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95CCE9D-C662-4421-8C14-9FF8CC06C364}"/>
                  </a:ext>
                </a:extLst>
              </p:cNvPr>
              <p:cNvSpPr txBox="1"/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95CCE9D-C662-4421-8C14-9FF8CC06C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28B986-5B54-4624-B28A-C2398A21E7FA}"/>
                  </a:ext>
                </a:extLst>
              </p:cNvPr>
              <p:cNvSpPr txBox="1"/>
              <p:nvPr/>
            </p:nvSpPr>
            <p:spPr>
              <a:xfrm>
                <a:off x="7815263" y="2910407"/>
                <a:ext cx="339035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800" dirty="0"/>
                  <a:t>: Checking cellphone</a:t>
                </a:r>
              </a:p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Feeling sleepy </a:t>
                </a: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28B986-5B54-4624-B28A-C2398A21E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263" y="2910407"/>
                <a:ext cx="3390352" cy="954107"/>
              </a:xfrm>
              <a:prstGeom prst="rect">
                <a:avLst/>
              </a:prstGeom>
              <a:blipFill>
                <a:blip r:embed="rId6"/>
                <a:stretch>
                  <a:fillRect t="-5732" r="-2338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31C825A-CD49-428D-BF41-449F5210B52F}"/>
              </a:ext>
            </a:extLst>
          </p:cNvPr>
          <p:cNvCxnSpPr/>
          <p:nvPr/>
        </p:nvCxnSpPr>
        <p:spPr>
          <a:xfrm>
            <a:off x="1509576" y="1829448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B352038-FDE7-4D22-B7D6-499563663CC8}"/>
              </a:ext>
            </a:extLst>
          </p:cNvPr>
          <p:cNvCxnSpPr/>
          <p:nvPr/>
        </p:nvCxnSpPr>
        <p:spPr>
          <a:xfrm>
            <a:off x="1275526" y="3541231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2A0D3B9-B2EA-4C71-8EA6-CA27437B4DA2}"/>
              </a:ext>
            </a:extLst>
          </p:cNvPr>
          <p:cNvCxnSpPr>
            <a:cxnSpLocks/>
          </p:cNvCxnSpPr>
          <p:nvPr/>
        </p:nvCxnSpPr>
        <p:spPr>
          <a:xfrm flipV="1">
            <a:off x="5041000" y="4753691"/>
            <a:ext cx="424616" cy="445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BFED78F-3ABB-473C-804D-4952E4F75C3F}"/>
              </a:ext>
            </a:extLst>
          </p:cNvPr>
          <p:cNvCxnSpPr/>
          <p:nvPr/>
        </p:nvCxnSpPr>
        <p:spPr>
          <a:xfrm>
            <a:off x="4974903" y="1838527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A31EFD9-8310-4C76-95C5-A87700804E41}"/>
              </a:ext>
            </a:extLst>
          </p:cNvPr>
          <p:cNvSpPr txBox="1"/>
          <p:nvPr/>
        </p:nvSpPr>
        <p:spPr>
          <a:xfrm>
            <a:off x="1296635" y="1412000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D1515C-D454-4FD0-B1C1-37B5FD4FD162}"/>
              </a:ext>
            </a:extLst>
          </p:cNvPr>
          <p:cNvSpPr txBox="1"/>
          <p:nvPr/>
        </p:nvSpPr>
        <p:spPr>
          <a:xfrm>
            <a:off x="992799" y="30940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BDC5E81-6312-45DE-BD1C-258BA13B8989}"/>
              </a:ext>
            </a:extLst>
          </p:cNvPr>
          <p:cNvSpPr txBox="1"/>
          <p:nvPr/>
        </p:nvSpPr>
        <p:spPr>
          <a:xfrm>
            <a:off x="4804824" y="136222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DCE3C8F-749D-4C50-B16A-15BE98755266}"/>
              </a:ext>
            </a:extLst>
          </p:cNvPr>
          <p:cNvSpPr txBox="1"/>
          <p:nvPr/>
        </p:nvSpPr>
        <p:spPr>
          <a:xfrm>
            <a:off x="4716748" y="503019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2727650-1640-4E63-B15E-7EDEB7ED0BFC}"/>
              </a:ext>
            </a:extLst>
          </p:cNvPr>
          <p:cNvCxnSpPr>
            <a:cxnSpLocks/>
          </p:cNvCxnSpPr>
          <p:nvPr/>
        </p:nvCxnSpPr>
        <p:spPr>
          <a:xfrm flipH="1">
            <a:off x="3161763" y="2520334"/>
            <a:ext cx="1831410" cy="2647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0E344B8F-0659-4F11-BE72-4DB02C765708}"/>
              </a:ext>
            </a:extLst>
          </p:cNvPr>
          <p:cNvSpPr txBox="1"/>
          <p:nvPr/>
        </p:nvSpPr>
        <p:spPr>
          <a:xfrm>
            <a:off x="3844847" y="2144729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0.1</a:t>
            </a:r>
          </a:p>
        </p:txBody>
      </p:sp>
    </p:spTree>
    <p:extLst>
      <p:ext uri="{BB962C8B-B14F-4D97-AF65-F5344CB8AC3E}">
        <p14:creationId xmlns:p14="http://schemas.microsoft.com/office/powerpoint/2010/main" val="239728981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742C8E7-59BF-4DD5-8FA9-2A946246E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Markov chain: Transition probability matrix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F630C-5EEB-4988-A958-1C57493C0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105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E9FD51F-3D56-4E2E-8490-0BEBB4E5BE57}"/>
              </a:ext>
            </a:extLst>
          </p:cNvPr>
          <p:cNvSpPr/>
          <p:nvPr/>
        </p:nvSpPr>
        <p:spPr>
          <a:xfrm>
            <a:off x="1423851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Accelerate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DD92079-2283-4462-974B-A8B737A3D0E1}"/>
              </a:ext>
            </a:extLst>
          </p:cNvPr>
          <p:cNvSpPr/>
          <p:nvPr/>
        </p:nvSpPr>
        <p:spPr>
          <a:xfrm>
            <a:off x="4841966" y="2397325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Constant Speed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3832DE-6815-45A6-90BB-A7C93EDED134}"/>
              </a:ext>
            </a:extLst>
          </p:cNvPr>
          <p:cNvSpPr/>
          <p:nvPr/>
        </p:nvSpPr>
        <p:spPr>
          <a:xfrm>
            <a:off x="1423850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Idling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7C5D0A6-E983-4CA4-A7F4-6715BB3EE0AD}"/>
              </a:ext>
            </a:extLst>
          </p:cNvPr>
          <p:cNvSpPr/>
          <p:nvPr/>
        </p:nvSpPr>
        <p:spPr>
          <a:xfrm>
            <a:off x="4841966" y="3974862"/>
            <a:ext cx="1972491" cy="7788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C00000"/>
                </a:solidFill>
              </a:rPr>
              <a:t>Brake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F077EF8-F676-49EA-823C-4FFF30431D02}"/>
              </a:ext>
            </a:extLst>
          </p:cNvPr>
          <p:cNvCxnSpPr>
            <a:stCxn id="5" idx="6"/>
            <a:endCxn id="6" idx="2"/>
          </p:cNvCxnSpPr>
          <p:nvPr/>
        </p:nvCxnSpPr>
        <p:spPr>
          <a:xfrm>
            <a:off x="3396342" y="2786739"/>
            <a:ext cx="144562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7CA7E3-F1A6-41A1-B5DA-8EAC480AAC17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3396342" y="2786739"/>
            <a:ext cx="1734489" cy="1302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5E0DC5C-8C63-4DC3-AF7C-F532A4FD02EC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828212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EDA7FE6-E4FD-4154-B004-884F33079D2E}"/>
              </a:ext>
            </a:extLst>
          </p:cNvPr>
          <p:cNvCxnSpPr>
            <a:cxnSpLocks/>
          </p:cNvCxnSpPr>
          <p:nvPr/>
        </p:nvCxnSpPr>
        <p:spPr>
          <a:xfrm flipV="1">
            <a:off x="6096000" y="3176153"/>
            <a:ext cx="0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850B186-E56E-4756-8522-14B9BA690800}"/>
              </a:ext>
            </a:extLst>
          </p:cNvPr>
          <p:cNvCxnSpPr>
            <a:cxnSpLocks/>
            <a:stCxn id="8" idx="2"/>
            <a:endCxn id="7" idx="6"/>
          </p:cNvCxnSpPr>
          <p:nvPr/>
        </p:nvCxnSpPr>
        <p:spPr>
          <a:xfrm flipH="1">
            <a:off x="3396341" y="4364276"/>
            <a:ext cx="144562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33549E-0666-4F97-BEAA-EAF06233FB81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V="1">
            <a:off x="2410096" y="3176153"/>
            <a:ext cx="1" cy="79870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1DCF9A9-4965-4035-B8A9-557BEF716859}"/>
              </a:ext>
            </a:extLst>
          </p:cNvPr>
          <p:cNvSpPr/>
          <p:nvPr/>
        </p:nvSpPr>
        <p:spPr>
          <a:xfrm>
            <a:off x="6643007" y="2227824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3636093-DF70-4BEF-BB64-4D92BE17D746}"/>
              </a:ext>
            </a:extLst>
          </p:cNvPr>
          <p:cNvSpPr/>
          <p:nvPr/>
        </p:nvSpPr>
        <p:spPr>
          <a:xfrm rot="5619972">
            <a:off x="6602190" y="4385003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CA1A97A-65EA-464E-B1E8-D1669CAC9F9F}"/>
              </a:ext>
            </a:extLst>
          </p:cNvPr>
          <p:cNvSpPr/>
          <p:nvPr/>
        </p:nvSpPr>
        <p:spPr>
          <a:xfrm rot="7308126">
            <a:off x="2131419" y="4682439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82D9C51-0413-492C-82D5-805D60BD9BBA}"/>
              </a:ext>
            </a:extLst>
          </p:cNvPr>
          <p:cNvSpPr/>
          <p:nvPr/>
        </p:nvSpPr>
        <p:spPr>
          <a:xfrm rot="18334946">
            <a:off x="2123951" y="1883845"/>
            <a:ext cx="557354" cy="604586"/>
          </a:xfrm>
          <a:custGeom>
            <a:avLst/>
            <a:gdLst>
              <a:gd name="connsiteX0" fmla="*/ 171450 w 400191"/>
              <a:gd name="connsiteY0" fmla="*/ 446754 h 468666"/>
              <a:gd name="connsiteX1" fmla="*/ 400050 w 400191"/>
              <a:gd name="connsiteY1" fmla="*/ 418179 h 468666"/>
              <a:gd name="connsiteX2" fmla="*/ 142875 w 400191"/>
              <a:gd name="connsiteY2" fmla="*/ 3842 h 468666"/>
              <a:gd name="connsiteX3" fmla="*/ 0 w 400191"/>
              <a:gd name="connsiteY3" fmla="*/ 246729 h 46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0191" h="468666">
                <a:moveTo>
                  <a:pt x="171450" y="446754"/>
                </a:moveTo>
                <a:cubicBezTo>
                  <a:pt x="288131" y="469376"/>
                  <a:pt x="404813" y="491998"/>
                  <a:pt x="400050" y="418179"/>
                </a:cubicBezTo>
                <a:cubicBezTo>
                  <a:pt x="395287" y="344360"/>
                  <a:pt x="209550" y="32417"/>
                  <a:pt x="142875" y="3842"/>
                </a:cubicBezTo>
                <a:cubicBezTo>
                  <a:pt x="76200" y="-24733"/>
                  <a:pt x="38100" y="110998"/>
                  <a:pt x="0" y="246729"/>
                </a:cubicBezTo>
              </a:path>
            </a:pathLst>
          </a:cu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A47E650-4010-45A4-A0AD-A93E24474390}"/>
              </a:ext>
            </a:extLst>
          </p:cNvPr>
          <p:cNvCxnSpPr>
            <a:cxnSpLocks/>
          </p:cNvCxnSpPr>
          <p:nvPr/>
        </p:nvCxnSpPr>
        <p:spPr>
          <a:xfrm flipH="1" flipV="1">
            <a:off x="3243264" y="2971800"/>
            <a:ext cx="1651703" cy="125968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1DC679-21BA-45EF-90F4-ECEEE4B49A65}"/>
              </a:ext>
            </a:extLst>
          </p:cNvPr>
          <p:cNvSpPr txBox="1"/>
          <p:nvPr/>
        </p:nvSpPr>
        <p:spPr>
          <a:xfrm>
            <a:off x="3974805" y="270539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67521A-D5A3-4A34-86FF-9BD5BBEC76CE}"/>
              </a:ext>
            </a:extLst>
          </p:cNvPr>
          <p:cNvSpPr txBox="1"/>
          <p:nvPr/>
        </p:nvSpPr>
        <p:spPr>
          <a:xfrm>
            <a:off x="4270729" y="308765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D6E1F4-EF25-446C-BDA8-1F9A0FAA569C}"/>
              </a:ext>
            </a:extLst>
          </p:cNvPr>
          <p:cNvSpPr txBox="1"/>
          <p:nvPr/>
        </p:nvSpPr>
        <p:spPr>
          <a:xfrm>
            <a:off x="2123798" y="1598616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B1CC53-1444-4056-A1C4-3750158963DB}"/>
              </a:ext>
            </a:extLst>
          </p:cNvPr>
          <p:cNvSpPr txBox="1"/>
          <p:nvPr/>
        </p:nvSpPr>
        <p:spPr>
          <a:xfrm>
            <a:off x="2116331" y="5123504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C0E2C0B-7138-4ECB-B9FF-679ED5094328}"/>
              </a:ext>
            </a:extLst>
          </p:cNvPr>
          <p:cNvSpPr txBox="1"/>
          <p:nvPr/>
        </p:nvSpPr>
        <p:spPr>
          <a:xfrm>
            <a:off x="2431173" y="3318490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5DACF2-8BAB-4006-A717-E271B29BF3D7}"/>
              </a:ext>
            </a:extLst>
          </p:cNvPr>
          <p:cNvSpPr txBox="1"/>
          <p:nvPr/>
        </p:nvSpPr>
        <p:spPr>
          <a:xfrm>
            <a:off x="6935426" y="4689595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8C947B-9657-4D8C-A2C3-ECB256656B36}"/>
              </a:ext>
            </a:extLst>
          </p:cNvPr>
          <p:cNvSpPr txBox="1"/>
          <p:nvPr/>
        </p:nvSpPr>
        <p:spPr>
          <a:xfrm>
            <a:off x="6086373" y="3387461"/>
            <a:ext cx="7280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0.05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E98E55-1B76-4F51-9956-BBF957D3867C}"/>
              </a:ext>
            </a:extLst>
          </p:cNvPr>
          <p:cNvSpPr txBox="1"/>
          <p:nvPr/>
        </p:nvSpPr>
        <p:spPr>
          <a:xfrm>
            <a:off x="3793474" y="434429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9C6F22-217A-4917-90EE-C87900C43F81}"/>
              </a:ext>
            </a:extLst>
          </p:cNvPr>
          <p:cNvSpPr txBox="1"/>
          <p:nvPr/>
        </p:nvSpPr>
        <p:spPr>
          <a:xfrm>
            <a:off x="3437408" y="3467705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0DFAF6-6D08-4C84-8A29-4573AA04B29F}"/>
              </a:ext>
            </a:extLst>
          </p:cNvPr>
          <p:cNvSpPr txBox="1"/>
          <p:nvPr/>
        </p:nvSpPr>
        <p:spPr>
          <a:xfrm>
            <a:off x="5265247" y="3220442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6D5887-1C8B-4F78-B88D-54E5CD24FBE1}"/>
              </a:ext>
            </a:extLst>
          </p:cNvPr>
          <p:cNvSpPr txBox="1"/>
          <p:nvPr/>
        </p:nvSpPr>
        <p:spPr>
          <a:xfrm>
            <a:off x="7090917" y="2186138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F4330AC-74F3-4EAF-BE23-0B36650708FB}"/>
                  </a:ext>
                </a:extLst>
              </p:cNvPr>
              <p:cNvSpPr txBox="1"/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F4330AC-74F3-4EAF-BE23-0B36650708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98" y="2337865"/>
                <a:ext cx="1175578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46D544-88D3-442F-B4EB-17A41D7A4A95}"/>
                  </a:ext>
                </a:extLst>
              </p:cNvPr>
              <p:cNvSpPr txBox="1"/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A46D544-88D3-442F-B4EB-17A41D7A4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386" y="4113462"/>
                <a:ext cx="717119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5E9A42-A8CF-49A1-B8BC-4BEF0E72D48E}"/>
                  </a:ext>
                </a:extLst>
              </p:cNvPr>
              <p:cNvSpPr txBox="1"/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05E9A42-A8CF-49A1-B8BC-4BEF0E72D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8994" y="1891371"/>
                <a:ext cx="717119" cy="461665"/>
              </a:xfrm>
              <a:prstGeom prst="rect">
                <a:avLst/>
              </a:prstGeom>
              <a:blipFill>
                <a:blip r:embed="rId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E2338F-B981-4909-90E1-0081D8A87242}"/>
                  </a:ext>
                </a:extLst>
              </p:cNvPr>
              <p:cNvSpPr txBox="1"/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E2338F-B981-4909-90E1-0081D8A8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0558" y="4729282"/>
                <a:ext cx="946349" cy="461665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BA1704-CBB2-4135-B268-F722B89C2134}"/>
              </a:ext>
            </a:extLst>
          </p:cNvPr>
          <p:cNvCxnSpPr/>
          <p:nvPr/>
        </p:nvCxnSpPr>
        <p:spPr>
          <a:xfrm>
            <a:off x="1509576" y="1829448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2F4905E-BE6B-4511-B1AC-62B211BD11C3}"/>
              </a:ext>
            </a:extLst>
          </p:cNvPr>
          <p:cNvCxnSpPr/>
          <p:nvPr/>
        </p:nvCxnSpPr>
        <p:spPr>
          <a:xfrm>
            <a:off x="1275526" y="3541231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6160B4F-7522-4EB5-B6AD-48011385B9BC}"/>
              </a:ext>
            </a:extLst>
          </p:cNvPr>
          <p:cNvCxnSpPr>
            <a:cxnSpLocks/>
          </p:cNvCxnSpPr>
          <p:nvPr/>
        </p:nvCxnSpPr>
        <p:spPr>
          <a:xfrm flipV="1">
            <a:off x="5041000" y="4753691"/>
            <a:ext cx="424616" cy="445915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87F0A40-F3E6-495A-AE02-007E019EFA4C}"/>
              </a:ext>
            </a:extLst>
          </p:cNvPr>
          <p:cNvCxnSpPr/>
          <p:nvPr/>
        </p:nvCxnSpPr>
        <p:spPr>
          <a:xfrm>
            <a:off x="4974903" y="1838527"/>
            <a:ext cx="376374" cy="587522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C8EF105-C01E-4536-8A2D-A3CAAC946353}"/>
              </a:ext>
            </a:extLst>
          </p:cNvPr>
          <p:cNvSpPr txBox="1"/>
          <p:nvPr/>
        </p:nvSpPr>
        <p:spPr>
          <a:xfrm>
            <a:off x="992799" y="30940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960EC2-2EC1-4626-BE8B-53E25063320A}"/>
              </a:ext>
            </a:extLst>
          </p:cNvPr>
          <p:cNvSpPr txBox="1"/>
          <p:nvPr/>
        </p:nvSpPr>
        <p:spPr>
          <a:xfrm>
            <a:off x="4716748" y="5030194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970DE2A-9E5C-402B-92D6-81A080BE5106}"/>
              </a:ext>
            </a:extLst>
          </p:cNvPr>
          <p:cNvCxnSpPr>
            <a:cxnSpLocks/>
          </p:cNvCxnSpPr>
          <p:nvPr/>
        </p:nvCxnSpPr>
        <p:spPr>
          <a:xfrm flipH="1">
            <a:off x="3161763" y="2520334"/>
            <a:ext cx="1831410" cy="26479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070B1E-A74D-4394-B22C-63D2C5BA705E}"/>
              </a:ext>
            </a:extLst>
          </p:cNvPr>
          <p:cNvSpPr txBox="1"/>
          <p:nvPr/>
        </p:nvSpPr>
        <p:spPr>
          <a:xfrm>
            <a:off x="3844847" y="2144729"/>
            <a:ext cx="572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3D2056-033E-4C37-ADAF-3B52F3684892}"/>
                  </a:ext>
                </a:extLst>
              </p:cNvPr>
              <p:cNvSpPr txBox="1"/>
              <p:nvPr/>
            </p:nvSpPr>
            <p:spPr>
              <a:xfrm>
                <a:off x="8208168" y="2144729"/>
                <a:ext cx="3400419" cy="185486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0" dirty="0"/>
                  <a:t>        A         C          B          I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sty m:val="p"/>
                              <m:brk m:alnAt="7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mr>
                      <m:m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</m:mr>
                    </m:m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.3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0.4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0.4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0.05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0.05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0.8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3D2056-033E-4C37-ADAF-3B52F3684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8168" y="2144729"/>
                <a:ext cx="3400419" cy="1854867"/>
              </a:xfrm>
              <a:prstGeom prst="rect">
                <a:avLst/>
              </a:prstGeom>
              <a:blipFill>
                <a:blip r:embed="rId6"/>
                <a:stretch>
                  <a:fillRect t="-2632" r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2381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31A1EE-EB03-4FB3-86D3-5169A3EB2E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600199"/>
                <a:ext cx="11699087" cy="408384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Transition probabilities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Chapman-Kolmogorov Equation: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: probability of going from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steps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′′</m:t>
                                </m:r>
                              </m:sup>
                            </m:sSup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′′,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Corollary: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31A1EE-EB03-4FB3-86D3-5169A3EB2E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600199"/>
                <a:ext cx="11699087" cy="4083841"/>
              </a:xfrm>
              <a:blipFill>
                <a:blip r:embed="rId3"/>
                <a:stretch>
                  <a:fillRect l="-625" t="-23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C880BE8-AD6C-4848-91CE-6C734E7A59D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Probability of moving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steps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C880BE8-AD6C-4848-91CE-6C734E7A59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4"/>
                <a:stretch>
                  <a:fillRect l="-2232" t="-19685" b="-32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0F049-B28C-4F43-8702-8C3ED4AE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64938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8153AB-30DA-4947-8BAC-5B9A6EA2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2B86A-ABFE-4CE4-8B77-D515B7C7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1E73230-1DFD-469B-BAD4-96D2F3C7D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F5C6488-750D-4A70-AF3E-E065BA864A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2563" y="997622"/>
              <a:ext cx="11739399" cy="268166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77586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377767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1858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Syntax of PCTL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State formulas: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18709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∷=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 ¬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latin typeface="Cambria Math" panose="02040503050406030204" pitchFamily="18" charset="0"/>
                                      </a:rPr>
                                      <m:t>Φ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|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ℙ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𝐽</m:t>
                              </m:r>
                            </m:oMath>
                          </a14:m>
                          <a:r>
                            <a:rPr lang="en-US" sz="2400" b="0" i="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 : nonempty</a:t>
                          </a:r>
                          <a:r>
                            <a:rPr lang="en-US" sz="2400" b="0" i="0" baseline="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 interval </a:t>
                          </a:r>
                          <a:r>
                            <a:rPr lang="en-US" sz="2400" b="0" i="0" baseline="0" dirty="0"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⊆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0,1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4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" panose="02040503050406030204" pitchFamily="18" charset="0"/>
                                </a:rPr>
                                <m:t>𝐴𝑃</m:t>
                              </m:r>
                            </m:oMath>
                          </a14:m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Path formulas: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∷=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1" i="0" smtClean="0">
                                        <a:latin typeface="Cambria Math" panose="02040503050406030204" pitchFamily="18" charset="0"/>
                                      </a:rPr>
                                      <m:t>𝐔</m:t>
                                    </m:r>
                                  </m:e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∣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sz="2800" b="1" i="0" smtClean="0">
                                    <a:latin typeface="Cambria Math" panose="02040503050406030204" pitchFamily="18" charset="0"/>
                                  </a:rPr>
                                  <m:t>𝐔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</m:oMath>
                            </m:oMathPara>
                          </a14:m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tabLst>
                              <a:tab pos="114300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ℕ</m:t>
                                </m:r>
                              </m:oMath>
                            </m:oMathPara>
                          </a14:m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0F5C6488-750D-4A70-AF3E-E065BA864A3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8482817"/>
                  </p:ext>
                </p:extLst>
              </p:nvPr>
            </p:nvGraphicFramePr>
            <p:xfrm>
              <a:off x="342563" y="997622"/>
              <a:ext cx="11739399" cy="2681669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775861">
                      <a:extLst>
                        <a:ext uri="{9D8B030D-6E8A-4147-A177-3AD203B41FA5}">
                          <a16:colId xmlns:a16="http://schemas.microsoft.com/office/drawing/2014/main" val="3801851289"/>
                        </a:ext>
                      </a:extLst>
                    </a:gridCol>
                    <a:gridCol w="3777676">
                      <a:extLst>
                        <a:ext uri="{9D8B030D-6E8A-4147-A177-3AD203B41FA5}">
                          <a16:colId xmlns:a16="http://schemas.microsoft.com/office/drawing/2014/main" val="2451876391"/>
                        </a:ext>
                      </a:extLst>
                    </a:gridCol>
                    <a:gridCol w="5185862">
                      <a:extLst>
                        <a:ext uri="{9D8B030D-6E8A-4147-A177-3AD203B41FA5}">
                          <a16:colId xmlns:a16="http://schemas.microsoft.com/office/drawing/2014/main" val="2988198429"/>
                        </a:ext>
                      </a:extLst>
                    </a:gridCol>
                  </a:tblGrid>
                  <a:tr h="571500"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Syntax of PCTL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dirty="0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57687742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State formulas: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18709002"/>
                      </a:ext>
                    </a:extLst>
                  </a:tr>
                  <a:tr h="5480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4444" r="-323297" b="-19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3387" t="-204444" r="-137258" b="-19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6322" t="-204444" b="-19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267042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latin typeface="Cambria" panose="02040503050406030204" pitchFamily="18" charset="0"/>
                              <a:ea typeface="Cambria" panose="02040503050406030204" pitchFamily="18" charset="0"/>
                            </a:rPr>
                            <a:t>Path formulas:</a:t>
                          </a: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sz="28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US" sz="2400" dirty="0">
                            <a:latin typeface="Cambria" panose="02040503050406030204" pitchFamily="18" charset="0"/>
                            <a:ea typeface="Cambria" panose="02040503050406030204" pitchFamily="18" charset="0"/>
                          </a:endParaRPr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74562713"/>
                      </a:ext>
                    </a:extLst>
                  </a:tr>
                  <a:tr h="5257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18605" r="-3232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73387" t="-418605" r="-137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26322" t="-4186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16912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C4309C20-953C-41E3-BF5F-C2A65758D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300" y="4835047"/>
            <a:ext cx="11739400" cy="609959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PCTL formulas are state formulas, path formulas used to define how to build a PCTL formula</a:t>
            </a:r>
          </a:p>
        </p:txBody>
      </p:sp>
    </p:spTree>
    <p:extLst>
      <p:ext uri="{BB962C8B-B14F-4D97-AF65-F5344CB8AC3E}">
        <p14:creationId xmlns:p14="http://schemas.microsoft.com/office/powerpoint/2010/main" val="102146138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E3F3465-896D-46B5-9C88-874C576F1B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≤0.1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𝑔𝑜𝑎𝑙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: probability of eventually reaching the goal is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[0,0.1]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=2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∧⋯∧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𝑣𝑎𝑙𝑢𝑒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=6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possible outcomes for a fair die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≥0.9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¬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𝑜𝑏𝑠𝑡𝑎𝑐𝑙𝑒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≤5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</m:sSub>
                        <m:d>
                          <m:d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𝑠𝑎𝑓𝑒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reaching a state from where you </a:t>
                </a:r>
                <a:r>
                  <a:rPr lang="en-US" i="1" dirty="0"/>
                  <a:t>almost surely </a:t>
                </a:r>
                <a:r>
                  <a:rPr lang="en-US" dirty="0"/>
                  <a:t>are safe within 5 steps where you do not run into an obstacle is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Almost surely safe does not mean always safe!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E3F3465-896D-46B5-9C88-874C576F1B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2078" r="-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42F18D-1DD0-4FE0-82B1-42D75243B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D3ADB-5BE3-4651-9FB6-7F2F99B4F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F42678-4362-4DFD-96C6-2380809D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PCTL formulas</a:t>
            </a:r>
          </a:p>
        </p:txBody>
      </p:sp>
    </p:spTree>
    <p:extLst>
      <p:ext uri="{BB962C8B-B14F-4D97-AF65-F5344CB8AC3E}">
        <p14:creationId xmlns:p14="http://schemas.microsoft.com/office/powerpoint/2010/main" val="42508116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CE16BE6-D558-4F7B-AF40-858C26A4B1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&lt;∞</m:t>
                        </m:r>
                      </m:sup>
                    </m:sSup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𝑡𝑟𝑢𝑒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 that in PCTL, you cannot negate path formulas (syntax does not allow)!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But,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∼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∼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𝐅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Here,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is the negation of the comparison operator. E.g.,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→  &gt;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CE16BE6-D558-4F7B-AF40-858C26A4B1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82" b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906733-9DF4-4868-ABBD-CAEEB9B3B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4F58E-78C2-4ED0-914B-D5A077C1D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109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1B59AAB-BC5F-4111-8777-A9F8C9EE8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 equivalences</a:t>
            </a:r>
          </a:p>
        </p:txBody>
      </p:sp>
    </p:spTree>
    <p:extLst>
      <p:ext uri="{BB962C8B-B14F-4D97-AF65-F5344CB8AC3E}">
        <p14:creationId xmlns:p14="http://schemas.microsoft.com/office/powerpoint/2010/main" val="53944973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ℙ</m:t>
                    </m:r>
                  </m:oMath>
                </a14:m>
                <a:r>
                  <a:rPr lang="en-US" dirty="0"/>
                  <a:t> can be thought of as a probabilistic analogue of CTL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i="0" dirty="0"/>
                      <m:t>≢</m:t>
                    </m:r>
                    <m:r>
                      <m:rPr>
                        <m:nor/>
                      </m:rPr>
                      <a:rPr lang="en-US" b="0" i="0" dirty="0" smtClean="0"/>
                      <m:t> </m:t>
                    </m:r>
                    <m:r>
                      <m:rPr>
                        <m:nor/>
                      </m:rPr>
                      <a:rPr lang="en-US" b="1" i="0" dirty="0" smtClean="0"/>
                      <m:t>AF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38" t="-2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80A09-D68D-4576-87A8-70CCC473B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A1494-5018-411E-96DE-076887F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110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A79DD43-2289-435E-99DE-3B1159BA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 vs. CTL</a:t>
            </a:r>
          </a:p>
        </p:txBody>
      </p:sp>
    </p:spTree>
    <p:extLst>
      <p:ext uri="{BB962C8B-B14F-4D97-AF65-F5344CB8AC3E}">
        <p14:creationId xmlns:p14="http://schemas.microsoft.com/office/powerpoint/2010/main" val="11191762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E6C5E9D-8420-4B2D-A866-9F68E2F79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Quantitative model checking: </a:t>
                </a:r>
              </a:p>
              <a:p>
                <a:pPr lvl="1"/>
                <a:r>
                  <a:rPr lang="en-US" dirty="0"/>
                  <a:t>Compute the probability bound of the outer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ℙ</m:t>
                    </m:r>
                  </m:oMath>
                </a14:m>
                <a:r>
                  <a:rPr lang="en-US" dirty="0"/>
                  <a:t> operator which holds over given LTS</a:t>
                </a:r>
              </a:p>
              <a:p>
                <a:endParaRPr lang="en-US" dirty="0"/>
              </a:p>
              <a:p>
                <a:r>
                  <a:rPr lang="en-US" dirty="0"/>
                  <a:t>Qualitative model checking</a:t>
                </a:r>
              </a:p>
              <a:p>
                <a:pPr lvl="1"/>
                <a:r>
                  <a:rPr lang="en-US" dirty="0"/>
                  <a:t>Check if under the given bound the formula is true</a:t>
                </a:r>
              </a:p>
              <a:p>
                <a:pPr lvl="1"/>
                <a:r>
                  <a:rPr lang="en-US" dirty="0"/>
                  <a:t>Can be solved by qualitative model checking: compute the actual bound and then compare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E6C5E9D-8420-4B2D-A866-9F68E2F79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2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3D5E7-534D-4F9C-9C07-8FF6E59D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B7B97-B51B-48C9-97CF-545570487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111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0E912F0-2C31-4E16-B360-61FF471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Quantitative vs. Qualitative model checking</a:t>
            </a:r>
          </a:p>
        </p:txBody>
      </p:sp>
    </p:spTree>
    <p:extLst>
      <p:ext uri="{BB962C8B-B14F-4D97-AF65-F5344CB8AC3E}">
        <p14:creationId xmlns:p14="http://schemas.microsoft.com/office/powerpoint/2010/main" val="109667249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DFDE0A-06EB-4842-B4CB-4AEDE0568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Overall algorithm similar to model checking CTL</a:t>
                </a:r>
              </a:p>
              <a:p>
                <a:r>
                  <a:rPr lang="en-US" dirty="0"/>
                  <a:t>Given DTMC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𝑡𝑟𝑢𝑒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sepChr m:val="∣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𝑃𝑟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</m:oMath>
                </a14:m>
                <a:r>
                  <a:rPr lang="en-US" dirty="0"/>
                  <a:t> = Probability of satisfying the path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dirty="0"/>
                  <a:t> in the set of paths starting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DFDE0A-06EB-4842-B4CB-4AEDE0568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797" r="-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ADA6A3-C253-464E-8093-49F943250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91440-32F7-4620-A429-5086E771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563038-B364-428B-B495-E594F6581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checking PCTL</a:t>
            </a:r>
          </a:p>
        </p:txBody>
      </p:sp>
    </p:spTree>
    <p:extLst>
      <p:ext uri="{BB962C8B-B14F-4D97-AF65-F5344CB8AC3E}">
        <p14:creationId xmlns:p14="http://schemas.microsoft.com/office/powerpoint/2010/main" val="662613594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83F67B7-FE66-41C2-AA00-835F145B5A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>
                    <a:latin typeface="Cambria Math" panose="02040503050406030204" pitchFamily="18" charset="0"/>
                  </a:rPr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 </a:t>
                </a:r>
              </a:p>
              <a:p>
                <a:r>
                  <a:rPr lang="en-US" b="0" dirty="0">
                    <a:latin typeface="Cambria Math" panose="02040503050406030204" pitchFamily="18" charset="0"/>
                  </a:rPr>
                  <a:t>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, we need to compute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𝑃𝑟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𝑆𝑎𝑡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Φ</m:t>
                              </m:r>
                            </m:e>
                          </m:d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bar>
                      <m:barPr>
                        <m:pos m:val="bot"/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bar>
                  </m:oMath>
                </a14:m>
                <a:r>
                  <a:rPr lang="en-US" dirty="0"/>
                  <a:t> represent the state-indexed vector, where: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bot"/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</m:ba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1 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0   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Then,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1">
                        <a:latin typeface="Cambria Math" panose="02040503050406030204" pitchFamily="18" charset="0"/>
                      </a:rPr>
                      <m:t>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bar>
                          <m:barPr>
                            <m:pos m:val="bot"/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Φ</m:t>
                            </m:r>
                          </m:e>
                        </m:ba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b="1" i="1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83F67B7-FE66-41C2-AA00-835F145B5A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2D452A-7B44-44BB-B7BE-F8552E3FA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E6933-EB0B-4C32-B073-57B83DFAD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3B50CFEA-2873-4F76-8E10-93ACFCA2A3C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3B50CFEA-2873-4F76-8E10-93ACFCA2A3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303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90597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B219522-FA09-4DA0-AFBF-5AAEF7C1C3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988142"/>
                <a:ext cx="11699087" cy="4104558"/>
              </a:xfrm>
            </p:spPr>
            <p:txBody>
              <a:bodyPr/>
              <a:lstStyle/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or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∧¬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𝑃𝑟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Φ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sSup>
                                        <m:sSupPr>
                                          <m:ctrlPr>
                                            <a:rPr lang="en-US" b="1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1" i="0" smtClean="0">
                                              <a:latin typeface="Cambria Math" panose="02040503050406030204" pitchFamily="18" charset="0"/>
                                            </a:rPr>
                                            <m:t>𝐔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≤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Ψ</m:t>
                                      </m:r>
                                    </m:e>
                                  </m:d>
                                </m:e>
                              </m:nary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Φ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Ψ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bar>
                      <m:barPr>
                        <m:pos m:val="bot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</m:ba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B219522-FA09-4DA0-AFBF-5AAEF7C1C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988142"/>
                <a:ext cx="11699087" cy="4104558"/>
              </a:xfrm>
              <a:blipFill>
                <a:blip r:embed="rId2"/>
                <a:stretch>
                  <a:fillRect l="-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4E74EF-7537-4663-8C65-C3539C900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C7F97-BB9A-4705-B182-0209A59F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114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C6582C73-995C-4AB4-B443-4F4E5583989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C6582C73-995C-4AB4-B443-4F4E558398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953" t="-14844" b="-22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63474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34154E-59B6-499A-8C48-D34AC5FD471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933831"/>
                <a:ext cx="11699087" cy="375020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𝐔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=0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or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𝑆𝑎𝑡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Φ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∧¬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Ψ</m:t>
                                  </m:r>
                                </m:e>
                              </m:d>
                            </m:e>
                          </m:mr>
                          <m:mr>
                            <m:e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  <m:sup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𝑃𝑟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Φ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1" i="0" smtClean="0">
                                          <a:latin typeface="Cambria Math" panose="02040503050406030204" pitchFamily="18" charset="0"/>
                                        </a:rPr>
                                        <m:t>𝐔</m:t>
                                      </m:r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Ψ</m:t>
                                      </m:r>
                                    </m:e>
                                  </m:d>
                                </m:e>
                              </m:nary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 that this is a system of linear equations, where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</m:d>
                  </m:oMath>
                </a14:m>
                <a:r>
                  <a:rPr lang="en-US" dirty="0"/>
                  <a:t> is a variable</a:t>
                </a:r>
              </a:p>
              <a:p>
                <a:endParaRPr lang="en-US" dirty="0"/>
              </a:p>
              <a:p>
                <a:r>
                  <a:rPr lang="en-US" dirty="0"/>
                  <a:t>We can solve this using standard methods to compute the probability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34154E-59B6-499A-8C48-D34AC5FD47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933831"/>
                <a:ext cx="11699087" cy="3750209"/>
              </a:xfrm>
              <a:blipFill>
                <a:blip r:embed="rId2"/>
                <a:stretch>
                  <a:fillRect l="-417" t="-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0946E-368E-482D-8666-4FFF9C687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E3B97-84A1-4A87-832B-E4DB2D8F2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9A4DCB03-9038-4156-859A-6AE12963420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Computing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&lt;∞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itle 4">
                <a:extLst>
                  <a:ext uri="{FF2B5EF4-FFF2-40B4-BE49-F238E27FC236}">
                    <a16:creationId xmlns:a16="http://schemas.microsoft.com/office/drawing/2014/main" id="{9A4DCB03-9038-4156-859A-6AE1296342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1303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956378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ED2A7A-8AEB-7F5C-04D7-D4380BF7FE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2202179"/>
                <a:ext cx="11699087" cy="3849439"/>
              </a:xfrm>
            </p:spPr>
            <p:txBody>
              <a:bodyPr/>
              <a:lstStyle/>
              <a:p>
                <a:r>
                  <a:rPr lang="en-US" dirty="0"/>
                  <a:t>Qualitative Verification: Given Markov Chain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and a PCTL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some given constant,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r>
                  <a:rPr lang="en-US" dirty="0"/>
                  <a:t>Quantitative Verification: Given Markov Chain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and a PCTL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is unknown,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s.t.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⊨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is true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3ED2A7A-8AEB-7F5C-04D7-D4380BF7FE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2202179"/>
                <a:ext cx="11699087" cy="3849439"/>
              </a:xfrm>
              <a:blipFill>
                <a:blip r:embed="rId2"/>
                <a:stretch>
                  <a:fillRect l="-625" t="-2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A4B3C27-6B7A-978C-7AD0-0774C8A4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problems in Probabilistic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F5845-426C-F148-35E8-F24B50568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18958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21B8CD-F864-4CAA-B414-E5712DB96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E04FC-52DF-430E-8151-7B8C2D065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117</a:t>
            </a:fld>
            <a:endParaRPr lang="en-US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9B65B9A-5692-4A2B-8F1E-BF5F10116F15}"/>
              </a:ext>
            </a:extLst>
          </p:cNvPr>
          <p:cNvGrpSpPr/>
          <p:nvPr/>
        </p:nvGrpSpPr>
        <p:grpSpPr>
          <a:xfrm>
            <a:off x="5152929" y="1810461"/>
            <a:ext cx="7039071" cy="3986553"/>
            <a:chOff x="679386" y="1598616"/>
            <a:chExt cx="6984124" cy="398655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877E69E-65B3-42B3-9EE2-42964E0C0116}"/>
                </a:ext>
              </a:extLst>
            </p:cNvPr>
            <p:cNvSpPr txBox="1"/>
            <p:nvPr/>
          </p:nvSpPr>
          <p:spPr>
            <a:xfrm>
              <a:off x="2116331" y="512350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F777FE-6948-4FD1-B7C6-A1FAD63D27A2}"/>
                </a:ext>
              </a:extLst>
            </p:cNvPr>
            <p:cNvSpPr txBox="1"/>
            <p:nvPr/>
          </p:nvSpPr>
          <p:spPr>
            <a:xfrm>
              <a:off x="4716748" y="5030194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5C3B920-0AD0-49C6-B82D-FE468D091F27}"/>
                </a:ext>
              </a:extLst>
            </p:cNvPr>
            <p:cNvSpPr/>
            <p:nvPr/>
          </p:nvSpPr>
          <p:spPr>
            <a:xfrm>
              <a:off x="1423851" y="2397325"/>
              <a:ext cx="1972491" cy="77882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Accelerate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1CC0F15-28FD-44EA-96D5-D6855DA34831}"/>
                </a:ext>
              </a:extLst>
            </p:cNvPr>
            <p:cNvSpPr/>
            <p:nvPr/>
          </p:nvSpPr>
          <p:spPr>
            <a:xfrm>
              <a:off x="4841966" y="2397325"/>
              <a:ext cx="1972491" cy="77882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Constant Speed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39DEC02-2EC7-474C-B06E-9CBD34AE09AD}"/>
                </a:ext>
              </a:extLst>
            </p:cNvPr>
            <p:cNvSpPr/>
            <p:nvPr/>
          </p:nvSpPr>
          <p:spPr>
            <a:xfrm>
              <a:off x="1423850" y="3974862"/>
              <a:ext cx="1972491" cy="77882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Idling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F8EBBB7-975D-4DF7-97FE-BC10FF1F5635}"/>
                </a:ext>
              </a:extLst>
            </p:cNvPr>
            <p:cNvSpPr/>
            <p:nvPr/>
          </p:nvSpPr>
          <p:spPr>
            <a:xfrm>
              <a:off x="4841966" y="3974862"/>
              <a:ext cx="1972491" cy="77882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Brake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07450CD-46D3-40D2-8F59-E170809EB762}"/>
                </a:ext>
              </a:extLst>
            </p:cNvPr>
            <p:cNvCxnSpPr>
              <a:stCxn id="9" idx="6"/>
              <a:endCxn id="10" idx="2"/>
            </p:cNvCxnSpPr>
            <p:nvPr/>
          </p:nvCxnSpPr>
          <p:spPr>
            <a:xfrm>
              <a:off x="3396342" y="2786739"/>
              <a:ext cx="1445624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FF12551-2DD1-404B-AC4A-CAA6BA2EE35D}"/>
                </a:ext>
              </a:extLst>
            </p:cNvPr>
            <p:cNvCxnSpPr>
              <a:cxnSpLocks/>
              <a:stCxn id="9" idx="6"/>
              <a:endCxn id="12" idx="1"/>
            </p:cNvCxnSpPr>
            <p:nvPr/>
          </p:nvCxnSpPr>
          <p:spPr>
            <a:xfrm>
              <a:off x="3396342" y="2786739"/>
              <a:ext cx="1734489" cy="130218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2D15FEE-B0EE-407D-88C7-EDD48EA141B2}"/>
                </a:ext>
              </a:extLst>
            </p:cNvPr>
            <p:cNvCxnSpPr>
              <a:cxnSpLocks/>
              <a:stCxn id="10" idx="4"/>
              <a:endCxn id="12" idx="0"/>
            </p:cNvCxnSpPr>
            <p:nvPr/>
          </p:nvCxnSpPr>
          <p:spPr>
            <a:xfrm>
              <a:off x="5828212" y="3176153"/>
              <a:ext cx="0" cy="7987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8D6722F-3917-4B96-A03A-3B669322FF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6000" y="3176153"/>
              <a:ext cx="0" cy="7987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9EE049D-3122-4619-8683-AD5B9464B923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3396341" y="4364276"/>
              <a:ext cx="144562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E69F1B0-2E21-4101-A31A-45001D0819AC}"/>
                </a:ext>
              </a:extLst>
            </p:cNvPr>
            <p:cNvCxnSpPr>
              <a:cxnSpLocks/>
              <a:stCxn id="11" idx="0"/>
              <a:endCxn id="9" idx="4"/>
            </p:cNvCxnSpPr>
            <p:nvPr/>
          </p:nvCxnSpPr>
          <p:spPr>
            <a:xfrm flipV="1">
              <a:off x="2410096" y="3176153"/>
              <a:ext cx="1" cy="7987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F2DD06E-EB05-44E0-B0E2-7CEC2808ADEC}"/>
                </a:ext>
              </a:extLst>
            </p:cNvPr>
            <p:cNvSpPr/>
            <p:nvPr/>
          </p:nvSpPr>
          <p:spPr>
            <a:xfrm>
              <a:off x="6643007" y="2227824"/>
              <a:ext cx="557354" cy="604586"/>
            </a:xfrm>
            <a:custGeom>
              <a:avLst/>
              <a:gdLst>
                <a:gd name="connsiteX0" fmla="*/ 171450 w 400191"/>
                <a:gd name="connsiteY0" fmla="*/ 446754 h 468666"/>
                <a:gd name="connsiteX1" fmla="*/ 400050 w 400191"/>
                <a:gd name="connsiteY1" fmla="*/ 418179 h 468666"/>
                <a:gd name="connsiteX2" fmla="*/ 142875 w 400191"/>
                <a:gd name="connsiteY2" fmla="*/ 3842 h 468666"/>
                <a:gd name="connsiteX3" fmla="*/ 0 w 400191"/>
                <a:gd name="connsiteY3" fmla="*/ 246729 h 46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191" h="468666">
                  <a:moveTo>
                    <a:pt x="171450" y="446754"/>
                  </a:moveTo>
                  <a:cubicBezTo>
                    <a:pt x="288131" y="469376"/>
                    <a:pt x="404813" y="491998"/>
                    <a:pt x="400050" y="418179"/>
                  </a:cubicBezTo>
                  <a:cubicBezTo>
                    <a:pt x="395287" y="344360"/>
                    <a:pt x="209550" y="32417"/>
                    <a:pt x="142875" y="3842"/>
                  </a:cubicBezTo>
                  <a:cubicBezTo>
                    <a:pt x="76200" y="-24733"/>
                    <a:pt x="38100" y="110998"/>
                    <a:pt x="0" y="246729"/>
                  </a:cubicBezTo>
                </a:path>
              </a:pathLst>
            </a:cu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2E67106-E5E3-4A4C-862F-EA7A35475B2C}"/>
                </a:ext>
              </a:extLst>
            </p:cNvPr>
            <p:cNvSpPr/>
            <p:nvPr/>
          </p:nvSpPr>
          <p:spPr>
            <a:xfrm rot="5619972">
              <a:off x="6602190" y="4385003"/>
              <a:ext cx="557354" cy="604586"/>
            </a:xfrm>
            <a:custGeom>
              <a:avLst/>
              <a:gdLst>
                <a:gd name="connsiteX0" fmla="*/ 171450 w 400191"/>
                <a:gd name="connsiteY0" fmla="*/ 446754 h 468666"/>
                <a:gd name="connsiteX1" fmla="*/ 400050 w 400191"/>
                <a:gd name="connsiteY1" fmla="*/ 418179 h 468666"/>
                <a:gd name="connsiteX2" fmla="*/ 142875 w 400191"/>
                <a:gd name="connsiteY2" fmla="*/ 3842 h 468666"/>
                <a:gd name="connsiteX3" fmla="*/ 0 w 400191"/>
                <a:gd name="connsiteY3" fmla="*/ 246729 h 46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191" h="468666">
                  <a:moveTo>
                    <a:pt x="171450" y="446754"/>
                  </a:moveTo>
                  <a:cubicBezTo>
                    <a:pt x="288131" y="469376"/>
                    <a:pt x="404813" y="491998"/>
                    <a:pt x="400050" y="418179"/>
                  </a:cubicBezTo>
                  <a:cubicBezTo>
                    <a:pt x="395287" y="344360"/>
                    <a:pt x="209550" y="32417"/>
                    <a:pt x="142875" y="3842"/>
                  </a:cubicBezTo>
                  <a:cubicBezTo>
                    <a:pt x="76200" y="-24733"/>
                    <a:pt x="38100" y="110998"/>
                    <a:pt x="0" y="246729"/>
                  </a:cubicBezTo>
                </a:path>
              </a:pathLst>
            </a:cu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8FF1ABB-7FDC-4000-8BC1-1DFE601AFCC2}"/>
                </a:ext>
              </a:extLst>
            </p:cNvPr>
            <p:cNvSpPr/>
            <p:nvPr/>
          </p:nvSpPr>
          <p:spPr>
            <a:xfrm rot="7308126">
              <a:off x="2131419" y="4682439"/>
              <a:ext cx="557354" cy="604586"/>
            </a:xfrm>
            <a:custGeom>
              <a:avLst/>
              <a:gdLst>
                <a:gd name="connsiteX0" fmla="*/ 171450 w 400191"/>
                <a:gd name="connsiteY0" fmla="*/ 446754 h 468666"/>
                <a:gd name="connsiteX1" fmla="*/ 400050 w 400191"/>
                <a:gd name="connsiteY1" fmla="*/ 418179 h 468666"/>
                <a:gd name="connsiteX2" fmla="*/ 142875 w 400191"/>
                <a:gd name="connsiteY2" fmla="*/ 3842 h 468666"/>
                <a:gd name="connsiteX3" fmla="*/ 0 w 400191"/>
                <a:gd name="connsiteY3" fmla="*/ 246729 h 46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191" h="468666">
                  <a:moveTo>
                    <a:pt x="171450" y="446754"/>
                  </a:moveTo>
                  <a:cubicBezTo>
                    <a:pt x="288131" y="469376"/>
                    <a:pt x="404813" y="491998"/>
                    <a:pt x="400050" y="418179"/>
                  </a:cubicBezTo>
                  <a:cubicBezTo>
                    <a:pt x="395287" y="344360"/>
                    <a:pt x="209550" y="32417"/>
                    <a:pt x="142875" y="3842"/>
                  </a:cubicBezTo>
                  <a:cubicBezTo>
                    <a:pt x="76200" y="-24733"/>
                    <a:pt x="38100" y="110998"/>
                    <a:pt x="0" y="246729"/>
                  </a:cubicBezTo>
                </a:path>
              </a:pathLst>
            </a:cu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FF8CC2B-2BA8-4EC9-89C2-83523FFB9642}"/>
                </a:ext>
              </a:extLst>
            </p:cNvPr>
            <p:cNvSpPr/>
            <p:nvPr/>
          </p:nvSpPr>
          <p:spPr>
            <a:xfrm rot="18334946">
              <a:off x="2123951" y="1883845"/>
              <a:ext cx="557354" cy="604586"/>
            </a:xfrm>
            <a:custGeom>
              <a:avLst/>
              <a:gdLst>
                <a:gd name="connsiteX0" fmla="*/ 171450 w 400191"/>
                <a:gd name="connsiteY0" fmla="*/ 446754 h 468666"/>
                <a:gd name="connsiteX1" fmla="*/ 400050 w 400191"/>
                <a:gd name="connsiteY1" fmla="*/ 418179 h 468666"/>
                <a:gd name="connsiteX2" fmla="*/ 142875 w 400191"/>
                <a:gd name="connsiteY2" fmla="*/ 3842 h 468666"/>
                <a:gd name="connsiteX3" fmla="*/ 0 w 400191"/>
                <a:gd name="connsiteY3" fmla="*/ 246729 h 468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0191" h="468666">
                  <a:moveTo>
                    <a:pt x="171450" y="446754"/>
                  </a:moveTo>
                  <a:cubicBezTo>
                    <a:pt x="288131" y="469376"/>
                    <a:pt x="404813" y="491998"/>
                    <a:pt x="400050" y="418179"/>
                  </a:cubicBezTo>
                  <a:cubicBezTo>
                    <a:pt x="395287" y="344360"/>
                    <a:pt x="209550" y="32417"/>
                    <a:pt x="142875" y="3842"/>
                  </a:cubicBezTo>
                  <a:cubicBezTo>
                    <a:pt x="76200" y="-24733"/>
                    <a:pt x="38100" y="110998"/>
                    <a:pt x="0" y="246729"/>
                  </a:cubicBezTo>
                </a:path>
              </a:pathLst>
            </a:cu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2648324-EF24-4A56-AFCB-DDC211E417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3264" y="2971800"/>
              <a:ext cx="1651703" cy="125968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AFA131-57F1-4CB5-ADC0-4EF573D950AD}"/>
                </a:ext>
              </a:extLst>
            </p:cNvPr>
            <p:cNvSpPr txBox="1"/>
            <p:nvPr/>
          </p:nvSpPr>
          <p:spPr>
            <a:xfrm>
              <a:off x="3974805" y="2705394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0.2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3DCFB6-4BC4-4F57-98B3-FCE6EAB3309E}"/>
                </a:ext>
              </a:extLst>
            </p:cNvPr>
            <p:cNvSpPr txBox="1"/>
            <p:nvPr/>
          </p:nvSpPr>
          <p:spPr>
            <a:xfrm>
              <a:off x="4270729" y="3087658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0F44F12-9168-40C4-B3C5-DF6E3A2B4848}"/>
                </a:ext>
              </a:extLst>
            </p:cNvPr>
            <p:cNvSpPr txBox="1"/>
            <p:nvPr/>
          </p:nvSpPr>
          <p:spPr>
            <a:xfrm>
              <a:off x="2123798" y="1598616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0.3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77A4D35-5872-4388-B832-3A98A73F1C7E}"/>
                </a:ext>
              </a:extLst>
            </p:cNvPr>
            <p:cNvSpPr txBox="1"/>
            <p:nvPr/>
          </p:nvSpPr>
          <p:spPr>
            <a:xfrm>
              <a:off x="2431173" y="3318490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0.8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7545B69-7D0A-4A72-B4A6-9C6DD086FB8C}"/>
                </a:ext>
              </a:extLst>
            </p:cNvPr>
            <p:cNvSpPr txBox="1"/>
            <p:nvPr/>
          </p:nvSpPr>
          <p:spPr>
            <a:xfrm>
              <a:off x="6935426" y="4689595"/>
              <a:ext cx="7280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0.05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317BE69-5DC7-4FBD-BE4D-B931B6F16F89}"/>
                </a:ext>
              </a:extLst>
            </p:cNvPr>
            <p:cNvSpPr txBox="1"/>
            <p:nvPr/>
          </p:nvSpPr>
          <p:spPr>
            <a:xfrm>
              <a:off x="6086373" y="3387461"/>
              <a:ext cx="7280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0.05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C03C62-0B26-4424-B4D3-853D184FB940}"/>
                </a:ext>
              </a:extLst>
            </p:cNvPr>
            <p:cNvSpPr txBox="1"/>
            <p:nvPr/>
          </p:nvSpPr>
          <p:spPr>
            <a:xfrm>
              <a:off x="3793474" y="4344295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0.5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D66609C-02FA-40A6-A8F7-5F860863CF50}"/>
                </a:ext>
              </a:extLst>
            </p:cNvPr>
            <p:cNvSpPr txBox="1"/>
            <p:nvPr/>
          </p:nvSpPr>
          <p:spPr>
            <a:xfrm>
              <a:off x="3437408" y="3467705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458E97A-6852-4B96-92B2-0AFF2CE0C7A4}"/>
                </a:ext>
              </a:extLst>
            </p:cNvPr>
            <p:cNvSpPr txBox="1"/>
            <p:nvPr/>
          </p:nvSpPr>
          <p:spPr>
            <a:xfrm>
              <a:off x="5265247" y="3220442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0.5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8339334-843D-43D5-9348-7D63652A300F}"/>
                </a:ext>
              </a:extLst>
            </p:cNvPr>
            <p:cNvSpPr txBox="1"/>
            <p:nvPr/>
          </p:nvSpPr>
          <p:spPr>
            <a:xfrm>
              <a:off x="7090917" y="2186138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DE88A5-CE1C-40A3-B25C-6542D69B52E3}"/>
                    </a:ext>
                  </a:extLst>
                </p:cNvPr>
                <p:cNvSpPr txBox="1"/>
                <p:nvPr/>
              </p:nvSpPr>
              <p:spPr>
                <a:xfrm>
                  <a:off x="880297" y="2093784"/>
                  <a:ext cx="713430" cy="830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sz="2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9FDE88A5-CE1C-40A3-B25C-6542D69B52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0297" y="2093784"/>
                  <a:ext cx="713430" cy="83099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F90E5AC-E909-4D43-A802-49CFAFB53AB4}"/>
                    </a:ext>
                  </a:extLst>
                </p:cNvPr>
                <p:cNvSpPr txBox="1"/>
                <p:nvPr/>
              </p:nvSpPr>
              <p:spPr>
                <a:xfrm>
                  <a:off x="679386" y="4113462"/>
                  <a:ext cx="689891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CF90E5AC-E909-4D43-A802-49CFAFB53A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386" y="4113462"/>
                  <a:ext cx="68989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B61C382-3455-4182-8BFF-4701127C3337}"/>
                    </a:ext>
                  </a:extLst>
                </p:cNvPr>
                <p:cNvSpPr txBox="1"/>
                <p:nvPr/>
              </p:nvSpPr>
              <p:spPr>
                <a:xfrm>
                  <a:off x="5548994" y="1891371"/>
                  <a:ext cx="71711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0B61C382-3455-4182-8BFF-4701127C33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48994" y="1891371"/>
                  <a:ext cx="717119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081E813-C2AC-4DC8-AF94-F2A4F27C46EE}"/>
                    </a:ext>
                  </a:extLst>
                </p:cNvPr>
                <p:cNvSpPr txBox="1"/>
                <p:nvPr/>
              </p:nvSpPr>
              <p:spPr>
                <a:xfrm>
                  <a:off x="5590558" y="4729282"/>
                  <a:ext cx="917331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8081E813-C2AC-4DC8-AF94-F2A4F27C46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0558" y="4729282"/>
                  <a:ext cx="917331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10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D3B1AD6-7E05-4852-99B1-62676C1BFDBD}"/>
                </a:ext>
              </a:extLst>
            </p:cNvPr>
            <p:cNvCxnSpPr/>
            <p:nvPr/>
          </p:nvCxnSpPr>
          <p:spPr>
            <a:xfrm>
              <a:off x="1509576" y="1829448"/>
              <a:ext cx="376374" cy="58752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4BD2374-6A54-4D86-B019-33EB4451E53C}"/>
                </a:ext>
              </a:extLst>
            </p:cNvPr>
            <p:cNvCxnSpPr/>
            <p:nvPr/>
          </p:nvCxnSpPr>
          <p:spPr>
            <a:xfrm>
              <a:off x="1275526" y="3541231"/>
              <a:ext cx="376374" cy="58752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0436C96-FC54-48BF-985B-2525DBF1E7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41000" y="4753691"/>
              <a:ext cx="424616" cy="4459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7364514E-A4B7-4DA3-A7D3-B98DBB41B63B}"/>
                </a:ext>
              </a:extLst>
            </p:cNvPr>
            <p:cNvCxnSpPr/>
            <p:nvPr/>
          </p:nvCxnSpPr>
          <p:spPr>
            <a:xfrm>
              <a:off x="4974903" y="1838527"/>
              <a:ext cx="376374" cy="58752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757EAA3-ADC3-4872-AB21-399987BD7E62}"/>
                </a:ext>
              </a:extLst>
            </p:cNvPr>
            <p:cNvSpPr txBox="1"/>
            <p:nvPr/>
          </p:nvSpPr>
          <p:spPr>
            <a:xfrm>
              <a:off x="992799" y="3094037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C0C196C-5941-4542-A118-FE4580B7C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61763" y="2520334"/>
              <a:ext cx="1831410" cy="264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BD80C8D-0814-4C92-BD8B-A23122558702}"/>
                </a:ext>
              </a:extLst>
            </p:cNvPr>
            <p:cNvSpPr txBox="1"/>
            <p:nvPr/>
          </p:nvSpPr>
          <p:spPr>
            <a:xfrm>
              <a:off x="3844847" y="2144729"/>
              <a:ext cx="5725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0.1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Content Placeholder 1">
                <a:extLst>
                  <a:ext uri="{FF2B5EF4-FFF2-40B4-BE49-F238E27FC236}">
                    <a16:creationId xmlns:a16="http://schemas.microsoft.com/office/drawing/2014/main" id="{7AFB2237-784B-45AE-ADCF-1B33D48915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043" y="1209202"/>
                <a:ext cx="5042426" cy="43847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457200" marR="0" indent="-4572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rgbClr val="FF9B9B"/>
                  </a:buClr>
                  <a:buSzPct val="80000"/>
                  <a:buFont typeface="Wingdings 3" panose="05040102010807070707" pitchFamily="18" charset="2"/>
                  <a:buChar char="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marR="0" indent="-27432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A3A3"/>
                  </a:buClr>
                  <a:buSzPct val="75000"/>
                  <a:buFont typeface="Wingdings 3" panose="05040102010807070707" pitchFamily="18" charset="2"/>
                  <a:buChar char="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797"/>
                  </a:buClr>
                  <a:buSzPct val="7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5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marR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rgbClr val="FF9B9B"/>
                  </a:buClr>
                  <a:buSzPct val="60000"/>
                  <a:buFont typeface="Wingdings 3" panose="05040102010807070707" pitchFamily="18" charset="2"/>
                  <a:buChar char=""/>
                  <a:tabLst/>
                  <a:defRPr lang="en-US" sz="2800" kern="1200" noProof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Qualitative: Does this formula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≥0.5</m:t>
                        </m:r>
                      </m:sub>
                    </m:sSub>
                    <m:d>
                      <m:d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hold in state Brake?</a:t>
                </a:r>
              </a:p>
              <a:p>
                <a:r>
                  <a:rPr lang="en-US" sz="2400" dirty="0"/>
                  <a:t>Yes</a:t>
                </a:r>
              </a:p>
              <a:p>
                <a:r>
                  <a:rPr lang="en-US" sz="2400" dirty="0"/>
                  <a:t>Quantitative: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2400" dirty="0"/>
                  <a:t>?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sub>
                    </m:sSub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≤2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Compute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𝑃𝑟𝑜𝑏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sz="2400" b="1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≤2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/>
                  <a:t>, pick smallest</a:t>
                </a: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sz="2400" dirty="0"/>
              </a:p>
              <a:p>
                <a:pPr marL="411480" lvl="1" indent="0">
                  <a:buNone/>
                </a:pPr>
                <a:r>
                  <a:rPr lang="en-US" sz="2400" dirty="0"/>
                  <a:t>    = 0.5 + 0.2 + 0.3*0.5 + 0.3*0.2</a:t>
                </a:r>
              </a:p>
              <a:p>
                <a:pPr marL="411480" lvl="1" indent="0">
                  <a:buNone/>
                </a:pPr>
                <a:r>
                  <a:rPr lang="en-US" sz="2400" dirty="0"/>
                  <a:t>    = 0.91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=0.91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I.e. with probability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400" dirty="0"/>
                  <a:t> 0.91, driver checks cell phone within 2 steps</a:t>
                </a:r>
              </a:p>
            </p:txBody>
          </p:sp>
        </mc:Choice>
        <mc:Fallback xmlns="">
          <p:sp>
            <p:nvSpPr>
              <p:cNvPr id="49" name="Content Placeholder 1">
                <a:extLst>
                  <a:ext uri="{FF2B5EF4-FFF2-40B4-BE49-F238E27FC236}">
                    <a16:creationId xmlns:a16="http://schemas.microsoft.com/office/drawing/2014/main" id="{7AFB2237-784B-45AE-ADCF-1B33D4891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043" y="1209202"/>
                <a:ext cx="5042426" cy="4384773"/>
              </a:xfrm>
              <a:prstGeom prst="rect">
                <a:avLst/>
              </a:prstGeom>
              <a:blipFill>
                <a:blip r:embed="rId6"/>
                <a:stretch>
                  <a:fillRect l="-846" t="-2778" r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194338D4-9312-4DC8-8BB8-3DBFDC1FE954}"/>
              </a:ext>
            </a:extLst>
          </p:cNvPr>
          <p:cNvSpPr txBox="1"/>
          <p:nvPr/>
        </p:nvSpPr>
        <p:spPr>
          <a:xfrm>
            <a:off x="5684616" y="1832327"/>
            <a:ext cx="342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5E003D9-1B25-49C7-85DF-51231A042718}"/>
              </a:ext>
            </a:extLst>
          </p:cNvPr>
          <p:cNvSpPr txBox="1"/>
          <p:nvPr/>
        </p:nvSpPr>
        <p:spPr>
          <a:xfrm>
            <a:off x="9162245" y="1831922"/>
            <a:ext cx="342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07C388-E3FA-49B4-BB9D-2937ED49405A}"/>
                  </a:ext>
                </a:extLst>
              </p:cNvPr>
              <p:cNvSpPr txBox="1"/>
              <p:nvPr/>
            </p:nvSpPr>
            <p:spPr>
              <a:xfrm>
                <a:off x="6779099" y="653316"/>
                <a:ext cx="336489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800" dirty="0"/>
                  <a:t>: Checking cellphone</a:t>
                </a:r>
              </a:p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800" dirty="0"/>
                  <a:t>: Feeling sleepy 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07C388-E3FA-49B4-BB9D-2937ED494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9099" y="653316"/>
                <a:ext cx="3364896" cy="954107"/>
              </a:xfrm>
              <a:prstGeom prst="rect">
                <a:avLst/>
              </a:prstGeom>
              <a:blipFill>
                <a:blip r:embed="rId7"/>
                <a:stretch>
                  <a:fillRect t="-5732" r="-2355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4438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ℙ</m:t>
                    </m:r>
                  </m:oMath>
                </a14:m>
                <a:r>
                  <a:rPr lang="en-US" dirty="0"/>
                  <a:t> can be thought of as a probabilistic analogue of CTL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𝐄𝐅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d>
                      <m:dPr>
                        <m:ctrlPr>
                          <a:rPr lang="en-US" b="1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𝐅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i="0" dirty="0"/>
                      <m:t>≢</m:t>
                    </m:r>
                    <m:r>
                      <m:rPr>
                        <m:nor/>
                      </m:rPr>
                      <a:rPr lang="en-US" b="0" i="0" dirty="0" smtClean="0"/>
                      <m:t> </m:t>
                    </m:r>
                    <m:r>
                      <m:rPr>
                        <m:nor/>
                      </m:rPr>
                      <a:rPr lang="en-US" b="1" i="0" dirty="0" smtClean="0"/>
                      <m:t>AF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A0DE36F-3405-49EA-8EF2-9665FF954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2" t="-1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80A09-D68D-4576-87A8-70CCC473B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Theory and Algorithms for Formal Verification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A1494-5018-411E-96DE-076887F20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A79DD43-2289-435E-99DE-3B1159BA7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PCTL vs. CTL</a:t>
            </a:r>
          </a:p>
        </p:txBody>
      </p:sp>
    </p:spTree>
    <p:extLst>
      <p:ext uri="{BB962C8B-B14F-4D97-AF65-F5344CB8AC3E}">
        <p14:creationId xmlns:p14="http://schemas.microsoft.com/office/powerpoint/2010/main" val="346299826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D159515-6111-4061-ADE0-B966AB079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2" y="1332703"/>
                <a:ext cx="736700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Toss a coin repeatedly until “tails” is thrown</a:t>
                </a:r>
              </a:p>
              <a:p>
                <a:r>
                  <a:rPr lang="en-US" dirty="0"/>
                  <a:t>Is “tails” eventually thrown along all paths?</a:t>
                </a:r>
              </a:p>
              <a:p>
                <a:pPr lvl="1"/>
                <a:r>
                  <a:rPr lang="en-US" dirty="0"/>
                  <a:t>CTL: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𝐀𝐅</m:t>
                    </m:r>
                  </m:oMath>
                </a14:m>
                <a:r>
                  <a:rPr lang="en-US" dirty="0"/>
                  <a:t> tails</a:t>
                </a:r>
              </a:p>
              <a:p>
                <a:pPr lvl="1"/>
                <a:r>
                  <a:rPr lang="en-US" dirty="0"/>
                  <a:t>Result: false</a:t>
                </a:r>
              </a:p>
              <a:p>
                <a:pPr lvl="1"/>
                <a:r>
                  <a:rPr lang="en-US" dirty="0"/>
                  <a:t>Why?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Is the probability of eventually thrown “tails” equal to 1?</a:t>
                </a:r>
              </a:p>
              <a:p>
                <a:pPr lvl="1"/>
                <a:r>
                  <a:rPr lang="en-US" dirty="0"/>
                  <a:t>PCTL: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 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𝐅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𝑡𝑎𝑖𝑙𝑠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Result</a:t>
                </a:r>
                <a:r>
                  <a:rPr lang="en-US" i="1" dirty="0"/>
                  <a:t>: true</a:t>
                </a:r>
              </a:p>
              <a:p>
                <a:pPr lvl="1"/>
                <a:r>
                  <a:rPr lang="en-US" dirty="0"/>
                  <a:t>Probability of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/>
                  <a:t> is zero!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D159515-6111-4061-ADE0-B966AB079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2" y="1332703"/>
                <a:ext cx="7367004" cy="4351338"/>
              </a:xfrm>
              <a:blipFill>
                <a:blip r:embed="rId2"/>
                <a:stretch>
                  <a:fillRect l="-662" t="-1964" r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17295EB-4CBB-4681-AC16-2CBE106F0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Probabilistic vs. Nondeterministic verification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31C10-22F5-4F81-BD09-C6A5D73FD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4310DD-E1BA-4035-B9A0-F5AADBA79D45}"/>
                  </a:ext>
                </a:extLst>
              </p:cNvPr>
              <p:cNvSpPr/>
              <p:nvPr/>
            </p:nvSpPr>
            <p:spPr>
              <a:xfrm>
                <a:off x="8341609" y="2708809"/>
                <a:ext cx="968783" cy="890124"/>
              </a:xfrm>
              <a:prstGeom prst="ellips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4310DD-E1BA-4035-B9A0-F5AADBA79D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609" y="2708809"/>
                <a:ext cx="968783" cy="89012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317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73396C-1AC5-4663-ABC7-CDDF7FCFB681}"/>
                  </a:ext>
                </a:extLst>
              </p:cNvPr>
              <p:cNvSpPr/>
              <p:nvPr/>
            </p:nvSpPr>
            <p:spPr>
              <a:xfrm>
                <a:off x="9867463" y="1533231"/>
                <a:ext cx="863586" cy="778828"/>
              </a:xfrm>
              <a:prstGeom prst="ellips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D73396C-1AC5-4663-ABC7-CDDF7FCFB6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463" y="1533231"/>
                <a:ext cx="863586" cy="77882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317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5D654F1-3432-403E-A9C9-BBADB2F7A0CF}"/>
                  </a:ext>
                </a:extLst>
              </p:cNvPr>
              <p:cNvSpPr/>
              <p:nvPr/>
            </p:nvSpPr>
            <p:spPr>
              <a:xfrm>
                <a:off x="9904140" y="3904882"/>
                <a:ext cx="968783" cy="890124"/>
              </a:xfrm>
              <a:prstGeom prst="ellipse">
                <a:avLst/>
              </a:prstGeom>
              <a:ln w="31750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5D654F1-3432-403E-A9C9-BBADB2F7A0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4140" y="3904882"/>
                <a:ext cx="968783" cy="89012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175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2CF0C6-A500-491F-92A0-C26D6CDBACE0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9168517" y="2198002"/>
            <a:ext cx="825415" cy="641163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6222A96-3601-4180-9B47-71ABD3864AC8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9168517" y="3468577"/>
            <a:ext cx="877498" cy="566661"/>
          </a:xfrm>
          <a:prstGeom prst="straightConnector1">
            <a:avLst/>
          </a:pr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EA94DA-7450-4CCF-9F93-45E492A9E0F3}"/>
              </a:ext>
            </a:extLst>
          </p:cNvPr>
          <p:cNvSpPr/>
          <p:nvPr/>
        </p:nvSpPr>
        <p:spPr>
          <a:xfrm>
            <a:off x="8820319" y="1861168"/>
            <a:ext cx="1027688" cy="825388"/>
          </a:xfrm>
          <a:custGeom>
            <a:avLst/>
            <a:gdLst>
              <a:gd name="connsiteX0" fmla="*/ 1027688 w 1027688"/>
              <a:gd name="connsiteY0" fmla="*/ 0 h 825388"/>
              <a:gd name="connsiteX1" fmla="*/ 315589 w 1027688"/>
              <a:gd name="connsiteY1" fmla="*/ 145657 h 825388"/>
              <a:gd name="connsiteX2" fmla="*/ 0 w 1027688"/>
              <a:gd name="connsiteY2" fmla="*/ 825388 h 825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7688" h="825388">
                <a:moveTo>
                  <a:pt x="1027688" y="0"/>
                </a:moveTo>
                <a:cubicBezTo>
                  <a:pt x="757279" y="4046"/>
                  <a:pt x="486870" y="8092"/>
                  <a:pt x="315589" y="145657"/>
                </a:cubicBezTo>
                <a:cubicBezTo>
                  <a:pt x="144308" y="283222"/>
                  <a:pt x="72154" y="554305"/>
                  <a:pt x="0" y="825388"/>
                </a:cubicBezTo>
              </a:path>
            </a:pathLst>
          </a:cu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A023399-4E06-455C-8022-A86B6F1DD24D}"/>
              </a:ext>
            </a:extLst>
          </p:cNvPr>
          <p:cNvSpPr/>
          <p:nvPr/>
        </p:nvSpPr>
        <p:spPr>
          <a:xfrm flipV="1">
            <a:off x="10603106" y="3575509"/>
            <a:ext cx="689472" cy="658384"/>
          </a:xfrm>
          <a:custGeom>
            <a:avLst/>
            <a:gdLst>
              <a:gd name="connsiteX0" fmla="*/ 1027688 w 1027688"/>
              <a:gd name="connsiteY0" fmla="*/ 0 h 825388"/>
              <a:gd name="connsiteX1" fmla="*/ 315589 w 1027688"/>
              <a:gd name="connsiteY1" fmla="*/ 145657 h 825388"/>
              <a:gd name="connsiteX2" fmla="*/ 0 w 1027688"/>
              <a:gd name="connsiteY2" fmla="*/ 825388 h 825388"/>
              <a:gd name="connsiteX0" fmla="*/ 1027688 w 1222235"/>
              <a:gd name="connsiteY0" fmla="*/ 0 h 836167"/>
              <a:gd name="connsiteX1" fmla="*/ 1191162 w 1222235"/>
              <a:gd name="connsiteY1" fmla="*/ 805712 h 836167"/>
              <a:gd name="connsiteX2" fmla="*/ 0 w 1222235"/>
              <a:gd name="connsiteY2" fmla="*/ 825388 h 836167"/>
              <a:gd name="connsiteX0" fmla="*/ 941846 w 1132304"/>
              <a:gd name="connsiteY0" fmla="*/ 0 h 810952"/>
              <a:gd name="connsiteX1" fmla="*/ 1105320 w 1132304"/>
              <a:gd name="connsiteY1" fmla="*/ 805712 h 810952"/>
              <a:gd name="connsiteX2" fmla="*/ 0 w 1132304"/>
              <a:gd name="connsiteY2" fmla="*/ 436427 h 810952"/>
              <a:gd name="connsiteX0" fmla="*/ 941846 w 954125"/>
              <a:gd name="connsiteY0" fmla="*/ 0 h 1151132"/>
              <a:gd name="connsiteX1" fmla="*/ 916469 w 954125"/>
              <a:gd name="connsiteY1" fmla="*/ 1147527 h 1151132"/>
              <a:gd name="connsiteX2" fmla="*/ 0 w 954125"/>
              <a:gd name="connsiteY2" fmla="*/ 436427 h 1151132"/>
              <a:gd name="connsiteX0" fmla="*/ 941846 w 977170"/>
              <a:gd name="connsiteY0" fmla="*/ 0 h 1158687"/>
              <a:gd name="connsiteX1" fmla="*/ 896224 w 977170"/>
              <a:gd name="connsiteY1" fmla="*/ 809335 h 1158687"/>
              <a:gd name="connsiteX2" fmla="*/ 916469 w 977170"/>
              <a:gd name="connsiteY2" fmla="*/ 1147527 h 1158687"/>
              <a:gd name="connsiteX3" fmla="*/ 0 w 977170"/>
              <a:gd name="connsiteY3" fmla="*/ 436427 h 1158687"/>
              <a:gd name="connsiteX0" fmla="*/ 941846 w 1462799"/>
              <a:gd name="connsiteY0" fmla="*/ 0 h 1147567"/>
              <a:gd name="connsiteX1" fmla="*/ 1462773 w 1462799"/>
              <a:gd name="connsiteY1" fmla="*/ 467520 h 1147567"/>
              <a:gd name="connsiteX2" fmla="*/ 916469 w 1462799"/>
              <a:gd name="connsiteY2" fmla="*/ 1147527 h 1147567"/>
              <a:gd name="connsiteX3" fmla="*/ 0 w 1462799"/>
              <a:gd name="connsiteY3" fmla="*/ 436427 h 1147567"/>
              <a:gd name="connsiteX0" fmla="*/ 941846 w 1462799"/>
              <a:gd name="connsiteY0" fmla="*/ 0 h 1053283"/>
              <a:gd name="connsiteX1" fmla="*/ 1462773 w 1462799"/>
              <a:gd name="connsiteY1" fmla="*/ 467520 h 1053283"/>
              <a:gd name="connsiteX2" fmla="*/ 521605 w 1462799"/>
              <a:gd name="connsiteY2" fmla="*/ 1053234 h 1053283"/>
              <a:gd name="connsiteX3" fmla="*/ 0 w 1462799"/>
              <a:gd name="connsiteY3" fmla="*/ 436427 h 1053283"/>
              <a:gd name="connsiteX0" fmla="*/ 564147 w 1462786"/>
              <a:gd name="connsiteY0" fmla="*/ 0 h 958990"/>
              <a:gd name="connsiteX1" fmla="*/ 1462773 w 1462786"/>
              <a:gd name="connsiteY1" fmla="*/ 373227 h 958990"/>
              <a:gd name="connsiteX2" fmla="*/ 521605 w 1462786"/>
              <a:gd name="connsiteY2" fmla="*/ 958941 h 958990"/>
              <a:gd name="connsiteX3" fmla="*/ 0 w 1462786"/>
              <a:gd name="connsiteY3" fmla="*/ 342134 h 958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62786" h="958990">
                <a:moveTo>
                  <a:pt x="564147" y="0"/>
                </a:moveTo>
                <a:cubicBezTo>
                  <a:pt x="556543" y="134889"/>
                  <a:pt x="1467002" y="181973"/>
                  <a:pt x="1462773" y="373227"/>
                </a:cubicBezTo>
                <a:cubicBezTo>
                  <a:pt x="1458544" y="564481"/>
                  <a:pt x="765400" y="964123"/>
                  <a:pt x="521605" y="958941"/>
                </a:cubicBezTo>
                <a:cubicBezTo>
                  <a:pt x="277810" y="953759"/>
                  <a:pt x="72154" y="71051"/>
                  <a:pt x="0" y="342134"/>
                </a:cubicBezTo>
              </a:path>
            </a:pathLst>
          </a:custGeom>
          <a:ln w="25400">
            <a:solidFill>
              <a:srgbClr val="00B05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4C910E-15DB-411E-B5A9-E682CE8B0CFB}"/>
              </a:ext>
            </a:extLst>
          </p:cNvPr>
          <p:cNvSpPr txBox="1"/>
          <p:nvPr/>
        </p:nvSpPr>
        <p:spPr>
          <a:xfrm>
            <a:off x="9476793" y="2482044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B1E9D0-DC0F-433A-9AEA-3C8B46EAD1B0}"/>
              </a:ext>
            </a:extLst>
          </p:cNvPr>
          <p:cNvSpPr txBox="1"/>
          <p:nvPr/>
        </p:nvSpPr>
        <p:spPr>
          <a:xfrm>
            <a:off x="9546702" y="3222662"/>
            <a:ext cx="641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1B8135-A886-4508-BD43-C2E647A14203}"/>
              </a:ext>
            </a:extLst>
          </p:cNvPr>
          <p:cNvSpPr txBox="1"/>
          <p:nvPr/>
        </p:nvSpPr>
        <p:spPr>
          <a:xfrm>
            <a:off x="11176888" y="333732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66EA9-A331-437F-A4B7-25DE7308F108}"/>
              </a:ext>
            </a:extLst>
          </p:cNvPr>
          <p:cNvSpPr txBox="1"/>
          <p:nvPr/>
        </p:nvSpPr>
        <p:spPr>
          <a:xfrm>
            <a:off x="8984813" y="1443126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943ED33-20FD-406A-AF3B-0900DF429B1B}"/>
                  </a:ext>
                </a:extLst>
              </p:cNvPr>
              <p:cNvSpPr txBox="1"/>
              <p:nvPr/>
            </p:nvSpPr>
            <p:spPr>
              <a:xfrm>
                <a:off x="10638664" y="1661035"/>
                <a:ext cx="12243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ℎ𝑒𝑎𝑑𝑠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943ED33-20FD-406A-AF3B-0900DF429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8664" y="1661035"/>
                <a:ext cx="12243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98013B1-A306-4924-B6AB-FB26B2E07BD9}"/>
                  </a:ext>
                </a:extLst>
              </p:cNvPr>
              <p:cNvSpPr txBox="1"/>
              <p:nvPr/>
            </p:nvSpPr>
            <p:spPr>
              <a:xfrm>
                <a:off x="10803348" y="4227475"/>
                <a:ext cx="10079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𝑡𝑎𝑖𝑙𝑠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98013B1-A306-4924-B6AB-FB26B2E07B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3348" y="4227475"/>
                <a:ext cx="100796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2D5AF07-EE04-8C60-F5D8-B95F1E8B9B08}"/>
                  </a:ext>
                </a:extLst>
              </p14:cNvPr>
              <p14:cNvContentPartPr/>
              <p14:nvPr/>
            </p14:nvContentPartPr>
            <p14:xfrm>
              <a:off x="7048440" y="1405080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2D5AF07-EE04-8C60-F5D8-B95F1E8B9B0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039080" y="1395720"/>
                <a:ext cx="1908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193239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C683A8C-5BAD-42AA-AEBF-6C800303FB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, the prob. mass function of a geometric distribution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8C683A8C-5BAD-42AA-AEBF-6C800303FB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FD6E949-5F31-4A0B-AAEE-A82F9862A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Geometric distribution for discrete random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0C066-0CE0-462C-9B7A-1796C99A8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57994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C3C957-5901-4C43-B8C1-CFED6FB2C7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6681" y="1332703"/>
                <a:ext cx="11699087" cy="4709282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Residence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of a Markov chain is an </a:t>
                </a:r>
                <a:r>
                  <a:rPr lang="en-US" dirty="0" err="1"/>
                  <a:t>r.v.</a:t>
                </a:r>
                <a:r>
                  <a:rPr lang="en-US" dirty="0"/>
                  <a:t> with geometric distribution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=1 −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sz="2200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=2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en-US" sz="2200" b="0" dirty="0"/>
              </a:p>
              <a:p>
                <a:pPr lvl="1"/>
                <a:r>
                  <a:rPr lang="en-US" sz="2200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𝑃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What is the expected time you stay in a state?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What is the variance?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E2C3C957-5901-4C43-B8C1-CFED6FB2C7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6681" y="1332703"/>
                <a:ext cx="11699087" cy="4709282"/>
              </a:xfrm>
              <a:blipFill>
                <a:blip r:embed="rId2"/>
                <a:stretch>
                  <a:fillRect l="-625" t="-2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D3FFABB-10C3-4EC3-92A9-111EFCFC5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Residence/Dwell times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371B9-D892-4EC7-BA28-1D01902B4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8920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CD25B1-7EA1-4F66-A82C-146EB778A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681" y="1953087"/>
            <a:ext cx="11699087" cy="3730954"/>
          </a:xfrm>
        </p:spPr>
        <p:txBody>
          <a:bodyPr>
            <a:normAutofit/>
          </a:bodyPr>
          <a:lstStyle/>
          <a:p>
            <a:r>
              <a:rPr lang="en-US" dirty="0"/>
              <a:t>Time in DTMC is discrete</a:t>
            </a:r>
          </a:p>
          <a:p>
            <a:r>
              <a:rPr lang="en-US" dirty="0"/>
              <a:t>CTMCs: </a:t>
            </a:r>
          </a:p>
          <a:p>
            <a:pPr lvl="1"/>
            <a:r>
              <a:rPr lang="en-US" dirty="0"/>
              <a:t>dense model of time</a:t>
            </a:r>
          </a:p>
          <a:p>
            <a:pPr lvl="1"/>
            <a:r>
              <a:rPr lang="en-US" dirty="0"/>
              <a:t>transitions can occur at any time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Two ways of modeling CTMCs:</a:t>
            </a:r>
          </a:p>
          <a:p>
            <a:pPr lvl="1"/>
            <a:r>
              <a:rPr lang="en-US" dirty="0"/>
              <a:t>dwell time in a state is (negative) </a:t>
            </a:r>
            <a:r>
              <a:rPr lang="en-US" i="1" dirty="0"/>
              <a:t>exponentially distributed</a:t>
            </a:r>
          </a:p>
          <a:p>
            <a:pPr lvl="1"/>
            <a:r>
              <a:rPr lang="en-US" dirty="0"/>
              <a:t>transition rate is (negative) </a:t>
            </a:r>
            <a:r>
              <a:rPr lang="en-US" i="1" dirty="0"/>
              <a:t>exponentially distributed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04230-E351-45AB-86BA-ABA15D2A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Time Markov Chains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B4F0C8-E8FA-41D2-952A-3C6AD22C5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3856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2FFAE21-93A2-4CEA-8702-420335D22B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Continuous random variable : probability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(≥0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A negative exponentially distributed random variable </a:t>
                </a:r>
                <a:r>
                  <a:rPr lang="en-US" i="1" dirty="0"/>
                  <a:t>X </a:t>
                </a:r>
                <a:r>
                  <a:rPr lang="en-US" dirty="0"/>
                  <a:t>with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has probability density function (pdf)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defined as follows: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2FFAE21-93A2-4CEA-8702-420335D22B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5" t="-1918" r="-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76A5FA1-89E4-428A-A6D7-24F0D8C31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E4E8B-2BAA-43BA-8AAB-A9C1BDA38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54887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3032-2D6E-4A57-8B89-035CA79E46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Cumulative distribution function (CDF)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then: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−∞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en-US" sz="2400" i="0" dirty="0"/>
                          <m:t> </m:t>
                        </m:r>
                      </m:e>
                    </m:d>
                    <m:m>
                      <m:mPr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mr>
                      <m:m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mr>
                    </m:m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US" sz="2400" b="0" i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 err="1"/>
                  <a:t>I.e</a:t>
                </a:r>
                <a:r>
                  <a:rPr lang="en-US" sz="2400" dirty="0"/>
                  <a:t>,. zero probability of doing transition out of a state in duration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, but probability becomes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Fun exercise: show that above CDF is memoryless, i.e.,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Fun exercise 2: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/>
                  <a:t> are </a:t>
                </a:r>
                <a:r>
                  <a:rPr lang="en-US" sz="2400" dirty="0" err="1"/>
                  <a:t>r.v.s</a:t>
                </a:r>
                <a:r>
                  <a:rPr lang="en-US" sz="2400" dirty="0"/>
                  <a:t> negatively exponentially distributed with rates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, then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sz="2400" dirty="0"/>
              </a:p>
              <a:p>
                <a:r>
                  <a:rPr lang="en-US" sz="2400" dirty="0"/>
                  <a:t>Fun exercise 3: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/>
                  <a:t> are negative exponentially distributed with rates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sz="24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,…, 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4CC3032-2D6E-4A57-8B89-035CA79E46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17" t="-1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3359CB6-0DA7-4402-BE37-FB671380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distribution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C681D-7CCA-40F6-B3D7-4B02B0AD2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146728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203E670-FFE5-409E-8CBE-1D1FF34EB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30003" y="1332703"/>
                <a:ext cx="7335766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Tuple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is a finite set of states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sz="2000" dirty="0"/>
                  <a:t> is a transition probability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→[0,1]</m:t>
                    </m:r>
                  </m:oMath>
                </a14:m>
                <a:r>
                  <a:rPr lang="en-US" sz="2000" dirty="0"/>
                  <a:t> is the </a:t>
                </a:r>
                <a:r>
                  <a:rPr lang="en-US" sz="2000" dirty="0" err="1"/>
                  <a:t>init.</a:t>
                </a:r>
                <a:r>
                  <a:rPr lang="en-US" sz="2000" dirty="0"/>
                  <a:t> dist.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  <m:sup/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sz="2000" dirty="0"/>
                  <a:t> is a set of Boolean propositions,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𝐴𝑃</m:t>
                        </m:r>
                      </m:sup>
                    </m:sSup>
                  </m:oMath>
                </a14:m>
                <a:r>
                  <a:rPr lang="en-US" sz="2000" dirty="0"/>
                  <a:t> is a function that assigns some subset of Boolean propositions to each state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p>
                    </m:sSup>
                  </m:oMath>
                </a14:m>
                <a:r>
                  <a:rPr lang="en-US" sz="2000" dirty="0"/>
                  <a:t> is the exit-rate function</a:t>
                </a:r>
              </a:p>
              <a:p>
                <a:r>
                  <a:rPr lang="en-US" sz="2000" dirty="0"/>
                  <a:t>Dwell time in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000" dirty="0"/>
                  <a:t> negative exponentially distributed with rate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Average residence time in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den>
                    </m:f>
                  </m:oMath>
                </a14:m>
                <a:endParaRPr lang="en-US" sz="2000" b="0" dirty="0"/>
              </a:p>
              <a:p>
                <a:pPr lvl="1"/>
                <a:r>
                  <a:rPr lang="en-US" sz="2000" dirty="0"/>
                  <a:t>Bigger the exit-rate, shorter the average residence time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203E670-FFE5-409E-8CBE-1D1FF34EB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30003" y="1332703"/>
                <a:ext cx="7335766" cy="4351338"/>
              </a:xfrm>
              <a:blipFill>
                <a:blip r:embed="rId2"/>
                <a:stretch>
                  <a:fillRect l="-665" t="-1964" r="-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648CE6F-B593-44C9-926A-763968782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CTMC modeled with </a:t>
            </a:r>
            <a:r>
              <a:rPr lang="en-US" dirty="0" err="1"/>
              <a:t>n.exp</a:t>
            </a:r>
            <a:r>
              <a:rPr lang="en-US" dirty="0"/>
              <a:t>. distributed dwell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41BE3-81A0-4372-9ED1-7FD70BB2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14DDF01-3C9A-4C38-97BF-71B210F33EB7}"/>
                  </a:ext>
                </a:extLst>
              </p:cNvPr>
              <p:cNvSpPr/>
              <p:nvPr/>
            </p:nvSpPr>
            <p:spPr>
              <a:xfrm>
                <a:off x="1194179" y="2166583"/>
                <a:ext cx="825689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14DDF01-3C9A-4C38-97BF-71B210F33E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4179" y="2166583"/>
                <a:ext cx="825689" cy="70286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E0BF4D9-38C1-46D2-8E8E-D3C17DC0EB68}"/>
                  </a:ext>
                </a:extLst>
              </p:cNvPr>
              <p:cNvSpPr/>
              <p:nvPr/>
            </p:nvSpPr>
            <p:spPr>
              <a:xfrm>
                <a:off x="3134435" y="2166583"/>
                <a:ext cx="900753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E0BF4D9-38C1-46D2-8E8E-D3C17DC0E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435" y="2166583"/>
                <a:ext cx="900753" cy="702860"/>
              </a:xfrm>
              <a:prstGeom prst="ellipse">
                <a:avLst/>
              </a:prstGeom>
              <a:blipFill>
                <a:blip r:embed="rId4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0FC37B-1F44-4675-B344-C5F1DDF83724}"/>
                  </a:ext>
                </a:extLst>
              </p:cNvPr>
              <p:cNvSpPr/>
              <p:nvPr/>
            </p:nvSpPr>
            <p:spPr>
              <a:xfrm>
                <a:off x="2019868" y="3508372"/>
                <a:ext cx="900753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0FC37B-1F44-4675-B344-C5F1DDF837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868" y="3508372"/>
                <a:ext cx="900753" cy="702860"/>
              </a:xfrm>
              <a:prstGeom prst="ellipse">
                <a:avLst/>
              </a:prstGeom>
              <a:blipFill>
                <a:blip r:embed="rId5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2DECF-880B-422C-95C4-01BF5D531D73}"/>
              </a:ext>
            </a:extLst>
          </p:cNvPr>
          <p:cNvSpPr/>
          <p:nvPr/>
        </p:nvSpPr>
        <p:spPr>
          <a:xfrm>
            <a:off x="1310185" y="2790967"/>
            <a:ext cx="696036" cy="975815"/>
          </a:xfrm>
          <a:custGeom>
            <a:avLst/>
            <a:gdLst>
              <a:gd name="connsiteX0" fmla="*/ 0 w 696036"/>
              <a:gd name="connsiteY0" fmla="*/ 0 h 975815"/>
              <a:gd name="connsiteX1" fmla="*/ 232012 w 696036"/>
              <a:gd name="connsiteY1" fmla="*/ 655093 h 975815"/>
              <a:gd name="connsiteX2" fmla="*/ 696036 w 696036"/>
              <a:gd name="connsiteY2" fmla="*/ 975815 h 975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6036" h="975815">
                <a:moveTo>
                  <a:pt x="0" y="0"/>
                </a:moveTo>
                <a:cubicBezTo>
                  <a:pt x="58003" y="246228"/>
                  <a:pt x="116006" y="492457"/>
                  <a:pt x="232012" y="655093"/>
                </a:cubicBezTo>
                <a:cubicBezTo>
                  <a:pt x="348018" y="817729"/>
                  <a:pt x="522027" y="896772"/>
                  <a:pt x="696036" y="975815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7A0E8-579A-41C5-9DDC-E6D6D5E4B38C}"/>
              </a:ext>
            </a:extLst>
          </p:cNvPr>
          <p:cNvSpPr/>
          <p:nvPr/>
        </p:nvSpPr>
        <p:spPr>
          <a:xfrm>
            <a:off x="1801504" y="2039487"/>
            <a:ext cx="1473959" cy="219217"/>
          </a:xfrm>
          <a:custGeom>
            <a:avLst/>
            <a:gdLst>
              <a:gd name="connsiteX0" fmla="*/ 0 w 1473959"/>
              <a:gd name="connsiteY0" fmla="*/ 157803 h 219217"/>
              <a:gd name="connsiteX1" fmla="*/ 696036 w 1473959"/>
              <a:gd name="connsiteY1" fmla="*/ 853 h 219217"/>
              <a:gd name="connsiteX2" fmla="*/ 1473959 w 1473959"/>
              <a:gd name="connsiteY2" fmla="*/ 219217 h 219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3959" h="219217">
                <a:moveTo>
                  <a:pt x="0" y="157803"/>
                </a:moveTo>
                <a:cubicBezTo>
                  <a:pt x="225188" y="74210"/>
                  <a:pt x="450376" y="-9383"/>
                  <a:pt x="696036" y="853"/>
                </a:cubicBezTo>
                <a:cubicBezTo>
                  <a:pt x="941696" y="11089"/>
                  <a:pt x="1207827" y="115153"/>
                  <a:pt x="1473959" y="219217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B70457C-DDED-4DA0-AFAD-0362288F0D8E}"/>
              </a:ext>
            </a:extLst>
          </p:cNvPr>
          <p:cNvSpPr/>
          <p:nvPr/>
        </p:nvSpPr>
        <p:spPr>
          <a:xfrm>
            <a:off x="1856096" y="2722728"/>
            <a:ext cx="1337480" cy="138450"/>
          </a:xfrm>
          <a:custGeom>
            <a:avLst/>
            <a:gdLst>
              <a:gd name="connsiteX0" fmla="*/ 1337480 w 1337480"/>
              <a:gd name="connsiteY0" fmla="*/ 0 h 138450"/>
              <a:gd name="connsiteX1" fmla="*/ 634620 w 1337480"/>
              <a:gd name="connsiteY1" fmla="*/ 136478 h 138450"/>
              <a:gd name="connsiteX2" fmla="*/ 0 w 1337480"/>
              <a:gd name="connsiteY2" fmla="*/ 68239 h 13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37480" h="138450">
                <a:moveTo>
                  <a:pt x="1337480" y="0"/>
                </a:moveTo>
                <a:cubicBezTo>
                  <a:pt x="1097506" y="62552"/>
                  <a:pt x="857533" y="125105"/>
                  <a:pt x="634620" y="136478"/>
                </a:cubicBezTo>
                <a:cubicBezTo>
                  <a:pt x="411707" y="147851"/>
                  <a:pt x="205853" y="108045"/>
                  <a:pt x="0" y="68239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3C3602-8B7A-462E-84A2-14C0908D1E92}"/>
              </a:ext>
            </a:extLst>
          </p:cNvPr>
          <p:cNvSpPr/>
          <p:nvPr/>
        </p:nvSpPr>
        <p:spPr>
          <a:xfrm>
            <a:off x="1890215" y="2804615"/>
            <a:ext cx="354842" cy="736979"/>
          </a:xfrm>
          <a:custGeom>
            <a:avLst/>
            <a:gdLst>
              <a:gd name="connsiteX0" fmla="*/ 354842 w 354842"/>
              <a:gd name="connsiteY0" fmla="*/ 736979 h 736979"/>
              <a:gd name="connsiteX1" fmla="*/ 218364 w 354842"/>
              <a:gd name="connsiteY1" fmla="*/ 266131 h 736979"/>
              <a:gd name="connsiteX2" fmla="*/ 0 w 354842"/>
              <a:gd name="connsiteY2" fmla="*/ 0 h 736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4842" h="736979">
                <a:moveTo>
                  <a:pt x="354842" y="736979"/>
                </a:moveTo>
                <a:cubicBezTo>
                  <a:pt x="316173" y="562970"/>
                  <a:pt x="277504" y="388961"/>
                  <a:pt x="218364" y="266131"/>
                </a:cubicBezTo>
                <a:cubicBezTo>
                  <a:pt x="159224" y="143301"/>
                  <a:pt x="79612" y="71650"/>
                  <a:pt x="0" y="0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E25D4D-1ECB-4183-813F-325ECE241102}"/>
              </a:ext>
            </a:extLst>
          </p:cNvPr>
          <p:cNvSpPr txBox="1"/>
          <p:nvPr/>
        </p:nvSpPr>
        <p:spPr>
          <a:xfrm>
            <a:off x="2057400" y="1729684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0.6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68344B-DB9C-4410-AB46-D03C0EC39CE8}"/>
              </a:ext>
            </a:extLst>
          </p:cNvPr>
          <p:cNvSpPr txBox="1"/>
          <p:nvPr/>
        </p:nvSpPr>
        <p:spPr>
          <a:xfrm>
            <a:off x="904164" y="3278874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0.8</a:t>
            </a:r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E990FB2-569B-4D54-B001-9AC1CCB9701C}"/>
              </a:ext>
            </a:extLst>
          </p:cNvPr>
          <p:cNvSpPr/>
          <p:nvPr/>
        </p:nvSpPr>
        <p:spPr>
          <a:xfrm>
            <a:off x="4026090" y="2353454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219290C-A0DE-48D1-8125-DE08AE7B9D0E}"/>
              </a:ext>
            </a:extLst>
          </p:cNvPr>
          <p:cNvSpPr/>
          <p:nvPr/>
        </p:nvSpPr>
        <p:spPr>
          <a:xfrm>
            <a:off x="2900258" y="3668333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8DEE245-9C19-4FA3-97D0-E73197ABEA03}"/>
              </a:ext>
            </a:extLst>
          </p:cNvPr>
          <p:cNvSpPr/>
          <p:nvPr/>
        </p:nvSpPr>
        <p:spPr>
          <a:xfrm rot="11686522">
            <a:off x="820823" y="2209864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AEA73B-ED8D-4799-B1F2-586FDEEBA961}"/>
              </a:ext>
            </a:extLst>
          </p:cNvPr>
          <p:cNvSpPr txBox="1"/>
          <p:nvPr/>
        </p:nvSpPr>
        <p:spPr>
          <a:xfrm>
            <a:off x="4076022" y="2140179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0.4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9FC6AB-90DE-4848-AAD9-ABAE38DA4744}"/>
              </a:ext>
            </a:extLst>
          </p:cNvPr>
          <p:cNvSpPr txBox="1"/>
          <p:nvPr/>
        </p:nvSpPr>
        <p:spPr>
          <a:xfrm>
            <a:off x="2071048" y="2579427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0.3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ACD0B1-FCB4-4AE6-A756-2E1CB64933C4}"/>
              </a:ext>
            </a:extLst>
          </p:cNvPr>
          <p:cNvSpPr txBox="1"/>
          <p:nvPr/>
        </p:nvSpPr>
        <p:spPr>
          <a:xfrm>
            <a:off x="1924336" y="3015498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0.6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1E2D6A-02D7-44CE-B493-B298FA387916}"/>
              </a:ext>
            </a:extLst>
          </p:cNvPr>
          <p:cNvSpPr txBox="1"/>
          <p:nvPr/>
        </p:nvSpPr>
        <p:spPr>
          <a:xfrm>
            <a:off x="3108387" y="3738640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0.2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D9DD44-308F-4A4A-BEBE-F5CACED5A477}"/>
              </a:ext>
            </a:extLst>
          </p:cNvPr>
          <p:cNvSpPr txBox="1"/>
          <p:nvPr/>
        </p:nvSpPr>
        <p:spPr>
          <a:xfrm>
            <a:off x="254758" y="2166583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0.1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4716AC-06AA-42E9-9D04-E4FF185827D4}"/>
              </a:ext>
            </a:extLst>
          </p:cNvPr>
          <p:cNvSpPr txBox="1"/>
          <p:nvPr/>
        </p:nvSpPr>
        <p:spPr>
          <a:xfrm>
            <a:off x="1288643" y="1757152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0.1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B21908-FB8A-49F4-B4F6-336A331963B5}"/>
              </a:ext>
            </a:extLst>
          </p:cNvPr>
          <p:cNvSpPr txBox="1"/>
          <p:nvPr/>
        </p:nvSpPr>
        <p:spPr>
          <a:xfrm>
            <a:off x="2273612" y="418088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0.5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BAD7C2-FF50-4B1B-8FA4-8990C60E1DE1}"/>
              </a:ext>
            </a:extLst>
          </p:cNvPr>
          <p:cNvSpPr txBox="1"/>
          <p:nvPr/>
        </p:nvSpPr>
        <p:spPr>
          <a:xfrm>
            <a:off x="3475603" y="28353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6584635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8DD3C97-819A-4092-813B-3557C7A5F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sz="2800" dirty="0"/>
                  <a:t>Transition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′ 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dirty="0"/>
                  <a:t>modeled</a:t>
                </a:r>
                <a:r>
                  <a:rPr lang="en-US" sz="2800" dirty="0"/>
                  <a:t> as a </a:t>
                </a:r>
                <a:r>
                  <a:rPr lang="en-US" sz="2800" dirty="0" err="1"/>
                  <a:t>r.v.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2800" dirty="0"/>
                  <a:t> that is neg</a:t>
                </a:r>
                <a:r>
                  <a:rPr lang="en-US" dirty="0"/>
                  <a:t>ative</a:t>
                </a:r>
                <a:r>
                  <a:rPr lang="en-US" sz="2800" dirty="0"/>
                  <a:t> exponentially distributed with rate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800" dirty="0"/>
              </a:p>
              <a:p>
                <a:r>
                  <a:rPr lang="en-US" sz="2800" b="0" dirty="0"/>
                  <a:t>Bigger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800" b="0" i="0" dirty="0"/>
                  <a:t>means </a:t>
                </a:r>
                <a:r>
                  <a:rPr lang="en-US" sz="2800" b="0" i="1" dirty="0"/>
                  <a:t>lower </a:t>
                </a:r>
                <a:r>
                  <a:rPr lang="en-US" dirty="0"/>
                  <a:t>probability of going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800" b="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sz="2800" b="0" dirty="0"/>
              </a:p>
              <a:p>
                <a:r>
                  <a:rPr lang="en-US" sz="2800" dirty="0"/>
                  <a:t>Probability of reaching state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800" dirty="0"/>
                  <a:t> 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800" dirty="0"/>
                  <a:t> 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 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∈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suc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𝑐𝑒𝑠𝑜𝑟𝑠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𝑜𝑓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m:rPr>
                                <m:lit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′}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func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sz="2800" dirty="0"/>
              </a:p>
              <a:p>
                <a:r>
                  <a:rPr lang="en-US" sz="2800" dirty="0"/>
                  <a:t>Transition rate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800" b="0" dirty="0"/>
              </a:p>
              <a:p>
                <a:endParaRPr lang="en-US" sz="2800" b="0" dirty="0"/>
              </a:p>
              <a:p>
                <a:endParaRPr lang="en-US" sz="2800" dirty="0"/>
              </a:p>
              <a:p>
                <a:endParaRPr lang="en-US" sz="2800" b="0" dirty="0"/>
              </a:p>
              <a:p>
                <a:r>
                  <a:rPr lang="en-US" b="0" dirty="0"/>
                  <a:t>Probability of moving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[0,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8DD3C97-819A-4092-813B-3557C7A5F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1" t="-2758" r="-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BBC9F78-3875-48D4-A90C-C97D6D56E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CTMC modeled with </a:t>
            </a:r>
            <a:r>
              <a:rPr lang="en-US" dirty="0" err="1"/>
              <a:t>n.e.</a:t>
            </a:r>
            <a:r>
              <a:rPr lang="en-US" dirty="0"/>
              <a:t> distributed transition rate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71804-ACFB-45D0-9073-A092560C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764F758-6C5C-4628-AF72-8743890F68A0}"/>
                  </a:ext>
                </a:extLst>
              </p:cNvPr>
              <p:cNvSpPr txBox="1"/>
              <p:nvPr/>
            </p:nvSpPr>
            <p:spPr>
              <a:xfrm>
                <a:off x="2940113" y="4234385"/>
                <a:ext cx="1716047" cy="369332"/>
              </a:xfrm>
              <a:prstGeom prst="wedgeRectCallout">
                <a:avLst>
                  <a:gd name="adj1" fmla="val 40893"/>
                  <a:gd name="adj2" fmla="val -92238"/>
                </a:avLst>
              </a:prstGeom>
              <a:noFill/>
              <a:ln>
                <a:solidFill>
                  <a:schemeClr val="tx2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Rate of exiting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764F758-6C5C-4628-AF72-8743890F68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113" y="4234385"/>
                <a:ext cx="1716047" cy="369332"/>
              </a:xfrm>
              <a:prstGeom prst="wedgeRectCallout">
                <a:avLst>
                  <a:gd name="adj1" fmla="val 40893"/>
                  <a:gd name="adj2" fmla="val -92238"/>
                </a:avLst>
              </a:prstGeom>
              <a:blipFill>
                <a:blip r:embed="rId3"/>
                <a:stretch>
                  <a:fillRect l="-2465" b="-17045"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3C7B3E-9B83-4BE8-8A66-9BE09ACB61A2}"/>
                  </a:ext>
                </a:extLst>
              </p:cNvPr>
              <p:cNvSpPr txBox="1"/>
              <p:nvPr/>
            </p:nvSpPr>
            <p:spPr>
              <a:xfrm>
                <a:off x="5107247" y="4156420"/>
                <a:ext cx="2482218" cy="369332"/>
              </a:xfrm>
              <a:prstGeom prst="wedgeRectCallout">
                <a:avLst>
                  <a:gd name="adj1" fmla="val -33493"/>
                  <a:gd name="adj2" fmla="val -87080"/>
                </a:avLst>
              </a:prstGeom>
              <a:noFill/>
              <a:ln>
                <a:solidFill>
                  <a:schemeClr val="tx2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Probability of going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3C7B3E-9B83-4BE8-8A66-9BE09ACB61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7247" y="4156420"/>
                <a:ext cx="2482218" cy="369332"/>
              </a:xfrm>
              <a:prstGeom prst="wedgeRectCallout">
                <a:avLst>
                  <a:gd name="adj1" fmla="val -33493"/>
                  <a:gd name="adj2" fmla="val -87080"/>
                </a:avLst>
              </a:prstGeom>
              <a:blipFill>
                <a:blip r:embed="rId4"/>
                <a:stretch>
                  <a:fillRect l="-1956" b="-17647"/>
                </a:stretch>
              </a:blipFill>
              <a:ln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145030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203E670-FFE5-409E-8CBE-1D1FF34EB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52928" y="921058"/>
                <a:ext cx="7377389" cy="501588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Probability to go from state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𝑙𝑎𝑛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𝑙𝑎𝑛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000" dirty="0"/>
                  <a:t>is: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sSub>
                          <m:sSubPr>
                            <m:ctrl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+1,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+1,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+1,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den>
                        </m:f>
                      </m:e>
                    </m:d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sz="2000" dirty="0"/>
                  <a:t>What is the probability of changing to some lane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𝑙𝑎𝑛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seconds?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𝑙𝑎𝑛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𝑙𝑎𝑛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=(1−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𝑙𝑎𝑛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203E670-FFE5-409E-8CBE-1D1FF34EB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52928" y="921058"/>
                <a:ext cx="7377389" cy="5015883"/>
              </a:xfrm>
              <a:blipFill>
                <a:blip r:embed="rId2"/>
                <a:stretch>
                  <a:fillRect l="-331" t="-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648CE6F-B593-44C9-926A-763968782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CTMC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41BE3-81A0-4372-9ED1-7FD70BB29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14DDF01-3C9A-4C38-97BF-71B210F33EB7}"/>
                  </a:ext>
                </a:extLst>
              </p:cNvPr>
              <p:cNvSpPr/>
              <p:nvPr/>
            </p:nvSpPr>
            <p:spPr>
              <a:xfrm>
                <a:off x="1194179" y="2166583"/>
                <a:ext cx="825689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14DDF01-3C9A-4C38-97BF-71B210F33E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4179" y="2166583"/>
                <a:ext cx="825689" cy="70286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E0BF4D9-38C1-46D2-8E8E-D3C17DC0EB68}"/>
                  </a:ext>
                </a:extLst>
              </p:cNvPr>
              <p:cNvSpPr/>
              <p:nvPr/>
            </p:nvSpPr>
            <p:spPr>
              <a:xfrm>
                <a:off x="3134435" y="2166583"/>
                <a:ext cx="900753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E0BF4D9-38C1-46D2-8E8E-D3C17DC0E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435" y="2166583"/>
                <a:ext cx="900753" cy="702860"/>
              </a:xfrm>
              <a:prstGeom prst="ellipse">
                <a:avLst/>
              </a:prstGeom>
              <a:blipFill>
                <a:blip r:embed="rId4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0FC37B-1F44-4675-B344-C5F1DDF83724}"/>
                  </a:ext>
                </a:extLst>
              </p:cNvPr>
              <p:cNvSpPr/>
              <p:nvPr/>
            </p:nvSpPr>
            <p:spPr>
              <a:xfrm>
                <a:off x="2019868" y="3508372"/>
                <a:ext cx="900753" cy="70286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𝑙𝑎𝑛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80FC37B-1F44-4675-B344-C5F1DDF837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868" y="3508372"/>
                <a:ext cx="900753" cy="702860"/>
              </a:xfrm>
              <a:prstGeom prst="ellipse">
                <a:avLst/>
              </a:prstGeom>
              <a:blipFill>
                <a:blip r:embed="rId5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2DECF-880B-422C-95C4-01BF5D531D73}"/>
              </a:ext>
            </a:extLst>
          </p:cNvPr>
          <p:cNvSpPr/>
          <p:nvPr/>
        </p:nvSpPr>
        <p:spPr>
          <a:xfrm>
            <a:off x="1310185" y="2790967"/>
            <a:ext cx="696036" cy="975815"/>
          </a:xfrm>
          <a:custGeom>
            <a:avLst/>
            <a:gdLst>
              <a:gd name="connsiteX0" fmla="*/ 0 w 696036"/>
              <a:gd name="connsiteY0" fmla="*/ 0 h 975815"/>
              <a:gd name="connsiteX1" fmla="*/ 232012 w 696036"/>
              <a:gd name="connsiteY1" fmla="*/ 655093 h 975815"/>
              <a:gd name="connsiteX2" fmla="*/ 696036 w 696036"/>
              <a:gd name="connsiteY2" fmla="*/ 975815 h 975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96036" h="975815">
                <a:moveTo>
                  <a:pt x="0" y="0"/>
                </a:moveTo>
                <a:cubicBezTo>
                  <a:pt x="58003" y="246228"/>
                  <a:pt x="116006" y="492457"/>
                  <a:pt x="232012" y="655093"/>
                </a:cubicBezTo>
                <a:cubicBezTo>
                  <a:pt x="348018" y="817729"/>
                  <a:pt x="522027" y="896772"/>
                  <a:pt x="696036" y="975815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7A0E8-579A-41C5-9DDC-E6D6D5E4B38C}"/>
              </a:ext>
            </a:extLst>
          </p:cNvPr>
          <p:cNvSpPr/>
          <p:nvPr/>
        </p:nvSpPr>
        <p:spPr>
          <a:xfrm>
            <a:off x="1801504" y="2039487"/>
            <a:ext cx="1473959" cy="219217"/>
          </a:xfrm>
          <a:custGeom>
            <a:avLst/>
            <a:gdLst>
              <a:gd name="connsiteX0" fmla="*/ 0 w 1473959"/>
              <a:gd name="connsiteY0" fmla="*/ 157803 h 219217"/>
              <a:gd name="connsiteX1" fmla="*/ 696036 w 1473959"/>
              <a:gd name="connsiteY1" fmla="*/ 853 h 219217"/>
              <a:gd name="connsiteX2" fmla="*/ 1473959 w 1473959"/>
              <a:gd name="connsiteY2" fmla="*/ 219217 h 219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3959" h="219217">
                <a:moveTo>
                  <a:pt x="0" y="157803"/>
                </a:moveTo>
                <a:cubicBezTo>
                  <a:pt x="225188" y="74210"/>
                  <a:pt x="450376" y="-9383"/>
                  <a:pt x="696036" y="853"/>
                </a:cubicBezTo>
                <a:cubicBezTo>
                  <a:pt x="941696" y="11089"/>
                  <a:pt x="1207827" y="115153"/>
                  <a:pt x="1473959" y="219217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B70457C-DDED-4DA0-AFAD-0362288F0D8E}"/>
              </a:ext>
            </a:extLst>
          </p:cNvPr>
          <p:cNvSpPr/>
          <p:nvPr/>
        </p:nvSpPr>
        <p:spPr>
          <a:xfrm>
            <a:off x="1856096" y="2722728"/>
            <a:ext cx="1337480" cy="138450"/>
          </a:xfrm>
          <a:custGeom>
            <a:avLst/>
            <a:gdLst>
              <a:gd name="connsiteX0" fmla="*/ 1337480 w 1337480"/>
              <a:gd name="connsiteY0" fmla="*/ 0 h 138450"/>
              <a:gd name="connsiteX1" fmla="*/ 634620 w 1337480"/>
              <a:gd name="connsiteY1" fmla="*/ 136478 h 138450"/>
              <a:gd name="connsiteX2" fmla="*/ 0 w 1337480"/>
              <a:gd name="connsiteY2" fmla="*/ 68239 h 138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37480" h="138450">
                <a:moveTo>
                  <a:pt x="1337480" y="0"/>
                </a:moveTo>
                <a:cubicBezTo>
                  <a:pt x="1097506" y="62552"/>
                  <a:pt x="857533" y="125105"/>
                  <a:pt x="634620" y="136478"/>
                </a:cubicBezTo>
                <a:cubicBezTo>
                  <a:pt x="411707" y="147851"/>
                  <a:pt x="205853" y="108045"/>
                  <a:pt x="0" y="68239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3C3602-8B7A-462E-84A2-14C0908D1E92}"/>
              </a:ext>
            </a:extLst>
          </p:cNvPr>
          <p:cNvSpPr/>
          <p:nvPr/>
        </p:nvSpPr>
        <p:spPr>
          <a:xfrm>
            <a:off x="1890215" y="2804615"/>
            <a:ext cx="354842" cy="736979"/>
          </a:xfrm>
          <a:custGeom>
            <a:avLst/>
            <a:gdLst>
              <a:gd name="connsiteX0" fmla="*/ 354842 w 354842"/>
              <a:gd name="connsiteY0" fmla="*/ 736979 h 736979"/>
              <a:gd name="connsiteX1" fmla="*/ 218364 w 354842"/>
              <a:gd name="connsiteY1" fmla="*/ 266131 h 736979"/>
              <a:gd name="connsiteX2" fmla="*/ 0 w 354842"/>
              <a:gd name="connsiteY2" fmla="*/ 0 h 736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4842" h="736979">
                <a:moveTo>
                  <a:pt x="354842" y="736979"/>
                </a:moveTo>
                <a:cubicBezTo>
                  <a:pt x="316173" y="562970"/>
                  <a:pt x="277504" y="388961"/>
                  <a:pt x="218364" y="266131"/>
                </a:cubicBezTo>
                <a:cubicBezTo>
                  <a:pt x="159224" y="143301"/>
                  <a:pt x="79612" y="71650"/>
                  <a:pt x="0" y="0"/>
                </a:cubicBezTo>
              </a:path>
            </a:pathLst>
          </a:custGeom>
          <a:noFill/>
          <a:ln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E25D4D-1ECB-4183-813F-325ECE241102}"/>
              </a:ext>
            </a:extLst>
          </p:cNvPr>
          <p:cNvSpPr txBox="1"/>
          <p:nvPr/>
        </p:nvSpPr>
        <p:spPr>
          <a:xfrm>
            <a:off x="2057400" y="1729684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0.6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68344B-DB9C-4410-AB46-D03C0EC39CE8}"/>
              </a:ext>
            </a:extLst>
          </p:cNvPr>
          <p:cNvSpPr txBox="1"/>
          <p:nvPr/>
        </p:nvSpPr>
        <p:spPr>
          <a:xfrm>
            <a:off x="904164" y="3278874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0.8</a:t>
            </a:r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E990FB2-569B-4D54-B001-9AC1CCB9701C}"/>
              </a:ext>
            </a:extLst>
          </p:cNvPr>
          <p:cNvSpPr/>
          <p:nvPr/>
        </p:nvSpPr>
        <p:spPr>
          <a:xfrm>
            <a:off x="4026090" y="2353454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219290C-A0DE-48D1-8125-DE08AE7B9D0E}"/>
              </a:ext>
            </a:extLst>
          </p:cNvPr>
          <p:cNvSpPr/>
          <p:nvPr/>
        </p:nvSpPr>
        <p:spPr>
          <a:xfrm>
            <a:off x="2900258" y="3668333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8DEE245-9C19-4FA3-97D0-E73197ABEA03}"/>
              </a:ext>
            </a:extLst>
          </p:cNvPr>
          <p:cNvSpPr/>
          <p:nvPr/>
        </p:nvSpPr>
        <p:spPr>
          <a:xfrm rot="11686522">
            <a:off x="820823" y="2209864"/>
            <a:ext cx="389070" cy="382938"/>
          </a:xfrm>
          <a:custGeom>
            <a:avLst/>
            <a:gdLst>
              <a:gd name="connsiteX0" fmla="*/ 0 w 389070"/>
              <a:gd name="connsiteY0" fmla="*/ 266916 h 382938"/>
              <a:gd name="connsiteX1" fmla="*/ 177420 w 389070"/>
              <a:gd name="connsiteY1" fmla="*/ 382922 h 382938"/>
              <a:gd name="connsiteX2" fmla="*/ 382137 w 389070"/>
              <a:gd name="connsiteY2" fmla="*/ 260092 h 382938"/>
              <a:gd name="connsiteX3" fmla="*/ 320722 w 389070"/>
              <a:gd name="connsiteY3" fmla="*/ 75847 h 382938"/>
              <a:gd name="connsiteX4" fmla="*/ 122829 w 389070"/>
              <a:gd name="connsiteY4" fmla="*/ 785 h 382938"/>
              <a:gd name="connsiteX5" fmla="*/ 6823 w 389070"/>
              <a:gd name="connsiteY5" fmla="*/ 116791 h 3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9070" h="382938">
                <a:moveTo>
                  <a:pt x="0" y="266916"/>
                </a:moveTo>
                <a:cubicBezTo>
                  <a:pt x="56865" y="325487"/>
                  <a:pt x="113731" y="384059"/>
                  <a:pt x="177420" y="382922"/>
                </a:cubicBezTo>
                <a:cubicBezTo>
                  <a:pt x="241109" y="381785"/>
                  <a:pt x="358253" y="311271"/>
                  <a:pt x="382137" y="260092"/>
                </a:cubicBezTo>
                <a:cubicBezTo>
                  <a:pt x="406021" y="208913"/>
                  <a:pt x="363940" y="119065"/>
                  <a:pt x="320722" y="75847"/>
                </a:cubicBezTo>
                <a:cubicBezTo>
                  <a:pt x="277504" y="32629"/>
                  <a:pt x="175146" y="-6039"/>
                  <a:pt x="122829" y="785"/>
                </a:cubicBezTo>
                <a:cubicBezTo>
                  <a:pt x="70512" y="7609"/>
                  <a:pt x="38667" y="62200"/>
                  <a:pt x="6823" y="116791"/>
                </a:cubicBezTo>
              </a:path>
            </a:pathLst>
          </a:custGeom>
          <a:noFill/>
          <a:ln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AEA73B-ED8D-4799-B1F2-586FDEEBA961}"/>
              </a:ext>
            </a:extLst>
          </p:cNvPr>
          <p:cNvSpPr txBox="1"/>
          <p:nvPr/>
        </p:nvSpPr>
        <p:spPr>
          <a:xfrm>
            <a:off x="4076022" y="2140179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0.4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9FC6AB-90DE-4848-AAD9-ABAE38DA4744}"/>
              </a:ext>
            </a:extLst>
          </p:cNvPr>
          <p:cNvSpPr txBox="1"/>
          <p:nvPr/>
        </p:nvSpPr>
        <p:spPr>
          <a:xfrm>
            <a:off x="2071048" y="2579427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0.3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ACD0B1-FCB4-4AE6-A756-2E1CB64933C4}"/>
              </a:ext>
            </a:extLst>
          </p:cNvPr>
          <p:cNvSpPr txBox="1"/>
          <p:nvPr/>
        </p:nvSpPr>
        <p:spPr>
          <a:xfrm>
            <a:off x="1924336" y="3015498"/>
            <a:ext cx="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0.6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61E2D6A-02D7-44CE-B493-B298FA387916}"/>
              </a:ext>
            </a:extLst>
          </p:cNvPr>
          <p:cNvSpPr txBox="1"/>
          <p:nvPr/>
        </p:nvSpPr>
        <p:spPr>
          <a:xfrm>
            <a:off x="3108387" y="3738640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0.2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D9DD44-308F-4A4A-BEBE-F5CACED5A477}"/>
              </a:ext>
            </a:extLst>
          </p:cNvPr>
          <p:cNvSpPr txBox="1"/>
          <p:nvPr/>
        </p:nvSpPr>
        <p:spPr>
          <a:xfrm>
            <a:off x="254758" y="2166583"/>
            <a:ext cx="6960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0.1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14716AC-06AA-42E9-9D04-E4FF185827D4}"/>
              </a:ext>
            </a:extLst>
          </p:cNvPr>
          <p:cNvSpPr txBox="1"/>
          <p:nvPr/>
        </p:nvSpPr>
        <p:spPr>
          <a:xfrm>
            <a:off x="1288643" y="1757152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0.1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B21908-FB8A-49F4-B4F6-336A331963B5}"/>
              </a:ext>
            </a:extLst>
          </p:cNvPr>
          <p:cNvSpPr txBox="1"/>
          <p:nvPr/>
        </p:nvSpPr>
        <p:spPr>
          <a:xfrm>
            <a:off x="2273612" y="418088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0.5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0BAD7C2-FF50-4B1B-8FA4-8990C60E1DE1}"/>
              </a:ext>
            </a:extLst>
          </p:cNvPr>
          <p:cNvSpPr txBox="1"/>
          <p:nvPr/>
        </p:nvSpPr>
        <p:spPr>
          <a:xfrm>
            <a:off x="3475603" y="28353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536861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34FA1A6-1968-426C-BD31-759337CD6D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0557" y="1332703"/>
                <a:ext cx="7415212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≥0.5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Recall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/>
                  <a:t>Also recall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lim>
                            </m:limLow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+∑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Probability to go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func>
                          <m:funcPr>
                            <m:ctrlPr>
                              <a:rPr lang="en-US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sub>
                                </m:sSub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0,0.5</m:t>
                            </m:r>
                          </m:e>
                        </m:d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enabled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0,0.5</m:t>
                                </m:r>
                              </m:e>
                            </m:d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×0.5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34FA1A6-1968-426C-BD31-759337CD6D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0557" y="1332703"/>
                <a:ext cx="7415212" cy="4351338"/>
              </a:xfrm>
              <a:blipFill>
                <a:blip r:embed="rId2"/>
                <a:stretch>
                  <a:fillRect l="-6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B63AEA5-F093-45C9-8431-78FC419CB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0" y="430374"/>
            <a:ext cx="10920419" cy="778828"/>
          </a:xfrm>
        </p:spPr>
        <p:txBody>
          <a:bodyPr/>
          <a:lstStyle/>
          <a:p>
            <a:r>
              <a:rPr lang="en-US" dirty="0"/>
              <a:t>CTMC + PCTL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5D284-A56E-41D8-8AB7-2056DEC11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AD378-655A-49C6-813C-9FD132EF7440}" type="slidenum">
              <a:rPr lang="en-US" smtClean="0"/>
              <a:pPr/>
              <a:t>128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C9249F9-0248-414D-8857-4344859CB743}"/>
                  </a:ext>
                </a:extLst>
              </p:cNvPr>
              <p:cNvSpPr/>
              <p:nvPr/>
            </p:nvSpPr>
            <p:spPr>
              <a:xfrm>
                <a:off x="857250" y="2886075"/>
                <a:ext cx="535781" cy="542925"/>
              </a:xfrm>
              <a:prstGeom prst="ellipse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FC9249F9-0248-414D-8857-4344859CB7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2886075"/>
                <a:ext cx="535781" cy="542925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E5FDBE8-6A43-4BB6-B410-0F6ADA58D3C0}"/>
                  </a:ext>
                </a:extLst>
              </p:cNvPr>
              <p:cNvSpPr/>
              <p:nvPr/>
            </p:nvSpPr>
            <p:spPr>
              <a:xfrm>
                <a:off x="2580080" y="1874044"/>
                <a:ext cx="535781" cy="542925"/>
              </a:xfrm>
              <a:prstGeom prst="ellipse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E5FDBE8-6A43-4BB6-B410-0F6ADA58D3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0080" y="1874044"/>
                <a:ext cx="535781" cy="542925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218E2BA-059E-4D23-859B-583115DA6CE9}"/>
                  </a:ext>
                </a:extLst>
              </p:cNvPr>
              <p:cNvSpPr/>
              <p:nvPr/>
            </p:nvSpPr>
            <p:spPr>
              <a:xfrm>
                <a:off x="2559842" y="2886075"/>
                <a:ext cx="535781" cy="542925"/>
              </a:xfrm>
              <a:prstGeom prst="ellipse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218E2BA-059E-4D23-859B-583115DA6C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842" y="2886075"/>
                <a:ext cx="535781" cy="542925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57A1F30-C124-4834-8928-44F69A430896}"/>
                  </a:ext>
                </a:extLst>
              </p:cNvPr>
              <p:cNvSpPr/>
              <p:nvPr/>
            </p:nvSpPr>
            <p:spPr>
              <a:xfrm>
                <a:off x="2559841" y="4108920"/>
                <a:ext cx="535781" cy="542925"/>
              </a:xfrm>
              <a:prstGeom prst="ellipse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57A1F30-C124-4834-8928-44F69A430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9841" y="4108920"/>
                <a:ext cx="535781" cy="542925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2EC12F-E143-4F9A-9ED6-B1E49B5B1D1E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1393031" y="3157538"/>
            <a:ext cx="11668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1AA939-0DEA-45B1-93FF-A262203C7D75}"/>
              </a:ext>
            </a:extLst>
          </p:cNvPr>
          <p:cNvCxnSpPr>
            <a:cxnSpLocks/>
            <a:stCxn id="5" idx="7"/>
            <a:endCxn id="6" idx="3"/>
          </p:cNvCxnSpPr>
          <p:nvPr/>
        </p:nvCxnSpPr>
        <p:spPr>
          <a:xfrm flipV="1">
            <a:off x="1314568" y="2337459"/>
            <a:ext cx="1343975" cy="62812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4D0806-D1E6-4766-8629-A8260B622966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1314568" y="3349490"/>
            <a:ext cx="1323736" cy="83894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038648B-0914-4B35-8822-AD6C86DBAF91}"/>
              </a:ext>
            </a:extLst>
          </p:cNvPr>
          <p:cNvSpPr txBox="1"/>
          <p:nvPr/>
        </p:nvSpPr>
        <p:spPr>
          <a:xfrm>
            <a:off x="1761889" y="2232303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375536-ED99-4EF4-926D-24AEFCB90FB2}"/>
              </a:ext>
            </a:extLst>
          </p:cNvPr>
          <p:cNvSpPr txBox="1"/>
          <p:nvPr/>
        </p:nvSpPr>
        <p:spPr>
          <a:xfrm>
            <a:off x="1803193" y="315753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19FB3D-FA42-4EC4-9073-3ED6240FB744}"/>
              </a:ext>
            </a:extLst>
          </p:cNvPr>
          <p:cNvSpPr txBox="1"/>
          <p:nvPr/>
        </p:nvSpPr>
        <p:spPr>
          <a:xfrm>
            <a:off x="1734063" y="3866139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47AB5F-DEC6-47C2-A08E-6E3B3C2E79A2}"/>
                  </a:ext>
                </a:extLst>
              </p:cNvPr>
              <p:cNvSpPr txBox="1"/>
              <p:nvPr/>
            </p:nvSpPr>
            <p:spPr>
              <a:xfrm>
                <a:off x="3002679" y="1757818"/>
                <a:ext cx="541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347AB5F-DEC6-47C2-A08E-6E3B3C2E7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679" y="1757818"/>
                <a:ext cx="541751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52E6AC-1829-4206-9FF9-64E7044EE58F}"/>
                  </a:ext>
                </a:extLst>
              </p:cNvPr>
              <p:cNvSpPr txBox="1"/>
              <p:nvPr/>
            </p:nvSpPr>
            <p:spPr>
              <a:xfrm>
                <a:off x="3089241" y="2965585"/>
                <a:ext cx="368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52E6AC-1829-4206-9FF9-64E7044EE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241" y="2965585"/>
                <a:ext cx="36862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A7F522-5630-4A1B-A3F2-02B803C53EDE}"/>
                  </a:ext>
                </a:extLst>
              </p:cNvPr>
              <p:cNvSpPr txBox="1"/>
              <p:nvPr/>
            </p:nvSpPr>
            <p:spPr>
              <a:xfrm>
                <a:off x="3082775" y="4195716"/>
                <a:ext cx="5417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¬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2A7F522-5630-4A1B-A3F2-02B803C53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2775" y="4195716"/>
                <a:ext cx="541750" cy="369332"/>
              </a:xfrm>
              <a:prstGeom prst="rect">
                <a:avLst/>
              </a:prstGeom>
              <a:blipFill>
                <a:blip r:embed="rId9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F6B3CB0-C035-4A48-A30A-EFF73AADDC39}"/>
                  </a:ext>
                </a:extLst>
              </p:cNvPr>
              <p:cNvSpPr txBox="1"/>
              <p:nvPr/>
            </p:nvSpPr>
            <p:spPr>
              <a:xfrm>
                <a:off x="306103" y="3476041"/>
                <a:ext cx="11819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F6B3CB0-C035-4A48-A30A-EFF73AADD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103" y="3476041"/>
                <a:ext cx="1181927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00568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157007-FD10-46D2-B23C-11C167C67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US" sz="1200" dirty="0">
                <a:solidFill>
                  <a:srgbClr val="FF0000"/>
                </a:solidFill>
              </a:rPr>
              <a:t>Breach : </a:t>
            </a:r>
            <a:r>
              <a:rPr lang="en-US" sz="1200" dirty="0">
                <a:solidFill>
                  <a:srgbClr val="FF0000"/>
                </a:solidFill>
                <a:hlinkClick r:id="rId2"/>
              </a:rPr>
              <a:t>https://link.springer.com/chapter/10.1007/978-3-642-14295-6_17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1200" dirty="0" err="1"/>
              <a:t>Prajna</a:t>
            </a:r>
            <a:r>
              <a:rPr lang="en-US" sz="1200" dirty="0"/>
              <a:t>, S., &amp; </a:t>
            </a:r>
            <a:r>
              <a:rPr lang="en-US" sz="1200" dirty="0" err="1"/>
              <a:t>Jadbabaie</a:t>
            </a:r>
            <a:r>
              <a:rPr lang="en-US" sz="1200" dirty="0"/>
              <a:t>, A. (2004, March). Safety verification of hybrid systems using barrier certificates. In </a:t>
            </a:r>
            <a:r>
              <a:rPr lang="en-US" sz="1200" i="1" dirty="0"/>
              <a:t>International Workshop on Hybrid Systems: Computation and Control</a:t>
            </a:r>
            <a:r>
              <a:rPr lang="en-US" sz="1200" dirty="0"/>
              <a:t> (pp. 477-492).</a:t>
            </a:r>
          </a:p>
          <a:p>
            <a:pPr>
              <a:buFont typeface="+mj-lt"/>
              <a:buAutoNum type="arabicPeriod"/>
            </a:pPr>
            <a:r>
              <a:rPr lang="en-US" sz="1200" dirty="0" err="1"/>
              <a:t>Duggirala</a:t>
            </a:r>
            <a:r>
              <a:rPr lang="en-US" sz="1200" dirty="0"/>
              <a:t>, </a:t>
            </a:r>
            <a:r>
              <a:rPr lang="en-US" sz="1200" dirty="0" err="1"/>
              <a:t>Parasara</a:t>
            </a:r>
            <a:r>
              <a:rPr lang="en-US" sz="1200" dirty="0"/>
              <a:t> Sridhar, et al. "C2E2: a verification tool for </a:t>
            </a:r>
            <a:r>
              <a:rPr lang="en-US" sz="1200" dirty="0" err="1"/>
              <a:t>stateflow</a:t>
            </a:r>
            <a:r>
              <a:rPr lang="en-US" sz="1200" dirty="0"/>
              <a:t> models." </a:t>
            </a:r>
            <a:r>
              <a:rPr lang="en-US" sz="1200" i="1" dirty="0"/>
              <a:t>International Conference on Tools and Algorithms for the Construction and Analysis of Systems</a:t>
            </a:r>
            <a:r>
              <a:rPr lang="en-US" sz="1200" dirty="0"/>
              <a:t>. 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Frehse, Goran, Colas Le </a:t>
            </a:r>
            <a:r>
              <a:rPr lang="en-US" sz="1200" dirty="0" err="1"/>
              <a:t>Guernic</a:t>
            </a:r>
            <a:r>
              <a:rPr lang="en-US" sz="1200" dirty="0"/>
              <a:t>, Alexandre Donzé, Scott Cotton, </a:t>
            </a:r>
            <a:r>
              <a:rPr lang="en-US" sz="1200" dirty="0" err="1"/>
              <a:t>Rajarshi</a:t>
            </a:r>
            <a:r>
              <a:rPr lang="en-US" sz="1200" dirty="0"/>
              <a:t> Ray, Olivier </a:t>
            </a:r>
            <a:r>
              <a:rPr lang="en-US" sz="1200" dirty="0" err="1"/>
              <a:t>Lebeltel</a:t>
            </a:r>
            <a:r>
              <a:rPr lang="en-US" sz="1200" dirty="0"/>
              <a:t>, Rodolfo </a:t>
            </a:r>
            <a:r>
              <a:rPr lang="en-US" sz="1200" dirty="0" err="1"/>
              <a:t>Ripado</a:t>
            </a:r>
            <a:r>
              <a:rPr lang="en-US" sz="1200" dirty="0"/>
              <a:t>, Antoine Girard, Thao Dang, and Oded Maler. "</a:t>
            </a:r>
            <a:r>
              <a:rPr lang="en-US" sz="1200" dirty="0" err="1"/>
              <a:t>SpaceEx</a:t>
            </a:r>
            <a:r>
              <a:rPr lang="en-US" sz="1200" dirty="0"/>
              <a:t>: Scalable verification of hybrid systems." In </a:t>
            </a:r>
            <a:r>
              <a:rPr lang="en-US" sz="1200" i="1" dirty="0"/>
              <a:t>International Conference on Computer Aided Verification</a:t>
            </a:r>
            <a:r>
              <a:rPr lang="en-US" sz="1200" dirty="0"/>
              <a:t>, pp. 379-395. Springer, Berlin, Heidelberg, 2011.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Chen, Xin, Erika </a:t>
            </a:r>
            <a:r>
              <a:rPr lang="en-US" sz="1200" dirty="0" err="1"/>
              <a:t>Ábrahám</a:t>
            </a:r>
            <a:r>
              <a:rPr lang="en-US" sz="1200" dirty="0"/>
              <a:t>, and Sriram </a:t>
            </a:r>
            <a:r>
              <a:rPr lang="en-US" sz="1200" dirty="0" err="1"/>
              <a:t>Sankaranarayanan</a:t>
            </a:r>
            <a:r>
              <a:rPr lang="en-US" sz="1200" dirty="0"/>
              <a:t>. "Flow*: An analyzer for non-linear hybrid systems." In </a:t>
            </a:r>
            <a:r>
              <a:rPr lang="en-US" sz="1200" i="1" dirty="0"/>
              <a:t>International Conference on Computer Aided Verification</a:t>
            </a:r>
            <a:r>
              <a:rPr lang="en-US" sz="1200" dirty="0"/>
              <a:t>, pp. 258-263. Springer, Berlin, Heidelberg, 2013.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Frehse, Goran. "</a:t>
            </a:r>
            <a:r>
              <a:rPr lang="en-US" sz="1200" dirty="0" err="1"/>
              <a:t>PHAVer</a:t>
            </a:r>
            <a:r>
              <a:rPr lang="en-US" sz="1200" dirty="0"/>
              <a:t>: Algorithmic verification of hybrid systems past </a:t>
            </a:r>
            <a:r>
              <a:rPr lang="en-US" sz="1200" dirty="0" err="1"/>
              <a:t>HyTech</a:t>
            </a:r>
            <a:r>
              <a:rPr lang="en-US" sz="1200" dirty="0"/>
              <a:t>." </a:t>
            </a:r>
            <a:r>
              <a:rPr lang="en-US" sz="1200" i="1" dirty="0"/>
              <a:t>International workshop on hybrid systems: computation and control</a:t>
            </a:r>
            <a:r>
              <a:rPr lang="en-US" sz="1200" dirty="0"/>
              <a:t>. Springer, Berlin, Heidelberg, 2005</a:t>
            </a:r>
          </a:p>
          <a:p>
            <a:pPr>
              <a:buFont typeface="+mj-lt"/>
              <a:buAutoNum type="arabicPeriod"/>
            </a:pPr>
            <a:r>
              <a:rPr lang="en-US" sz="1200" dirty="0" err="1"/>
              <a:t>Asarin</a:t>
            </a:r>
            <a:r>
              <a:rPr lang="en-US" sz="1200" dirty="0"/>
              <a:t>, E., Dang, T., &amp; Maler, O. (2002, July). The d/</a:t>
            </a:r>
            <a:r>
              <a:rPr lang="en-US" sz="1200" dirty="0" err="1"/>
              <a:t>dt</a:t>
            </a:r>
            <a:r>
              <a:rPr lang="en-US" sz="1200" dirty="0"/>
              <a:t> tool for verification of hybrid systems. In </a:t>
            </a:r>
            <a:r>
              <a:rPr lang="en-US" sz="1200" i="1" dirty="0"/>
              <a:t>International Conference on Computer Aided Verification</a:t>
            </a:r>
            <a:r>
              <a:rPr lang="en-US" sz="1200" dirty="0"/>
              <a:t> (pp. 365-370). Springer, Berlin, Heidelberg.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Fan, </a:t>
            </a:r>
            <a:r>
              <a:rPr lang="en-US" sz="1200" dirty="0" err="1"/>
              <a:t>Chuchu</a:t>
            </a:r>
            <a:r>
              <a:rPr lang="en-US" sz="1200" dirty="0"/>
              <a:t>, Bolun Qi, </a:t>
            </a:r>
            <a:r>
              <a:rPr lang="en-US" sz="1200" dirty="0" err="1"/>
              <a:t>Sayan</a:t>
            </a:r>
            <a:r>
              <a:rPr lang="en-US" sz="1200" dirty="0"/>
              <a:t> </a:t>
            </a:r>
            <a:r>
              <a:rPr lang="en-US" sz="1200" dirty="0" err="1"/>
              <a:t>Mitra</a:t>
            </a:r>
            <a:r>
              <a:rPr lang="en-US" sz="1200" dirty="0"/>
              <a:t>, Mahesh Viswanathan, and </a:t>
            </a:r>
            <a:r>
              <a:rPr lang="en-US" sz="1200" dirty="0" err="1"/>
              <a:t>Parasara</a:t>
            </a:r>
            <a:r>
              <a:rPr lang="en-US" sz="1200" dirty="0"/>
              <a:t> Sridhar </a:t>
            </a:r>
            <a:r>
              <a:rPr lang="en-US" sz="1200" dirty="0" err="1"/>
              <a:t>Duggirala</a:t>
            </a:r>
            <a:r>
              <a:rPr lang="en-US" sz="1200" dirty="0"/>
              <a:t>. "Automatic reachability analysis for nonlinear hybrid models with C2E2." In </a:t>
            </a:r>
            <a:r>
              <a:rPr lang="en-US" sz="1200" i="1" dirty="0"/>
              <a:t>International Conference on Computer Aided Verification</a:t>
            </a:r>
            <a:r>
              <a:rPr lang="en-US" sz="1200" dirty="0"/>
              <a:t>, pp. 531-538. Springer, Cham, 2016.</a:t>
            </a:r>
          </a:p>
          <a:p>
            <a:pPr>
              <a:buFont typeface="+mj-lt"/>
              <a:buAutoNum type="arabicPeriod"/>
            </a:pPr>
            <a:r>
              <a:rPr lang="en-US" sz="1200" dirty="0"/>
              <a:t>Donzé, Alexandre, and Oded Maler. "Systematic simulation using sensitivity analysis." In </a:t>
            </a:r>
            <a:r>
              <a:rPr lang="en-US" sz="1200" i="1" dirty="0"/>
              <a:t>International Workshop on Hybrid Systems: Computation and Control</a:t>
            </a:r>
            <a:r>
              <a:rPr lang="en-US" sz="1200" dirty="0"/>
              <a:t>, pp. 174-189. Springer, Berlin, Heidelberg, 2007</a:t>
            </a:r>
            <a:endParaRPr lang="en-US" sz="1200" dirty="0">
              <a:solidFill>
                <a:srgbClr val="FF0000"/>
              </a:solidFill>
            </a:endParaRPr>
          </a:p>
          <a:p>
            <a:pPr>
              <a:buFont typeface="+mj-lt"/>
              <a:buAutoNum type="arabicPeriod"/>
            </a:pP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D671-731B-41FA-9AC5-734BEBC4B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ACD441-B642-4940-AE7C-07E06CC58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198435"/>
            <a:ext cx="2743200" cy="365125"/>
          </a:xfrm>
        </p:spPr>
        <p:txBody>
          <a:bodyPr/>
          <a:lstStyle/>
          <a:p>
            <a:fld id="{29AAD378-655A-49C6-813C-9FD132EF7440}" type="slidenum">
              <a:rPr lang="en-US" smtClean="0"/>
              <a:pPr/>
              <a:t>129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280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22624</TotalTime>
  <Words>9753</Words>
  <Application>Microsoft Office PowerPoint</Application>
  <PresentationFormat>Widescreen</PresentationFormat>
  <Paragraphs>1442</Paragraphs>
  <Slides>129</Slides>
  <Notes>5</Notes>
  <HiddenSlides>10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40" baseType="lpstr">
      <vt:lpstr>Arial</vt:lpstr>
      <vt:lpstr>Arial Black</vt:lpstr>
      <vt:lpstr>Calibri</vt:lpstr>
      <vt:lpstr>Calibri Light</vt:lpstr>
      <vt:lpstr>Cambria</vt:lpstr>
      <vt:lpstr>Cambria Math</vt:lpstr>
      <vt:lpstr>Garamond</vt:lpstr>
      <vt:lpstr>Times New Roman</vt:lpstr>
      <vt:lpstr>Wingdings</vt:lpstr>
      <vt:lpstr>Wingdings 3</vt:lpstr>
      <vt:lpstr>Office Theme</vt:lpstr>
      <vt:lpstr>Autonomous Cyber-Physical Systems:  Deductive verification + Model Checking</vt:lpstr>
      <vt:lpstr>Safety Requirements/Specifications</vt:lpstr>
      <vt:lpstr>(Labelled) Transition System</vt:lpstr>
      <vt:lpstr>Example of a TS</vt:lpstr>
      <vt:lpstr>Transition Systems and state</vt:lpstr>
      <vt:lpstr>Example transitions for TS</vt:lpstr>
      <vt:lpstr>TS describes all possible transitions</vt:lpstr>
      <vt:lpstr>Reachable states of a modified switch TS</vt:lpstr>
      <vt:lpstr>Desirable behaviors of a TS</vt:lpstr>
      <vt:lpstr>Safety invariants </vt:lpstr>
      <vt:lpstr>Safety invariants </vt:lpstr>
      <vt:lpstr>Proofs of Safety</vt:lpstr>
      <vt:lpstr>Inductive Safety Proof</vt:lpstr>
      <vt:lpstr>Inductive Invariant</vt:lpstr>
      <vt:lpstr>Proving inductive invariants: I</vt:lpstr>
      <vt:lpstr>Proving inductive invariants: I</vt:lpstr>
      <vt:lpstr>Proving inductive invariants: II</vt:lpstr>
      <vt:lpstr>Proving inductive invariants: II</vt:lpstr>
      <vt:lpstr>Proving inductive invariants: III</vt:lpstr>
      <vt:lpstr>Proving inductive invariants: III</vt:lpstr>
      <vt:lpstr>How do we prove safety invariants?</vt:lpstr>
      <vt:lpstr>What’s an inductive invariant for this system?</vt:lpstr>
      <vt:lpstr>Soundness and Completeness of Safety with Inductive Invariants</vt:lpstr>
      <vt:lpstr>Safety Proof for Switch</vt:lpstr>
      <vt:lpstr>PowerPoint Presentation</vt:lpstr>
      <vt:lpstr>Reachability</vt:lpstr>
      <vt:lpstr>Reachability to compute invariants</vt:lpstr>
      <vt:lpstr>Reachability</vt:lpstr>
      <vt:lpstr>Reachability for general processes</vt:lpstr>
      <vt:lpstr>Model checking &amp; Automatic Verification</vt:lpstr>
      <vt:lpstr>What is model checking? </vt:lpstr>
      <vt:lpstr>PowerPoint Presentation</vt:lpstr>
      <vt:lpstr>Computation Tree Logic</vt:lpstr>
      <vt:lpstr>Computation Tree</vt:lpstr>
      <vt:lpstr>CTL Syntax</vt:lpstr>
      <vt:lpstr>CTL semantics</vt:lpstr>
      <vt:lpstr>CTL Semantics through examples</vt:lpstr>
      <vt:lpstr>CTL semantics through examples</vt:lpstr>
      <vt:lpstr>CTL semantics through examples</vt:lpstr>
      <vt:lpstr>CTL Operator fun</vt:lpstr>
      <vt:lpstr>CTL advantages and limitations</vt:lpstr>
      <vt:lpstr>CTL model checking</vt:lpstr>
      <vt:lpstr>EFgreen</vt:lpstr>
      <vt:lpstr>EFgreen</vt:lpstr>
      <vt:lpstr>EFgreen</vt:lpstr>
      <vt:lpstr>EFgreen</vt:lpstr>
      <vt:lpstr>EFgreen</vt:lpstr>
      <vt:lpstr>CTL model checking</vt:lpstr>
      <vt:lpstr>EGgreen</vt:lpstr>
      <vt:lpstr>EGgreen</vt:lpstr>
      <vt:lpstr>PowerPoint Presentation</vt:lpstr>
      <vt:lpstr>EGgreen  : What if bottom state was not green?</vt:lpstr>
      <vt:lpstr>Greatest and least fixpoints</vt:lpstr>
      <vt:lpstr>CTL model checking in a nutshell </vt:lpstr>
      <vt:lpstr>PowerPoint Presentation</vt:lpstr>
      <vt:lpstr>Detour to automata and formal languages</vt:lpstr>
      <vt:lpstr>Finite state automata</vt:lpstr>
      <vt:lpstr>How does a finite state automaton work?</vt:lpstr>
      <vt:lpstr>Language of a finite state automaton</vt:lpstr>
      <vt:lpstr>Safety Requirements/Specifications</vt:lpstr>
      <vt:lpstr>LTL is a language for expressing system requirements</vt:lpstr>
      <vt:lpstr>LTL Monitors </vt:lpstr>
      <vt:lpstr>Büchi automaton: Example 1</vt:lpstr>
      <vt:lpstr>Büchi automaton Example 2</vt:lpstr>
      <vt:lpstr>Büchi automaton Example 3</vt:lpstr>
      <vt:lpstr>Büchi automaton and LTL</vt:lpstr>
      <vt:lpstr>Büchi automaton Example 2</vt:lpstr>
      <vt:lpstr>Büchi automaton Example 3</vt:lpstr>
      <vt:lpstr>Using Büchi monitors</vt:lpstr>
      <vt:lpstr>Büchi monitors for runtime monitoring</vt:lpstr>
      <vt:lpstr>LTL Model checking</vt:lpstr>
      <vt:lpstr>Example of LTL model checking for Blinker</vt:lpstr>
      <vt:lpstr>Processes &amp; Fairness</vt:lpstr>
      <vt:lpstr>Weak vs. Strong fairness</vt:lpstr>
      <vt:lpstr>Expressing fairness assumptions in LTL: I</vt:lpstr>
      <vt:lpstr>Expressing fairness assumptions in LTL: II</vt:lpstr>
      <vt:lpstr>PowerPoint Presentation</vt:lpstr>
      <vt:lpstr>Safety verification using barrier certificates</vt:lpstr>
      <vt:lpstr>Strict barrier certificate</vt:lpstr>
      <vt:lpstr>Example</vt:lpstr>
      <vt:lpstr>Example</vt:lpstr>
      <vt:lpstr>Control Barrier Functions</vt:lpstr>
      <vt:lpstr>Viability Kernels</vt:lpstr>
      <vt:lpstr>Time-bounded Reachability</vt:lpstr>
      <vt:lpstr>Problem definition</vt:lpstr>
      <vt:lpstr>Solutions to time-bounded reachability</vt:lpstr>
      <vt:lpstr>Under-approximation</vt:lpstr>
      <vt:lpstr>Under-approximation: sound for bug-finding</vt:lpstr>
      <vt:lpstr>Under-approximation: unsound for verification</vt:lpstr>
      <vt:lpstr>Over-approximation</vt:lpstr>
      <vt:lpstr>Reachability for piecewise affine (PWA) systems</vt:lpstr>
      <vt:lpstr>Reachability for affine systems</vt:lpstr>
      <vt:lpstr>Problem for CPS (hybrid systems)</vt:lpstr>
      <vt:lpstr>Reachability for nonlinear systems</vt:lpstr>
      <vt:lpstr>Combining under and over-approximations</vt:lpstr>
      <vt:lpstr>Simlulation-guided reachability depiction</vt:lpstr>
      <vt:lpstr>Secret sauce: how to bloat</vt:lpstr>
      <vt:lpstr>PowerPoint Presentation</vt:lpstr>
      <vt:lpstr>Probabilistic Models</vt:lpstr>
      <vt:lpstr>Stochastic Process</vt:lpstr>
      <vt:lpstr>Markov chains</vt:lpstr>
      <vt:lpstr>Discrete-time Markov chain (DTMC)</vt:lpstr>
      <vt:lpstr>Formal definition: DTMC as a transition system</vt:lpstr>
      <vt:lpstr>Markov chain example: Driver modeling</vt:lpstr>
      <vt:lpstr>Markov chain: Transition probability matrix</vt:lpstr>
      <vt:lpstr>Probability of moving n steps</vt:lpstr>
      <vt:lpstr>PCTL</vt:lpstr>
      <vt:lpstr>Example PCTL formulas</vt:lpstr>
      <vt:lpstr>PCTL equivalences</vt:lpstr>
      <vt:lpstr>PCTL vs. CTL</vt:lpstr>
      <vt:lpstr>Quantitative vs. Qualitative model checking</vt:lpstr>
      <vt:lpstr>Model checking PCTL</vt:lpstr>
      <vt:lpstr>Computing P_(∼p) ψ</vt:lpstr>
      <vt:lpstr>Computing P_(∼p ) Φ U^(≤k)  Ψ</vt:lpstr>
      <vt:lpstr>Computing P_(∼p ) Φ U^(&lt;∞)  Ψ</vt:lpstr>
      <vt:lpstr>Types of problems in Probabilistic Verification</vt:lpstr>
      <vt:lpstr>PCTL</vt:lpstr>
      <vt:lpstr>PCTL vs. CTL</vt:lpstr>
      <vt:lpstr>Probabilistic vs. Nondeterministic verification </vt:lpstr>
      <vt:lpstr>Geometric distribution for discrete random variables</vt:lpstr>
      <vt:lpstr>Residence/Dwell times</vt:lpstr>
      <vt:lpstr>Continuous Time Markov Chains</vt:lpstr>
      <vt:lpstr>Exponential distribution</vt:lpstr>
      <vt:lpstr>Exponential distribution properties</vt:lpstr>
      <vt:lpstr>CTMC modeled with n.exp. distributed dwell time</vt:lpstr>
      <vt:lpstr>CTMC modeled with n.e. distributed transition rate</vt:lpstr>
      <vt:lpstr>CTMC example</vt:lpstr>
      <vt:lpstr>CTMC + PCTL</vt:lpstr>
      <vt:lpstr>Bibliography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Cyber-Physical Systems</dc:title>
  <dc:creator>Jyo Deshmukh</dc:creator>
  <cp:lastModifiedBy>Jyotirmoy Vinay Deshmukh</cp:lastModifiedBy>
  <cp:revision>372</cp:revision>
  <dcterms:created xsi:type="dcterms:W3CDTF">2018-01-04T23:14:16Z</dcterms:created>
  <dcterms:modified xsi:type="dcterms:W3CDTF">2026-10-13T22:18:19Z</dcterms:modified>
</cp:coreProperties>
</file>