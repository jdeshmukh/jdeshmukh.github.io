
<file path=[Content_Types].xml><?xml version="1.0" encoding="utf-8"?>
<Types xmlns="http://schemas.openxmlformats.org/package/2006/content-types"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497" r:id="rId3"/>
    <p:sldId id="448" r:id="rId4"/>
    <p:sldId id="449" r:id="rId5"/>
    <p:sldId id="450" r:id="rId6"/>
    <p:sldId id="451" r:id="rId7"/>
    <p:sldId id="520" r:id="rId8"/>
    <p:sldId id="521" r:id="rId9"/>
    <p:sldId id="452" r:id="rId10"/>
    <p:sldId id="436" r:id="rId11"/>
    <p:sldId id="437" r:id="rId12"/>
    <p:sldId id="438" r:id="rId13"/>
    <p:sldId id="435" r:id="rId14"/>
    <p:sldId id="439" r:id="rId15"/>
    <p:sldId id="440" r:id="rId16"/>
    <p:sldId id="441" r:id="rId17"/>
    <p:sldId id="444" r:id="rId18"/>
    <p:sldId id="442" r:id="rId19"/>
    <p:sldId id="445" r:id="rId20"/>
    <p:sldId id="443" r:id="rId21"/>
    <p:sldId id="446" r:id="rId22"/>
    <p:sldId id="447" r:id="rId23"/>
    <p:sldId id="275" r:id="rId24"/>
    <p:sldId id="423" r:id="rId25"/>
    <p:sldId id="522" r:id="rId26"/>
    <p:sldId id="424" r:id="rId27"/>
    <p:sldId id="523" r:id="rId28"/>
    <p:sldId id="524" r:id="rId29"/>
    <p:sldId id="425" r:id="rId30"/>
    <p:sldId id="525" r:id="rId31"/>
    <p:sldId id="426" r:id="rId32"/>
    <p:sldId id="285" r:id="rId33"/>
    <p:sldId id="287" r:id="rId34"/>
    <p:sldId id="288" r:id="rId35"/>
    <p:sldId id="456" r:id="rId36"/>
    <p:sldId id="292" r:id="rId37"/>
    <p:sldId id="293" r:id="rId38"/>
    <p:sldId id="294" r:id="rId39"/>
    <p:sldId id="295" r:id="rId40"/>
    <p:sldId id="296" r:id="rId41"/>
    <p:sldId id="453" r:id="rId42"/>
    <p:sldId id="408" r:id="rId43"/>
    <p:sldId id="291" r:id="rId44"/>
    <p:sldId id="507" r:id="rId45"/>
    <p:sldId id="508" r:id="rId46"/>
    <p:sldId id="509" r:id="rId47"/>
    <p:sldId id="510" r:id="rId48"/>
    <p:sldId id="511" r:id="rId49"/>
    <p:sldId id="512" r:id="rId50"/>
    <p:sldId id="513" r:id="rId51"/>
    <p:sldId id="514" r:id="rId52"/>
    <p:sldId id="515" r:id="rId53"/>
    <p:sldId id="415" r:id="rId54"/>
    <p:sldId id="41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90" autoAdjust="0"/>
  </p:normalViewPr>
  <p:slideViewPr>
    <p:cSldViewPr snapToGrid="0">
      <p:cViewPr varScale="1">
        <p:scale>
          <a:sx n="155" d="100"/>
          <a:sy n="155" d="100"/>
        </p:scale>
        <p:origin x="270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24T22:00:39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19579 3903 0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68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68E44-8558-4F8E-998F-C8D77AAEB5C5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32811"/>
            <a:ext cx="11699087" cy="475123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/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/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/>
            </a:lvl3pPr>
            <a:lvl4pPr>
              <a:buClr>
                <a:srgbClr val="FF9B9B"/>
              </a:buClr>
              <a:buSzPct val="65000"/>
              <a:defRPr/>
            </a:lvl4pPr>
            <a:lvl5pPr>
              <a:buClr>
                <a:srgbClr val="FF9B9B"/>
              </a:buClr>
              <a:buSzPct val="6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54505" y="71549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7412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07308" y="639498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01A77-BF69-4415-A597-D07BB7853E0D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4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0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6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400" kern="1200" noProof="0" dirty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000.png"/><Relationship Id="rId7" Type="http://schemas.openxmlformats.org/officeDocument/2006/relationships/image" Target="../media/image110.png"/><Relationship Id="rId2" Type="http://schemas.openxmlformats.org/officeDocument/2006/relationships/image" Target="../media/image6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1900.png"/><Relationship Id="rId7" Type="http://schemas.openxmlformats.org/officeDocument/2006/relationships/image" Target="../media/image2300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7" Type="http://schemas.openxmlformats.org/officeDocument/2006/relationships/image" Target="../media/image24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0.png"/><Relationship Id="rId5" Type="http://schemas.openxmlformats.org/officeDocument/2006/relationships/image" Target="../media/image2500.png"/><Relationship Id="rId4" Type="http://schemas.openxmlformats.org/officeDocument/2006/relationships/image" Target="../media/image200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7" Type="http://schemas.openxmlformats.org/officeDocument/2006/relationships/image" Target="../media/image112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1100.png"/><Relationship Id="rId4" Type="http://schemas.openxmlformats.org/officeDocument/2006/relationships/image" Target="../media/image109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140.png"/><Relationship Id="rId7" Type="http://schemas.openxmlformats.org/officeDocument/2006/relationships/image" Target="../media/image118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5" Type="http://schemas.openxmlformats.org/officeDocument/2006/relationships/image" Target="../media/image1160.png"/><Relationship Id="rId4" Type="http://schemas.openxmlformats.org/officeDocument/2006/relationships/image" Target="../media/image1150.png"/><Relationship Id="rId9" Type="http://schemas.openxmlformats.org/officeDocument/2006/relationships/image" Target="../media/image31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0.png"/><Relationship Id="rId4" Type="http://schemas.openxmlformats.org/officeDocument/2006/relationships/image" Target="../media/image130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0.png"/><Relationship Id="rId4" Type="http://schemas.openxmlformats.org/officeDocument/2006/relationships/image" Target="../media/image130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642-14295-6_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4400" dirty="0"/>
              <a:t>Autonomous Cyber-Physical Systems:</a:t>
            </a:r>
            <a:br>
              <a:rPr lang="en-US" sz="4400" dirty="0"/>
            </a:br>
            <a:br>
              <a:rPr lang="en-US" sz="4400" dirty="0"/>
            </a:br>
            <a:r>
              <a:rPr lang="en-US" sz="2000" dirty="0"/>
              <a:t>Deductive verification + Model Checking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EC061-E25A-41D5-83DE-B7F316651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Formal verification for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0314E-2482-499A-BBC4-5A1F3EC1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3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9B527-7CF6-489B-880A-28A12C18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Barrier certificate: safety invariant for a continuous dynamical system</a:t>
            </a:r>
          </a:p>
          <a:p>
            <a:r>
              <a:rPr lang="en-US" dirty="0"/>
              <a:t>It establishes an invisible barrier that trajectories of a system cannot cross</a:t>
            </a:r>
          </a:p>
          <a:p>
            <a:pPr lvl="1"/>
            <a:r>
              <a:rPr lang="en-US" dirty="0"/>
              <a:t>(think of it as a force-field)</a:t>
            </a:r>
          </a:p>
          <a:p>
            <a:r>
              <a:rPr lang="en-US" dirty="0"/>
              <a:t>Reasoning very similar to that of an inductive invariant</a:t>
            </a:r>
          </a:p>
          <a:p>
            <a:pPr lvl="1"/>
            <a:r>
              <a:rPr lang="en-US" dirty="0"/>
              <a:t>Establish that the initial states all lie within the barrier</a:t>
            </a:r>
          </a:p>
          <a:p>
            <a:pPr lvl="1"/>
            <a:r>
              <a:rPr lang="en-US" dirty="0"/>
              <a:t>Establish that the unsafe states are all outside the barrier</a:t>
            </a:r>
          </a:p>
          <a:p>
            <a:pPr lvl="1"/>
            <a:r>
              <a:rPr lang="en-US" dirty="0"/>
              <a:t>Show that the next states for all states on the barrier are inside the barrier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66FDB6-4FA5-40DB-81A9-B18CBC1B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verification using barrier certificates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C0818-20B9-4F13-B464-E46B76F7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9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F2FAB0-FE5E-4696-BB2B-23B65140F0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7102" y="1291771"/>
                <a:ext cx="6538666" cy="4392269"/>
              </a:xfrm>
            </p:spPr>
            <p:txBody>
              <a:bodyPr/>
              <a:lstStyle/>
              <a:p>
                <a:r>
                  <a:rPr lang="en-US" dirty="0"/>
                  <a:t>Given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serves as a classifier between good and bad states</a:t>
                </a:r>
              </a:p>
              <a:p>
                <a:r>
                  <a:rPr lang="en-US" dirty="0"/>
                  <a:t>Barrier conditions: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1" dirty="0"/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r>
                  <a:rPr lang="en-US" dirty="0"/>
                  <a:t>(The last condition models the barrier pushing the system back!)</a:t>
                </a:r>
                <a:endParaRPr lang="en-US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F2FAB0-FE5E-4696-BB2B-23B65140F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7102" y="1291771"/>
                <a:ext cx="6538666" cy="4392269"/>
              </a:xfrm>
              <a:blipFill>
                <a:blip r:embed="rId2"/>
                <a:stretch>
                  <a:fillRect l="-1213" t="-2361" r="-280" b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3B30-BF6F-4FA1-8408-6A4AB1BA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barrier certificate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7500-74A8-450E-9E88-1B36F957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2F0F8D-109C-4DD8-8E87-600E35AFB351}"/>
              </a:ext>
            </a:extLst>
          </p:cNvPr>
          <p:cNvSpPr/>
          <p:nvPr/>
        </p:nvSpPr>
        <p:spPr>
          <a:xfrm>
            <a:off x="246404" y="1697715"/>
            <a:ext cx="3904343" cy="3621314"/>
          </a:xfrm>
          <a:prstGeom prst="ellipse">
            <a:avLst/>
          </a:prstGeom>
          <a:ln w="762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CCA03-AB0E-4151-9EF1-98D6D0EEE2EE}"/>
              </a:ext>
            </a:extLst>
          </p:cNvPr>
          <p:cNvSpPr/>
          <p:nvPr/>
        </p:nvSpPr>
        <p:spPr>
          <a:xfrm>
            <a:off x="4005943" y="1697715"/>
            <a:ext cx="936171" cy="718000"/>
          </a:xfrm>
          <a:prstGeom prst="rect">
            <a:avLst/>
          </a:prstGeom>
          <a:solidFill>
            <a:srgbClr val="FFAFB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07B40E-08B7-4EDA-AB6D-8D436C4D7A8D}"/>
              </a:ext>
            </a:extLst>
          </p:cNvPr>
          <p:cNvSpPr/>
          <p:nvPr/>
        </p:nvSpPr>
        <p:spPr>
          <a:xfrm>
            <a:off x="1204685" y="3737428"/>
            <a:ext cx="1328058" cy="638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Initial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AB50FA-A45D-461D-9DC2-95CEA1BD3945}"/>
              </a:ext>
            </a:extLst>
          </p:cNvPr>
          <p:cNvCxnSpPr>
            <a:cxnSpLocks/>
          </p:cNvCxnSpPr>
          <p:nvPr/>
        </p:nvCxnSpPr>
        <p:spPr>
          <a:xfrm>
            <a:off x="2198575" y="1713345"/>
            <a:ext cx="0" cy="382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1B245C-55DF-423E-89AC-5BA86AA32488}"/>
              </a:ext>
            </a:extLst>
          </p:cNvPr>
          <p:cNvCxnSpPr>
            <a:cxnSpLocks/>
          </p:cNvCxnSpPr>
          <p:nvPr/>
        </p:nvCxnSpPr>
        <p:spPr>
          <a:xfrm flipH="1">
            <a:off x="2690731" y="1844100"/>
            <a:ext cx="185057" cy="47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38647-2DB0-41A9-8C3F-C04BABEBD453}"/>
              </a:ext>
            </a:extLst>
          </p:cNvPr>
          <p:cNvCxnSpPr>
            <a:cxnSpLocks/>
          </p:cNvCxnSpPr>
          <p:nvPr/>
        </p:nvCxnSpPr>
        <p:spPr>
          <a:xfrm>
            <a:off x="993808" y="2138243"/>
            <a:ext cx="341506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83513A-4122-456D-8542-1045E77D3749}"/>
              </a:ext>
            </a:extLst>
          </p:cNvPr>
          <p:cNvCxnSpPr>
            <a:cxnSpLocks/>
          </p:cNvCxnSpPr>
          <p:nvPr/>
        </p:nvCxnSpPr>
        <p:spPr>
          <a:xfrm flipH="1">
            <a:off x="3069179" y="2095359"/>
            <a:ext cx="290793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BD4FF7-A1F5-42DB-84AE-6F1C25019670}"/>
              </a:ext>
            </a:extLst>
          </p:cNvPr>
          <p:cNvCxnSpPr>
            <a:cxnSpLocks/>
          </p:cNvCxnSpPr>
          <p:nvPr/>
        </p:nvCxnSpPr>
        <p:spPr>
          <a:xfrm flipH="1">
            <a:off x="3333412" y="2563470"/>
            <a:ext cx="509191" cy="274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3EE8A6-42B8-4001-9494-8824E4BF778D}"/>
              </a:ext>
            </a:extLst>
          </p:cNvPr>
          <p:cNvCxnSpPr>
            <a:cxnSpLocks/>
          </p:cNvCxnSpPr>
          <p:nvPr/>
        </p:nvCxnSpPr>
        <p:spPr>
          <a:xfrm>
            <a:off x="1574882" y="1844100"/>
            <a:ext cx="170753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E12F70-4481-49E4-B6AF-6BA314072C7A}"/>
              </a:ext>
            </a:extLst>
          </p:cNvPr>
          <p:cNvCxnSpPr>
            <a:cxnSpLocks/>
          </p:cNvCxnSpPr>
          <p:nvPr/>
        </p:nvCxnSpPr>
        <p:spPr>
          <a:xfrm>
            <a:off x="341010" y="3114982"/>
            <a:ext cx="563875" cy="198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AF40C3-2776-4337-A127-B45BA34CDC69}"/>
              </a:ext>
            </a:extLst>
          </p:cNvPr>
          <p:cNvCxnSpPr>
            <a:cxnSpLocks/>
          </p:cNvCxnSpPr>
          <p:nvPr/>
        </p:nvCxnSpPr>
        <p:spPr>
          <a:xfrm>
            <a:off x="273976" y="3669049"/>
            <a:ext cx="667576" cy="5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89F1FB-115F-43B6-8F83-3FC112945552}"/>
              </a:ext>
            </a:extLst>
          </p:cNvPr>
          <p:cNvCxnSpPr>
            <a:cxnSpLocks/>
          </p:cNvCxnSpPr>
          <p:nvPr/>
        </p:nvCxnSpPr>
        <p:spPr>
          <a:xfrm>
            <a:off x="607764" y="2556302"/>
            <a:ext cx="587748" cy="40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40A4B-566E-412E-A767-40CA31554C6C}"/>
              </a:ext>
            </a:extLst>
          </p:cNvPr>
          <p:cNvCxnSpPr>
            <a:cxnSpLocks/>
          </p:cNvCxnSpPr>
          <p:nvPr/>
        </p:nvCxnSpPr>
        <p:spPr>
          <a:xfrm flipV="1">
            <a:off x="468086" y="4096594"/>
            <a:ext cx="433552" cy="129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931984-35FE-49C6-8581-ABF0A7F28045}"/>
              </a:ext>
            </a:extLst>
          </p:cNvPr>
          <p:cNvCxnSpPr>
            <a:cxnSpLocks/>
          </p:cNvCxnSpPr>
          <p:nvPr/>
        </p:nvCxnSpPr>
        <p:spPr>
          <a:xfrm flipV="1">
            <a:off x="801976" y="4436917"/>
            <a:ext cx="362585" cy="277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AFBD4C-03A3-44CD-9DEC-199CA1D01EB1}"/>
              </a:ext>
            </a:extLst>
          </p:cNvPr>
          <p:cNvCxnSpPr>
            <a:cxnSpLocks/>
          </p:cNvCxnSpPr>
          <p:nvPr/>
        </p:nvCxnSpPr>
        <p:spPr>
          <a:xfrm flipV="1">
            <a:off x="1212297" y="4708763"/>
            <a:ext cx="239132" cy="36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F7FA98-45EE-4296-B935-45F94C7A9F4B}"/>
              </a:ext>
            </a:extLst>
          </p:cNvPr>
          <p:cNvCxnSpPr>
            <a:cxnSpLocks/>
          </p:cNvCxnSpPr>
          <p:nvPr/>
        </p:nvCxnSpPr>
        <p:spPr>
          <a:xfrm flipV="1">
            <a:off x="1703801" y="4708763"/>
            <a:ext cx="164913" cy="517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1014DD-6274-4662-BE06-EF227984B949}"/>
              </a:ext>
            </a:extLst>
          </p:cNvPr>
          <p:cNvCxnSpPr>
            <a:cxnSpLocks/>
          </p:cNvCxnSpPr>
          <p:nvPr/>
        </p:nvCxnSpPr>
        <p:spPr>
          <a:xfrm flipH="1" flipV="1">
            <a:off x="2198575" y="4752085"/>
            <a:ext cx="16634" cy="51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939AE7-3650-4E7E-8B72-DCF55A7D77C2}"/>
              </a:ext>
            </a:extLst>
          </p:cNvPr>
          <p:cNvCxnSpPr>
            <a:cxnSpLocks/>
          </p:cNvCxnSpPr>
          <p:nvPr/>
        </p:nvCxnSpPr>
        <p:spPr>
          <a:xfrm flipV="1">
            <a:off x="2475931" y="4752085"/>
            <a:ext cx="64763" cy="48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3BD9EF-DC00-4857-93E8-C650A1DF9C16}"/>
              </a:ext>
            </a:extLst>
          </p:cNvPr>
          <p:cNvCxnSpPr>
            <a:cxnSpLocks/>
          </p:cNvCxnSpPr>
          <p:nvPr/>
        </p:nvCxnSpPr>
        <p:spPr>
          <a:xfrm flipV="1">
            <a:off x="2783259" y="4802689"/>
            <a:ext cx="392444" cy="415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107559-C48F-45A6-B2DB-2FD97C8FD295}"/>
              </a:ext>
            </a:extLst>
          </p:cNvPr>
          <p:cNvCxnSpPr>
            <a:cxnSpLocks/>
          </p:cNvCxnSpPr>
          <p:nvPr/>
        </p:nvCxnSpPr>
        <p:spPr>
          <a:xfrm flipH="1" flipV="1">
            <a:off x="3498636" y="4299689"/>
            <a:ext cx="21099" cy="50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48C06B0-96B7-4B77-BA2C-AAC484CECFCA}"/>
              </a:ext>
            </a:extLst>
          </p:cNvPr>
          <p:cNvCxnSpPr>
            <a:cxnSpLocks/>
          </p:cNvCxnSpPr>
          <p:nvPr/>
        </p:nvCxnSpPr>
        <p:spPr>
          <a:xfrm flipH="1" flipV="1">
            <a:off x="3588007" y="3940629"/>
            <a:ext cx="290905" cy="36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84E78E6-66E4-4D53-8D71-AC6B2FC5DED7}"/>
              </a:ext>
            </a:extLst>
          </p:cNvPr>
          <p:cNvCxnSpPr>
            <a:cxnSpLocks/>
          </p:cNvCxnSpPr>
          <p:nvPr/>
        </p:nvCxnSpPr>
        <p:spPr>
          <a:xfrm flipH="1" flipV="1">
            <a:off x="3588007" y="3726286"/>
            <a:ext cx="520071" cy="11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0CFA29A-2820-4EE6-9D7F-BA246C1CEE18}"/>
              </a:ext>
            </a:extLst>
          </p:cNvPr>
          <p:cNvCxnSpPr>
            <a:cxnSpLocks/>
          </p:cNvCxnSpPr>
          <p:nvPr/>
        </p:nvCxnSpPr>
        <p:spPr>
          <a:xfrm flipH="1" flipV="1">
            <a:off x="3509185" y="3482028"/>
            <a:ext cx="6638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3B6732-F27E-401E-9815-C03F9F28ABE9}"/>
              </a:ext>
            </a:extLst>
          </p:cNvPr>
          <p:cNvCxnSpPr>
            <a:cxnSpLocks/>
          </p:cNvCxnSpPr>
          <p:nvPr/>
        </p:nvCxnSpPr>
        <p:spPr>
          <a:xfrm flipH="1" flipV="1">
            <a:off x="3363845" y="3046136"/>
            <a:ext cx="6638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76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B383095-7865-4BC5-9894-D00CA1A34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Initial state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&lt;1/4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Unsafe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&gt;4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Barrier: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From plot: </a:t>
                </a:r>
              </a:p>
              <a:p>
                <a:pPr lvl="2"/>
                <a:r>
                  <a:rPr lang="en-US" sz="2400" dirty="0"/>
                  <a:t>for initial states,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lvl="2"/>
                <a:r>
                  <a:rPr lang="en-US" sz="2400" dirty="0"/>
                  <a:t>for unsafe states,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B383095-7865-4BC5-9894-D00CA1A34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DF2DC37-604D-4F4F-B0B0-0645AD64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2A2EE-2D5A-47AB-A068-148CDAD6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F4719-766F-46ED-B003-EAB3D818AA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23"/>
          <a:stretch/>
        </p:blipFill>
        <p:spPr>
          <a:xfrm>
            <a:off x="7845970" y="944131"/>
            <a:ext cx="4179348" cy="4239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373D38-B066-4633-B12C-58001417D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382" t="62755"/>
          <a:stretch/>
        </p:blipFill>
        <p:spPr>
          <a:xfrm>
            <a:off x="5076404" y="3679726"/>
            <a:ext cx="2904496" cy="20721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3DE3FA-75AC-45F9-8E9F-079B1F3091DB}"/>
              </a:ext>
            </a:extLst>
          </p:cNvPr>
          <p:cNvCxnSpPr/>
          <p:nvPr/>
        </p:nvCxnSpPr>
        <p:spPr>
          <a:xfrm>
            <a:off x="7922103" y="1209202"/>
            <a:ext cx="1197621" cy="66815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EDE6C4-0516-4C1E-97DE-11236BBFE17F}"/>
              </a:ext>
            </a:extLst>
          </p:cNvPr>
          <p:cNvCxnSpPr>
            <a:cxnSpLocks/>
          </p:cNvCxnSpPr>
          <p:nvPr/>
        </p:nvCxnSpPr>
        <p:spPr>
          <a:xfrm>
            <a:off x="7845970" y="2285426"/>
            <a:ext cx="1993945" cy="66816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9D1C28-74D2-48C9-B706-181AC220FC63}"/>
              </a:ext>
            </a:extLst>
          </p:cNvPr>
          <p:cNvCxnSpPr>
            <a:cxnSpLocks/>
          </p:cNvCxnSpPr>
          <p:nvPr/>
        </p:nvCxnSpPr>
        <p:spPr>
          <a:xfrm>
            <a:off x="7783189" y="1809065"/>
            <a:ext cx="1474099" cy="58204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9D6922-0FBF-4405-A3E7-CE7EA1D01084}"/>
              </a:ext>
            </a:extLst>
          </p:cNvPr>
          <p:cNvSpPr txBox="1"/>
          <p:nvPr/>
        </p:nvSpPr>
        <p:spPr>
          <a:xfrm>
            <a:off x="7062743" y="823928"/>
            <a:ext cx="105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B52FA-DA71-45CC-BF4F-402FE6196B25}"/>
              </a:ext>
            </a:extLst>
          </p:cNvPr>
          <p:cNvSpPr txBox="1"/>
          <p:nvPr/>
        </p:nvSpPr>
        <p:spPr>
          <a:xfrm>
            <a:off x="6960791" y="2100087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Initial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C57C9E-1A0D-47E6-B5C5-96A3B4172BF7}"/>
              </a:ext>
            </a:extLst>
          </p:cNvPr>
          <p:cNvSpPr txBox="1"/>
          <p:nvPr/>
        </p:nvSpPr>
        <p:spPr>
          <a:xfrm>
            <a:off x="6868836" y="1470932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Barrier</a:t>
            </a:r>
          </a:p>
        </p:txBody>
      </p:sp>
    </p:spTree>
    <p:extLst>
      <p:ext uri="{BB962C8B-B14F-4D97-AF65-F5344CB8AC3E}">
        <p14:creationId xmlns:p14="http://schemas.microsoft.com/office/powerpoint/2010/main" val="350161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863907-4856-47D5-834A-17C0532AD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06126"/>
                <a:ext cx="73009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Finally,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+6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=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−4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−6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=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−6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 = 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+9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000" dirty="0"/>
                  <a:t> =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3 −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From the plot, the above function is always negative for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0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863907-4856-47D5-834A-17C0532AD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06126"/>
                <a:ext cx="7300918" cy="4351338"/>
              </a:xfrm>
              <a:blipFill>
                <a:blip r:embed="rId2"/>
                <a:stretch>
                  <a:fillRect l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068518D-13BD-48E1-91ED-4E097D34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E5411-9CDE-4A38-8A8B-F467905F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951C5-FC7E-4B01-9B0A-69A5F431F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23"/>
          <a:stretch/>
        </p:blipFill>
        <p:spPr>
          <a:xfrm>
            <a:off x="7845970" y="944131"/>
            <a:ext cx="4179348" cy="4239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C69C40-2D40-40CD-A284-42CB3A0DCA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382" t="62755"/>
          <a:stretch/>
        </p:blipFill>
        <p:spPr>
          <a:xfrm>
            <a:off x="5076404" y="3679726"/>
            <a:ext cx="2904496" cy="20721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A8F78A-4F47-4C27-96CE-DD2CE0773BCC}"/>
              </a:ext>
            </a:extLst>
          </p:cNvPr>
          <p:cNvCxnSpPr>
            <a:cxnSpLocks/>
          </p:cNvCxnSpPr>
          <p:nvPr/>
        </p:nvCxnSpPr>
        <p:spPr>
          <a:xfrm>
            <a:off x="8640945" y="848862"/>
            <a:ext cx="851013" cy="133598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37665-60F9-4B01-A73F-76F9CA80EFA3}"/>
              </a:ext>
            </a:extLst>
          </p:cNvPr>
          <p:cNvSpPr txBox="1"/>
          <p:nvPr/>
        </p:nvSpPr>
        <p:spPr>
          <a:xfrm>
            <a:off x="7726592" y="510729"/>
            <a:ext cx="1045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Barrier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F844B6-382B-477F-BB69-555D84E634B5}"/>
              </a:ext>
            </a:extLst>
          </p:cNvPr>
          <p:cNvCxnSpPr>
            <a:cxnSpLocks/>
          </p:cNvCxnSpPr>
          <p:nvPr/>
        </p:nvCxnSpPr>
        <p:spPr>
          <a:xfrm flipV="1">
            <a:off x="4321147" y="2854338"/>
            <a:ext cx="5235547" cy="5879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CFA3B8-41AD-2F26-98EC-58C792C7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E2AF48-E8EF-98ED-CFBC-A436CDFF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Barrier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93FBA-95F4-53EC-063C-458C81B2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7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11F025-8FD3-D1BF-167A-348A7F5E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A3CA69-21CB-15D9-6614-EE5E487F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Viability Kernels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FF04-82D1-B304-B701-787BC1F1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5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9370B-959B-4260-ABB6-AD25245C4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4218433"/>
          </a:xfrm>
        </p:spPr>
        <p:txBody>
          <a:bodyPr>
            <a:normAutofit/>
          </a:bodyPr>
          <a:lstStyle/>
          <a:p>
            <a:r>
              <a:rPr lang="en-US" dirty="0"/>
              <a:t>Verification basics and Hybrid Systems lecture: reachability analysis using a “fix-point based algorithm” </a:t>
            </a:r>
          </a:p>
          <a:p>
            <a:pPr lvl="1"/>
            <a:r>
              <a:rPr lang="en-US" dirty="0"/>
              <a:t>uses a breadth-first approach to compute reachable states over an infinite time-horizon</a:t>
            </a:r>
          </a:p>
          <a:p>
            <a:r>
              <a:rPr lang="en-US" dirty="0"/>
              <a:t>Barrier certificates: also provide infinite time safety results, but require manual ingenuity in coming up with a barrier; difficult to do for hybrid/nonlinear systems</a:t>
            </a:r>
          </a:p>
          <a:p>
            <a:r>
              <a:rPr lang="en-US" dirty="0"/>
              <a:t>Time-bounded reachability: Starting from some initial state in a given set of initial states, does the system behavior ever reach an unsafe state within a given time bound?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D11FE3-F407-4D72-B56A-2D2EADB8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Time-bounded 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E5D3-527E-40A0-AA3D-347CE2D3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6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655386DB-57DE-4F0B-A576-785FC262B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456" y="1203702"/>
                <a:ext cx="11699087" cy="243438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the solution trajectory of a given dynamical system (could be nonlinear, hybrid, timed, …) when the system starts in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Time-bounded reachability: Prove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𝑈𝑛𝑠𝑎𝑓𝑒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  <a:p>
                <a:r>
                  <a:rPr lang="en-US" sz="2400" dirty="0"/>
                  <a:t>Counterexample to time-bounded reachability shown below</a:t>
                </a:r>
              </a:p>
            </p:txBody>
          </p:sp>
        </mc:Choice>
        <mc:Fallback xmlns="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655386DB-57DE-4F0B-A576-785FC262B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456" y="1203702"/>
                <a:ext cx="11699087" cy="2434386"/>
              </a:xfrm>
              <a:blipFill>
                <a:blip r:embed="rId2"/>
                <a:stretch>
                  <a:fillRect l="-417" t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105C5B2-AF66-4A31-BDEA-411B068A3852}"/>
              </a:ext>
            </a:extLst>
          </p:cNvPr>
          <p:cNvSpPr/>
          <p:nvPr/>
        </p:nvSpPr>
        <p:spPr>
          <a:xfrm>
            <a:off x="1236733" y="3429000"/>
            <a:ext cx="1448475" cy="206346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0070B-EFF5-4703-BC84-C1DC04E679F0}"/>
              </a:ext>
            </a:extLst>
          </p:cNvPr>
          <p:cNvSpPr/>
          <p:nvPr/>
        </p:nvSpPr>
        <p:spPr>
          <a:xfrm rot="18402694">
            <a:off x="8906550" y="3848979"/>
            <a:ext cx="1165253" cy="2249586"/>
          </a:xfrm>
          <a:prstGeom prst="ellipse">
            <a:avLst/>
          </a:prstGeom>
          <a:solidFill>
            <a:srgbClr val="FFD1D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4FD3D3-E4E8-4990-8825-718F646D111A}"/>
              </a:ext>
            </a:extLst>
          </p:cNvPr>
          <p:cNvSpPr txBox="1"/>
          <p:nvPr/>
        </p:nvSpPr>
        <p:spPr>
          <a:xfrm>
            <a:off x="8583732" y="3656445"/>
            <a:ext cx="1072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6555F11-88A2-48BA-A1A1-1A0CAEAB0DDE}"/>
              </a:ext>
            </a:extLst>
          </p:cNvPr>
          <p:cNvSpPr/>
          <p:nvPr/>
        </p:nvSpPr>
        <p:spPr>
          <a:xfrm>
            <a:off x="1768109" y="4876668"/>
            <a:ext cx="113288" cy="971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89B306-0F68-4E13-9987-0D90F498F95B}"/>
                  </a:ext>
                </a:extLst>
              </p:cNvPr>
              <p:cNvSpPr/>
              <p:nvPr/>
            </p:nvSpPr>
            <p:spPr>
              <a:xfrm>
                <a:off x="650897" y="3568711"/>
                <a:ext cx="6642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89B306-0F68-4E13-9987-0D90F498F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97" y="3568711"/>
                <a:ext cx="66422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FF822E-A833-4E0E-8FA6-4426E7C32B10}"/>
                  </a:ext>
                </a:extLst>
              </p:cNvPr>
              <p:cNvSpPr/>
              <p:nvPr/>
            </p:nvSpPr>
            <p:spPr>
              <a:xfrm>
                <a:off x="1526883" y="4385370"/>
                <a:ext cx="5552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FF822E-A833-4E0E-8FA6-4426E7C32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883" y="4385370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3585A30-BC74-4FEC-8518-12E42591A6D6}"/>
                  </a:ext>
                </a:extLst>
              </p:cNvPr>
              <p:cNvSpPr/>
              <p:nvPr/>
            </p:nvSpPr>
            <p:spPr>
              <a:xfrm>
                <a:off x="4103219" y="4163894"/>
                <a:ext cx="12969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3585A30-BC74-4FEC-8518-12E42591A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19" y="4163894"/>
                <a:ext cx="1296958" cy="461665"/>
              </a:xfrm>
              <a:prstGeom prst="rect">
                <a:avLst/>
              </a:prstGeom>
              <a:blipFill>
                <a:blip r:embed="rId5"/>
                <a:stretch>
                  <a:fillRect r="-93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316DA0-61DB-432F-ADB8-EC368BCFCE44}"/>
              </a:ext>
            </a:extLst>
          </p:cNvPr>
          <p:cNvCxnSpPr/>
          <p:nvPr/>
        </p:nvCxnSpPr>
        <p:spPr>
          <a:xfrm flipH="1">
            <a:off x="3780527" y="4636449"/>
            <a:ext cx="633721" cy="55592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99B0656-88E7-4690-A362-A9F095EB44EA}"/>
                  </a:ext>
                </a:extLst>
              </p:cNvPr>
              <p:cNvSpPr/>
              <p:nvPr/>
            </p:nvSpPr>
            <p:spPr>
              <a:xfrm>
                <a:off x="2564095" y="3667721"/>
                <a:ext cx="13375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99B0656-88E7-4690-A362-A9F095EB4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095" y="3667721"/>
                <a:ext cx="1337546" cy="461665"/>
              </a:xfrm>
              <a:prstGeom prst="rect">
                <a:avLst/>
              </a:prstGeom>
              <a:blipFill>
                <a:blip r:embed="rId6"/>
                <a:stretch>
                  <a:fillRect r="-91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2E94C9F-BB39-4391-AD38-A1D776FC7039}"/>
              </a:ext>
            </a:extLst>
          </p:cNvPr>
          <p:cNvCxnSpPr>
            <a:cxnSpLocks/>
          </p:cNvCxnSpPr>
          <p:nvPr/>
        </p:nvCxnSpPr>
        <p:spPr>
          <a:xfrm flipH="1">
            <a:off x="1904123" y="4141038"/>
            <a:ext cx="1173230" cy="76248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CEFB4EC-FD31-4CE1-A516-7C4BE2639758}"/>
                  </a:ext>
                </a:extLst>
              </p:cNvPr>
              <p:cNvSpPr/>
              <p:nvPr/>
            </p:nvSpPr>
            <p:spPr>
              <a:xfrm>
                <a:off x="10000358" y="3889179"/>
                <a:ext cx="1296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CEFB4EC-FD31-4CE1-A516-7C4BE2639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358" y="3889179"/>
                <a:ext cx="1296957" cy="461665"/>
              </a:xfrm>
              <a:prstGeom prst="rect">
                <a:avLst/>
              </a:prstGeom>
              <a:blipFill>
                <a:blip r:embed="rId7"/>
                <a:stretch>
                  <a:fillRect t="-11842" r="-1408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6A369DC-1615-4BC9-A036-91C830860BF2}"/>
              </a:ext>
            </a:extLst>
          </p:cNvPr>
          <p:cNvCxnSpPr>
            <a:cxnSpLocks/>
          </p:cNvCxnSpPr>
          <p:nvPr/>
        </p:nvCxnSpPr>
        <p:spPr>
          <a:xfrm flipH="1">
            <a:off x="9342255" y="4350844"/>
            <a:ext cx="828603" cy="66553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4764BC-C271-489F-AD74-7DF7236E653D}"/>
                  </a:ext>
                </a:extLst>
              </p:cNvPr>
              <p:cNvSpPr/>
              <p:nvPr/>
            </p:nvSpPr>
            <p:spPr>
              <a:xfrm>
                <a:off x="10429877" y="4440893"/>
                <a:ext cx="1434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∈[0,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4764BC-C271-489F-AD74-7DF7236E6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77" y="4440893"/>
                <a:ext cx="1434239" cy="461665"/>
              </a:xfrm>
              <a:prstGeom prst="rect">
                <a:avLst/>
              </a:prstGeom>
              <a:blipFill>
                <a:blip r:embed="rId8"/>
                <a:stretch>
                  <a:fillRect t="-11842" r="-8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138815E-918D-4B8A-9F1C-27085F48F395}"/>
              </a:ext>
            </a:extLst>
          </p:cNvPr>
          <p:cNvSpPr/>
          <p:nvPr/>
        </p:nvSpPr>
        <p:spPr>
          <a:xfrm>
            <a:off x="8591249" y="4803881"/>
            <a:ext cx="1360837" cy="242678"/>
          </a:xfrm>
          <a:custGeom>
            <a:avLst/>
            <a:gdLst>
              <a:gd name="connsiteX0" fmla="*/ 0 w 1360837"/>
              <a:gd name="connsiteY0" fmla="*/ 0 h 242678"/>
              <a:gd name="connsiteX1" fmla="*/ 419100 w 1360837"/>
              <a:gd name="connsiteY1" fmla="*/ 234950 h 242678"/>
              <a:gd name="connsiteX2" fmla="*/ 1225550 w 1360837"/>
              <a:gd name="connsiteY2" fmla="*/ 177800 h 242678"/>
              <a:gd name="connsiteX3" fmla="*/ 1352550 w 1360837"/>
              <a:gd name="connsiteY3" fmla="*/ 95250 h 24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0837" h="242678">
                <a:moveTo>
                  <a:pt x="0" y="0"/>
                </a:moveTo>
                <a:cubicBezTo>
                  <a:pt x="107421" y="102658"/>
                  <a:pt x="214842" y="205317"/>
                  <a:pt x="419100" y="234950"/>
                </a:cubicBezTo>
                <a:cubicBezTo>
                  <a:pt x="623358" y="264583"/>
                  <a:pt x="1069975" y="201083"/>
                  <a:pt x="1225550" y="177800"/>
                </a:cubicBezTo>
                <a:cubicBezTo>
                  <a:pt x="1381125" y="154517"/>
                  <a:pt x="1366837" y="124883"/>
                  <a:pt x="1352550" y="95250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0870F67-CC00-4E55-8973-7703DB0DD66B}"/>
              </a:ext>
            </a:extLst>
          </p:cNvPr>
          <p:cNvSpPr/>
          <p:nvPr/>
        </p:nvSpPr>
        <p:spPr>
          <a:xfrm>
            <a:off x="1784350" y="4496467"/>
            <a:ext cx="6813550" cy="764158"/>
          </a:xfrm>
          <a:custGeom>
            <a:avLst/>
            <a:gdLst>
              <a:gd name="connsiteX0" fmla="*/ 0 w 6813550"/>
              <a:gd name="connsiteY0" fmla="*/ 405733 h 764158"/>
              <a:gd name="connsiteX1" fmla="*/ 2305050 w 6813550"/>
              <a:gd name="connsiteY1" fmla="*/ 754983 h 764158"/>
              <a:gd name="connsiteX2" fmla="*/ 4546600 w 6813550"/>
              <a:gd name="connsiteY2" fmla="*/ 75533 h 764158"/>
              <a:gd name="connsiteX3" fmla="*/ 6064250 w 6813550"/>
              <a:gd name="connsiteY3" fmla="*/ 43783 h 764158"/>
              <a:gd name="connsiteX4" fmla="*/ 6813550 w 6813550"/>
              <a:gd name="connsiteY4" fmla="*/ 316833 h 76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3550" h="764158">
                <a:moveTo>
                  <a:pt x="0" y="405733"/>
                </a:moveTo>
                <a:cubicBezTo>
                  <a:pt x="773641" y="607874"/>
                  <a:pt x="1547283" y="810016"/>
                  <a:pt x="2305050" y="754983"/>
                </a:cubicBezTo>
                <a:cubicBezTo>
                  <a:pt x="3062817" y="699950"/>
                  <a:pt x="3920067" y="194066"/>
                  <a:pt x="4546600" y="75533"/>
                </a:cubicBezTo>
                <a:cubicBezTo>
                  <a:pt x="5173133" y="-43000"/>
                  <a:pt x="5686425" y="3566"/>
                  <a:pt x="6064250" y="43783"/>
                </a:cubicBezTo>
                <a:cubicBezTo>
                  <a:pt x="6442075" y="84000"/>
                  <a:pt x="6627812" y="200416"/>
                  <a:pt x="6813550" y="316833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8097C-6C5C-47BC-9254-0DCA7520E1F5}"/>
              </a:ext>
            </a:extLst>
          </p:cNvPr>
          <p:cNvSpPr txBox="1"/>
          <p:nvPr/>
        </p:nvSpPr>
        <p:spPr>
          <a:xfrm>
            <a:off x="5398569" y="4335063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1AF6169-D944-4E7B-8B31-91DFA7228776}"/>
              </a:ext>
            </a:extLst>
          </p:cNvPr>
          <p:cNvGrpSpPr/>
          <p:nvPr/>
        </p:nvGrpSpPr>
        <p:grpSpPr>
          <a:xfrm>
            <a:off x="3981417" y="3439623"/>
            <a:ext cx="4002402" cy="479748"/>
            <a:chOff x="5102182" y="3287485"/>
            <a:chExt cx="4002402" cy="479748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573C598-D844-42C3-8556-9F7FF33C3283}"/>
                </a:ext>
              </a:extLst>
            </p:cNvPr>
            <p:cNvCxnSpPr>
              <a:cxnSpLocks/>
            </p:cNvCxnSpPr>
            <p:nvPr/>
          </p:nvCxnSpPr>
          <p:spPr>
            <a:xfrm>
              <a:off x="5102182" y="3287485"/>
              <a:ext cx="296387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93D338E-7940-4D5F-BEBB-D355302B55DF}"/>
                </a:ext>
              </a:extLst>
            </p:cNvPr>
            <p:cNvCxnSpPr>
              <a:cxnSpLocks/>
            </p:cNvCxnSpPr>
            <p:nvPr/>
          </p:nvCxnSpPr>
          <p:spPr>
            <a:xfrm>
              <a:off x="5102182" y="3573488"/>
              <a:ext cx="29638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2C29DA-EA76-4FCD-A491-F1355CE97E21}"/>
                </a:ext>
              </a:extLst>
            </p:cNvPr>
            <p:cNvSpPr txBox="1"/>
            <p:nvPr/>
          </p:nvSpPr>
          <p:spPr>
            <a:xfrm>
              <a:off x="5374973" y="3397901"/>
              <a:ext cx="3729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Trajectory segment with unsafe states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3DA3E72-58BE-4AEB-8459-111D64A72C28}"/>
              </a:ext>
            </a:extLst>
          </p:cNvPr>
          <p:cNvSpPr txBox="1"/>
          <p:nvPr/>
        </p:nvSpPr>
        <p:spPr>
          <a:xfrm>
            <a:off x="4254208" y="3244334"/>
            <a:ext cx="3485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Trajectory segment with safe states</a:t>
            </a:r>
          </a:p>
        </p:txBody>
      </p:sp>
    </p:spTree>
    <p:extLst>
      <p:ext uri="{BB962C8B-B14F-4D97-AF65-F5344CB8AC3E}">
        <p14:creationId xmlns:p14="http://schemas.microsoft.com/office/powerpoint/2010/main" val="200843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B63AA-8C14-4BD8-AFE6-A3CA835C6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2"/>
                <a:ext cx="11699087" cy="451783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solve time-bounded reachability exactly:</a:t>
                </a:r>
              </a:p>
              <a:p>
                <a:pPr lvl="1"/>
                <a:r>
                  <a:rPr lang="en-US" dirty="0"/>
                  <a:t>Compute set of all states reachable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Reach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∈[0,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Check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dirty="0"/>
                  <a:t> is empty</a:t>
                </a:r>
              </a:p>
              <a:p>
                <a:pPr lvl="1"/>
                <a:r>
                  <a:rPr lang="en-US" dirty="0"/>
                  <a:t>Challenge: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very hard (even for the simplest case of general linear dynamical systems)</a:t>
                </a:r>
              </a:p>
              <a:p>
                <a:r>
                  <a:rPr lang="en-US" dirty="0"/>
                  <a:t>Instead, we focus on approximating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Under-approximation</a:t>
                </a:r>
              </a:p>
              <a:p>
                <a:pPr lvl="1"/>
                <a:r>
                  <a:rPr lang="en-US" dirty="0"/>
                  <a:t>Over-approximation</a:t>
                </a:r>
              </a:p>
              <a:p>
                <a:pPr lvl="1"/>
                <a:r>
                  <a:rPr lang="en-US" dirty="0"/>
                  <a:t>Combination of both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B63AA-8C14-4BD8-AFE6-A3CA835C6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2"/>
                <a:ext cx="11699087" cy="4517839"/>
              </a:xfrm>
              <a:blipFill>
                <a:blip r:embed="rId2"/>
                <a:stretch>
                  <a:fillRect l="-625" t="-2294" r="-834" b="-2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1C1D1B-9AF6-4D57-A803-09444FC6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Solutions to time-bounded 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09D8-3546-41EE-A6E0-A41EC8B0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07BA22-4C9D-4FCA-ABB6-7E90202CF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2"/>
            <a:ext cx="11699087" cy="4582575"/>
          </a:xfrm>
        </p:spPr>
        <p:txBody>
          <a:bodyPr>
            <a:normAutofit/>
          </a:bodyPr>
          <a:lstStyle/>
          <a:p>
            <a:r>
              <a:rPr lang="en-US" dirty="0"/>
              <a:t>When we </a:t>
            </a:r>
            <a:r>
              <a:rPr lang="en-US" i="1" dirty="0"/>
              <a:t>under-approximate</a:t>
            </a:r>
            <a:r>
              <a:rPr lang="en-US" dirty="0"/>
              <a:t> the set of initial states, at each time, the set of reachable states that we compute is a subset of the </a:t>
            </a:r>
            <a:r>
              <a:rPr lang="en-US" i="1" dirty="0"/>
              <a:t>actual</a:t>
            </a:r>
            <a:r>
              <a:rPr lang="en-US" b="1" i="1" dirty="0"/>
              <a:t> </a:t>
            </a:r>
            <a:r>
              <a:rPr lang="en-US" dirty="0"/>
              <a:t>set of reachable states</a:t>
            </a:r>
          </a:p>
          <a:p>
            <a:r>
              <a:rPr lang="en-US" dirty="0"/>
              <a:t>Best example of under-approximation is (guaranteed) numerical simulation </a:t>
            </a:r>
          </a:p>
          <a:p>
            <a:pPr lvl="1"/>
            <a:r>
              <a:rPr lang="en-US" dirty="0"/>
              <a:t>Guaranteed numerical simulation: better than numerical integration schemes as it gives bounds on error in numerical integration (e.g. VNODE)</a:t>
            </a:r>
          </a:p>
          <a:p>
            <a:r>
              <a:rPr lang="en-US" dirty="0"/>
              <a:t>Under-approximation is:</a:t>
            </a:r>
          </a:p>
          <a:p>
            <a:pPr lvl="1"/>
            <a:r>
              <a:rPr lang="en-US" dirty="0"/>
              <a:t>Sound for bug-finding: if we find a bug, then it is really a bug</a:t>
            </a:r>
          </a:p>
          <a:p>
            <a:pPr lvl="1"/>
            <a:r>
              <a:rPr lang="en-US" dirty="0"/>
              <a:t>Unsound for verification: if we do not find a bug, does not mean the system is safe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7A056B-5D12-4662-952B-3A95823D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451C-898F-4153-9BB2-84CC2C1D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4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Under-approximation: sound for bug-finding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61140D-6DA6-41D0-8EF0-F27AB37F35D6}"/>
              </a:ext>
            </a:extLst>
          </p:cNvPr>
          <p:cNvGrpSpPr/>
          <p:nvPr/>
        </p:nvGrpSpPr>
        <p:grpSpPr>
          <a:xfrm>
            <a:off x="886526" y="2656114"/>
            <a:ext cx="10612484" cy="2816449"/>
            <a:chOff x="901041" y="2281984"/>
            <a:chExt cx="10612484" cy="318448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105C5B2-AF66-4A31-BDEA-411B068A3852}"/>
                </a:ext>
              </a:extLst>
            </p:cNvPr>
            <p:cNvSpPr/>
            <p:nvPr/>
          </p:nvSpPr>
          <p:spPr>
            <a:xfrm>
              <a:off x="901041" y="2431079"/>
              <a:ext cx="1448475" cy="206346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20070B-EFF5-4703-BC84-C1DC04E679F0}"/>
                </a:ext>
              </a:extLst>
            </p:cNvPr>
            <p:cNvSpPr/>
            <p:nvPr/>
          </p:nvSpPr>
          <p:spPr>
            <a:xfrm rot="18402694">
              <a:off x="9038593" y="3320427"/>
              <a:ext cx="1165253" cy="2249586"/>
            </a:xfrm>
            <a:prstGeom prst="ellipse">
              <a:avLst/>
            </a:prstGeom>
            <a:solidFill>
              <a:srgbClr val="FFD1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4FD3D3-E4E8-4990-8825-718F646D111A}"/>
                    </a:ext>
                  </a:extLst>
                </p:cNvPr>
                <p:cNvSpPr txBox="1"/>
                <p:nvPr/>
              </p:nvSpPr>
              <p:spPr>
                <a:xfrm>
                  <a:off x="10228879" y="3899452"/>
                  <a:ext cx="12846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𝑈𝑛𝑠𝑎𝑓𝑒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4FD3D3-E4E8-4990-8825-718F646D1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8879" y="3899452"/>
                  <a:ext cx="1284646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952" r="-476" b="-32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537C611-C46F-4580-9A39-BA0A81D66E82}"/>
                    </a:ext>
                  </a:extLst>
                </p:cNvPr>
                <p:cNvSpPr txBox="1"/>
                <p:nvPr/>
              </p:nvSpPr>
              <p:spPr>
                <a:xfrm>
                  <a:off x="1234931" y="4511115"/>
                  <a:ext cx="5948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537C611-C46F-4580-9A39-BA0A81D66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931" y="4511115"/>
                  <a:ext cx="594843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020" b="-283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529B9A7-B391-482F-A749-160984CC0775}"/>
                </a:ext>
              </a:extLst>
            </p:cNvPr>
            <p:cNvSpPr/>
            <p:nvPr/>
          </p:nvSpPr>
          <p:spPr>
            <a:xfrm>
              <a:off x="1531257" y="2281984"/>
              <a:ext cx="7685314" cy="446702"/>
            </a:xfrm>
            <a:custGeom>
              <a:avLst/>
              <a:gdLst>
                <a:gd name="connsiteX0" fmla="*/ 0 w 7685314"/>
                <a:gd name="connsiteY0" fmla="*/ 446702 h 446702"/>
                <a:gd name="connsiteX1" fmla="*/ 3447143 w 7685314"/>
                <a:gd name="connsiteY1" fmla="*/ 11273 h 446702"/>
                <a:gd name="connsiteX2" fmla="*/ 7685314 w 7685314"/>
                <a:gd name="connsiteY2" fmla="*/ 170931 h 44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85314" h="446702">
                  <a:moveTo>
                    <a:pt x="0" y="446702"/>
                  </a:moveTo>
                  <a:cubicBezTo>
                    <a:pt x="1083128" y="251968"/>
                    <a:pt x="2166257" y="57235"/>
                    <a:pt x="3447143" y="11273"/>
                  </a:cubicBezTo>
                  <a:cubicBezTo>
                    <a:pt x="4728029" y="-34689"/>
                    <a:pt x="6206671" y="68121"/>
                    <a:pt x="7685314" y="170931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D12332-A661-40E4-9B59-B7C8C8B01280}"/>
                </a:ext>
              </a:extLst>
            </p:cNvPr>
            <p:cNvSpPr/>
            <p:nvPr/>
          </p:nvSpPr>
          <p:spPr>
            <a:xfrm>
              <a:off x="1930400" y="2582188"/>
              <a:ext cx="7242628" cy="400498"/>
            </a:xfrm>
            <a:custGeom>
              <a:avLst/>
              <a:gdLst>
                <a:gd name="connsiteX0" fmla="*/ 0 w 7242628"/>
                <a:gd name="connsiteY0" fmla="*/ 400498 h 400498"/>
                <a:gd name="connsiteX1" fmla="*/ 1952171 w 7242628"/>
                <a:gd name="connsiteY1" fmla="*/ 320669 h 400498"/>
                <a:gd name="connsiteX2" fmla="*/ 3127828 w 7242628"/>
                <a:gd name="connsiteY2" fmla="*/ 52155 h 400498"/>
                <a:gd name="connsiteX3" fmla="*/ 4985657 w 7242628"/>
                <a:gd name="connsiteY3" fmla="*/ 15869 h 400498"/>
                <a:gd name="connsiteX4" fmla="*/ 6212114 w 7242628"/>
                <a:gd name="connsiteY4" fmla="*/ 240841 h 400498"/>
                <a:gd name="connsiteX5" fmla="*/ 7242628 w 7242628"/>
                <a:gd name="connsiteY5" fmla="*/ 139241 h 40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628" h="400498">
                  <a:moveTo>
                    <a:pt x="0" y="400498"/>
                  </a:moveTo>
                  <a:cubicBezTo>
                    <a:pt x="715433" y="389612"/>
                    <a:pt x="1430866" y="378726"/>
                    <a:pt x="1952171" y="320669"/>
                  </a:cubicBezTo>
                  <a:cubicBezTo>
                    <a:pt x="2473476" y="262612"/>
                    <a:pt x="2622247" y="102955"/>
                    <a:pt x="3127828" y="52155"/>
                  </a:cubicBezTo>
                  <a:cubicBezTo>
                    <a:pt x="3633409" y="1355"/>
                    <a:pt x="4471609" y="-15579"/>
                    <a:pt x="4985657" y="15869"/>
                  </a:cubicBezTo>
                  <a:cubicBezTo>
                    <a:pt x="5499705" y="47317"/>
                    <a:pt x="5835952" y="220279"/>
                    <a:pt x="6212114" y="240841"/>
                  </a:cubicBezTo>
                  <a:cubicBezTo>
                    <a:pt x="6588276" y="261403"/>
                    <a:pt x="6915452" y="200322"/>
                    <a:pt x="7242628" y="139241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BEA9346-892A-4D62-8B6E-F4126E5942B0}"/>
                </a:ext>
              </a:extLst>
            </p:cNvPr>
            <p:cNvSpPr/>
            <p:nvPr/>
          </p:nvSpPr>
          <p:spPr>
            <a:xfrm>
              <a:off x="1270000" y="2852722"/>
              <a:ext cx="8665970" cy="407023"/>
            </a:xfrm>
            <a:custGeom>
              <a:avLst/>
              <a:gdLst>
                <a:gd name="connsiteX0" fmla="*/ 0 w 8665970"/>
                <a:gd name="connsiteY0" fmla="*/ 304135 h 407023"/>
                <a:gd name="connsiteX1" fmla="*/ 2634343 w 8665970"/>
                <a:gd name="connsiteY1" fmla="*/ 391221 h 407023"/>
                <a:gd name="connsiteX2" fmla="*/ 4463143 w 8665970"/>
                <a:gd name="connsiteY2" fmla="*/ 21107 h 407023"/>
                <a:gd name="connsiteX3" fmla="*/ 8004628 w 8665970"/>
                <a:gd name="connsiteY3" fmla="*/ 64650 h 407023"/>
                <a:gd name="connsiteX4" fmla="*/ 8657771 w 8665970"/>
                <a:gd name="connsiteY4" fmla="*/ 224307 h 40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5970" h="407023">
                  <a:moveTo>
                    <a:pt x="0" y="304135"/>
                  </a:moveTo>
                  <a:cubicBezTo>
                    <a:pt x="945243" y="371263"/>
                    <a:pt x="1890486" y="438392"/>
                    <a:pt x="2634343" y="391221"/>
                  </a:cubicBezTo>
                  <a:cubicBezTo>
                    <a:pt x="3378200" y="344050"/>
                    <a:pt x="3568096" y="75535"/>
                    <a:pt x="4463143" y="21107"/>
                  </a:cubicBezTo>
                  <a:cubicBezTo>
                    <a:pt x="5358190" y="-33321"/>
                    <a:pt x="7305523" y="30783"/>
                    <a:pt x="8004628" y="64650"/>
                  </a:cubicBezTo>
                  <a:cubicBezTo>
                    <a:pt x="8703733" y="98517"/>
                    <a:pt x="8680752" y="161412"/>
                    <a:pt x="8657771" y="224307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C93251B-47FA-429D-A640-C4281C0EDEBA}"/>
                </a:ext>
              </a:extLst>
            </p:cNvPr>
            <p:cNvSpPr/>
            <p:nvPr/>
          </p:nvSpPr>
          <p:spPr>
            <a:xfrm>
              <a:off x="1944914" y="3053374"/>
              <a:ext cx="8098971" cy="670226"/>
            </a:xfrm>
            <a:custGeom>
              <a:avLst/>
              <a:gdLst>
                <a:gd name="connsiteX0" fmla="*/ 0 w 8098971"/>
                <a:gd name="connsiteY0" fmla="*/ 575198 h 670226"/>
                <a:gd name="connsiteX1" fmla="*/ 3200400 w 8098971"/>
                <a:gd name="connsiteY1" fmla="*/ 625998 h 670226"/>
                <a:gd name="connsiteX2" fmla="*/ 5399314 w 8098971"/>
                <a:gd name="connsiteY2" fmla="*/ 16398 h 670226"/>
                <a:gd name="connsiteX3" fmla="*/ 8098971 w 8098971"/>
                <a:gd name="connsiteY3" fmla="*/ 234112 h 67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971" h="670226">
                  <a:moveTo>
                    <a:pt x="0" y="575198"/>
                  </a:moveTo>
                  <a:cubicBezTo>
                    <a:pt x="1150257" y="647164"/>
                    <a:pt x="2300514" y="719131"/>
                    <a:pt x="3200400" y="625998"/>
                  </a:cubicBezTo>
                  <a:cubicBezTo>
                    <a:pt x="4100286" y="532865"/>
                    <a:pt x="4582886" y="81712"/>
                    <a:pt x="5399314" y="16398"/>
                  </a:cubicBezTo>
                  <a:cubicBezTo>
                    <a:pt x="6215742" y="-48916"/>
                    <a:pt x="7157356" y="92598"/>
                    <a:pt x="8098971" y="23411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92AD398-0EF3-4169-8108-671A7AEE83D5}"/>
                </a:ext>
              </a:extLst>
            </p:cNvPr>
            <p:cNvSpPr/>
            <p:nvPr/>
          </p:nvSpPr>
          <p:spPr>
            <a:xfrm>
              <a:off x="1386114" y="3322334"/>
              <a:ext cx="9093200" cy="1061592"/>
            </a:xfrm>
            <a:custGeom>
              <a:avLst/>
              <a:gdLst>
                <a:gd name="connsiteX0" fmla="*/ 0 w 9093200"/>
                <a:gd name="connsiteY0" fmla="*/ 480409 h 1061592"/>
                <a:gd name="connsiteX1" fmla="*/ 1139371 w 9093200"/>
                <a:gd name="connsiteY1" fmla="*/ 480409 h 1061592"/>
                <a:gd name="connsiteX2" fmla="*/ 2097314 w 9093200"/>
                <a:gd name="connsiteY2" fmla="*/ 1060981 h 1061592"/>
                <a:gd name="connsiteX3" fmla="*/ 5377543 w 9093200"/>
                <a:gd name="connsiteY3" fmla="*/ 357038 h 1061592"/>
                <a:gd name="connsiteX4" fmla="*/ 7605486 w 9093200"/>
                <a:gd name="connsiteY4" fmla="*/ 1438 h 1061592"/>
                <a:gd name="connsiteX5" fmla="*/ 9093200 w 9093200"/>
                <a:gd name="connsiteY5" fmla="*/ 255438 h 106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3200" h="1061592">
                  <a:moveTo>
                    <a:pt x="0" y="480409"/>
                  </a:moveTo>
                  <a:cubicBezTo>
                    <a:pt x="394909" y="432028"/>
                    <a:pt x="789819" y="383647"/>
                    <a:pt x="1139371" y="480409"/>
                  </a:cubicBezTo>
                  <a:cubicBezTo>
                    <a:pt x="1488923" y="577171"/>
                    <a:pt x="1390952" y="1081543"/>
                    <a:pt x="2097314" y="1060981"/>
                  </a:cubicBezTo>
                  <a:cubicBezTo>
                    <a:pt x="2803676" y="1040419"/>
                    <a:pt x="4459514" y="533628"/>
                    <a:pt x="5377543" y="357038"/>
                  </a:cubicBezTo>
                  <a:cubicBezTo>
                    <a:pt x="6295572" y="180448"/>
                    <a:pt x="6986210" y="18371"/>
                    <a:pt x="7605486" y="1438"/>
                  </a:cubicBezTo>
                  <a:cubicBezTo>
                    <a:pt x="8224762" y="-15495"/>
                    <a:pt x="8658981" y="119971"/>
                    <a:pt x="9093200" y="255438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AD06399-0BFB-48D6-BE0E-B40A588AECFB}"/>
                </a:ext>
              </a:extLst>
            </p:cNvPr>
            <p:cNvSpPr/>
            <p:nvPr/>
          </p:nvSpPr>
          <p:spPr>
            <a:xfrm>
              <a:off x="1706650" y="4028031"/>
              <a:ext cx="6943864" cy="966695"/>
            </a:xfrm>
            <a:custGeom>
              <a:avLst/>
              <a:gdLst>
                <a:gd name="connsiteX0" fmla="*/ 0 w 7453086"/>
                <a:gd name="connsiteY0" fmla="*/ 159657 h 1271509"/>
                <a:gd name="connsiteX1" fmla="*/ 812800 w 7453086"/>
                <a:gd name="connsiteY1" fmla="*/ 246742 h 1271509"/>
                <a:gd name="connsiteX2" fmla="*/ 1618343 w 7453086"/>
                <a:gd name="connsiteY2" fmla="*/ 1081314 h 1271509"/>
                <a:gd name="connsiteX3" fmla="*/ 2968172 w 7453086"/>
                <a:gd name="connsiteY3" fmla="*/ 1182914 h 1271509"/>
                <a:gd name="connsiteX4" fmla="*/ 7453086 w 7453086"/>
                <a:gd name="connsiteY4" fmla="*/ 0 h 127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3086" h="1271509">
                  <a:moveTo>
                    <a:pt x="0" y="159657"/>
                  </a:moveTo>
                  <a:cubicBezTo>
                    <a:pt x="271538" y="126395"/>
                    <a:pt x="543076" y="93133"/>
                    <a:pt x="812800" y="246742"/>
                  </a:cubicBezTo>
                  <a:cubicBezTo>
                    <a:pt x="1082524" y="400351"/>
                    <a:pt x="1259114" y="925285"/>
                    <a:pt x="1618343" y="1081314"/>
                  </a:cubicBezTo>
                  <a:cubicBezTo>
                    <a:pt x="1977572" y="1237343"/>
                    <a:pt x="1995715" y="1363133"/>
                    <a:pt x="2968172" y="1182914"/>
                  </a:cubicBezTo>
                  <a:cubicBezTo>
                    <a:pt x="3940629" y="1002695"/>
                    <a:pt x="5696857" y="501347"/>
                    <a:pt x="7453086" y="0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3B3397-7631-4D81-9940-EEA6F6604223}"/>
                </a:ext>
              </a:extLst>
            </p:cNvPr>
            <p:cNvSpPr/>
            <p:nvPr/>
          </p:nvSpPr>
          <p:spPr>
            <a:xfrm>
              <a:off x="8657771" y="3788229"/>
              <a:ext cx="638629" cy="232228"/>
            </a:xfrm>
            <a:custGeom>
              <a:avLst/>
              <a:gdLst>
                <a:gd name="connsiteX0" fmla="*/ 0 w 638629"/>
                <a:gd name="connsiteY0" fmla="*/ 232228 h 232228"/>
                <a:gd name="connsiteX1" fmla="*/ 428172 w 638629"/>
                <a:gd name="connsiteY1" fmla="*/ 101600 h 232228"/>
                <a:gd name="connsiteX2" fmla="*/ 638629 w 638629"/>
                <a:gd name="connsiteY2" fmla="*/ 0 h 232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8629" h="232228">
                  <a:moveTo>
                    <a:pt x="0" y="232228"/>
                  </a:moveTo>
                  <a:cubicBezTo>
                    <a:pt x="160867" y="186266"/>
                    <a:pt x="321734" y="140305"/>
                    <a:pt x="428172" y="101600"/>
                  </a:cubicBezTo>
                  <a:cubicBezTo>
                    <a:pt x="534610" y="62895"/>
                    <a:pt x="586619" y="31447"/>
                    <a:pt x="638629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07687CF-CFE2-4D1E-9049-61B838D262F8}"/>
                </a:ext>
              </a:extLst>
            </p:cNvPr>
            <p:cNvSpPr/>
            <p:nvPr/>
          </p:nvSpPr>
          <p:spPr>
            <a:xfrm>
              <a:off x="1596571" y="4434115"/>
              <a:ext cx="8781143" cy="1032352"/>
            </a:xfrm>
            <a:custGeom>
              <a:avLst/>
              <a:gdLst>
                <a:gd name="connsiteX0" fmla="*/ 0 w 8781143"/>
                <a:gd name="connsiteY0" fmla="*/ 0 h 1336281"/>
                <a:gd name="connsiteX1" fmla="*/ 834572 w 8781143"/>
                <a:gd name="connsiteY1" fmla="*/ 174171 h 1336281"/>
                <a:gd name="connsiteX2" fmla="*/ 1654629 w 8781143"/>
                <a:gd name="connsiteY2" fmla="*/ 965200 h 1336281"/>
                <a:gd name="connsiteX3" fmla="*/ 3563257 w 8781143"/>
                <a:gd name="connsiteY3" fmla="*/ 1299028 h 1336281"/>
                <a:gd name="connsiteX4" fmla="*/ 8781143 w 8781143"/>
                <a:gd name="connsiteY4" fmla="*/ 1313542 h 133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1143" h="1336281">
                  <a:moveTo>
                    <a:pt x="0" y="0"/>
                  </a:moveTo>
                  <a:cubicBezTo>
                    <a:pt x="279400" y="6652"/>
                    <a:pt x="558801" y="13304"/>
                    <a:pt x="834572" y="174171"/>
                  </a:cubicBezTo>
                  <a:cubicBezTo>
                    <a:pt x="1110344" y="335038"/>
                    <a:pt x="1199848" y="777724"/>
                    <a:pt x="1654629" y="965200"/>
                  </a:cubicBezTo>
                  <a:cubicBezTo>
                    <a:pt x="2109410" y="1152676"/>
                    <a:pt x="2375505" y="1240971"/>
                    <a:pt x="3563257" y="1299028"/>
                  </a:cubicBezTo>
                  <a:cubicBezTo>
                    <a:pt x="4751009" y="1357085"/>
                    <a:pt x="6766076" y="1335313"/>
                    <a:pt x="8781143" y="131354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78825B-9613-4158-932F-C8A3E130D9EC}"/>
                </a:ext>
              </a:extLst>
            </p:cNvPr>
            <p:cNvSpPr/>
            <p:nvPr/>
          </p:nvSpPr>
          <p:spPr>
            <a:xfrm>
              <a:off x="1511990" y="2681932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BAAEAB5-E14A-4CC6-9F07-693278086B40}"/>
                </a:ext>
              </a:extLst>
            </p:cNvPr>
            <p:cNvSpPr/>
            <p:nvPr/>
          </p:nvSpPr>
          <p:spPr>
            <a:xfrm>
              <a:off x="1227420" y="3077093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DB6E1A-6434-4BD3-A2C2-7CDFB0FCCC9A}"/>
                </a:ext>
              </a:extLst>
            </p:cNvPr>
            <p:cNvSpPr/>
            <p:nvPr/>
          </p:nvSpPr>
          <p:spPr>
            <a:xfrm>
              <a:off x="1889619" y="3587542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E24C3A-5084-4449-B209-2022C61458F2}"/>
                </a:ext>
              </a:extLst>
            </p:cNvPr>
            <p:cNvSpPr/>
            <p:nvPr/>
          </p:nvSpPr>
          <p:spPr>
            <a:xfrm>
              <a:off x="1625277" y="4081733"/>
              <a:ext cx="113288" cy="9710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DF9D559-8BF1-4D09-8BDB-2D42286D9E46}"/>
                </a:ext>
              </a:extLst>
            </p:cNvPr>
            <p:cNvSpPr/>
            <p:nvPr/>
          </p:nvSpPr>
          <p:spPr>
            <a:xfrm>
              <a:off x="1896362" y="2953016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276C65B-B0D1-4FA3-AB83-7E53DEA4D251}"/>
                </a:ext>
              </a:extLst>
            </p:cNvPr>
            <p:cNvSpPr/>
            <p:nvPr/>
          </p:nvSpPr>
          <p:spPr>
            <a:xfrm>
              <a:off x="1340708" y="3737268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8DDA9BA-A83C-4458-946F-51CF8D2EDADC}"/>
                </a:ext>
              </a:extLst>
            </p:cNvPr>
            <p:cNvSpPr/>
            <p:nvPr/>
          </p:nvSpPr>
          <p:spPr>
            <a:xfrm>
              <a:off x="1489738" y="4375229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Content Placeholder 1">
            <a:extLst>
              <a:ext uri="{FF2B5EF4-FFF2-40B4-BE49-F238E27FC236}">
                <a16:creationId xmlns:a16="http://schemas.microsoft.com/office/drawing/2014/main" id="{193565B9-1184-40BC-99E8-D3BA89B7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3"/>
            <a:ext cx="11699087" cy="960870"/>
          </a:xfrm>
        </p:spPr>
        <p:txBody>
          <a:bodyPr>
            <a:normAutofit/>
          </a:bodyPr>
          <a:lstStyle/>
          <a:p>
            <a:r>
              <a:rPr lang="en-US" dirty="0"/>
              <a:t>The good case: under-approximation found a trace that contained unsafe states – we found a bug in the system!</a:t>
            </a:r>
          </a:p>
        </p:txBody>
      </p:sp>
    </p:spTree>
    <p:extLst>
      <p:ext uri="{BB962C8B-B14F-4D97-AF65-F5344CB8AC3E}">
        <p14:creationId xmlns:p14="http://schemas.microsoft.com/office/powerpoint/2010/main" val="537547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Under-approximation: unsound for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05C5B2-AF66-4A31-BDEA-411B068A3852}"/>
              </a:ext>
            </a:extLst>
          </p:cNvPr>
          <p:cNvSpPr/>
          <p:nvPr/>
        </p:nvSpPr>
        <p:spPr>
          <a:xfrm>
            <a:off x="886526" y="2787978"/>
            <a:ext cx="1448475" cy="182499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0070B-EFF5-4703-BC84-C1DC04E679F0}"/>
              </a:ext>
            </a:extLst>
          </p:cNvPr>
          <p:cNvSpPr/>
          <p:nvPr/>
        </p:nvSpPr>
        <p:spPr>
          <a:xfrm rot="18402694">
            <a:off x="9091413" y="3444550"/>
            <a:ext cx="1030584" cy="2249586"/>
          </a:xfrm>
          <a:prstGeom prst="ellipse">
            <a:avLst/>
          </a:prstGeom>
          <a:solidFill>
            <a:srgbClr val="FFD1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4FD3D3-E4E8-4990-8825-718F646D111A}"/>
                  </a:ext>
                </a:extLst>
              </p:cNvPr>
              <p:cNvSpPr txBox="1"/>
              <p:nvPr/>
            </p:nvSpPr>
            <p:spPr>
              <a:xfrm>
                <a:off x="10214364" y="4086650"/>
                <a:ext cx="1284646" cy="408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4FD3D3-E4E8-4990-8825-718F646D1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364" y="4086650"/>
                <a:ext cx="1284646" cy="408310"/>
              </a:xfrm>
              <a:prstGeom prst="rect">
                <a:avLst/>
              </a:prstGeom>
              <a:blipFill>
                <a:blip r:embed="rId2"/>
                <a:stretch>
                  <a:fillRect l="-952" r="-476" b="-32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37C611-C46F-4580-9A39-BA0A81D66E82}"/>
                  </a:ext>
                </a:extLst>
              </p:cNvPr>
              <p:cNvSpPr txBox="1"/>
              <p:nvPr/>
            </p:nvSpPr>
            <p:spPr>
              <a:xfrm>
                <a:off x="1220416" y="4627622"/>
                <a:ext cx="594843" cy="408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37C611-C46F-4580-9A39-BA0A81D66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16" y="4627622"/>
                <a:ext cx="594843" cy="408310"/>
              </a:xfrm>
              <a:prstGeom prst="rect">
                <a:avLst/>
              </a:prstGeom>
              <a:blipFill>
                <a:blip r:embed="rId3"/>
                <a:stretch>
                  <a:fillRect l="-1020" b="-28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529B9A7-B391-482F-A749-160984CC0775}"/>
              </a:ext>
            </a:extLst>
          </p:cNvPr>
          <p:cNvSpPr/>
          <p:nvPr/>
        </p:nvSpPr>
        <p:spPr>
          <a:xfrm>
            <a:off x="1516742" y="2656114"/>
            <a:ext cx="7685314" cy="395076"/>
          </a:xfrm>
          <a:custGeom>
            <a:avLst/>
            <a:gdLst>
              <a:gd name="connsiteX0" fmla="*/ 0 w 7685314"/>
              <a:gd name="connsiteY0" fmla="*/ 446702 h 446702"/>
              <a:gd name="connsiteX1" fmla="*/ 3447143 w 7685314"/>
              <a:gd name="connsiteY1" fmla="*/ 11273 h 446702"/>
              <a:gd name="connsiteX2" fmla="*/ 7685314 w 7685314"/>
              <a:gd name="connsiteY2" fmla="*/ 170931 h 44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5314" h="446702">
                <a:moveTo>
                  <a:pt x="0" y="446702"/>
                </a:moveTo>
                <a:cubicBezTo>
                  <a:pt x="1083128" y="251968"/>
                  <a:pt x="2166257" y="57235"/>
                  <a:pt x="3447143" y="11273"/>
                </a:cubicBezTo>
                <a:cubicBezTo>
                  <a:pt x="4728029" y="-34689"/>
                  <a:pt x="6206671" y="68121"/>
                  <a:pt x="7685314" y="170931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3D12332-A661-40E4-9B59-B7C8C8B01280}"/>
              </a:ext>
            </a:extLst>
          </p:cNvPr>
          <p:cNvSpPr/>
          <p:nvPr/>
        </p:nvSpPr>
        <p:spPr>
          <a:xfrm>
            <a:off x="1915885" y="2921623"/>
            <a:ext cx="7242628" cy="354212"/>
          </a:xfrm>
          <a:custGeom>
            <a:avLst/>
            <a:gdLst>
              <a:gd name="connsiteX0" fmla="*/ 0 w 7242628"/>
              <a:gd name="connsiteY0" fmla="*/ 400498 h 400498"/>
              <a:gd name="connsiteX1" fmla="*/ 1952171 w 7242628"/>
              <a:gd name="connsiteY1" fmla="*/ 320669 h 400498"/>
              <a:gd name="connsiteX2" fmla="*/ 3127828 w 7242628"/>
              <a:gd name="connsiteY2" fmla="*/ 52155 h 400498"/>
              <a:gd name="connsiteX3" fmla="*/ 4985657 w 7242628"/>
              <a:gd name="connsiteY3" fmla="*/ 15869 h 400498"/>
              <a:gd name="connsiteX4" fmla="*/ 6212114 w 7242628"/>
              <a:gd name="connsiteY4" fmla="*/ 240841 h 400498"/>
              <a:gd name="connsiteX5" fmla="*/ 7242628 w 7242628"/>
              <a:gd name="connsiteY5" fmla="*/ 139241 h 40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42628" h="400498">
                <a:moveTo>
                  <a:pt x="0" y="400498"/>
                </a:moveTo>
                <a:cubicBezTo>
                  <a:pt x="715433" y="389612"/>
                  <a:pt x="1430866" y="378726"/>
                  <a:pt x="1952171" y="320669"/>
                </a:cubicBezTo>
                <a:cubicBezTo>
                  <a:pt x="2473476" y="262612"/>
                  <a:pt x="2622247" y="102955"/>
                  <a:pt x="3127828" y="52155"/>
                </a:cubicBezTo>
                <a:cubicBezTo>
                  <a:pt x="3633409" y="1355"/>
                  <a:pt x="4471609" y="-15579"/>
                  <a:pt x="4985657" y="15869"/>
                </a:cubicBezTo>
                <a:cubicBezTo>
                  <a:pt x="5499705" y="47317"/>
                  <a:pt x="5835952" y="220279"/>
                  <a:pt x="6212114" y="240841"/>
                </a:cubicBezTo>
                <a:cubicBezTo>
                  <a:pt x="6588276" y="261403"/>
                  <a:pt x="6915452" y="200322"/>
                  <a:pt x="7242628" y="139241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BEA9346-892A-4D62-8B6E-F4126E5942B0}"/>
              </a:ext>
            </a:extLst>
          </p:cNvPr>
          <p:cNvSpPr/>
          <p:nvPr/>
        </p:nvSpPr>
        <p:spPr>
          <a:xfrm>
            <a:off x="1255485" y="3160891"/>
            <a:ext cx="8665970" cy="359983"/>
          </a:xfrm>
          <a:custGeom>
            <a:avLst/>
            <a:gdLst>
              <a:gd name="connsiteX0" fmla="*/ 0 w 8665970"/>
              <a:gd name="connsiteY0" fmla="*/ 304135 h 407023"/>
              <a:gd name="connsiteX1" fmla="*/ 2634343 w 8665970"/>
              <a:gd name="connsiteY1" fmla="*/ 391221 h 407023"/>
              <a:gd name="connsiteX2" fmla="*/ 4463143 w 8665970"/>
              <a:gd name="connsiteY2" fmla="*/ 21107 h 407023"/>
              <a:gd name="connsiteX3" fmla="*/ 8004628 w 8665970"/>
              <a:gd name="connsiteY3" fmla="*/ 64650 h 407023"/>
              <a:gd name="connsiteX4" fmla="*/ 8657771 w 8665970"/>
              <a:gd name="connsiteY4" fmla="*/ 224307 h 40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65970" h="407023">
                <a:moveTo>
                  <a:pt x="0" y="304135"/>
                </a:moveTo>
                <a:cubicBezTo>
                  <a:pt x="945243" y="371263"/>
                  <a:pt x="1890486" y="438392"/>
                  <a:pt x="2634343" y="391221"/>
                </a:cubicBezTo>
                <a:cubicBezTo>
                  <a:pt x="3378200" y="344050"/>
                  <a:pt x="3568096" y="75535"/>
                  <a:pt x="4463143" y="21107"/>
                </a:cubicBezTo>
                <a:cubicBezTo>
                  <a:pt x="5358190" y="-33321"/>
                  <a:pt x="7305523" y="30783"/>
                  <a:pt x="8004628" y="64650"/>
                </a:cubicBezTo>
                <a:cubicBezTo>
                  <a:pt x="8703733" y="98517"/>
                  <a:pt x="8680752" y="161412"/>
                  <a:pt x="8657771" y="224307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C93251B-47FA-429D-A640-C4281C0EDEBA}"/>
              </a:ext>
            </a:extLst>
          </p:cNvPr>
          <p:cNvSpPr/>
          <p:nvPr/>
        </p:nvSpPr>
        <p:spPr>
          <a:xfrm>
            <a:off x="1930399" y="3338354"/>
            <a:ext cx="8098971" cy="592767"/>
          </a:xfrm>
          <a:custGeom>
            <a:avLst/>
            <a:gdLst>
              <a:gd name="connsiteX0" fmla="*/ 0 w 8098971"/>
              <a:gd name="connsiteY0" fmla="*/ 575198 h 670226"/>
              <a:gd name="connsiteX1" fmla="*/ 3200400 w 8098971"/>
              <a:gd name="connsiteY1" fmla="*/ 625998 h 670226"/>
              <a:gd name="connsiteX2" fmla="*/ 5399314 w 8098971"/>
              <a:gd name="connsiteY2" fmla="*/ 16398 h 670226"/>
              <a:gd name="connsiteX3" fmla="*/ 8098971 w 8098971"/>
              <a:gd name="connsiteY3" fmla="*/ 234112 h 67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8971" h="670226">
                <a:moveTo>
                  <a:pt x="0" y="575198"/>
                </a:moveTo>
                <a:cubicBezTo>
                  <a:pt x="1150257" y="647164"/>
                  <a:pt x="2300514" y="719131"/>
                  <a:pt x="3200400" y="625998"/>
                </a:cubicBezTo>
                <a:cubicBezTo>
                  <a:pt x="4100286" y="532865"/>
                  <a:pt x="4582886" y="81712"/>
                  <a:pt x="5399314" y="16398"/>
                </a:cubicBezTo>
                <a:cubicBezTo>
                  <a:pt x="6215742" y="-48916"/>
                  <a:pt x="7157356" y="92598"/>
                  <a:pt x="8098971" y="234112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92AD398-0EF3-4169-8108-671A7AEE83D5}"/>
              </a:ext>
            </a:extLst>
          </p:cNvPr>
          <p:cNvSpPr/>
          <p:nvPr/>
        </p:nvSpPr>
        <p:spPr>
          <a:xfrm>
            <a:off x="1371599" y="3576230"/>
            <a:ext cx="9093200" cy="938903"/>
          </a:xfrm>
          <a:custGeom>
            <a:avLst/>
            <a:gdLst>
              <a:gd name="connsiteX0" fmla="*/ 0 w 9093200"/>
              <a:gd name="connsiteY0" fmla="*/ 480409 h 1061592"/>
              <a:gd name="connsiteX1" fmla="*/ 1139371 w 9093200"/>
              <a:gd name="connsiteY1" fmla="*/ 480409 h 1061592"/>
              <a:gd name="connsiteX2" fmla="*/ 2097314 w 9093200"/>
              <a:gd name="connsiteY2" fmla="*/ 1060981 h 1061592"/>
              <a:gd name="connsiteX3" fmla="*/ 5377543 w 9093200"/>
              <a:gd name="connsiteY3" fmla="*/ 357038 h 1061592"/>
              <a:gd name="connsiteX4" fmla="*/ 7605486 w 9093200"/>
              <a:gd name="connsiteY4" fmla="*/ 1438 h 1061592"/>
              <a:gd name="connsiteX5" fmla="*/ 9093200 w 9093200"/>
              <a:gd name="connsiteY5" fmla="*/ 255438 h 106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93200" h="1061592">
                <a:moveTo>
                  <a:pt x="0" y="480409"/>
                </a:moveTo>
                <a:cubicBezTo>
                  <a:pt x="394909" y="432028"/>
                  <a:pt x="789819" y="383647"/>
                  <a:pt x="1139371" y="480409"/>
                </a:cubicBezTo>
                <a:cubicBezTo>
                  <a:pt x="1488923" y="577171"/>
                  <a:pt x="1390952" y="1081543"/>
                  <a:pt x="2097314" y="1060981"/>
                </a:cubicBezTo>
                <a:cubicBezTo>
                  <a:pt x="2803676" y="1040419"/>
                  <a:pt x="4459514" y="533628"/>
                  <a:pt x="5377543" y="357038"/>
                </a:cubicBezTo>
                <a:cubicBezTo>
                  <a:pt x="6295572" y="180448"/>
                  <a:pt x="6986210" y="18371"/>
                  <a:pt x="7605486" y="1438"/>
                </a:cubicBezTo>
                <a:cubicBezTo>
                  <a:pt x="8224762" y="-15495"/>
                  <a:pt x="8658981" y="119971"/>
                  <a:pt x="9093200" y="255438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07687CF-CFE2-4D1E-9049-61B838D262F8}"/>
              </a:ext>
            </a:extLst>
          </p:cNvPr>
          <p:cNvSpPr/>
          <p:nvPr/>
        </p:nvSpPr>
        <p:spPr>
          <a:xfrm>
            <a:off x="1582056" y="4559521"/>
            <a:ext cx="8781143" cy="913042"/>
          </a:xfrm>
          <a:custGeom>
            <a:avLst/>
            <a:gdLst>
              <a:gd name="connsiteX0" fmla="*/ 0 w 8781143"/>
              <a:gd name="connsiteY0" fmla="*/ 0 h 1336281"/>
              <a:gd name="connsiteX1" fmla="*/ 834572 w 8781143"/>
              <a:gd name="connsiteY1" fmla="*/ 174171 h 1336281"/>
              <a:gd name="connsiteX2" fmla="*/ 1654629 w 8781143"/>
              <a:gd name="connsiteY2" fmla="*/ 965200 h 1336281"/>
              <a:gd name="connsiteX3" fmla="*/ 3563257 w 8781143"/>
              <a:gd name="connsiteY3" fmla="*/ 1299028 h 1336281"/>
              <a:gd name="connsiteX4" fmla="*/ 8781143 w 8781143"/>
              <a:gd name="connsiteY4" fmla="*/ 1313542 h 133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1143" h="1336281">
                <a:moveTo>
                  <a:pt x="0" y="0"/>
                </a:moveTo>
                <a:cubicBezTo>
                  <a:pt x="279400" y="6652"/>
                  <a:pt x="558801" y="13304"/>
                  <a:pt x="834572" y="174171"/>
                </a:cubicBezTo>
                <a:cubicBezTo>
                  <a:pt x="1110344" y="335038"/>
                  <a:pt x="1199848" y="777724"/>
                  <a:pt x="1654629" y="965200"/>
                </a:cubicBezTo>
                <a:cubicBezTo>
                  <a:pt x="2109410" y="1152676"/>
                  <a:pt x="2375505" y="1240971"/>
                  <a:pt x="3563257" y="1299028"/>
                </a:cubicBezTo>
                <a:cubicBezTo>
                  <a:pt x="4751009" y="1357085"/>
                  <a:pt x="6766076" y="1335313"/>
                  <a:pt x="8781143" y="1313542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78825B-9613-4158-932F-C8A3E130D9EC}"/>
              </a:ext>
            </a:extLst>
          </p:cNvPr>
          <p:cNvSpPr/>
          <p:nvPr/>
        </p:nvSpPr>
        <p:spPr>
          <a:xfrm>
            <a:off x="1497475" y="3009840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AEAB5-E14A-4CC6-9F07-693278086B40}"/>
              </a:ext>
            </a:extLst>
          </p:cNvPr>
          <p:cNvSpPr/>
          <p:nvPr/>
        </p:nvSpPr>
        <p:spPr>
          <a:xfrm>
            <a:off x="1212905" y="3359331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FDB6E1A-6434-4BD3-A2C2-7CDFB0FCCC9A}"/>
              </a:ext>
            </a:extLst>
          </p:cNvPr>
          <p:cNvSpPr/>
          <p:nvPr/>
        </p:nvSpPr>
        <p:spPr>
          <a:xfrm>
            <a:off x="1875104" y="3810787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F9D559-8BF1-4D09-8BDB-2D42286D9E46}"/>
              </a:ext>
            </a:extLst>
          </p:cNvPr>
          <p:cNvSpPr/>
          <p:nvPr/>
        </p:nvSpPr>
        <p:spPr>
          <a:xfrm>
            <a:off x="1881847" y="3249594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76C65B-B0D1-4FA3-AB83-7E53DEA4D251}"/>
              </a:ext>
            </a:extLst>
          </p:cNvPr>
          <p:cNvSpPr/>
          <p:nvPr/>
        </p:nvSpPr>
        <p:spPr>
          <a:xfrm>
            <a:off x="1326193" y="3943209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DDA9BA-A83C-4458-946F-51CF8D2EDADC}"/>
              </a:ext>
            </a:extLst>
          </p:cNvPr>
          <p:cNvSpPr/>
          <p:nvPr/>
        </p:nvSpPr>
        <p:spPr>
          <a:xfrm>
            <a:off x="1475223" y="4507441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ontent Placeholder 1">
            <a:extLst>
              <a:ext uri="{FF2B5EF4-FFF2-40B4-BE49-F238E27FC236}">
                <a16:creationId xmlns:a16="http://schemas.microsoft.com/office/drawing/2014/main" id="{193565B9-1184-40BC-99E8-D3BA89B7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3"/>
            <a:ext cx="11699087" cy="960870"/>
          </a:xfrm>
        </p:spPr>
        <p:txBody>
          <a:bodyPr>
            <a:normAutofit/>
          </a:bodyPr>
          <a:lstStyle/>
          <a:p>
            <a:r>
              <a:rPr lang="en-US" dirty="0"/>
              <a:t>The bad case: under-approximation did not find a trace that contained unsafe states – we cannot conclude anything.</a:t>
            </a:r>
          </a:p>
        </p:txBody>
      </p:sp>
    </p:spTree>
    <p:extLst>
      <p:ext uri="{BB962C8B-B14F-4D97-AF65-F5344CB8AC3E}">
        <p14:creationId xmlns:p14="http://schemas.microsoft.com/office/powerpoint/2010/main" val="235939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07BA22-4C9D-4FCA-ABB6-7E90202CF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09202"/>
                <a:ext cx="11699087" cy="45825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we </a:t>
                </a:r>
                <a:r>
                  <a:rPr lang="en-US" i="1" dirty="0"/>
                  <a:t>over-approximate</a:t>
                </a:r>
                <a:r>
                  <a:rPr lang="en-US" dirty="0"/>
                  <a:t> the set of initial states, at each time, the set of reachable states that we compute is a </a:t>
                </a:r>
                <a:r>
                  <a:rPr lang="en-US" b="1" i="1" dirty="0"/>
                  <a:t>superset </a:t>
                </a:r>
                <a:r>
                  <a:rPr lang="en-US" dirty="0"/>
                  <a:t>of the </a:t>
                </a:r>
                <a:r>
                  <a:rPr lang="en-US" i="1" dirty="0"/>
                  <a:t>actual</a:t>
                </a:r>
                <a:r>
                  <a:rPr lang="en-US" b="1" i="1" dirty="0"/>
                  <a:t> </a:t>
                </a:r>
                <a:r>
                  <a:rPr lang="en-US" dirty="0"/>
                  <a:t>set of reachable states</a:t>
                </a:r>
              </a:p>
              <a:p>
                <a:r>
                  <a:rPr lang="en-US" dirty="0"/>
                  <a:t>Most formal verification techniques are based on over-approximation</a:t>
                </a:r>
              </a:p>
              <a:p>
                <a:r>
                  <a:rPr lang="en-US" dirty="0"/>
                  <a:t>Over-approximation is:</a:t>
                </a:r>
              </a:p>
              <a:p>
                <a:pPr lvl="1"/>
                <a:r>
                  <a:rPr lang="en-US" dirty="0"/>
                  <a:t>Unsound for bug-finding: if we find a bug, then it may not really be a bug</a:t>
                </a:r>
              </a:p>
              <a:p>
                <a:pPr lvl="2"/>
                <a:r>
                  <a:rPr lang="en-US" dirty="0"/>
                  <a:t>Because of over-approximation error</a:t>
                </a:r>
              </a:p>
              <a:p>
                <a:pPr lvl="1"/>
                <a:r>
                  <a:rPr lang="en-US" dirty="0"/>
                  <a:t>Sound for verification: if we do not find a bug, we have a </a:t>
                </a:r>
                <a:r>
                  <a:rPr lang="en-US" b="1" dirty="0"/>
                  <a:t>proof</a:t>
                </a:r>
                <a:r>
                  <a:rPr lang="en-US" dirty="0"/>
                  <a:t> that the system cannot reach an unsafe state in any time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07BA22-4C9D-4FCA-ABB6-7E90202CF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09202"/>
                <a:ext cx="11699087" cy="4582575"/>
              </a:xfrm>
              <a:blipFill>
                <a:blip r:embed="rId2"/>
                <a:stretch>
                  <a:fillRect l="-625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7A056B-5D12-4662-952B-3A95823D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451C-898F-4153-9BB2-84CC2C1D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13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62A8DB-EC4B-4706-BBC4-3ED722D69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PWA systems are a simplification of hybrid automata</a:t>
                </a:r>
              </a:p>
              <a:p>
                <a:r>
                  <a:rPr lang="en-US" dirty="0"/>
                  <a:t>For a PWA system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modes:</a:t>
                </a:r>
              </a:p>
              <a:p>
                <a:pPr lvl="1"/>
                <a:r>
                  <a:rPr lang="en-US" dirty="0"/>
                  <a:t>Each mode described by an affine invariant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each mode the dynamics are described as: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lot of research over last 20 years on computing the set of reachable states for PWA systems</a:t>
                </a:r>
              </a:p>
              <a:p>
                <a:pPr lvl="1"/>
                <a:r>
                  <a:rPr lang="en-US" dirty="0"/>
                  <a:t>Focus: reduce approximation error and increase scalability (in number of modes)</a:t>
                </a:r>
              </a:p>
              <a:p>
                <a:pPr lvl="1"/>
                <a:r>
                  <a:rPr lang="en-US" dirty="0"/>
                  <a:t>Tools: </a:t>
                </a:r>
                <a:r>
                  <a:rPr lang="en-US" dirty="0" err="1"/>
                  <a:t>PHAver</a:t>
                </a:r>
                <a:r>
                  <a:rPr lang="en-US" dirty="0"/>
                  <a:t>, d/</a:t>
                </a:r>
                <a:r>
                  <a:rPr lang="en-US" dirty="0" err="1"/>
                  <a:t>dt</a:t>
                </a:r>
                <a:r>
                  <a:rPr lang="en-US" dirty="0"/>
                  <a:t>, </a:t>
                </a:r>
                <a:r>
                  <a:rPr lang="en-US" dirty="0" err="1"/>
                  <a:t>CheckMate</a:t>
                </a:r>
                <a:r>
                  <a:rPr lang="en-US" dirty="0"/>
                  <a:t>, </a:t>
                </a:r>
                <a:r>
                  <a:rPr lang="en-US" dirty="0" err="1"/>
                  <a:t>SpaceEx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62A8DB-EC4B-4706-BBC4-3ED722D69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B820C98-34B8-485E-9410-88B3148B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Reachability for piecewise affine (PWA)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A8CBE-5F4F-4E61-8CD2-703F73B4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51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7561F0-98C7-47FD-9E7A-7A71FA693138}"/>
              </a:ext>
            </a:extLst>
          </p:cNvPr>
          <p:cNvSpPr/>
          <p:nvPr/>
        </p:nvSpPr>
        <p:spPr>
          <a:xfrm>
            <a:off x="547575" y="1708185"/>
            <a:ext cx="2975430" cy="2723042"/>
          </a:xfrm>
          <a:custGeom>
            <a:avLst/>
            <a:gdLst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017486 w 2982686"/>
              <a:gd name="connsiteY5" fmla="*/ 1139371 h 2685142"/>
              <a:gd name="connsiteX6" fmla="*/ 1052286 w 2982686"/>
              <a:gd name="connsiteY6" fmla="*/ 1857828 h 2685142"/>
              <a:gd name="connsiteX7" fmla="*/ 0 w 2982686"/>
              <a:gd name="connsiteY7" fmla="*/ 2140857 h 2685142"/>
              <a:gd name="connsiteX8" fmla="*/ 7257 w 2982686"/>
              <a:gd name="connsiteY8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45657 w 2982686"/>
              <a:gd name="connsiteY5" fmla="*/ 638628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609600 w 2982686"/>
              <a:gd name="connsiteY8" fmla="*/ 1959428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0 w 2982686"/>
              <a:gd name="connsiteY8" fmla="*/ 2140857 h 2698670"/>
              <a:gd name="connsiteX9" fmla="*/ 7257 w 2982686"/>
              <a:gd name="connsiteY9" fmla="*/ 2685142 h 2698670"/>
              <a:gd name="connsiteX0" fmla="*/ 7257 w 2982686"/>
              <a:gd name="connsiteY0" fmla="*/ 2685142 h 2700919"/>
              <a:gd name="connsiteX1" fmla="*/ 1081314 w 2982686"/>
              <a:gd name="connsiteY1" fmla="*/ 2525486 h 2700919"/>
              <a:gd name="connsiteX2" fmla="*/ 2126343 w 2982686"/>
              <a:gd name="connsiteY2" fmla="*/ 2090057 h 2700919"/>
              <a:gd name="connsiteX3" fmla="*/ 2982686 w 2982686"/>
              <a:gd name="connsiteY3" fmla="*/ 1299028 h 2700919"/>
              <a:gd name="connsiteX4" fmla="*/ 2975429 w 2982686"/>
              <a:gd name="connsiteY4" fmla="*/ 0 h 2700919"/>
              <a:gd name="connsiteX5" fmla="*/ 2489200 w 2982686"/>
              <a:gd name="connsiteY5" fmla="*/ 631371 h 2700919"/>
              <a:gd name="connsiteX6" fmla="*/ 2017486 w 2982686"/>
              <a:gd name="connsiteY6" fmla="*/ 1139371 h 2700919"/>
              <a:gd name="connsiteX7" fmla="*/ 1088571 w 2982686"/>
              <a:gd name="connsiteY7" fmla="*/ 1814286 h 2700919"/>
              <a:gd name="connsiteX8" fmla="*/ 0 w 2982686"/>
              <a:gd name="connsiteY8" fmla="*/ 2140857 h 2700919"/>
              <a:gd name="connsiteX9" fmla="*/ 7257 w 2982686"/>
              <a:gd name="connsiteY9" fmla="*/ 2685142 h 2700919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17486 w 2982686"/>
              <a:gd name="connsiteY6" fmla="*/ 1139371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12899 w 2988328"/>
              <a:gd name="connsiteY0" fmla="*/ 2699907 h 2716360"/>
              <a:gd name="connsiteX1" fmla="*/ 1065185 w 2988328"/>
              <a:gd name="connsiteY1" fmla="*/ 2547508 h 2716360"/>
              <a:gd name="connsiteX2" fmla="*/ 2131985 w 2988328"/>
              <a:gd name="connsiteY2" fmla="*/ 2104822 h 2716360"/>
              <a:gd name="connsiteX3" fmla="*/ 2988328 w 2988328"/>
              <a:gd name="connsiteY3" fmla="*/ 1313793 h 2716360"/>
              <a:gd name="connsiteX4" fmla="*/ 2981071 w 2988328"/>
              <a:gd name="connsiteY4" fmla="*/ 14765 h 2716360"/>
              <a:gd name="connsiteX5" fmla="*/ 2494842 w 2988328"/>
              <a:gd name="connsiteY5" fmla="*/ 646136 h 2716360"/>
              <a:gd name="connsiteX6" fmla="*/ 2030385 w 2988328"/>
              <a:gd name="connsiteY6" fmla="*/ 1183164 h 2716360"/>
              <a:gd name="connsiteX7" fmla="*/ 1094213 w 2988328"/>
              <a:gd name="connsiteY7" fmla="*/ 1829051 h 2716360"/>
              <a:gd name="connsiteX8" fmla="*/ 118102 w 2988328"/>
              <a:gd name="connsiteY8" fmla="*/ 2112031 h 2716360"/>
              <a:gd name="connsiteX9" fmla="*/ 5642 w 2988328"/>
              <a:gd name="connsiteY9" fmla="*/ 2155622 h 2716360"/>
              <a:gd name="connsiteX10" fmla="*/ 12899 w 2988328"/>
              <a:gd name="connsiteY10" fmla="*/ 2699907 h 2716360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7257 w 2968172"/>
              <a:gd name="connsiteY0" fmla="*/ 2707164 h 2723042"/>
              <a:gd name="connsiteX1" fmla="*/ 1045029 w 2968172"/>
              <a:gd name="connsiteY1" fmla="*/ 2547508 h 2723042"/>
              <a:gd name="connsiteX2" fmla="*/ 2111829 w 2968172"/>
              <a:gd name="connsiteY2" fmla="*/ 2104822 h 2723042"/>
              <a:gd name="connsiteX3" fmla="*/ 2968172 w 2968172"/>
              <a:gd name="connsiteY3" fmla="*/ 1313793 h 2723042"/>
              <a:gd name="connsiteX4" fmla="*/ 2960915 w 2968172"/>
              <a:gd name="connsiteY4" fmla="*/ 14765 h 2723042"/>
              <a:gd name="connsiteX5" fmla="*/ 2474686 w 2968172"/>
              <a:gd name="connsiteY5" fmla="*/ 646136 h 2723042"/>
              <a:gd name="connsiteX6" fmla="*/ 2010229 w 2968172"/>
              <a:gd name="connsiteY6" fmla="*/ 1183164 h 2723042"/>
              <a:gd name="connsiteX7" fmla="*/ 1074057 w 2968172"/>
              <a:gd name="connsiteY7" fmla="*/ 1829051 h 2723042"/>
              <a:gd name="connsiteX8" fmla="*/ 0 w 2968172"/>
              <a:gd name="connsiteY8" fmla="*/ 2104822 h 2723042"/>
              <a:gd name="connsiteX9" fmla="*/ 7257 w 2968172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5430" h="2723042">
                <a:moveTo>
                  <a:pt x="14515" y="2707164"/>
                </a:moveTo>
                <a:cubicBezTo>
                  <a:pt x="194734" y="2766431"/>
                  <a:pt x="701525" y="2647898"/>
                  <a:pt x="1052287" y="2547508"/>
                </a:cubicBezTo>
                <a:cubicBezTo>
                  <a:pt x="1403049" y="2447118"/>
                  <a:pt x="1798563" y="2310441"/>
                  <a:pt x="2119087" y="2104822"/>
                </a:cubicBezTo>
                <a:cubicBezTo>
                  <a:pt x="2439611" y="1899203"/>
                  <a:pt x="2689982" y="1577469"/>
                  <a:pt x="2975430" y="1313793"/>
                </a:cubicBezTo>
                <a:lnTo>
                  <a:pt x="2968173" y="14765"/>
                </a:lnTo>
                <a:cubicBezTo>
                  <a:pt x="2885925" y="-96511"/>
                  <a:pt x="2640392" y="451403"/>
                  <a:pt x="2481944" y="646136"/>
                </a:cubicBezTo>
                <a:cubicBezTo>
                  <a:pt x="2323496" y="840869"/>
                  <a:pt x="2250925" y="986012"/>
                  <a:pt x="2017487" y="1183164"/>
                </a:cubicBezTo>
                <a:cubicBezTo>
                  <a:pt x="1784049" y="1380316"/>
                  <a:pt x="1416353" y="1675441"/>
                  <a:pt x="1081315" y="1829051"/>
                </a:cubicBezTo>
                <a:cubicBezTo>
                  <a:pt x="862391" y="1975404"/>
                  <a:pt x="394002" y="2134869"/>
                  <a:pt x="0" y="2141107"/>
                </a:cubicBezTo>
                <a:lnTo>
                  <a:pt x="14515" y="270716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37895-C4FC-4B56-BBC2-D302EC58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for affine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1BB2-C080-406C-B450-D0A5D9FF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F1E3D7-ABDA-4662-9CA9-28FF20EA9068}"/>
              </a:ext>
            </a:extLst>
          </p:cNvPr>
          <p:cNvCxnSpPr/>
          <p:nvPr/>
        </p:nvCxnSpPr>
        <p:spPr>
          <a:xfrm flipV="1">
            <a:off x="572950" y="2049474"/>
            <a:ext cx="0" cy="2786742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BCAA8D-392E-42CF-B66E-70CA9324D672}"/>
              </a:ext>
            </a:extLst>
          </p:cNvPr>
          <p:cNvCxnSpPr>
            <a:cxnSpLocks/>
          </p:cNvCxnSpPr>
          <p:nvPr/>
        </p:nvCxnSpPr>
        <p:spPr>
          <a:xfrm>
            <a:off x="217350" y="4480616"/>
            <a:ext cx="3976914" cy="0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6C7DD9-8CB1-4113-88E1-2625BDD96C75}"/>
              </a:ext>
            </a:extLst>
          </p:cNvPr>
          <p:cNvSpPr/>
          <p:nvPr/>
        </p:nvSpPr>
        <p:spPr>
          <a:xfrm>
            <a:off x="482266" y="3765792"/>
            <a:ext cx="181365" cy="7148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84A8A1-BB27-4838-ADBA-B0C492276E1A}"/>
              </a:ext>
            </a:extLst>
          </p:cNvPr>
          <p:cNvSpPr/>
          <p:nvPr/>
        </p:nvSpPr>
        <p:spPr>
          <a:xfrm>
            <a:off x="1534552" y="3493645"/>
            <a:ext cx="181357" cy="7910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9611A-B528-40F4-8D22-F58C50C3E742}"/>
              </a:ext>
            </a:extLst>
          </p:cNvPr>
          <p:cNvSpPr/>
          <p:nvPr/>
        </p:nvSpPr>
        <p:spPr>
          <a:xfrm>
            <a:off x="2496153" y="2840501"/>
            <a:ext cx="217624" cy="106679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541346-D1D7-454C-BBF9-038A6661CA77}"/>
              </a:ext>
            </a:extLst>
          </p:cNvPr>
          <p:cNvSpPr/>
          <p:nvPr/>
        </p:nvSpPr>
        <p:spPr>
          <a:xfrm>
            <a:off x="3432324" y="1695562"/>
            <a:ext cx="217634" cy="1388052"/>
          </a:xfrm>
          <a:prstGeom prst="roundRect">
            <a:avLst>
              <a:gd name="adj" fmla="val 1333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/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/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blipFill>
                <a:blip r:embed="rId3"/>
                <a:stretch>
                  <a:fillRect l="-102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/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blipFill>
                <a:blip r:embed="rId4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/>
              <p:nvPr/>
            </p:nvSpPr>
            <p:spPr>
              <a:xfrm>
                <a:off x="2076086" y="2282322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086" y="2282322"/>
                <a:ext cx="738279" cy="461665"/>
              </a:xfrm>
              <a:prstGeom prst="rect">
                <a:avLst/>
              </a:prstGeom>
              <a:blipFill>
                <a:blip r:embed="rId5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4D94A2-12BC-4D85-A180-B801DE108207}"/>
                  </a:ext>
                </a:extLst>
              </p:cNvPr>
              <p:cNvSpPr txBox="1"/>
              <p:nvPr/>
            </p:nvSpPr>
            <p:spPr>
              <a:xfrm>
                <a:off x="3008572" y="1209202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4D94A2-12BC-4D85-A180-B801DE108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72" y="1209202"/>
                <a:ext cx="738279" cy="461665"/>
              </a:xfrm>
              <a:prstGeom prst="rect">
                <a:avLst/>
              </a:prstGeom>
              <a:blipFill>
                <a:blip r:embed="rId6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9573" y="1209202"/>
                <a:ext cx="7606194" cy="4487653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Recall that for a linear system (for now assume no inputs):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b="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b="0" dirty="0"/>
                  <a:t>, 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r>
                  <a:rPr lang="en-US" sz="2400" b="0" dirty="0"/>
                  <a:t> is just some constant matrix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b="0" dirty="0"/>
                  <a:t> is some polyhedral set, </a:t>
                </a:r>
                <a:r>
                  <a:rPr lang="en-US" sz="2400" dirty="0"/>
                  <a:t>we can compute the </a:t>
                </a:r>
                <a:r>
                  <a:rPr lang="en-US" sz="2400" b="1" i="1" dirty="0"/>
                  <a:t>exact </a:t>
                </a:r>
                <a:r>
                  <a:rPr lang="en-US" sz="2400" dirty="0"/>
                  <a:t>set of reachable states for every state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b="0" dirty="0"/>
                  <a:t> at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b="0" dirty="0"/>
                  <a:t>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r>
                  <a:rPr lang="en-US" sz="2400" b="0" dirty="0"/>
                  <a:t> is just a linear transform</a:t>
                </a:r>
              </a:p>
              <a:p>
                <a:r>
                  <a:rPr lang="en-US" sz="2400" dirty="0"/>
                  <a:t>Thus,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Could be acceptable for continuous systems: between discrete time steps, solution remains in the neighborhood of the aproximations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r>
                  <a:rPr lang="en-US" sz="2400" dirty="0"/>
                  <a:t> (and we can over-estimate this neighborhood numerically)</a:t>
                </a:r>
              </a:p>
            </p:txBody>
          </p:sp>
        </mc:Choice>
        <mc:Fallback xmlns="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9573" y="1209202"/>
                <a:ext cx="7606194" cy="4487653"/>
              </a:xfrm>
              <a:blipFill>
                <a:blip r:embed="rId7"/>
                <a:stretch>
                  <a:fillRect l="-642" t="-19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/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6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7561F0-98C7-47FD-9E7A-7A71FA693138}"/>
              </a:ext>
            </a:extLst>
          </p:cNvPr>
          <p:cNvSpPr/>
          <p:nvPr/>
        </p:nvSpPr>
        <p:spPr>
          <a:xfrm>
            <a:off x="547572" y="3224441"/>
            <a:ext cx="1625601" cy="1209276"/>
          </a:xfrm>
          <a:custGeom>
            <a:avLst/>
            <a:gdLst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017486 w 2982686"/>
              <a:gd name="connsiteY5" fmla="*/ 1139371 h 2685142"/>
              <a:gd name="connsiteX6" fmla="*/ 1052286 w 2982686"/>
              <a:gd name="connsiteY6" fmla="*/ 1857828 h 2685142"/>
              <a:gd name="connsiteX7" fmla="*/ 0 w 2982686"/>
              <a:gd name="connsiteY7" fmla="*/ 2140857 h 2685142"/>
              <a:gd name="connsiteX8" fmla="*/ 7257 w 2982686"/>
              <a:gd name="connsiteY8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45657 w 2982686"/>
              <a:gd name="connsiteY5" fmla="*/ 638628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609600 w 2982686"/>
              <a:gd name="connsiteY8" fmla="*/ 1959428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0 w 2982686"/>
              <a:gd name="connsiteY8" fmla="*/ 2140857 h 2698670"/>
              <a:gd name="connsiteX9" fmla="*/ 7257 w 2982686"/>
              <a:gd name="connsiteY9" fmla="*/ 2685142 h 2698670"/>
              <a:gd name="connsiteX0" fmla="*/ 7257 w 2982686"/>
              <a:gd name="connsiteY0" fmla="*/ 2685142 h 2700919"/>
              <a:gd name="connsiteX1" fmla="*/ 1081314 w 2982686"/>
              <a:gd name="connsiteY1" fmla="*/ 2525486 h 2700919"/>
              <a:gd name="connsiteX2" fmla="*/ 2126343 w 2982686"/>
              <a:gd name="connsiteY2" fmla="*/ 2090057 h 2700919"/>
              <a:gd name="connsiteX3" fmla="*/ 2982686 w 2982686"/>
              <a:gd name="connsiteY3" fmla="*/ 1299028 h 2700919"/>
              <a:gd name="connsiteX4" fmla="*/ 2975429 w 2982686"/>
              <a:gd name="connsiteY4" fmla="*/ 0 h 2700919"/>
              <a:gd name="connsiteX5" fmla="*/ 2489200 w 2982686"/>
              <a:gd name="connsiteY5" fmla="*/ 631371 h 2700919"/>
              <a:gd name="connsiteX6" fmla="*/ 2017486 w 2982686"/>
              <a:gd name="connsiteY6" fmla="*/ 1139371 h 2700919"/>
              <a:gd name="connsiteX7" fmla="*/ 1088571 w 2982686"/>
              <a:gd name="connsiteY7" fmla="*/ 1814286 h 2700919"/>
              <a:gd name="connsiteX8" fmla="*/ 0 w 2982686"/>
              <a:gd name="connsiteY8" fmla="*/ 2140857 h 2700919"/>
              <a:gd name="connsiteX9" fmla="*/ 7257 w 2982686"/>
              <a:gd name="connsiteY9" fmla="*/ 2685142 h 2700919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17486 w 2982686"/>
              <a:gd name="connsiteY6" fmla="*/ 1139371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12899 w 2988328"/>
              <a:gd name="connsiteY0" fmla="*/ 2699907 h 2716360"/>
              <a:gd name="connsiteX1" fmla="*/ 1065185 w 2988328"/>
              <a:gd name="connsiteY1" fmla="*/ 2547508 h 2716360"/>
              <a:gd name="connsiteX2" fmla="*/ 2131985 w 2988328"/>
              <a:gd name="connsiteY2" fmla="*/ 2104822 h 2716360"/>
              <a:gd name="connsiteX3" fmla="*/ 2988328 w 2988328"/>
              <a:gd name="connsiteY3" fmla="*/ 1313793 h 2716360"/>
              <a:gd name="connsiteX4" fmla="*/ 2981071 w 2988328"/>
              <a:gd name="connsiteY4" fmla="*/ 14765 h 2716360"/>
              <a:gd name="connsiteX5" fmla="*/ 2494842 w 2988328"/>
              <a:gd name="connsiteY5" fmla="*/ 646136 h 2716360"/>
              <a:gd name="connsiteX6" fmla="*/ 2030385 w 2988328"/>
              <a:gd name="connsiteY6" fmla="*/ 1183164 h 2716360"/>
              <a:gd name="connsiteX7" fmla="*/ 1094213 w 2988328"/>
              <a:gd name="connsiteY7" fmla="*/ 1829051 h 2716360"/>
              <a:gd name="connsiteX8" fmla="*/ 118102 w 2988328"/>
              <a:gd name="connsiteY8" fmla="*/ 2112031 h 2716360"/>
              <a:gd name="connsiteX9" fmla="*/ 5642 w 2988328"/>
              <a:gd name="connsiteY9" fmla="*/ 2155622 h 2716360"/>
              <a:gd name="connsiteX10" fmla="*/ 12899 w 2988328"/>
              <a:gd name="connsiteY10" fmla="*/ 2699907 h 2716360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7257 w 2968172"/>
              <a:gd name="connsiteY0" fmla="*/ 2707164 h 2723042"/>
              <a:gd name="connsiteX1" fmla="*/ 1045029 w 2968172"/>
              <a:gd name="connsiteY1" fmla="*/ 2547508 h 2723042"/>
              <a:gd name="connsiteX2" fmla="*/ 2111829 w 2968172"/>
              <a:gd name="connsiteY2" fmla="*/ 2104822 h 2723042"/>
              <a:gd name="connsiteX3" fmla="*/ 2968172 w 2968172"/>
              <a:gd name="connsiteY3" fmla="*/ 1313793 h 2723042"/>
              <a:gd name="connsiteX4" fmla="*/ 2960915 w 2968172"/>
              <a:gd name="connsiteY4" fmla="*/ 14765 h 2723042"/>
              <a:gd name="connsiteX5" fmla="*/ 2474686 w 2968172"/>
              <a:gd name="connsiteY5" fmla="*/ 646136 h 2723042"/>
              <a:gd name="connsiteX6" fmla="*/ 2010229 w 2968172"/>
              <a:gd name="connsiteY6" fmla="*/ 1183164 h 2723042"/>
              <a:gd name="connsiteX7" fmla="*/ 1074057 w 2968172"/>
              <a:gd name="connsiteY7" fmla="*/ 1829051 h 2723042"/>
              <a:gd name="connsiteX8" fmla="*/ 0 w 2968172"/>
              <a:gd name="connsiteY8" fmla="*/ 2104822 h 2723042"/>
              <a:gd name="connsiteX9" fmla="*/ 7257 w 2968172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692793 h 2708671"/>
              <a:gd name="connsiteX1" fmla="*/ 1052287 w 2975430"/>
              <a:gd name="connsiteY1" fmla="*/ 2533137 h 2708671"/>
              <a:gd name="connsiteX2" fmla="*/ 2119087 w 2975430"/>
              <a:gd name="connsiteY2" fmla="*/ 2090451 h 2708671"/>
              <a:gd name="connsiteX3" fmla="*/ 2975430 w 2975430"/>
              <a:gd name="connsiteY3" fmla="*/ 1299422 h 2708671"/>
              <a:gd name="connsiteX4" fmla="*/ 2968173 w 2975430"/>
              <a:gd name="connsiteY4" fmla="*/ 394 h 2708671"/>
              <a:gd name="connsiteX5" fmla="*/ 2017487 w 2975430"/>
              <a:gd name="connsiteY5" fmla="*/ 1168793 h 2708671"/>
              <a:gd name="connsiteX6" fmla="*/ 1081315 w 2975430"/>
              <a:gd name="connsiteY6" fmla="*/ 1814680 h 2708671"/>
              <a:gd name="connsiteX7" fmla="*/ 0 w 2975430"/>
              <a:gd name="connsiteY7" fmla="*/ 2126736 h 2708671"/>
              <a:gd name="connsiteX8" fmla="*/ 14515 w 2975430"/>
              <a:gd name="connsiteY8" fmla="*/ 2692793 h 2708671"/>
              <a:gd name="connsiteX0" fmla="*/ 14515 w 2975430"/>
              <a:gd name="connsiteY0" fmla="*/ 1524000 h 1539878"/>
              <a:gd name="connsiteX1" fmla="*/ 1052287 w 2975430"/>
              <a:gd name="connsiteY1" fmla="*/ 1364344 h 1539878"/>
              <a:gd name="connsiteX2" fmla="*/ 2119087 w 2975430"/>
              <a:gd name="connsiteY2" fmla="*/ 921658 h 1539878"/>
              <a:gd name="connsiteX3" fmla="*/ 2975430 w 2975430"/>
              <a:gd name="connsiteY3" fmla="*/ 130629 h 1539878"/>
              <a:gd name="connsiteX4" fmla="*/ 2017487 w 2975430"/>
              <a:gd name="connsiteY4" fmla="*/ 0 h 1539878"/>
              <a:gd name="connsiteX5" fmla="*/ 1081315 w 2975430"/>
              <a:gd name="connsiteY5" fmla="*/ 645887 h 1539878"/>
              <a:gd name="connsiteX6" fmla="*/ 0 w 2975430"/>
              <a:gd name="connsiteY6" fmla="*/ 957943 h 1539878"/>
              <a:gd name="connsiteX7" fmla="*/ 14515 w 2975430"/>
              <a:gd name="connsiteY7" fmla="*/ 1524000 h 1539878"/>
              <a:gd name="connsiteX0" fmla="*/ 14515 w 2203285"/>
              <a:gd name="connsiteY0" fmla="*/ 1524000 h 1539878"/>
              <a:gd name="connsiteX1" fmla="*/ 1052287 w 2203285"/>
              <a:gd name="connsiteY1" fmla="*/ 1364344 h 1539878"/>
              <a:gd name="connsiteX2" fmla="*/ 2119087 w 2203285"/>
              <a:gd name="connsiteY2" fmla="*/ 921658 h 1539878"/>
              <a:gd name="connsiteX3" fmla="*/ 2017487 w 2203285"/>
              <a:gd name="connsiteY3" fmla="*/ 0 h 1539878"/>
              <a:gd name="connsiteX4" fmla="*/ 1081315 w 2203285"/>
              <a:gd name="connsiteY4" fmla="*/ 645887 h 1539878"/>
              <a:gd name="connsiteX5" fmla="*/ 0 w 2203285"/>
              <a:gd name="connsiteY5" fmla="*/ 957943 h 1539878"/>
              <a:gd name="connsiteX6" fmla="*/ 14515 w 2203285"/>
              <a:gd name="connsiteY6" fmla="*/ 1524000 h 1539878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090059"/>
              <a:gd name="connsiteY0" fmla="*/ 1527340 h 1542819"/>
              <a:gd name="connsiteX1" fmla="*/ 1052287 w 2090059"/>
              <a:gd name="connsiteY1" fmla="*/ 1367684 h 1542819"/>
              <a:gd name="connsiteX2" fmla="*/ 2090059 w 2090059"/>
              <a:gd name="connsiteY2" fmla="*/ 954026 h 1542819"/>
              <a:gd name="connsiteX3" fmla="*/ 2017487 w 2090059"/>
              <a:gd name="connsiteY3" fmla="*/ 3340 h 1542819"/>
              <a:gd name="connsiteX4" fmla="*/ 1081315 w 2090059"/>
              <a:gd name="connsiteY4" fmla="*/ 649227 h 1542819"/>
              <a:gd name="connsiteX5" fmla="*/ 0 w 2090059"/>
              <a:gd name="connsiteY5" fmla="*/ 961283 h 1542819"/>
              <a:gd name="connsiteX6" fmla="*/ 14515 w 2090059"/>
              <a:gd name="connsiteY6" fmla="*/ 1527340 h 1542819"/>
              <a:gd name="connsiteX0" fmla="*/ 14515 w 2046516"/>
              <a:gd name="connsiteY0" fmla="*/ 1527340 h 1541468"/>
              <a:gd name="connsiteX1" fmla="*/ 1052287 w 2046516"/>
              <a:gd name="connsiteY1" fmla="*/ 1367684 h 1541468"/>
              <a:gd name="connsiteX2" fmla="*/ 2046516 w 2046516"/>
              <a:gd name="connsiteY2" fmla="*/ 1062884 h 1541468"/>
              <a:gd name="connsiteX3" fmla="*/ 2017487 w 2046516"/>
              <a:gd name="connsiteY3" fmla="*/ 3340 h 1541468"/>
              <a:gd name="connsiteX4" fmla="*/ 1081315 w 2046516"/>
              <a:gd name="connsiteY4" fmla="*/ 649227 h 1541468"/>
              <a:gd name="connsiteX5" fmla="*/ 0 w 2046516"/>
              <a:gd name="connsiteY5" fmla="*/ 961283 h 1541468"/>
              <a:gd name="connsiteX6" fmla="*/ 14515 w 2046516"/>
              <a:gd name="connsiteY6" fmla="*/ 1527340 h 1541468"/>
              <a:gd name="connsiteX0" fmla="*/ 14515 w 2046516"/>
              <a:gd name="connsiteY0" fmla="*/ 1190909 h 1205037"/>
              <a:gd name="connsiteX1" fmla="*/ 1052287 w 2046516"/>
              <a:gd name="connsiteY1" fmla="*/ 1031253 h 1205037"/>
              <a:gd name="connsiteX2" fmla="*/ 2046516 w 2046516"/>
              <a:gd name="connsiteY2" fmla="*/ 726453 h 1205037"/>
              <a:gd name="connsiteX3" fmla="*/ 1625601 w 2046516"/>
              <a:gd name="connsiteY3" fmla="*/ 7994 h 1205037"/>
              <a:gd name="connsiteX4" fmla="*/ 1081315 w 2046516"/>
              <a:gd name="connsiteY4" fmla="*/ 312796 h 1205037"/>
              <a:gd name="connsiteX5" fmla="*/ 0 w 2046516"/>
              <a:gd name="connsiteY5" fmla="*/ 624852 h 1205037"/>
              <a:gd name="connsiteX6" fmla="*/ 14515 w 2046516"/>
              <a:gd name="connsiteY6" fmla="*/ 1190909 h 1205037"/>
              <a:gd name="connsiteX0" fmla="*/ 14515 w 1625601"/>
              <a:gd name="connsiteY0" fmla="*/ 1190909 h 1204792"/>
              <a:gd name="connsiteX1" fmla="*/ 1052287 w 1625601"/>
              <a:gd name="connsiteY1" fmla="*/ 1031253 h 1204792"/>
              <a:gd name="connsiteX2" fmla="*/ 1611087 w 1625601"/>
              <a:gd name="connsiteY2" fmla="*/ 748224 h 1204792"/>
              <a:gd name="connsiteX3" fmla="*/ 1625601 w 1625601"/>
              <a:gd name="connsiteY3" fmla="*/ 7994 h 1204792"/>
              <a:gd name="connsiteX4" fmla="*/ 1081315 w 1625601"/>
              <a:gd name="connsiteY4" fmla="*/ 312796 h 1204792"/>
              <a:gd name="connsiteX5" fmla="*/ 0 w 1625601"/>
              <a:gd name="connsiteY5" fmla="*/ 624852 h 1204792"/>
              <a:gd name="connsiteX6" fmla="*/ 14515 w 1625601"/>
              <a:gd name="connsiteY6" fmla="*/ 1190909 h 1204792"/>
              <a:gd name="connsiteX0" fmla="*/ 14515 w 1625601"/>
              <a:gd name="connsiteY0" fmla="*/ 1190909 h 1203740"/>
              <a:gd name="connsiteX1" fmla="*/ 1052287 w 1625601"/>
              <a:gd name="connsiteY1" fmla="*/ 1031253 h 1203740"/>
              <a:gd name="connsiteX2" fmla="*/ 1494973 w 1625601"/>
              <a:gd name="connsiteY2" fmla="*/ 849824 h 1203740"/>
              <a:gd name="connsiteX3" fmla="*/ 1625601 w 1625601"/>
              <a:gd name="connsiteY3" fmla="*/ 7994 h 1203740"/>
              <a:gd name="connsiteX4" fmla="*/ 1081315 w 1625601"/>
              <a:gd name="connsiteY4" fmla="*/ 312796 h 1203740"/>
              <a:gd name="connsiteX5" fmla="*/ 0 w 1625601"/>
              <a:gd name="connsiteY5" fmla="*/ 624852 h 1203740"/>
              <a:gd name="connsiteX6" fmla="*/ 14515 w 1625601"/>
              <a:gd name="connsiteY6" fmla="*/ 1190909 h 1203740"/>
              <a:gd name="connsiteX0" fmla="*/ 14515 w 1625601"/>
              <a:gd name="connsiteY0" fmla="*/ 1190909 h 1204323"/>
              <a:gd name="connsiteX1" fmla="*/ 1052287 w 1625601"/>
              <a:gd name="connsiteY1" fmla="*/ 1031253 h 1204323"/>
              <a:gd name="connsiteX2" fmla="*/ 1603830 w 1625601"/>
              <a:gd name="connsiteY2" fmla="*/ 791767 h 1204323"/>
              <a:gd name="connsiteX3" fmla="*/ 1625601 w 1625601"/>
              <a:gd name="connsiteY3" fmla="*/ 7994 h 1204323"/>
              <a:gd name="connsiteX4" fmla="*/ 1081315 w 1625601"/>
              <a:gd name="connsiteY4" fmla="*/ 312796 h 1204323"/>
              <a:gd name="connsiteX5" fmla="*/ 0 w 1625601"/>
              <a:gd name="connsiteY5" fmla="*/ 624852 h 1204323"/>
              <a:gd name="connsiteX6" fmla="*/ 14515 w 1625601"/>
              <a:gd name="connsiteY6" fmla="*/ 1190909 h 1204323"/>
              <a:gd name="connsiteX0" fmla="*/ 14515 w 1625601"/>
              <a:gd name="connsiteY0" fmla="*/ 1190909 h 1207979"/>
              <a:gd name="connsiteX1" fmla="*/ 1103087 w 1625601"/>
              <a:gd name="connsiteY1" fmla="*/ 1074796 h 1207979"/>
              <a:gd name="connsiteX2" fmla="*/ 1603830 w 1625601"/>
              <a:gd name="connsiteY2" fmla="*/ 791767 h 1207979"/>
              <a:gd name="connsiteX3" fmla="*/ 1625601 w 1625601"/>
              <a:gd name="connsiteY3" fmla="*/ 7994 h 1207979"/>
              <a:gd name="connsiteX4" fmla="*/ 1081315 w 1625601"/>
              <a:gd name="connsiteY4" fmla="*/ 312796 h 1207979"/>
              <a:gd name="connsiteX5" fmla="*/ 0 w 1625601"/>
              <a:gd name="connsiteY5" fmla="*/ 624852 h 1207979"/>
              <a:gd name="connsiteX6" fmla="*/ 14515 w 1625601"/>
              <a:gd name="connsiteY6" fmla="*/ 1190909 h 1207979"/>
              <a:gd name="connsiteX0" fmla="*/ 14515 w 1625601"/>
              <a:gd name="connsiteY0" fmla="*/ 1190909 h 1207979"/>
              <a:gd name="connsiteX1" fmla="*/ 1103087 w 1625601"/>
              <a:gd name="connsiteY1" fmla="*/ 1074796 h 1207979"/>
              <a:gd name="connsiteX2" fmla="*/ 1603830 w 1625601"/>
              <a:gd name="connsiteY2" fmla="*/ 791767 h 1207979"/>
              <a:gd name="connsiteX3" fmla="*/ 1625601 w 1625601"/>
              <a:gd name="connsiteY3" fmla="*/ 7994 h 1207979"/>
              <a:gd name="connsiteX4" fmla="*/ 1081315 w 1625601"/>
              <a:gd name="connsiteY4" fmla="*/ 312796 h 1207979"/>
              <a:gd name="connsiteX5" fmla="*/ 0 w 1625601"/>
              <a:gd name="connsiteY5" fmla="*/ 624852 h 1207979"/>
              <a:gd name="connsiteX6" fmla="*/ 14515 w 1625601"/>
              <a:gd name="connsiteY6" fmla="*/ 1190909 h 1207979"/>
              <a:gd name="connsiteX0" fmla="*/ 14515 w 1625601"/>
              <a:gd name="connsiteY0" fmla="*/ 1190909 h 1205940"/>
              <a:gd name="connsiteX1" fmla="*/ 1103087 w 1625601"/>
              <a:gd name="connsiteY1" fmla="*/ 1053024 h 1205940"/>
              <a:gd name="connsiteX2" fmla="*/ 1603830 w 1625601"/>
              <a:gd name="connsiteY2" fmla="*/ 791767 h 1205940"/>
              <a:gd name="connsiteX3" fmla="*/ 1625601 w 1625601"/>
              <a:gd name="connsiteY3" fmla="*/ 7994 h 1205940"/>
              <a:gd name="connsiteX4" fmla="*/ 1081315 w 1625601"/>
              <a:gd name="connsiteY4" fmla="*/ 312796 h 1205940"/>
              <a:gd name="connsiteX5" fmla="*/ 0 w 1625601"/>
              <a:gd name="connsiteY5" fmla="*/ 624852 h 1205940"/>
              <a:gd name="connsiteX6" fmla="*/ 14515 w 1625601"/>
              <a:gd name="connsiteY6" fmla="*/ 1190909 h 1205940"/>
              <a:gd name="connsiteX0" fmla="*/ 14515 w 1625601"/>
              <a:gd name="connsiteY0" fmla="*/ 1190909 h 1207141"/>
              <a:gd name="connsiteX1" fmla="*/ 1103087 w 1625601"/>
              <a:gd name="connsiteY1" fmla="*/ 1053024 h 1207141"/>
              <a:gd name="connsiteX2" fmla="*/ 1603830 w 1625601"/>
              <a:gd name="connsiteY2" fmla="*/ 791767 h 1207141"/>
              <a:gd name="connsiteX3" fmla="*/ 1625601 w 1625601"/>
              <a:gd name="connsiteY3" fmla="*/ 7994 h 1207141"/>
              <a:gd name="connsiteX4" fmla="*/ 1081315 w 1625601"/>
              <a:gd name="connsiteY4" fmla="*/ 312796 h 1207141"/>
              <a:gd name="connsiteX5" fmla="*/ 0 w 1625601"/>
              <a:gd name="connsiteY5" fmla="*/ 624852 h 1207141"/>
              <a:gd name="connsiteX6" fmla="*/ 14515 w 1625601"/>
              <a:gd name="connsiteY6" fmla="*/ 1190909 h 1207141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1" h="1209276">
                <a:moveTo>
                  <a:pt x="14515" y="1190909"/>
                </a:moveTo>
                <a:cubicBezTo>
                  <a:pt x="194734" y="1250176"/>
                  <a:pt x="801914" y="1155833"/>
                  <a:pt x="1103087" y="1053024"/>
                </a:cubicBezTo>
                <a:cubicBezTo>
                  <a:pt x="1404260" y="950215"/>
                  <a:pt x="1392163" y="961101"/>
                  <a:pt x="1603830" y="791767"/>
                </a:cubicBezTo>
                <a:cubicBezTo>
                  <a:pt x="1596573" y="820795"/>
                  <a:pt x="1618344" y="269252"/>
                  <a:pt x="1625601" y="7994"/>
                </a:cubicBezTo>
                <a:cubicBezTo>
                  <a:pt x="1457477" y="-42806"/>
                  <a:pt x="1416353" y="159186"/>
                  <a:pt x="1081315" y="312796"/>
                </a:cubicBezTo>
                <a:cubicBezTo>
                  <a:pt x="862391" y="459149"/>
                  <a:pt x="394002" y="618614"/>
                  <a:pt x="0" y="624852"/>
                </a:cubicBezTo>
                <a:lnTo>
                  <a:pt x="14515" y="119090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0B7EBEE-91AC-4846-9E86-CE4178C5D089}"/>
              </a:ext>
            </a:extLst>
          </p:cNvPr>
          <p:cNvSpPr/>
          <p:nvPr/>
        </p:nvSpPr>
        <p:spPr>
          <a:xfrm>
            <a:off x="1591797" y="2701712"/>
            <a:ext cx="908325" cy="1575038"/>
          </a:xfrm>
          <a:custGeom>
            <a:avLst/>
            <a:gdLst>
              <a:gd name="connsiteX0" fmla="*/ 0 w 413657"/>
              <a:gd name="connsiteY0" fmla="*/ 500743 h 1371600"/>
              <a:gd name="connsiteX1" fmla="*/ 7257 w 413657"/>
              <a:gd name="connsiteY1" fmla="*/ 1371600 h 1371600"/>
              <a:gd name="connsiteX2" fmla="*/ 413657 w 413657"/>
              <a:gd name="connsiteY2" fmla="*/ 1081314 h 1371600"/>
              <a:gd name="connsiteX3" fmla="*/ 391886 w 413657"/>
              <a:gd name="connsiteY3" fmla="*/ 0 h 1371600"/>
              <a:gd name="connsiteX4" fmla="*/ 0 w 413657"/>
              <a:gd name="connsiteY4" fmla="*/ 500743 h 1371600"/>
              <a:gd name="connsiteX0" fmla="*/ 0 w 413657"/>
              <a:gd name="connsiteY0" fmla="*/ 834571 h 1371600"/>
              <a:gd name="connsiteX1" fmla="*/ 7257 w 413657"/>
              <a:gd name="connsiteY1" fmla="*/ 1371600 h 1371600"/>
              <a:gd name="connsiteX2" fmla="*/ 413657 w 413657"/>
              <a:gd name="connsiteY2" fmla="*/ 1081314 h 1371600"/>
              <a:gd name="connsiteX3" fmla="*/ 391886 w 413657"/>
              <a:gd name="connsiteY3" fmla="*/ 0 h 1371600"/>
              <a:gd name="connsiteX4" fmla="*/ 0 w 413657"/>
              <a:gd name="connsiteY4" fmla="*/ 834571 h 1371600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0 w 413657"/>
              <a:gd name="connsiteY4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221970 w 413657"/>
              <a:gd name="connsiteY4" fmla="*/ 326571 h 1647372"/>
              <a:gd name="connsiteX5" fmla="*/ 0 w 413657"/>
              <a:gd name="connsiteY5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264934 w 413657"/>
              <a:gd name="connsiteY4" fmla="*/ 464457 h 1647372"/>
              <a:gd name="connsiteX5" fmla="*/ 0 w 413657"/>
              <a:gd name="connsiteY5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204564 w 413657"/>
              <a:gd name="connsiteY2" fmla="*/ 1364018 h 1647372"/>
              <a:gd name="connsiteX3" fmla="*/ 413657 w 413657"/>
              <a:gd name="connsiteY3" fmla="*/ 1081314 h 1647372"/>
              <a:gd name="connsiteX4" fmla="*/ 391886 w 413657"/>
              <a:gd name="connsiteY4" fmla="*/ 0 h 1647372"/>
              <a:gd name="connsiteX5" fmla="*/ 264934 w 413657"/>
              <a:gd name="connsiteY5" fmla="*/ 464457 h 1647372"/>
              <a:gd name="connsiteX6" fmla="*/ 0 w 413657"/>
              <a:gd name="connsiteY6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204564 w 413657"/>
              <a:gd name="connsiteY2" fmla="*/ 1364018 h 1647372"/>
              <a:gd name="connsiteX3" fmla="*/ 413657 w 413657"/>
              <a:gd name="connsiteY3" fmla="*/ 1081314 h 1647372"/>
              <a:gd name="connsiteX4" fmla="*/ 391886 w 413657"/>
              <a:gd name="connsiteY4" fmla="*/ 0 h 1647372"/>
              <a:gd name="connsiteX5" fmla="*/ 198835 w 413657"/>
              <a:gd name="connsiteY5" fmla="*/ 558800 h 1647372"/>
              <a:gd name="connsiteX6" fmla="*/ 0 w 413657"/>
              <a:gd name="connsiteY6" fmla="*/ 834571 h 1647372"/>
              <a:gd name="connsiteX0" fmla="*/ 0 w 413657"/>
              <a:gd name="connsiteY0" fmla="*/ 844566 h 1657367"/>
              <a:gd name="connsiteX1" fmla="*/ 10562 w 413657"/>
              <a:gd name="connsiteY1" fmla="*/ 1657367 h 1657367"/>
              <a:gd name="connsiteX2" fmla="*/ 204564 w 413657"/>
              <a:gd name="connsiteY2" fmla="*/ 1374013 h 1657367"/>
              <a:gd name="connsiteX3" fmla="*/ 413657 w 413657"/>
              <a:gd name="connsiteY3" fmla="*/ 1091309 h 1657367"/>
              <a:gd name="connsiteX4" fmla="*/ 391886 w 413657"/>
              <a:gd name="connsiteY4" fmla="*/ 9995 h 1657367"/>
              <a:gd name="connsiteX5" fmla="*/ 198835 w 413657"/>
              <a:gd name="connsiteY5" fmla="*/ 568795 h 1657367"/>
              <a:gd name="connsiteX6" fmla="*/ 0 w 413657"/>
              <a:gd name="connsiteY6" fmla="*/ 844566 h 1657367"/>
              <a:gd name="connsiteX0" fmla="*/ 0 w 413657"/>
              <a:gd name="connsiteY0" fmla="*/ 845959 h 1658760"/>
              <a:gd name="connsiteX1" fmla="*/ 10562 w 413657"/>
              <a:gd name="connsiteY1" fmla="*/ 1658760 h 1658760"/>
              <a:gd name="connsiteX2" fmla="*/ 204564 w 413657"/>
              <a:gd name="connsiteY2" fmla="*/ 1375406 h 1658760"/>
              <a:gd name="connsiteX3" fmla="*/ 413657 w 413657"/>
              <a:gd name="connsiteY3" fmla="*/ 1092702 h 1658760"/>
              <a:gd name="connsiteX4" fmla="*/ 391886 w 413657"/>
              <a:gd name="connsiteY4" fmla="*/ 11388 h 1658760"/>
              <a:gd name="connsiteX5" fmla="*/ 198835 w 413657"/>
              <a:gd name="connsiteY5" fmla="*/ 570188 h 1658760"/>
              <a:gd name="connsiteX6" fmla="*/ 0 w 413657"/>
              <a:gd name="connsiteY6" fmla="*/ 845959 h 1658760"/>
              <a:gd name="connsiteX0" fmla="*/ 0 w 413657"/>
              <a:gd name="connsiteY0" fmla="*/ 846986 h 1659787"/>
              <a:gd name="connsiteX1" fmla="*/ 10562 w 413657"/>
              <a:gd name="connsiteY1" fmla="*/ 1659787 h 1659787"/>
              <a:gd name="connsiteX2" fmla="*/ 204564 w 413657"/>
              <a:gd name="connsiteY2" fmla="*/ 1376433 h 1659787"/>
              <a:gd name="connsiteX3" fmla="*/ 413657 w 413657"/>
              <a:gd name="connsiteY3" fmla="*/ 1093729 h 1659787"/>
              <a:gd name="connsiteX4" fmla="*/ 391886 w 413657"/>
              <a:gd name="connsiteY4" fmla="*/ 12415 h 1659787"/>
              <a:gd name="connsiteX5" fmla="*/ 198835 w 413657"/>
              <a:gd name="connsiteY5" fmla="*/ 571215 h 1659787"/>
              <a:gd name="connsiteX6" fmla="*/ 0 w 413657"/>
              <a:gd name="connsiteY6" fmla="*/ 846986 h 1659787"/>
              <a:gd name="connsiteX0" fmla="*/ 0 w 413657"/>
              <a:gd name="connsiteY0" fmla="*/ 848989 h 1661790"/>
              <a:gd name="connsiteX1" fmla="*/ 10562 w 413657"/>
              <a:gd name="connsiteY1" fmla="*/ 1661790 h 1661790"/>
              <a:gd name="connsiteX2" fmla="*/ 204564 w 413657"/>
              <a:gd name="connsiteY2" fmla="*/ 1378436 h 1661790"/>
              <a:gd name="connsiteX3" fmla="*/ 413657 w 413657"/>
              <a:gd name="connsiteY3" fmla="*/ 1095732 h 1661790"/>
              <a:gd name="connsiteX4" fmla="*/ 391886 w 413657"/>
              <a:gd name="connsiteY4" fmla="*/ 14418 h 1661790"/>
              <a:gd name="connsiteX5" fmla="*/ 311203 w 413657"/>
              <a:gd name="connsiteY5" fmla="*/ 507903 h 1661790"/>
              <a:gd name="connsiteX6" fmla="*/ 0 w 413657"/>
              <a:gd name="connsiteY6" fmla="*/ 848989 h 1661790"/>
              <a:gd name="connsiteX0" fmla="*/ 0 w 413657"/>
              <a:gd name="connsiteY0" fmla="*/ 845849 h 1658650"/>
              <a:gd name="connsiteX1" fmla="*/ 10562 w 413657"/>
              <a:gd name="connsiteY1" fmla="*/ 1658650 h 1658650"/>
              <a:gd name="connsiteX2" fmla="*/ 204564 w 413657"/>
              <a:gd name="connsiteY2" fmla="*/ 1375296 h 1658650"/>
              <a:gd name="connsiteX3" fmla="*/ 413657 w 413657"/>
              <a:gd name="connsiteY3" fmla="*/ 1092592 h 1658650"/>
              <a:gd name="connsiteX4" fmla="*/ 391886 w 413657"/>
              <a:gd name="connsiteY4" fmla="*/ 11278 h 1658650"/>
              <a:gd name="connsiteX5" fmla="*/ 311203 w 413657"/>
              <a:gd name="connsiteY5" fmla="*/ 504763 h 1658650"/>
              <a:gd name="connsiteX6" fmla="*/ 0 w 413657"/>
              <a:gd name="connsiteY6" fmla="*/ 845849 h 1658650"/>
              <a:gd name="connsiteX0" fmla="*/ 0 w 413657"/>
              <a:gd name="connsiteY0" fmla="*/ 850328 h 1663129"/>
              <a:gd name="connsiteX1" fmla="*/ 10562 w 413657"/>
              <a:gd name="connsiteY1" fmla="*/ 1663129 h 1663129"/>
              <a:gd name="connsiteX2" fmla="*/ 204564 w 413657"/>
              <a:gd name="connsiteY2" fmla="*/ 1379775 h 1663129"/>
              <a:gd name="connsiteX3" fmla="*/ 413657 w 413657"/>
              <a:gd name="connsiteY3" fmla="*/ 1097071 h 1663129"/>
              <a:gd name="connsiteX4" fmla="*/ 391886 w 413657"/>
              <a:gd name="connsiteY4" fmla="*/ 15757 h 1663129"/>
              <a:gd name="connsiteX5" fmla="*/ 311203 w 413657"/>
              <a:gd name="connsiteY5" fmla="*/ 509242 h 1663129"/>
              <a:gd name="connsiteX6" fmla="*/ 0 w 413657"/>
              <a:gd name="connsiteY6" fmla="*/ 850328 h 1663129"/>
              <a:gd name="connsiteX0" fmla="*/ 0 w 413657"/>
              <a:gd name="connsiteY0" fmla="*/ 846954 h 1659755"/>
              <a:gd name="connsiteX1" fmla="*/ 10562 w 413657"/>
              <a:gd name="connsiteY1" fmla="*/ 1659755 h 1659755"/>
              <a:gd name="connsiteX2" fmla="*/ 204564 w 413657"/>
              <a:gd name="connsiteY2" fmla="*/ 1376401 h 1659755"/>
              <a:gd name="connsiteX3" fmla="*/ 413657 w 413657"/>
              <a:gd name="connsiteY3" fmla="*/ 1093697 h 1659755"/>
              <a:gd name="connsiteX4" fmla="*/ 391886 w 413657"/>
              <a:gd name="connsiteY4" fmla="*/ 12383 h 1659755"/>
              <a:gd name="connsiteX5" fmla="*/ 152565 w 413657"/>
              <a:gd name="connsiteY5" fmla="*/ 607468 h 1659755"/>
              <a:gd name="connsiteX6" fmla="*/ 0 w 413657"/>
              <a:gd name="connsiteY6" fmla="*/ 846954 h 1659755"/>
              <a:gd name="connsiteX0" fmla="*/ 4718 w 418375"/>
              <a:gd name="connsiteY0" fmla="*/ 844748 h 1657549"/>
              <a:gd name="connsiteX1" fmla="*/ 15280 w 418375"/>
              <a:gd name="connsiteY1" fmla="*/ 1657549 h 1657549"/>
              <a:gd name="connsiteX2" fmla="*/ 209282 w 418375"/>
              <a:gd name="connsiteY2" fmla="*/ 1374195 h 1657549"/>
              <a:gd name="connsiteX3" fmla="*/ 418375 w 418375"/>
              <a:gd name="connsiteY3" fmla="*/ 1091491 h 1657549"/>
              <a:gd name="connsiteX4" fmla="*/ 396604 w 418375"/>
              <a:gd name="connsiteY4" fmla="*/ 10177 h 1657549"/>
              <a:gd name="connsiteX5" fmla="*/ 97794 w 418375"/>
              <a:gd name="connsiteY5" fmla="*/ 706862 h 1657549"/>
              <a:gd name="connsiteX6" fmla="*/ 4718 w 418375"/>
              <a:gd name="connsiteY6" fmla="*/ 844748 h 1657549"/>
              <a:gd name="connsiteX0" fmla="*/ 0 w 413657"/>
              <a:gd name="connsiteY0" fmla="*/ 844023 h 1656824"/>
              <a:gd name="connsiteX1" fmla="*/ 10562 w 413657"/>
              <a:gd name="connsiteY1" fmla="*/ 1656824 h 1656824"/>
              <a:gd name="connsiteX2" fmla="*/ 204564 w 413657"/>
              <a:gd name="connsiteY2" fmla="*/ 1373470 h 1656824"/>
              <a:gd name="connsiteX3" fmla="*/ 413657 w 413657"/>
              <a:gd name="connsiteY3" fmla="*/ 1090766 h 1656824"/>
              <a:gd name="connsiteX4" fmla="*/ 391886 w 413657"/>
              <a:gd name="connsiteY4" fmla="*/ 9452 h 1656824"/>
              <a:gd name="connsiteX5" fmla="*/ 129430 w 413657"/>
              <a:gd name="connsiteY5" fmla="*/ 749680 h 1656824"/>
              <a:gd name="connsiteX6" fmla="*/ 0 w 413657"/>
              <a:gd name="connsiteY6" fmla="*/ 844023 h 1656824"/>
              <a:gd name="connsiteX0" fmla="*/ 0 w 413657"/>
              <a:gd name="connsiteY0" fmla="*/ 844619 h 1657420"/>
              <a:gd name="connsiteX1" fmla="*/ 10562 w 413657"/>
              <a:gd name="connsiteY1" fmla="*/ 1657420 h 1657420"/>
              <a:gd name="connsiteX2" fmla="*/ 204564 w 413657"/>
              <a:gd name="connsiteY2" fmla="*/ 1374066 h 1657420"/>
              <a:gd name="connsiteX3" fmla="*/ 413657 w 413657"/>
              <a:gd name="connsiteY3" fmla="*/ 1091362 h 1657420"/>
              <a:gd name="connsiteX4" fmla="*/ 391886 w 413657"/>
              <a:gd name="connsiteY4" fmla="*/ 10048 h 1657420"/>
              <a:gd name="connsiteX5" fmla="*/ 126125 w 413657"/>
              <a:gd name="connsiteY5" fmla="*/ 713990 h 1657420"/>
              <a:gd name="connsiteX6" fmla="*/ 0 w 413657"/>
              <a:gd name="connsiteY6" fmla="*/ 844619 h 1657420"/>
              <a:gd name="connsiteX0" fmla="*/ 0 w 413657"/>
              <a:gd name="connsiteY0" fmla="*/ 845591 h 1658392"/>
              <a:gd name="connsiteX1" fmla="*/ 10562 w 413657"/>
              <a:gd name="connsiteY1" fmla="*/ 1658392 h 1658392"/>
              <a:gd name="connsiteX2" fmla="*/ 204564 w 413657"/>
              <a:gd name="connsiteY2" fmla="*/ 1375038 h 1658392"/>
              <a:gd name="connsiteX3" fmla="*/ 413657 w 413657"/>
              <a:gd name="connsiteY3" fmla="*/ 1092334 h 1658392"/>
              <a:gd name="connsiteX4" fmla="*/ 391886 w 413657"/>
              <a:gd name="connsiteY4" fmla="*/ 11020 h 1658392"/>
              <a:gd name="connsiteX5" fmla="*/ 136040 w 413657"/>
              <a:gd name="connsiteY5" fmla="*/ 664162 h 1658392"/>
              <a:gd name="connsiteX6" fmla="*/ 0 w 413657"/>
              <a:gd name="connsiteY6" fmla="*/ 845591 h 1658392"/>
              <a:gd name="connsiteX0" fmla="*/ 0 w 413657"/>
              <a:gd name="connsiteY0" fmla="*/ 845591 h 1675496"/>
              <a:gd name="connsiteX1" fmla="*/ 10562 w 413657"/>
              <a:gd name="connsiteY1" fmla="*/ 1658392 h 1675496"/>
              <a:gd name="connsiteX2" fmla="*/ 204564 w 413657"/>
              <a:gd name="connsiteY2" fmla="*/ 1375038 h 1675496"/>
              <a:gd name="connsiteX3" fmla="*/ 413657 w 413657"/>
              <a:gd name="connsiteY3" fmla="*/ 1092334 h 1675496"/>
              <a:gd name="connsiteX4" fmla="*/ 391886 w 413657"/>
              <a:gd name="connsiteY4" fmla="*/ 11020 h 1675496"/>
              <a:gd name="connsiteX5" fmla="*/ 136040 w 413657"/>
              <a:gd name="connsiteY5" fmla="*/ 664162 h 1675496"/>
              <a:gd name="connsiteX6" fmla="*/ 0 w 413657"/>
              <a:gd name="connsiteY6" fmla="*/ 845591 h 1675496"/>
              <a:gd name="connsiteX0" fmla="*/ 0 w 413657"/>
              <a:gd name="connsiteY0" fmla="*/ 845591 h 1690720"/>
              <a:gd name="connsiteX1" fmla="*/ 10562 w 413657"/>
              <a:gd name="connsiteY1" fmla="*/ 1658392 h 1690720"/>
              <a:gd name="connsiteX2" fmla="*/ 141770 w 413657"/>
              <a:gd name="connsiteY2" fmla="*/ 1541952 h 1690720"/>
              <a:gd name="connsiteX3" fmla="*/ 413657 w 413657"/>
              <a:gd name="connsiteY3" fmla="*/ 1092334 h 1690720"/>
              <a:gd name="connsiteX4" fmla="*/ 391886 w 413657"/>
              <a:gd name="connsiteY4" fmla="*/ 11020 h 1690720"/>
              <a:gd name="connsiteX5" fmla="*/ 136040 w 413657"/>
              <a:gd name="connsiteY5" fmla="*/ 664162 h 1690720"/>
              <a:gd name="connsiteX6" fmla="*/ 0 w 413657"/>
              <a:gd name="connsiteY6" fmla="*/ 845591 h 1690720"/>
              <a:gd name="connsiteX0" fmla="*/ 0 w 413657"/>
              <a:gd name="connsiteY0" fmla="*/ 845591 h 1701592"/>
              <a:gd name="connsiteX1" fmla="*/ 10562 w 413657"/>
              <a:gd name="connsiteY1" fmla="*/ 1658392 h 1701592"/>
              <a:gd name="connsiteX2" fmla="*/ 158295 w 413657"/>
              <a:gd name="connsiteY2" fmla="*/ 1592752 h 1701592"/>
              <a:gd name="connsiteX3" fmla="*/ 413657 w 413657"/>
              <a:gd name="connsiteY3" fmla="*/ 1092334 h 1701592"/>
              <a:gd name="connsiteX4" fmla="*/ 391886 w 413657"/>
              <a:gd name="connsiteY4" fmla="*/ 11020 h 1701592"/>
              <a:gd name="connsiteX5" fmla="*/ 136040 w 413657"/>
              <a:gd name="connsiteY5" fmla="*/ 664162 h 1701592"/>
              <a:gd name="connsiteX6" fmla="*/ 0 w 413657"/>
              <a:gd name="connsiteY6" fmla="*/ 845591 h 1701592"/>
              <a:gd name="connsiteX0" fmla="*/ 0 w 413657"/>
              <a:gd name="connsiteY0" fmla="*/ 845591 h 1690720"/>
              <a:gd name="connsiteX1" fmla="*/ 10562 w 413657"/>
              <a:gd name="connsiteY1" fmla="*/ 1658392 h 1690720"/>
              <a:gd name="connsiteX2" fmla="*/ 135161 w 413657"/>
              <a:gd name="connsiteY2" fmla="*/ 1541952 h 1690720"/>
              <a:gd name="connsiteX3" fmla="*/ 413657 w 413657"/>
              <a:gd name="connsiteY3" fmla="*/ 1092334 h 1690720"/>
              <a:gd name="connsiteX4" fmla="*/ 391886 w 413657"/>
              <a:gd name="connsiteY4" fmla="*/ 11020 h 1690720"/>
              <a:gd name="connsiteX5" fmla="*/ 136040 w 413657"/>
              <a:gd name="connsiteY5" fmla="*/ 664162 h 1690720"/>
              <a:gd name="connsiteX6" fmla="*/ 0 w 413657"/>
              <a:gd name="connsiteY6" fmla="*/ 845591 h 1690720"/>
              <a:gd name="connsiteX0" fmla="*/ 0 w 413657"/>
              <a:gd name="connsiteY0" fmla="*/ 845591 h 1689671"/>
              <a:gd name="connsiteX1" fmla="*/ 10562 w 413657"/>
              <a:gd name="connsiteY1" fmla="*/ 1658392 h 1689671"/>
              <a:gd name="connsiteX2" fmla="*/ 135161 w 413657"/>
              <a:gd name="connsiteY2" fmla="*/ 1541952 h 1689671"/>
              <a:gd name="connsiteX3" fmla="*/ 413657 w 413657"/>
              <a:gd name="connsiteY3" fmla="*/ 1092334 h 1689671"/>
              <a:gd name="connsiteX4" fmla="*/ 391886 w 413657"/>
              <a:gd name="connsiteY4" fmla="*/ 11020 h 1689671"/>
              <a:gd name="connsiteX5" fmla="*/ 136040 w 413657"/>
              <a:gd name="connsiteY5" fmla="*/ 664162 h 1689671"/>
              <a:gd name="connsiteX6" fmla="*/ 0 w 413657"/>
              <a:gd name="connsiteY6" fmla="*/ 845591 h 1689671"/>
              <a:gd name="connsiteX0" fmla="*/ 0 w 413657"/>
              <a:gd name="connsiteY0" fmla="*/ 845591 h 1708706"/>
              <a:gd name="connsiteX1" fmla="*/ 10562 w 413657"/>
              <a:gd name="connsiteY1" fmla="*/ 1658392 h 1708706"/>
              <a:gd name="connsiteX2" fmla="*/ 125246 w 413657"/>
              <a:gd name="connsiteY2" fmla="*/ 1621781 h 1708706"/>
              <a:gd name="connsiteX3" fmla="*/ 413657 w 413657"/>
              <a:gd name="connsiteY3" fmla="*/ 1092334 h 1708706"/>
              <a:gd name="connsiteX4" fmla="*/ 391886 w 413657"/>
              <a:gd name="connsiteY4" fmla="*/ 11020 h 1708706"/>
              <a:gd name="connsiteX5" fmla="*/ 136040 w 413657"/>
              <a:gd name="connsiteY5" fmla="*/ 664162 h 1708706"/>
              <a:gd name="connsiteX6" fmla="*/ 0 w 413657"/>
              <a:gd name="connsiteY6" fmla="*/ 845591 h 1708706"/>
              <a:gd name="connsiteX0" fmla="*/ 0 w 413657"/>
              <a:gd name="connsiteY0" fmla="*/ 845591 h 1702861"/>
              <a:gd name="connsiteX1" fmla="*/ 10562 w 413657"/>
              <a:gd name="connsiteY1" fmla="*/ 1658392 h 1702861"/>
              <a:gd name="connsiteX2" fmla="*/ 125246 w 413657"/>
              <a:gd name="connsiteY2" fmla="*/ 1621781 h 1702861"/>
              <a:gd name="connsiteX3" fmla="*/ 413657 w 413657"/>
              <a:gd name="connsiteY3" fmla="*/ 1092334 h 1702861"/>
              <a:gd name="connsiteX4" fmla="*/ 391886 w 413657"/>
              <a:gd name="connsiteY4" fmla="*/ 11020 h 1702861"/>
              <a:gd name="connsiteX5" fmla="*/ 136040 w 413657"/>
              <a:gd name="connsiteY5" fmla="*/ 664162 h 1702861"/>
              <a:gd name="connsiteX6" fmla="*/ 0 w 413657"/>
              <a:gd name="connsiteY6" fmla="*/ 845591 h 170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657" h="1702861">
                <a:moveTo>
                  <a:pt x="0" y="845591"/>
                </a:moveTo>
                <a:lnTo>
                  <a:pt x="10562" y="1658392"/>
                </a:lnTo>
                <a:cubicBezTo>
                  <a:pt x="44656" y="1746633"/>
                  <a:pt x="-21256" y="1687096"/>
                  <a:pt x="125246" y="1621781"/>
                </a:cubicBezTo>
                <a:cubicBezTo>
                  <a:pt x="271748" y="1556466"/>
                  <a:pt x="382437" y="1319670"/>
                  <a:pt x="413657" y="1092334"/>
                </a:cubicBezTo>
                <a:lnTo>
                  <a:pt x="391886" y="11020"/>
                </a:lnTo>
                <a:cubicBezTo>
                  <a:pt x="356082" y="-76066"/>
                  <a:pt x="303808" y="372669"/>
                  <a:pt x="136040" y="664162"/>
                </a:cubicBezTo>
                <a:cubicBezTo>
                  <a:pt x="-31728" y="955655"/>
                  <a:pt x="31379" y="664162"/>
                  <a:pt x="0" y="84559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7FAF590-C550-438A-8F67-E189AC0B3932}"/>
              </a:ext>
            </a:extLst>
          </p:cNvPr>
          <p:cNvSpPr/>
          <p:nvPr/>
        </p:nvSpPr>
        <p:spPr>
          <a:xfrm>
            <a:off x="2061029" y="2271087"/>
            <a:ext cx="943429" cy="1372780"/>
          </a:xfrm>
          <a:custGeom>
            <a:avLst/>
            <a:gdLst>
              <a:gd name="connsiteX0" fmla="*/ 0 w 885371"/>
              <a:gd name="connsiteY0" fmla="*/ 1444172 h 1444172"/>
              <a:gd name="connsiteX1" fmla="*/ 602342 w 885371"/>
              <a:gd name="connsiteY1" fmla="*/ 1328057 h 1444172"/>
              <a:gd name="connsiteX2" fmla="*/ 885371 w 885371"/>
              <a:gd name="connsiteY2" fmla="*/ 769257 h 1444172"/>
              <a:gd name="connsiteX3" fmla="*/ 863600 w 885371"/>
              <a:gd name="connsiteY3" fmla="*/ 0 h 1444172"/>
              <a:gd name="connsiteX4" fmla="*/ 341085 w 885371"/>
              <a:gd name="connsiteY4" fmla="*/ 674914 h 1444172"/>
              <a:gd name="connsiteX5" fmla="*/ 14514 w 885371"/>
              <a:gd name="connsiteY5" fmla="*/ 1023257 h 1444172"/>
              <a:gd name="connsiteX6" fmla="*/ 0 w 885371"/>
              <a:gd name="connsiteY6" fmla="*/ 1444172 h 1444172"/>
              <a:gd name="connsiteX0" fmla="*/ 0 w 885371"/>
              <a:gd name="connsiteY0" fmla="*/ 1444172 h 1463288"/>
              <a:gd name="connsiteX1" fmla="*/ 602342 w 885371"/>
              <a:gd name="connsiteY1" fmla="*/ 1328057 h 1463288"/>
              <a:gd name="connsiteX2" fmla="*/ 885371 w 885371"/>
              <a:gd name="connsiteY2" fmla="*/ 769257 h 1463288"/>
              <a:gd name="connsiteX3" fmla="*/ 863600 w 885371"/>
              <a:gd name="connsiteY3" fmla="*/ 0 h 1463288"/>
              <a:gd name="connsiteX4" fmla="*/ 341085 w 885371"/>
              <a:gd name="connsiteY4" fmla="*/ 674914 h 1463288"/>
              <a:gd name="connsiteX5" fmla="*/ 14514 w 885371"/>
              <a:gd name="connsiteY5" fmla="*/ 1023257 h 1463288"/>
              <a:gd name="connsiteX6" fmla="*/ 0 w 885371"/>
              <a:gd name="connsiteY6" fmla="*/ 1444172 h 1463288"/>
              <a:gd name="connsiteX0" fmla="*/ 0 w 885371"/>
              <a:gd name="connsiteY0" fmla="*/ 1444172 h 1452810"/>
              <a:gd name="connsiteX1" fmla="*/ 602342 w 885371"/>
              <a:gd name="connsiteY1" fmla="*/ 1197429 h 1452810"/>
              <a:gd name="connsiteX2" fmla="*/ 885371 w 885371"/>
              <a:gd name="connsiteY2" fmla="*/ 769257 h 1452810"/>
              <a:gd name="connsiteX3" fmla="*/ 863600 w 885371"/>
              <a:gd name="connsiteY3" fmla="*/ 0 h 1452810"/>
              <a:gd name="connsiteX4" fmla="*/ 341085 w 885371"/>
              <a:gd name="connsiteY4" fmla="*/ 674914 h 1452810"/>
              <a:gd name="connsiteX5" fmla="*/ 14514 w 885371"/>
              <a:gd name="connsiteY5" fmla="*/ 1023257 h 1452810"/>
              <a:gd name="connsiteX6" fmla="*/ 0 w 885371"/>
              <a:gd name="connsiteY6" fmla="*/ 1444172 h 1452810"/>
              <a:gd name="connsiteX0" fmla="*/ 0 w 885371"/>
              <a:gd name="connsiteY0" fmla="*/ 1444520 h 1453158"/>
              <a:gd name="connsiteX1" fmla="*/ 602342 w 885371"/>
              <a:gd name="connsiteY1" fmla="*/ 1197777 h 1453158"/>
              <a:gd name="connsiteX2" fmla="*/ 885371 w 885371"/>
              <a:gd name="connsiteY2" fmla="*/ 769605 h 1453158"/>
              <a:gd name="connsiteX3" fmla="*/ 863600 w 885371"/>
              <a:gd name="connsiteY3" fmla="*/ 348 h 1453158"/>
              <a:gd name="connsiteX4" fmla="*/ 341085 w 885371"/>
              <a:gd name="connsiteY4" fmla="*/ 675262 h 1453158"/>
              <a:gd name="connsiteX5" fmla="*/ 14514 w 885371"/>
              <a:gd name="connsiteY5" fmla="*/ 1023605 h 1453158"/>
              <a:gd name="connsiteX6" fmla="*/ 0 w 885371"/>
              <a:gd name="connsiteY6" fmla="*/ 1444520 h 1453158"/>
              <a:gd name="connsiteX0" fmla="*/ 0 w 885371"/>
              <a:gd name="connsiteY0" fmla="*/ 1444520 h 1453158"/>
              <a:gd name="connsiteX1" fmla="*/ 602342 w 885371"/>
              <a:gd name="connsiteY1" fmla="*/ 1197777 h 1453158"/>
              <a:gd name="connsiteX2" fmla="*/ 885371 w 885371"/>
              <a:gd name="connsiteY2" fmla="*/ 769605 h 1453158"/>
              <a:gd name="connsiteX3" fmla="*/ 863600 w 885371"/>
              <a:gd name="connsiteY3" fmla="*/ 348 h 1453158"/>
              <a:gd name="connsiteX4" fmla="*/ 464456 w 885371"/>
              <a:gd name="connsiteY4" fmla="*/ 675262 h 1453158"/>
              <a:gd name="connsiteX5" fmla="*/ 14514 w 885371"/>
              <a:gd name="connsiteY5" fmla="*/ 1023605 h 1453158"/>
              <a:gd name="connsiteX6" fmla="*/ 0 w 885371"/>
              <a:gd name="connsiteY6" fmla="*/ 1444520 h 1453158"/>
              <a:gd name="connsiteX0" fmla="*/ 0 w 943429"/>
              <a:gd name="connsiteY0" fmla="*/ 1364742 h 1373380"/>
              <a:gd name="connsiteX1" fmla="*/ 602342 w 943429"/>
              <a:gd name="connsiteY1" fmla="*/ 1117999 h 1373380"/>
              <a:gd name="connsiteX2" fmla="*/ 885371 w 943429"/>
              <a:gd name="connsiteY2" fmla="*/ 689827 h 1373380"/>
              <a:gd name="connsiteX3" fmla="*/ 943429 w 943429"/>
              <a:gd name="connsiteY3" fmla="*/ 399 h 1373380"/>
              <a:gd name="connsiteX4" fmla="*/ 464456 w 943429"/>
              <a:gd name="connsiteY4" fmla="*/ 595484 h 1373380"/>
              <a:gd name="connsiteX5" fmla="*/ 14514 w 943429"/>
              <a:gd name="connsiteY5" fmla="*/ 943827 h 1373380"/>
              <a:gd name="connsiteX6" fmla="*/ 0 w 943429"/>
              <a:gd name="connsiteY6" fmla="*/ 1364742 h 1373380"/>
              <a:gd name="connsiteX0" fmla="*/ 0 w 943429"/>
              <a:gd name="connsiteY0" fmla="*/ 1364742 h 1370587"/>
              <a:gd name="connsiteX1" fmla="*/ 478971 w 943429"/>
              <a:gd name="connsiteY1" fmla="*/ 1009142 h 1370587"/>
              <a:gd name="connsiteX2" fmla="*/ 885371 w 943429"/>
              <a:gd name="connsiteY2" fmla="*/ 689827 h 1370587"/>
              <a:gd name="connsiteX3" fmla="*/ 943429 w 943429"/>
              <a:gd name="connsiteY3" fmla="*/ 399 h 1370587"/>
              <a:gd name="connsiteX4" fmla="*/ 464456 w 943429"/>
              <a:gd name="connsiteY4" fmla="*/ 595484 h 1370587"/>
              <a:gd name="connsiteX5" fmla="*/ 14514 w 943429"/>
              <a:gd name="connsiteY5" fmla="*/ 943827 h 1370587"/>
              <a:gd name="connsiteX6" fmla="*/ 0 w 943429"/>
              <a:gd name="connsiteY6" fmla="*/ 1364742 h 1370587"/>
              <a:gd name="connsiteX0" fmla="*/ 0 w 943429"/>
              <a:gd name="connsiteY0" fmla="*/ 1364742 h 1372631"/>
              <a:gd name="connsiteX1" fmla="*/ 558800 w 943429"/>
              <a:gd name="connsiteY1" fmla="*/ 1096227 h 1372631"/>
              <a:gd name="connsiteX2" fmla="*/ 885371 w 943429"/>
              <a:gd name="connsiteY2" fmla="*/ 689827 h 1372631"/>
              <a:gd name="connsiteX3" fmla="*/ 943429 w 943429"/>
              <a:gd name="connsiteY3" fmla="*/ 399 h 1372631"/>
              <a:gd name="connsiteX4" fmla="*/ 464456 w 943429"/>
              <a:gd name="connsiteY4" fmla="*/ 595484 h 1372631"/>
              <a:gd name="connsiteX5" fmla="*/ 14514 w 943429"/>
              <a:gd name="connsiteY5" fmla="*/ 943827 h 1372631"/>
              <a:gd name="connsiteX6" fmla="*/ 0 w 943429"/>
              <a:gd name="connsiteY6" fmla="*/ 1364742 h 1372631"/>
              <a:gd name="connsiteX0" fmla="*/ 0 w 943429"/>
              <a:gd name="connsiteY0" fmla="*/ 1364742 h 1372780"/>
              <a:gd name="connsiteX1" fmla="*/ 558800 w 943429"/>
              <a:gd name="connsiteY1" fmla="*/ 1096227 h 1372780"/>
              <a:gd name="connsiteX2" fmla="*/ 943428 w 943429"/>
              <a:gd name="connsiteY2" fmla="*/ 660798 h 1372780"/>
              <a:gd name="connsiteX3" fmla="*/ 943429 w 943429"/>
              <a:gd name="connsiteY3" fmla="*/ 399 h 1372780"/>
              <a:gd name="connsiteX4" fmla="*/ 464456 w 943429"/>
              <a:gd name="connsiteY4" fmla="*/ 595484 h 1372780"/>
              <a:gd name="connsiteX5" fmla="*/ 14514 w 943429"/>
              <a:gd name="connsiteY5" fmla="*/ 943827 h 1372780"/>
              <a:gd name="connsiteX6" fmla="*/ 0 w 943429"/>
              <a:gd name="connsiteY6" fmla="*/ 1364742 h 1372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429" h="1372780">
                <a:moveTo>
                  <a:pt x="0" y="1364742"/>
                </a:moveTo>
                <a:cubicBezTo>
                  <a:pt x="97971" y="1415542"/>
                  <a:pt x="401562" y="1213551"/>
                  <a:pt x="558800" y="1096227"/>
                </a:cubicBezTo>
                <a:cubicBezTo>
                  <a:pt x="716038" y="978903"/>
                  <a:pt x="899885" y="882141"/>
                  <a:pt x="943428" y="660798"/>
                </a:cubicBezTo>
                <a:cubicBezTo>
                  <a:pt x="943428" y="440665"/>
                  <a:pt x="943429" y="220532"/>
                  <a:pt x="943429" y="399"/>
                </a:cubicBezTo>
                <a:cubicBezTo>
                  <a:pt x="852715" y="-15325"/>
                  <a:pt x="619275" y="438246"/>
                  <a:pt x="464456" y="595484"/>
                </a:cubicBezTo>
                <a:cubicBezTo>
                  <a:pt x="309637" y="752722"/>
                  <a:pt x="71362" y="815617"/>
                  <a:pt x="14514" y="943827"/>
                </a:cubicBezTo>
                <a:lnTo>
                  <a:pt x="0" y="1364742"/>
                </a:lnTo>
                <a:close/>
              </a:path>
            </a:pathLst>
          </a:cu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A4D8819-3A4D-49C8-9859-0C04B37D6FA6}"/>
              </a:ext>
            </a:extLst>
          </p:cNvPr>
          <p:cNvSpPr/>
          <p:nvPr/>
        </p:nvSpPr>
        <p:spPr>
          <a:xfrm>
            <a:off x="2061030" y="3650344"/>
            <a:ext cx="907142" cy="803023"/>
          </a:xfrm>
          <a:custGeom>
            <a:avLst/>
            <a:gdLst>
              <a:gd name="connsiteX0" fmla="*/ 0 w 849085"/>
              <a:gd name="connsiteY0" fmla="*/ 0 h 776514"/>
              <a:gd name="connsiteX1" fmla="*/ 14514 w 849085"/>
              <a:gd name="connsiteY1" fmla="*/ 377371 h 776514"/>
              <a:gd name="connsiteX2" fmla="*/ 849085 w 849085"/>
              <a:gd name="connsiteY2" fmla="*/ 776514 h 776514"/>
              <a:gd name="connsiteX3" fmla="*/ 820057 w 849085"/>
              <a:gd name="connsiteY3" fmla="*/ 7257 h 776514"/>
              <a:gd name="connsiteX4" fmla="*/ 0 w 849085"/>
              <a:gd name="connsiteY4" fmla="*/ 0 h 776514"/>
              <a:gd name="connsiteX0" fmla="*/ 0 w 849085"/>
              <a:gd name="connsiteY0" fmla="*/ 0 h 776514"/>
              <a:gd name="connsiteX1" fmla="*/ 14514 w 849085"/>
              <a:gd name="connsiteY1" fmla="*/ 377371 h 776514"/>
              <a:gd name="connsiteX2" fmla="*/ 391885 w 849085"/>
              <a:gd name="connsiteY2" fmla="*/ 566057 h 776514"/>
              <a:gd name="connsiteX3" fmla="*/ 849085 w 849085"/>
              <a:gd name="connsiteY3" fmla="*/ 776514 h 776514"/>
              <a:gd name="connsiteX4" fmla="*/ 820057 w 849085"/>
              <a:gd name="connsiteY4" fmla="*/ 7257 h 776514"/>
              <a:gd name="connsiteX5" fmla="*/ 0 w 849085"/>
              <a:gd name="connsiteY5" fmla="*/ 0 h 776514"/>
              <a:gd name="connsiteX0" fmla="*/ 0 w 849085"/>
              <a:gd name="connsiteY0" fmla="*/ 0 h 797909"/>
              <a:gd name="connsiteX1" fmla="*/ 14514 w 849085"/>
              <a:gd name="connsiteY1" fmla="*/ 377371 h 797909"/>
              <a:gd name="connsiteX2" fmla="*/ 391885 w 849085"/>
              <a:gd name="connsiteY2" fmla="*/ 566057 h 797909"/>
              <a:gd name="connsiteX3" fmla="*/ 849085 w 849085"/>
              <a:gd name="connsiteY3" fmla="*/ 776514 h 797909"/>
              <a:gd name="connsiteX4" fmla="*/ 820057 w 849085"/>
              <a:gd name="connsiteY4" fmla="*/ 7257 h 797909"/>
              <a:gd name="connsiteX5" fmla="*/ 0 w 849085"/>
              <a:gd name="connsiteY5" fmla="*/ 0 h 797909"/>
              <a:gd name="connsiteX0" fmla="*/ 0 w 849085"/>
              <a:gd name="connsiteY0" fmla="*/ 0 h 809284"/>
              <a:gd name="connsiteX1" fmla="*/ 14514 w 849085"/>
              <a:gd name="connsiteY1" fmla="*/ 377371 h 809284"/>
              <a:gd name="connsiteX2" fmla="*/ 399142 w 849085"/>
              <a:gd name="connsiteY2" fmla="*/ 674914 h 809284"/>
              <a:gd name="connsiteX3" fmla="*/ 849085 w 849085"/>
              <a:gd name="connsiteY3" fmla="*/ 776514 h 809284"/>
              <a:gd name="connsiteX4" fmla="*/ 820057 w 849085"/>
              <a:gd name="connsiteY4" fmla="*/ 7257 h 809284"/>
              <a:gd name="connsiteX5" fmla="*/ 0 w 849085"/>
              <a:gd name="connsiteY5" fmla="*/ 0 h 809284"/>
              <a:gd name="connsiteX0" fmla="*/ 0 w 849085"/>
              <a:gd name="connsiteY0" fmla="*/ 1 h 809285"/>
              <a:gd name="connsiteX1" fmla="*/ 14514 w 849085"/>
              <a:gd name="connsiteY1" fmla="*/ 377372 h 809285"/>
              <a:gd name="connsiteX2" fmla="*/ 399142 w 849085"/>
              <a:gd name="connsiteY2" fmla="*/ 674915 h 809285"/>
              <a:gd name="connsiteX3" fmla="*/ 849085 w 849085"/>
              <a:gd name="connsiteY3" fmla="*/ 776515 h 809285"/>
              <a:gd name="connsiteX4" fmla="*/ 820057 w 849085"/>
              <a:gd name="connsiteY4" fmla="*/ 7258 h 809285"/>
              <a:gd name="connsiteX5" fmla="*/ 776514 w 849085"/>
              <a:gd name="connsiteY5" fmla="*/ 0 h 809285"/>
              <a:gd name="connsiteX6" fmla="*/ 0 w 849085"/>
              <a:gd name="connsiteY6" fmla="*/ 1 h 809285"/>
              <a:gd name="connsiteX0" fmla="*/ 0 w 849085"/>
              <a:gd name="connsiteY0" fmla="*/ 0 h 809284"/>
              <a:gd name="connsiteX1" fmla="*/ 14514 w 849085"/>
              <a:gd name="connsiteY1" fmla="*/ 377371 h 809284"/>
              <a:gd name="connsiteX2" fmla="*/ 399142 w 849085"/>
              <a:gd name="connsiteY2" fmla="*/ 674914 h 809284"/>
              <a:gd name="connsiteX3" fmla="*/ 849085 w 849085"/>
              <a:gd name="connsiteY3" fmla="*/ 776514 h 809284"/>
              <a:gd name="connsiteX4" fmla="*/ 820057 w 849085"/>
              <a:gd name="connsiteY4" fmla="*/ 7257 h 809284"/>
              <a:gd name="connsiteX5" fmla="*/ 435428 w 849085"/>
              <a:gd name="connsiteY5" fmla="*/ 101599 h 809284"/>
              <a:gd name="connsiteX6" fmla="*/ 0 w 849085"/>
              <a:gd name="connsiteY6" fmla="*/ 0 h 809284"/>
              <a:gd name="connsiteX0" fmla="*/ 0 w 907142"/>
              <a:gd name="connsiteY0" fmla="*/ 0 h 809284"/>
              <a:gd name="connsiteX1" fmla="*/ 14514 w 907142"/>
              <a:gd name="connsiteY1" fmla="*/ 377371 h 809284"/>
              <a:gd name="connsiteX2" fmla="*/ 399142 w 907142"/>
              <a:gd name="connsiteY2" fmla="*/ 674914 h 809284"/>
              <a:gd name="connsiteX3" fmla="*/ 849085 w 907142"/>
              <a:gd name="connsiteY3" fmla="*/ 776514 h 809284"/>
              <a:gd name="connsiteX4" fmla="*/ 907142 w 907142"/>
              <a:gd name="connsiteY4" fmla="*/ 94343 h 809284"/>
              <a:gd name="connsiteX5" fmla="*/ 435428 w 907142"/>
              <a:gd name="connsiteY5" fmla="*/ 101599 h 809284"/>
              <a:gd name="connsiteX6" fmla="*/ 0 w 907142"/>
              <a:gd name="connsiteY6" fmla="*/ 0 h 809284"/>
              <a:gd name="connsiteX0" fmla="*/ 0 w 979714"/>
              <a:gd name="connsiteY0" fmla="*/ 0 h 755590"/>
              <a:gd name="connsiteX1" fmla="*/ 14514 w 979714"/>
              <a:gd name="connsiteY1" fmla="*/ 377371 h 755590"/>
              <a:gd name="connsiteX2" fmla="*/ 399142 w 979714"/>
              <a:gd name="connsiteY2" fmla="*/ 674914 h 755590"/>
              <a:gd name="connsiteX3" fmla="*/ 979714 w 979714"/>
              <a:gd name="connsiteY3" fmla="*/ 711200 h 755590"/>
              <a:gd name="connsiteX4" fmla="*/ 907142 w 979714"/>
              <a:gd name="connsiteY4" fmla="*/ 94343 h 755590"/>
              <a:gd name="connsiteX5" fmla="*/ 435428 w 979714"/>
              <a:gd name="connsiteY5" fmla="*/ 101599 h 755590"/>
              <a:gd name="connsiteX6" fmla="*/ 0 w 979714"/>
              <a:gd name="connsiteY6" fmla="*/ 0 h 755590"/>
              <a:gd name="connsiteX0" fmla="*/ 0 w 1008742"/>
              <a:gd name="connsiteY0" fmla="*/ 0 h 755590"/>
              <a:gd name="connsiteX1" fmla="*/ 14514 w 1008742"/>
              <a:gd name="connsiteY1" fmla="*/ 377371 h 755590"/>
              <a:gd name="connsiteX2" fmla="*/ 399142 w 1008742"/>
              <a:gd name="connsiteY2" fmla="*/ 674914 h 755590"/>
              <a:gd name="connsiteX3" fmla="*/ 979714 w 1008742"/>
              <a:gd name="connsiteY3" fmla="*/ 711200 h 755590"/>
              <a:gd name="connsiteX4" fmla="*/ 1008742 w 1008742"/>
              <a:gd name="connsiteY4" fmla="*/ 50800 h 755590"/>
              <a:gd name="connsiteX5" fmla="*/ 435428 w 1008742"/>
              <a:gd name="connsiteY5" fmla="*/ 101599 h 755590"/>
              <a:gd name="connsiteX6" fmla="*/ 0 w 1008742"/>
              <a:gd name="connsiteY6" fmla="*/ 0 h 755590"/>
              <a:gd name="connsiteX0" fmla="*/ 0 w 1008742"/>
              <a:gd name="connsiteY0" fmla="*/ 0 h 796821"/>
              <a:gd name="connsiteX1" fmla="*/ 14514 w 1008742"/>
              <a:gd name="connsiteY1" fmla="*/ 377371 h 796821"/>
              <a:gd name="connsiteX2" fmla="*/ 399142 w 1008742"/>
              <a:gd name="connsiteY2" fmla="*/ 674914 h 796821"/>
              <a:gd name="connsiteX3" fmla="*/ 965200 w 1008742"/>
              <a:gd name="connsiteY3" fmla="*/ 762000 h 796821"/>
              <a:gd name="connsiteX4" fmla="*/ 1008742 w 1008742"/>
              <a:gd name="connsiteY4" fmla="*/ 50800 h 796821"/>
              <a:gd name="connsiteX5" fmla="*/ 435428 w 1008742"/>
              <a:gd name="connsiteY5" fmla="*/ 101599 h 796821"/>
              <a:gd name="connsiteX6" fmla="*/ 0 w 1008742"/>
              <a:gd name="connsiteY6" fmla="*/ 0 h 796821"/>
              <a:gd name="connsiteX0" fmla="*/ 0 w 965200"/>
              <a:gd name="connsiteY0" fmla="*/ 0 h 796821"/>
              <a:gd name="connsiteX1" fmla="*/ 14514 w 965200"/>
              <a:gd name="connsiteY1" fmla="*/ 377371 h 796821"/>
              <a:gd name="connsiteX2" fmla="*/ 399142 w 965200"/>
              <a:gd name="connsiteY2" fmla="*/ 674914 h 796821"/>
              <a:gd name="connsiteX3" fmla="*/ 965200 w 965200"/>
              <a:gd name="connsiteY3" fmla="*/ 762000 h 796821"/>
              <a:gd name="connsiteX4" fmla="*/ 907142 w 965200"/>
              <a:gd name="connsiteY4" fmla="*/ 108857 h 796821"/>
              <a:gd name="connsiteX5" fmla="*/ 435428 w 965200"/>
              <a:gd name="connsiteY5" fmla="*/ 101599 h 796821"/>
              <a:gd name="connsiteX6" fmla="*/ 0 w 965200"/>
              <a:gd name="connsiteY6" fmla="*/ 0 h 796821"/>
              <a:gd name="connsiteX0" fmla="*/ 0 w 907142"/>
              <a:gd name="connsiteY0" fmla="*/ 0 h 803023"/>
              <a:gd name="connsiteX1" fmla="*/ 14514 w 907142"/>
              <a:gd name="connsiteY1" fmla="*/ 377371 h 803023"/>
              <a:gd name="connsiteX2" fmla="*/ 399142 w 907142"/>
              <a:gd name="connsiteY2" fmla="*/ 674914 h 803023"/>
              <a:gd name="connsiteX3" fmla="*/ 899885 w 907142"/>
              <a:gd name="connsiteY3" fmla="*/ 769258 h 803023"/>
              <a:gd name="connsiteX4" fmla="*/ 907142 w 907142"/>
              <a:gd name="connsiteY4" fmla="*/ 108857 h 803023"/>
              <a:gd name="connsiteX5" fmla="*/ 435428 w 907142"/>
              <a:gd name="connsiteY5" fmla="*/ 101599 h 803023"/>
              <a:gd name="connsiteX6" fmla="*/ 0 w 907142"/>
              <a:gd name="connsiteY6" fmla="*/ 0 h 803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7142" h="803023">
                <a:moveTo>
                  <a:pt x="0" y="0"/>
                </a:moveTo>
                <a:lnTo>
                  <a:pt x="14514" y="377371"/>
                </a:lnTo>
                <a:cubicBezTo>
                  <a:pt x="79828" y="471714"/>
                  <a:pt x="251580" y="609600"/>
                  <a:pt x="399142" y="674914"/>
                </a:cubicBezTo>
                <a:cubicBezTo>
                  <a:pt x="546704" y="740228"/>
                  <a:pt x="828523" y="862391"/>
                  <a:pt x="899885" y="769258"/>
                </a:cubicBezTo>
                <a:lnTo>
                  <a:pt x="907142" y="108857"/>
                </a:lnTo>
                <a:lnTo>
                  <a:pt x="435428" y="10159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37895-C4FC-4B56-BBC2-D302EC58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 CPS (hybrid systems)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1BB2-C080-406C-B450-D0A5D9FF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F1E3D7-ABDA-4662-9CA9-28FF20EA9068}"/>
              </a:ext>
            </a:extLst>
          </p:cNvPr>
          <p:cNvCxnSpPr/>
          <p:nvPr/>
        </p:nvCxnSpPr>
        <p:spPr>
          <a:xfrm flipV="1">
            <a:off x="572950" y="2049474"/>
            <a:ext cx="0" cy="2786742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BCAA8D-392E-42CF-B66E-70CA9324D672}"/>
              </a:ext>
            </a:extLst>
          </p:cNvPr>
          <p:cNvCxnSpPr>
            <a:cxnSpLocks/>
          </p:cNvCxnSpPr>
          <p:nvPr/>
        </p:nvCxnSpPr>
        <p:spPr>
          <a:xfrm>
            <a:off x="217350" y="4480616"/>
            <a:ext cx="3976914" cy="0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6C7DD9-8CB1-4113-88E1-2625BDD96C75}"/>
              </a:ext>
            </a:extLst>
          </p:cNvPr>
          <p:cNvSpPr/>
          <p:nvPr/>
        </p:nvSpPr>
        <p:spPr>
          <a:xfrm>
            <a:off x="482266" y="3765792"/>
            <a:ext cx="181365" cy="7148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84A8A1-BB27-4838-ADBA-B0C492276E1A}"/>
              </a:ext>
            </a:extLst>
          </p:cNvPr>
          <p:cNvSpPr/>
          <p:nvPr/>
        </p:nvSpPr>
        <p:spPr>
          <a:xfrm>
            <a:off x="1534544" y="3429001"/>
            <a:ext cx="181365" cy="85567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9611A-B528-40F4-8D22-F58C50C3E742}"/>
              </a:ext>
            </a:extLst>
          </p:cNvPr>
          <p:cNvSpPr/>
          <p:nvPr/>
        </p:nvSpPr>
        <p:spPr>
          <a:xfrm>
            <a:off x="2822709" y="2240046"/>
            <a:ext cx="217623" cy="748061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/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/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blipFill>
                <a:blip r:embed="rId3"/>
                <a:stretch>
                  <a:fillRect l="-102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/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blipFill>
                <a:blip r:embed="rId4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/>
              <p:nvPr/>
            </p:nvSpPr>
            <p:spPr>
              <a:xfrm>
                <a:off x="2506416" y="1629147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416" y="1629147"/>
                <a:ext cx="738279" cy="461665"/>
              </a:xfrm>
              <a:prstGeom prst="rect">
                <a:avLst/>
              </a:prstGeom>
              <a:blipFill>
                <a:blip r:embed="rId5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4264" y="1209202"/>
                <a:ext cx="7854428" cy="4342511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Controller may be event-triggered, where it detects the level of a certain physical quantity, and based on that changes mode of operation</a:t>
                </a:r>
              </a:p>
              <a:p>
                <a:r>
                  <a:rPr lang="en-US" sz="2000" dirty="0"/>
                  <a:t>An event firing between consecutive time steps could take the PWA system in a different mode!</a:t>
                </a:r>
              </a:p>
              <a:p>
                <a:r>
                  <a:rPr lang="en-US" sz="2000" dirty="0"/>
                  <a:t>We need to account for what may happen between time-steps</a:t>
                </a:r>
              </a:p>
              <a:p>
                <a:r>
                  <a:rPr lang="en-US" sz="2000" dirty="0"/>
                  <a:t>This is done by covering the reach-sets computed at times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 by a shape that includes both</a:t>
                </a:r>
              </a:p>
              <a:p>
                <a:r>
                  <a:rPr lang="en-US" sz="2000" dirty="0"/>
                  <a:t>Lots of research done on which shape is the best, and different shapes have different tradeoffs</a:t>
                </a:r>
              </a:p>
              <a:p>
                <a:pPr lvl="1"/>
                <a:r>
                  <a:rPr lang="en-US" sz="2000" dirty="0"/>
                  <a:t>Ellipsoids, Zonotopes, Support Functions</a:t>
                </a:r>
              </a:p>
              <a:p>
                <a:pPr lvl="1"/>
                <a:r>
                  <a:rPr lang="en-US" sz="2000" dirty="0" err="1"/>
                  <a:t>SpaceEx</a:t>
                </a:r>
                <a:r>
                  <a:rPr lang="en-US" sz="2000" dirty="0"/>
                  <a:t> tool uses support functions, and is pretty accurate for reasonably sized PWA systems now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4264" y="1209202"/>
                <a:ext cx="7854428" cy="4342511"/>
              </a:xfrm>
              <a:blipFill>
                <a:blip r:embed="rId6"/>
                <a:stretch>
                  <a:fillRect l="-311" t="-1403" b="-12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/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09C2F83-07C4-44A8-A3BD-B889A9D74A3B}"/>
              </a:ext>
            </a:extLst>
          </p:cNvPr>
          <p:cNvSpPr/>
          <p:nvPr/>
        </p:nvSpPr>
        <p:spPr>
          <a:xfrm>
            <a:off x="2008842" y="3189399"/>
            <a:ext cx="164332" cy="471840"/>
          </a:xfrm>
          <a:prstGeom prst="roundRect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B602259-5E48-416F-98B6-0EBA30889788}"/>
              </a:ext>
            </a:extLst>
          </p:cNvPr>
          <p:cNvSpPr/>
          <p:nvPr/>
        </p:nvSpPr>
        <p:spPr>
          <a:xfrm>
            <a:off x="2017705" y="3696281"/>
            <a:ext cx="168953" cy="395513"/>
          </a:xfrm>
          <a:prstGeom prst="roundRect">
            <a:avLst/>
          </a:prstGeom>
          <a:solidFill>
            <a:srgbClr val="92D050"/>
          </a:solidFill>
          <a:ln w="28575">
            <a:solidFill>
              <a:schemeClr val="tx1"/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28EA8C7-7915-4A35-A0F9-D6F549C91B96}"/>
              </a:ext>
            </a:extLst>
          </p:cNvPr>
          <p:cNvSpPr/>
          <p:nvPr/>
        </p:nvSpPr>
        <p:spPr>
          <a:xfrm>
            <a:off x="2800116" y="3696897"/>
            <a:ext cx="217623" cy="74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5DA0AC-E013-4AFB-9DA1-7DC2A459DFB6}"/>
              </a:ext>
            </a:extLst>
          </p:cNvPr>
          <p:cNvSpPr/>
          <p:nvPr/>
        </p:nvSpPr>
        <p:spPr>
          <a:xfrm>
            <a:off x="2432525" y="2701711"/>
            <a:ext cx="178864" cy="1053196"/>
          </a:xfrm>
          <a:prstGeom prst="roundRect">
            <a:avLst/>
          </a:prstGeom>
          <a:solidFill>
            <a:srgbClr val="FFC9CA"/>
          </a:solidFill>
          <a:ln w="28575"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918A43-A35E-42B3-9D50-5DA75C32E854}"/>
              </a:ext>
            </a:extLst>
          </p:cNvPr>
          <p:cNvCxnSpPr/>
          <p:nvPr/>
        </p:nvCxnSpPr>
        <p:spPr>
          <a:xfrm flipH="1">
            <a:off x="2500122" y="3429000"/>
            <a:ext cx="744573" cy="544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9A0FF26-8233-4B25-97F4-AF643BA04E7C}"/>
              </a:ext>
            </a:extLst>
          </p:cNvPr>
          <p:cNvSpPr txBox="1"/>
          <p:nvPr/>
        </p:nvSpPr>
        <p:spPr>
          <a:xfrm>
            <a:off x="3029914" y="3018689"/>
            <a:ext cx="1121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Wrong!</a:t>
            </a:r>
          </a:p>
        </p:txBody>
      </p:sp>
    </p:spTree>
    <p:extLst>
      <p:ext uri="{BB962C8B-B14F-4D97-AF65-F5344CB8AC3E}">
        <p14:creationId xmlns:p14="http://schemas.microsoft.com/office/powerpoint/2010/main" val="264814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46" grpId="0" animBg="1"/>
      <p:bldP spid="45" grpId="0" animBg="1"/>
      <p:bldP spid="12" grpId="0" animBg="1"/>
      <p:bldP spid="40" grpId="0" animBg="1"/>
      <p:bldP spid="42" grpId="0" animBg="1"/>
      <p:bldP spid="43" grpId="0" animBg="1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97AF5-0DAD-4E95-A670-39612EB06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systems can be modeled as PWA!</a:t>
            </a:r>
          </a:p>
          <a:p>
            <a:r>
              <a:rPr lang="en-US" dirty="0"/>
              <a:t>Nonlinear systems: </a:t>
            </a:r>
          </a:p>
          <a:p>
            <a:pPr lvl="1"/>
            <a:r>
              <a:rPr lang="en-US" dirty="0"/>
              <a:t>Approach I: first PWA-</a:t>
            </a:r>
            <a:r>
              <a:rPr lang="en-US" dirty="0" err="1"/>
              <a:t>ize</a:t>
            </a:r>
            <a:r>
              <a:rPr lang="en-US" dirty="0"/>
              <a:t> the system, then do reachability. Drawback: Error encountered during PWA-</a:t>
            </a:r>
            <a:r>
              <a:rPr lang="en-US" dirty="0" err="1"/>
              <a:t>ization</a:t>
            </a:r>
            <a:r>
              <a:rPr lang="en-US" dirty="0"/>
              <a:t> accumulates</a:t>
            </a:r>
          </a:p>
          <a:p>
            <a:pPr lvl="1"/>
            <a:r>
              <a:rPr lang="en-US" dirty="0"/>
              <a:t>Approach 2: use more interesting models such as Taylor models (based on Taylor series representations): used in tool Flow*</a:t>
            </a:r>
          </a:p>
          <a:p>
            <a:pPr lvl="1"/>
            <a:r>
              <a:rPr lang="en-US" dirty="0"/>
              <a:t>Approach 3: solve the problem using a powerful nonlinear SMT solver: used in tool </a:t>
            </a:r>
            <a:r>
              <a:rPr lang="en-US" dirty="0" err="1"/>
              <a:t>dReach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690AA-2A6E-4509-AD6C-2F82D5FF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for nonlinear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D5C76-0DA7-48F3-BBE1-4B2F2327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83359-BFAA-4BE3-A128-E2FF91A8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Also known as simulation-guided reachability analysis</a:t>
            </a:r>
          </a:p>
          <a:p>
            <a:r>
              <a:rPr lang="en-US" sz="2400" dirty="0"/>
              <a:t>Main idea: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Sample some initial states, perform simulations starting from these states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Use “continuity”-like arguments to bloat the trajectories in a sound manner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If bloated trajectories cover initial state space, go to step 4, if not go back to step 1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If bloated trajectories do not intersect unsafe set, conclude system is safe. If bloated trajectories intersect unsafe set, try to refine bloated trajectories to check if there is a true counterexample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78AD84-9A4C-4242-96C9-821AFED7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under and over-approximations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49D4-56AA-4ECE-89E4-124D2544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949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2430A1-2EAA-47A1-866A-D087D624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Simlulation</a:t>
            </a:r>
            <a:r>
              <a:rPr lang="en-US" dirty="0"/>
              <a:t>-guided reachability depiction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ECEAD-E431-4CF9-8188-1DA58E48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D66A2E-4F60-40A2-AA01-E7D2E5F9C55D}"/>
              </a:ext>
            </a:extLst>
          </p:cNvPr>
          <p:cNvSpPr/>
          <p:nvPr/>
        </p:nvSpPr>
        <p:spPr>
          <a:xfrm>
            <a:off x="6381455" y="3794318"/>
            <a:ext cx="1603148" cy="685821"/>
          </a:xfrm>
          <a:prstGeom prst="ellipse">
            <a:avLst/>
          </a:prstGeom>
          <a:solidFill>
            <a:srgbClr val="FFB8A7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Unsafe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535E37-89B7-4B29-A321-0EF57CA656E9}"/>
              </a:ext>
            </a:extLst>
          </p:cNvPr>
          <p:cNvSpPr/>
          <p:nvPr/>
        </p:nvSpPr>
        <p:spPr>
          <a:xfrm>
            <a:off x="1340112" y="2367107"/>
            <a:ext cx="1591731" cy="157219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20399994" rev="0"/>
            </a:camera>
            <a:lightRig rig="threePt" dir="t"/>
          </a:scene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D47949-0493-4FD3-8FF6-707DAEDF0486}"/>
              </a:ext>
            </a:extLst>
          </p:cNvPr>
          <p:cNvSpPr/>
          <p:nvPr/>
        </p:nvSpPr>
        <p:spPr>
          <a:xfrm>
            <a:off x="1718871" y="3435296"/>
            <a:ext cx="533400" cy="4191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3CA445-0D0F-4FBA-BBBA-AB43584F7DF1}"/>
              </a:ext>
            </a:extLst>
          </p:cNvPr>
          <p:cNvSpPr/>
          <p:nvPr/>
        </p:nvSpPr>
        <p:spPr>
          <a:xfrm>
            <a:off x="1455391" y="2918698"/>
            <a:ext cx="453980" cy="4434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D9B6C7-2DE0-4A2E-BF2F-49EACF0790B8}"/>
              </a:ext>
            </a:extLst>
          </p:cNvPr>
          <p:cNvGrpSpPr/>
          <p:nvPr/>
        </p:nvGrpSpPr>
        <p:grpSpPr>
          <a:xfrm>
            <a:off x="2135730" y="2252207"/>
            <a:ext cx="4949962" cy="856332"/>
            <a:chOff x="1638300" y="2185703"/>
            <a:chExt cx="4949962" cy="856332"/>
          </a:xfrm>
        </p:grpSpPr>
        <p:sp>
          <p:nvSpPr>
            <p:cNvPr id="10" name="Flowchart: Direct Access Storage 9">
              <a:extLst>
                <a:ext uri="{FF2B5EF4-FFF2-40B4-BE49-F238E27FC236}">
                  <a16:creationId xmlns:a16="http://schemas.microsoft.com/office/drawing/2014/main" id="{B4979F37-521F-4394-9456-8208C7EA26FF}"/>
                </a:ext>
              </a:extLst>
            </p:cNvPr>
            <p:cNvSpPr/>
            <p:nvPr/>
          </p:nvSpPr>
          <p:spPr>
            <a:xfrm>
              <a:off x="1638300" y="2476500"/>
              <a:ext cx="1718982" cy="408503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lowchart: Direct Access Storage 10">
              <a:extLst>
                <a:ext uri="{FF2B5EF4-FFF2-40B4-BE49-F238E27FC236}">
                  <a16:creationId xmlns:a16="http://schemas.microsoft.com/office/drawing/2014/main" id="{049A071C-61CE-47FE-81EC-90B9406BE309}"/>
                </a:ext>
              </a:extLst>
            </p:cNvPr>
            <p:cNvSpPr/>
            <p:nvPr/>
          </p:nvSpPr>
          <p:spPr>
            <a:xfrm rot="20351685">
              <a:off x="2772915" y="2214493"/>
              <a:ext cx="1676400" cy="475073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lowchart: Direct Access Storage 11">
              <a:extLst>
                <a:ext uri="{FF2B5EF4-FFF2-40B4-BE49-F238E27FC236}">
                  <a16:creationId xmlns:a16="http://schemas.microsoft.com/office/drawing/2014/main" id="{8446B516-820F-4851-BCA4-FA8E8D950FCB}"/>
                </a:ext>
              </a:extLst>
            </p:cNvPr>
            <p:cNvSpPr/>
            <p:nvPr/>
          </p:nvSpPr>
          <p:spPr>
            <a:xfrm rot="1298004">
              <a:off x="3856881" y="2185703"/>
              <a:ext cx="1676400" cy="675960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lowchart: Direct Access Storage 12">
              <a:extLst>
                <a:ext uri="{FF2B5EF4-FFF2-40B4-BE49-F238E27FC236}">
                  <a16:creationId xmlns:a16="http://schemas.microsoft.com/office/drawing/2014/main" id="{AFFEE1FE-DD98-49AE-8342-46FF937A75F9}"/>
                </a:ext>
              </a:extLst>
            </p:cNvPr>
            <p:cNvSpPr/>
            <p:nvPr/>
          </p:nvSpPr>
          <p:spPr>
            <a:xfrm rot="21254325">
              <a:off x="4911862" y="2259129"/>
              <a:ext cx="1676400" cy="782906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E7346D-F600-48A9-98CF-D7F38D56D65B}"/>
              </a:ext>
            </a:extLst>
          </p:cNvPr>
          <p:cNvGrpSpPr/>
          <p:nvPr/>
        </p:nvGrpSpPr>
        <p:grpSpPr>
          <a:xfrm rot="1654039" flipV="1">
            <a:off x="1843651" y="2905250"/>
            <a:ext cx="4710368" cy="1869141"/>
            <a:chOff x="2336427" y="4038600"/>
            <a:chExt cx="4710368" cy="1869141"/>
          </a:xfrm>
        </p:grpSpPr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ADE1B8E3-694C-4A33-8B03-46E2196B98F7}"/>
                </a:ext>
              </a:extLst>
            </p:cNvPr>
            <p:cNvSpPr/>
            <p:nvPr/>
          </p:nvSpPr>
          <p:spPr>
            <a:xfrm>
              <a:off x="2535891" y="4038600"/>
              <a:ext cx="4114800" cy="1869141"/>
            </a:xfrm>
            <a:custGeom>
              <a:avLst/>
              <a:gdLst>
                <a:gd name="connsiteX0" fmla="*/ 0 w 4114800"/>
                <a:gd name="connsiteY0" fmla="*/ 0 h 1869141"/>
                <a:gd name="connsiteX1" fmla="*/ 1102658 w 4114800"/>
                <a:gd name="connsiteY1" fmla="*/ 430305 h 1869141"/>
                <a:gd name="connsiteX2" fmla="*/ 1922929 w 4114800"/>
                <a:gd name="connsiteY2" fmla="*/ 1237129 h 1869141"/>
                <a:gd name="connsiteX3" fmla="*/ 3186953 w 4114800"/>
                <a:gd name="connsiteY3" fmla="*/ 1102658 h 1869141"/>
                <a:gd name="connsiteX4" fmla="*/ 4114800 w 4114800"/>
                <a:gd name="connsiteY4" fmla="*/ 1869141 h 1869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4800" h="1869141">
                  <a:moveTo>
                    <a:pt x="0" y="0"/>
                  </a:moveTo>
                  <a:cubicBezTo>
                    <a:pt x="391085" y="112058"/>
                    <a:pt x="782170" y="224117"/>
                    <a:pt x="1102658" y="430305"/>
                  </a:cubicBezTo>
                  <a:cubicBezTo>
                    <a:pt x="1423146" y="636493"/>
                    <a:pt x="1575547" y="1125070"/>
                    <a:pt x="1922929" y="1237129"/>
                  </a:cubicBezTo>
                  <a:cubicBezTo>
                    <a:pt x="2270312" y="1349188"/>
                    <a:pt x="2821641" y="997323"/>
                    <a:pt x="3186953" y="1102658"/>
                  </a:cubicBezTo>
                  <a:cubicBezTo>
                    <a:pt x="3552265" y="1207993"/>
                    <a:pt x="3833532" y="1538567"/>
                    <a:pt x="4114800" y="1869141"/>
                  </a:cubicBez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DCDF84C-B9CC-43B6-8B2C-12356242D583}"/>
                </a:ext>
              </a:extLst>
            </p:cNvPr>
            <p:cNvGrpSpPr/>
            <p:nvPr/>
          </p:nvGrpSpPr>
          <p:grpSpPr>
            <a:xfrm>
              <a:off x="2336427" y="4118980"/>
              <a:ext cx="4710368" cy="1767536"/>
              <a:chOff x="1237534" y="3627527"/>
              <a:chExt cx="4710368" cy="1767536"/>
            </a:xfrm>
          </p:grpSpPr>
          <p:sp>
            <p:nvSpPr>
              <p:cNvPr id="17" name="Flowchart: Direct Access Storage 16">
                <a:extLst>
                  <a:ext uri="{FF2B5EF4-FFF2-40B4-BE49-F238E27FC236}">
                    <a16:creationId xmlns:a16="http://schemas.microsoft.com/office/drawing/2014/main" id="{68F087CB-5F0A-45D9-B60A-7D435C8A21DE}"/>
                  </a:ext>
                </a:extLst>
              </p:cNvPr>
              <p:cNvSpPr/>
              <p:nvPr/>
            </p:nvSpPr>
            <p:spPr>
              <a:xfrm rot="12069459" flipH="1">
                <a:off x="1237534" y="3627527"/>
                <a:ext cx="1718982" cy="408503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lowchart: Direct Access Storage 17">
                <a:extLst>
                  <a:ext uri="{FF2B5EF4-FFF2-40B4-BE49-F238E27FC236}">
                    <a16:creationId xmlns:a16="http://schemas.microsoft.com/office/drawing/2014/main" id="{6583783F-88C6-488C-98C8-EACBF32658B9}"/>
                  </a:ext>
                </a:extLst>
              </p:cNvPr>
              <p:cNvSpPr/>
              <p:nvPr/>
            </p:nvSpPr>
            <p:spPr>
              <a:xfrm rot="13317774" flipH="1">
                <a:off x="2185530" y="4166809"/>
                <a:ext cx="1676400" cy="475073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lowchart: Direct Access Storage 18">
                <a:extLst>
                  <a:ext uri="{FF2B5EF4-FFF2-40B4-BE49-F238E27FC236}">
                    <a16:creationId xmlns:a16="http://schemas.microsoft.com/office/drawing/2014/main" id="{42227923-6FD7-4E99-AA7E-E0D25DFCDAB3}"/>
                  </a:ext>
                </a:extLst>
              </p:cNvPr>
              <p:cNvSpPr/>
              <p:nvPr/>
            </p:nvSpPr>
            <p:spPr>
              <a:xfrm rot="10771455" flipH="1">
                <a:off x="3222289" y="4390784"/>
                <a:ext cx="1676400" cy="675960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Flowchart: Direct Access Storage 19">
                <a:extLst>
                  <a:ext uri="{FF2B5EF4-FFF2-40B4-BE49-F238E27FC236}">
                    <a16:creationId xmlns:a16="http://schemas.microsoft.com/office/drawing/2014/main" id="{719FDA4F-F976-4F18-BB78-53C6B5C2B06A}"/>
                  </a:ext>
                </a:extLst>
              </p:cNvPr>
              <p:cNvSpPr/>
              <p:nvPr/>
            </p:nvSpPr>
            <p:spPr>
              <a:xfrm rot="12415134" flipH="1">
                <a:off x="4271502" y="4612157"/>
                <a:ext cx="1676400" cy="782906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82A9A491-C90A-41C0-8F70-5509526C806B}"/>
              </a:ext>
            </a:extLst>
          </p:cNvPr>
          <p:cNvSpPr/>
          <p:nvPr/>
        </p:nvSpPr>
        <p:spPr>
          <a:xfrm>
            <a:off x="1830930" y="3565739"/>
            <a:ext cx="156883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554628-7940-4333-9732-C47B0C14E4D7}"/>
              </a:ext>
            </a:extLst>
          </p:cNvPr>
          <p:cNvSpPr/>
          <p:nvPr/>
        </p:nvSpPr>
        <p:spPr>
          <a:xfrm>
            <a:off x="2129006" y="2543004"/>
            <a:ext cx="533400" cy="4191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Freeform 41">
            <a:extLst>
              <a:ext uri="{FF2B5EF4-FFF2-40B4-BE49-F238E27FC236}">
                <a16:creationId xmlns:a16="http://schemas.microsoft.com/office/drawing/2014/main" id="{7B25A521-4ED1-4A28-8993-D7BA0121D891}"/>
              </a:ext>
            </a:extLst>
          </p:cNvPr>
          <p:cNvSpPr/>
          <p:nvPr/>
        </p:nvSpPr>
        <p:spPr>
          <a:xfrm>
            <a:off x="2395706" y="2250753"/>
            <a:ext cx="4437530" cy="667946"/>
          </a:xfrm>
          <a:custGeom>
            <a:avLst/>
            <a:gdLst>
              <a:gd name="connsiteX0" fmla="*/ 0 w 4437530"/>
              <a:gd name="connsiteY0" fmla="*/ 472304 h 667946"/>
              <a:gd name="connsiteX1" fmla="*/ 1143000 w 4437530"/>
              <a:gd name="connsiteY1" fmla="*/ 472304 h 667946"/>
              <a:gd name="connsiteX2" fmla="*/ 2232212 w 4437530"/>
              <a:gd name="connsiteY2" fmla="*/ 1657 h 667946"/>
              <a:gd name="connsiteX3" fmla="*/ 3186953 w 4437530"/>
              <a:gd name="connsiteY3" fmla="*/ 660562 h 667946"/>
              <a:gd name="connsiteX4" fmla="*/ 4437530 w 4437530"/>
              <a:gd name="connsiteY4" fmla="*/ 297492 h 66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530" h="667946">
                <a:moveTo>
                  <a:pt x="0" y="472304"/>
                </a:moveTo>
                <a:cubicBezTo>
                  <a:pt x="385482" y="511524"/>
                  <a:pt x="770965" y="550745"/>
                  <a:pt x="1143000" y="472304"/>
                </a:cubicBezTo>
                <a:cubicBezTo>
                  <a:pt x="1515035" y="393863"/>
                  <a:pt x="1891553" y="-29719"/>
                  <a:pt x="2232212" y="1657"/>
                </a:cubicBezTo>
                <a:cubicBezTo>
                  <a:pt x="2572871" y="33033"/>
                  <a:pt x="2819400" y="611256"/>
                  <a:pt x="3186953" y="660562"/>
                </a:cubicBezTo>
                <a:cubicBezTo>
                  <a:pt x="3554506" y="709868"/>
                  <a:pt x="3996018" y="503680"/>
                  <a:pt x="4437530" y="297492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B10976-1B43-4BCE-A4EF-4390C1444134}"/>
              </a:ext>
            </a:extLst>
          </p:cNvPr>
          <p:cNvSpPr/>
          <p:nvPr/>
        </p:nvSpPr>
        <p:spPr>
          <a:xfrm>
            <a:off x="2288130" y="2651339"/>
            <a:ext cx="156883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64A33-8844-4EF0-9BFB-21D5FF5E0906}"/>
              </a:ext>
            </a:extLst>
          </p:cNvPr>
          <p:cNvSpPr txBox="1"/>
          <p:nvPr/>
        </p:nvSpPr>
        <p:spPr>
          <a:xfrm>
            <a:off x="1568714" y="1649394"/>
            <a:ext cx="771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Initial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622221-D668-4C90-8BC6-0FF9A1D5786F}"/>
              </a:ext>
            </a:extLst>
          </p:cNvPr>
          <p:cNvSpPr txBox="1"/>
          <p:nvPr/>
        </p:nvSpPr>
        <p:spPr>
          <a:xfrm>
            <a:off x="6368007" y="1649394"/>
            <a:ext cx="323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Simulation Trace up to time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B502FA-66D0-4B0F-A06E-2D6E98A7E9E5}"/>
              </a:ext>
            </a:extLst>
          </p:cNvPr>
          <p:cNvSpPr txBox="1"/>
          <p:nvPr/>
        </p:nvSpPr>
        <p:spPr>
          <a:xfrm>
            <a:off x="7414459" y="2988290"/>
            <a:ext cx="1579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Reach-Tube up to time T</a:t>
            </a:r>
          </a:p>
        </p:txBody>
      </p:sp>
      <p:sp>
        <p:nvSpPr>
          <p:cNvPr id="28" name="Freeform 53">
            <a:extLst>
              <a:ext uri="{FF2B5EF4-FFF2-40B4-BE49-F238E27FC236}">
                <a16:creationId xmlns:a16="http://schemas.microsoft.com/office/drawing/2014/main" id="{52909F4D-377F-4940-BDC1-9BC7E7192670}"/>
              </a:ext>
            </a:extLst>
          </p:cNvPr>
          <p:cNvSpPr/>
          <p:nvPr/>
        </p:nvSpPr>
        <p:spPr>
          <a:xfrm>
            <a:off x="1344313" y="1966997"/>
            <a:ext cx="311805" cy="546685"/>
          </a:xfrm>
          <a:custGeom>
            <a:avLst/>
            <a:gdLst>
              <a:gd name="connsiteX0" fmla="*/ 190782 w 311805"/>
              <a:gd name="connsiteY0" fmla="*/ 0 h 234378"/>
              <a:gd name="connsiteX1" fmla="*/ 2523 w 311805"/>
              <a:gd name="connsiteY1" fmla="*/ 67235 h 234378"/>
              <a:gd name="connsiteX2" fmla="*/ 311805 w 311805"/>
              <a:gd name="connsiteY2" fmla="*/ 228600 h 23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805" h="234378">
                <a:moveTo>
                  <a:pt x="190782" y="0"/>
                </a:moveTo>
                <a:cubicBezTo>
                  <a:pt x="86567" y="14567"/>
                  <a:pt x="-17648" y="29135"/>
                  <a:pt x="2523" y="67235"/>
                </a:cubicBezTo>
                <a:cubicBezTo>
                  <a:pt x="22693" y="105335"/>
                  <a:pt x="271464" y="266700"/>
                  <a:pt x="311805" y="228600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A9DE26-D88B-49A6-93C2-371EF5E23A18}"/>
              </a:ext>
            </a:extLst>
          </p:cNvPr>
          <p:cNvCxnSpPr>
            <a:stCxn id="26" idx="1"/>
          </p:cNvCxnSpPr>
          <p:nvPr/>
        </p:nvCxnSpPr>
        <p:spPr>
          <a:xfrm>
            <a:off x="6368007" y="1849449"/>
            <a:ext cx="0" cy="878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AF196B-5880-4FE4-8A7C-30522D711B6F}"/>
              </a:ext>
            </a:extLst>
          </p:cNvPr>
          <p:cNvCxnSpPr>
            <a:stCxn id="26" idx="1"/>
          </p:cNvCxnSpPr>
          <p:nvPr/>
        </p:nvCxnSpPr>
        <p:spPr>
          <a:xfrm flipH="1">
            <a:off x="5785120" y="1849449"/>
            <a:ext cx="582887" cy="22776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2B43FD-A724-4825-AAA2-0407674BEF82}"/>
              </a:ext>
            </a:extLst>
          </p:cNvPr>
          <p:cNvCxnSpPr/>
          <p:nvPr/>
        </p:nvCxnSpPr>
        <p:spPr>
          <a:xfrm flipH="1" flipV="1">
            <a:off x="6479130" y="3130496"/>
            <a:ext cx="935329" cy="82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5873C4-8436-45E9-BFB0-CCEA7D64AA8E}"/>
              </a:ext>
            </a:extLst>
          </p:cNvPr>
          <p:cNvCxnSpPr/>
          <p:nvPr/>
        </p:nvCxnSpPr>
        <p:spPr>
          <a:xfrm flipH="1">
            <a:off x="6627697" y="3435296"/>
            <a:ext cx="786763" cy="3590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10520E1-181F-41AA-B6D2-670058A2FAC4}"/>
              </a:ext>
            </a:extLst>
          </p:cNvPr>
          <p:cNvSpPr/>
          <p:nvPr/>
        </p:nvSpPr>
        <p:spPr>
          <a:xfrm>
            <a:off x="2064013" y="2991308"/>
            <a:ext cx="453980" cy="4434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2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688F40-4CD4-410B-B37F-BC078CC25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Main idea: Solutions of ODEs are “sensitive” to their initial conditions</a:t>
                </a:r>
              </a:p>
              <a:p>
                <a:r>
                  <a:rPr lang="en-US" dirty="0"/>
                  <a:t>Such sensitivity gives an estimate on how far two trajectories can go if they start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apart</a:t>
                </a:r>
              </a:p>
              <a:p>
                <a:r>
                  <a:rPr lang="en-US" dirty="0"/>
                  <a:t>A key notion is a discrepancy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that bounds how far trajectories can grow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Obtaining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that shows trajectories remain bounded within some reasonable factor of the distance between their initial conditions is very useful</a:t>
                </a:r>
              </a:p>
              <a:p>
                <a:pPr lvl="1"/>
                <a:r>
                  <a:rPr lang="en-US" dirty="0"/>
                  <a:t>We only simulate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and we know how all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behave!</a:t>
                </a:r>
              </a:p>
              <a:p>
                <a:pPr>
                  <a:tabLst>
                    <a:tab pos="6740525" algn="l"/>
                  </a:tabLst>
                </a:pPr>
                <a:r>
                  <a:rPr lang="en-US" dirty="0"/>
                  <a:t>Technique implemented in tool C2E2, </a:t>
                </a:r>
                <a:r>
                  <a:rPr lang="en-US" dirty="0" err="1"/>
                  <a:t>DryVR</a:t>
                </a: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688F40-4CD4-410B-B37F-BC078CC25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 r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3FBCC2-E687-4E6E-B9E6-A9FF33BA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sauce: how to bloat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C9E8C-473A-4FF8-9B35-E02C5EC0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88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01BA47-D4B1-4895-8EFC-757EAD90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754" y="2936631"/>
            <a:ext cx="4466492" cy="589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Probabilistic Verification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12D20-EA79-4063-A6C9-38F64F62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C764-1BB2-4DBE-B8C8-B549B540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1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983FCE-9381-432C-9DE5-FFD3FBBF3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10265"/>
            <a:ext cx="11699087" cy="3873776"/>
          </a:xfrm>
        </p:spPr>
        <p:txBody>
          <a:bodyPr/>
          <a:lstStyle/>
          <a:p>
            <a:r>
              <a:rPr lang="en-US" dirty="0"/>
              <a:t>Models for components that we studied so far were either deterministic or nondeterministic.</a:t>
            </a:r>
          </a:p>
          <a:p>
            <a:r>
              <a:rPr lang="en-US" dirty="0"/>
              <a:t>The goal of such models is to represent computation or time-evolution of a physical phenomenon.</a:t>
            </a:r>
          </a:p>
          <a:p>
            <a:r>
              <a:rPr lang="en-US" dirty="0"/>
              <a:t>These models </a:t>
            </a:r>
            <a:r>
              <a:rPr lang="en-US" i="1" dirty="0"/>
              <a:t>do not </a:t>
            </a:r>
            <a:r>
              <a:rPr lang="en-US" dirty="0"/>
              <a:t>do a great job of capturing uncertainty.</a:t>
            </a:r>
          </a:p>
          <a:p>
            <a:r>
              <a:rPr lang="en-US" dirty="0"/>
              <a:t>We can usually model uncertainty using probabilities, so probabilistic models allow us to account for likelihood of environment behaviors</a:t>
            </a:r>
          </a:p>
          <a:p>
            <a:r>
              <a:rPr lang="en-US" dirty="0"/>
              <a:t>Machine learning/AI algorithms also require probabilistic modelling!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945410-3B95-4C9F-9E1C-3D5F1746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A2776-0511-4188-9784-2686BE2B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37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02A4C3-A641-446A-9C6D-91979502D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11411"/>
                <a:ext cx="11699087" cy="3972630"/>
              </a:xfrm>
            </p:spPr>
            <p:txBody>
              <a:bodyPr/>
              <a:lstStyle/>
              <a:p>
                <a:r>
                  <a:rPr lang="en-US" dirty="0"/>
                  <a:t>Collection of finite or infinite random variables, indexed by time</a:t>
                </a:r>
              </a:p>
              <a:p>
                <a:r>
                  <a:rPr lang="en-US" dirty="0"/>
                  <a:t>Discrete</a:t>
                </a:r>
                <a:r>
                  <a:rPr lang="en-US" b="0" i="0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i="0" dirty="0">
                  <a:latin typeface="+mj-lt"/>
                </a:endParaRPr>
              </a:p>
              <a:p>
                <a:r>
                  <a:rPr lang="en-US" dirty="0"/>
                  <a:t>Continuous: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Joint distribution of a (discrete-time) stochastic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Many kinds of stochastic processes: Markov process, Martingales, Levy Process, </a:t>
                </a:r>
                <a:r>
                  <a:rPr lang="en-US" dirty="0" err="1"/>
                  <a:t>AutoRegressive</a:t>
                </a:r>
                <a:r>
                  <a:rPr lang="en-US" dirty="0"/>
                  <a:t> process, Moving Average process, ….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02A4C3-A641-446A-9C6D-91979502D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11411"/>
                <a:ext cx="11699087" cy="3972630"/>
              </a:xfrm>
              <a:blipFill>
                <a:blip r:embed="rId2"/>
                <a:stretch>
                  <a:fillRect l="-417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31CDDF2-5F7E-4EB1-8B0F-15F483F1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282A-36B8-45CE-9B0B-9D7739E9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45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69C43D-400F-49C1-9E74-5279B4F5D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224215"/>
                <a:ext cx="11699087" cy="345982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Markov process: special case of a stochastic process</a:t>
                </a:r>
              </a:p>
              <a:p>
                <a:r>
                  <a:rPr lang="en-US" dirty="0"/>
                  <a:t>Markov property: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r>
                  <a:rPr lang="en-US" dirty="0"/>
                  <a:t>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only depends on the current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69C43D-400F-49C1-9E74-5279B4F5D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224215"/>
                <a:ext cx="11699087" cy="3459825"/>
              </a:xfrm>
              <a:blipFill>
                <a:blip r:embed="rId2"/>
                <a:stretch>
                  <a:fillRect l="-417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2D10BB-B8AD-4270-BA4E-4648BE8F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E52A0-6254-4C62-9902-B07566D3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89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7FA895-FCF9-41B9-BA0D-AEE9E026B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88256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DTMC is a </a:t>
                </a:r>
                <a:r>
                  <a:rPr lang="en-US" i="1" dirty="0"/>
                  <a:t>time-homogeneous </a:t>
                </a:r>
                <a:r>
                  <a:rPr lang="en-US" dirty="0"/>
                  <a:t>Markov process</a:t>
                </a:r>
              </a:p>
              <a:p>
                <a:pPr lvl="1"/>
                <a:r>
                  <a:rPr lang="en-US" dirty="0"/>
                  <a:t>Each step in the process takes the same time</a:t>
                </a:r>
              </a:p>
              <a:p>
                <a:pPr lvl="1"/>
                <a:r>
                  <a:rPr lang="en-US" dirty="0"/>
                  <a:t>Time-steps are discrete</a:t>
                </a:r>
              </a:p>
              <a:p>
                <a:pPr lvl="1"/>
                <a:r>
                  <a:rPr lang="en-US" dirty="0"/>
                  <a:t>State-space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discrete (values taken by the time-indexed random variables)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to go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7FA895-FCF9-41B9-BA0D-AEE9E026B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882565" cy="4351338"/>
              </a:xfrm>
              <a:blipFill>
                <a:blip r:embed="rId2"/>
                <a:stretch>
                  <a:fillRect l="-61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C27F35F-F2D0-484E-844F-9CD6E779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Discrete-time Markov chain (DTMC)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29FE8-766B-4D88-A9C2-F7883FE9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14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504B68-D9D4-4B85-8A3A-68F1943098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Discrete-Time Markov chain (DTMC), described as a tuple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finite set of states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transition probability function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initial distribution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is a function that assigns some subset of Boolean propositions to each state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504B68-D9D4-4B85-8A3A-68F194309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19B8AB-039E-44A7-A15A-52417723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definition: DTMC as a transition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9736-0420-4177-B183-6CFB13DB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E22FB8-D76F-4E67-8A3A-DA723934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example: Driver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E4B41-ED80-456E-A978-A158B9A7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4176F8-B194-4EA3-B1FB-8F2ACD9E0BF5}"/>
              </a:ext>
            </a:extLst>
          </p:cNvPr>
          <p:cNvSpPr/>
          <p:nvPr/>
        </p:nvSpPr>
        <p:spPr>
          <a:xfrm>
            <a:off x="1423851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Accelerate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02712B-A395-4535-9963-45CED17835B9}"/>
              </a:ext>
            </a:extLst>
          </p:cNvPr>
          <p:cNvSpPr/>
          <p:nvPr/>
        </p:nvSpPr>
        <p:spPr>
          <a:xfrm>
            <a:off x="4841966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Constant Speed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4811A5-5DED-4CDC-8D36-DDB3577DC83B}"/>
              </a:ext>
            </a:extLst>
          </p:cNvPr>
          <p:cNvSpPr/>
          <p:nvPr/>
        </p:nvSpPr>
        <p:spPr>
          <a:xfrm>
            <a:off x="1423850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Idling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32AC3A-62AB-4890-AA2F-70CC4C44D3FB}"/>
              </a:ext>
            </a:extLst>
          </p:cNvPr>
          <p:cNvSpPr/>
          <p:nvPr/>
        </p:nvSpPr>
        <p:spPr>
          <a:xfrm>
            <a:off x="4841966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Brake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D6A2AD-AEC2-441B-8B1A-C110FF648ACF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3396342" y="2786739"/>
            <a:ext cx="1445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995C10-A039-446A-806D-F9F65FE09276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>
            <a:off x="3396342" y="2786739"/>
            <a:ext cx="1734489" cy="1302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7C0D3D-CA6A-4DFB-AA95-16660BE6B996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5828212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ED9FE-D133-412A-BF7C-EF2ECD5266D1}"/>
              </a:ext>
            </a:extLst>
          </p:cNvPr>
          <p:cNvCxnSpPr>
            <a:cxnSpLocks/>
          </p:cNvCxnSpPr>
          <p:nvPr/>
        </p:nvCxnSpPr>
        <p:spPr>
          <a:xfrm flipV="1">
            <a:off x="6096000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68E30C-C006-4507-8B19-85E923A1FC66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3396341" y="4364276"/>
            <a:ext cx="1445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119A78-34CF-4240-9A82-A0B1F9035D4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2410096" y="3176153"/>
            <a:ext cx="1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2BE4C61-7F82-479B-AA5E-348A35FEFDFC}"/>
              </a:ext>
            </a:extLst>
          </p:cNvPr>
          <p:cNvSpPr/>
          <p:nvPr/>
        </p:nvSpPr>
        <p:spPr>
          <a:xfrm>
            <a:off x="6643007" y="2227824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3A2C2E-3ED4-4092-BCB5-155091BABFFA}"/>
              </a:ext>
            </a:extLst>
          </p:cNvPr>
          <p:cNvSpPr/>
          <p:nvPr/>
        </p:nvSpPr>
        <p:spPr>
          <a:xfrm rot="5619972">
            <a:off x="6602190" y="4385003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6DE3873-D304-4226-81A5-57C0345257AF}"/>
              </a:ext>
            </a:extLst>
          </p:cNvPr>
          <p:cNvSpPr/>
          <p:nvPr/>
        </p:nvSpPr>
        <p:spPr>
          <a:xfrm rot="7308126">
            <a:off x="2131419" y="4682439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7A2624C-28EC-4A6B-A7A9-4ED8FD446E2F}"/>
              </a:ext>
            </a:extLst>
          </p:cNvPr>
          <p:cNvSpPr/>
          <p:nvPr/>
        </p:nvSpPr>
        <p:spPr>
          <a:xfrm rot="18334946">
            <a:off x="2123951" y="1883845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4BE69D-73E8-42B7-AA8D-B919B4A79D10}"/>
              </a:ext>
            </a:extLst>
          </p:cNvPr>
          <p:cNvCxnSpPr>
            <a:cxnSpLocks/>
          </p:cNvCxnSpPr>
          <p:nvPr/>
        </p:nvCxnSpPr>
        <p:spPr>
          <a:xfrm flipH="1" flipV="1">
            <a:off x="3243264" y="2971800"/>
            <a:ext cx="1651703" cy="1259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9F411EE-737B-4656-861A-46C59D88DF17}"/>
              </a:ext>
            </a:extLst>
          </p:cNvPr>
          <p:cNvSpPr txBox="1"/>
          <p:nvPr/>
        </p:nvSpPr>
        <p:spPr>
          <a:xfrm>
            <a:off x="3974805" y="270539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5A81FB-4A85-4477-BF7E-5436F9E0D9C7}"/>
              </a:ext>
            </a:extLst>
          </p:cNvPr>
          <p:cNvSpPr txBox="1"/>
          <p:nvPr/>
        </p:nvSpPr>
        <p:spPr>
          <a:xfrm>
            <a:off x="4270729" y="308765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EC0AF3-F433-435B-BAF2-34817364DA56}"/>
              </a:ext>
            </a:extLst>
          </p:cNvPr>
          <p:cNvSpPr txBox="1"/>
          <p:nvPr/>
        </p:nvSpPr>
        <p:spPr>
          <a:xfrm>
            <a:off x="2123798" y="1598616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A1EFF7-C058-4E7E-AD74-510E942D5968}"/>
              </a:ext>
            </a:extLst>
          </p:cNvPr>
          <p:cNvSpPr txBox="1"/>
          <p:nvPr/>
        </p:nvSpPr>
        <p:spPr>
          <a:xfrm>
            <a:off x="2116331" y="512350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01005C-1ABD-4C4F-B2D9-D8C30C803745}"/>
              </a:ext>
            </a:extLst>
          </p:cNvPr>
          <p:cNvSpPr txBox="1"/>
          <p:nvPr/>
        </p:nvSpPr>
        <p:spPr>
          <a:xfrm>
            <a:off x="2431173" y="3318490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A6F671-1A84-46AC-A748-40E62E26779A}"/>
              </a:ext>
            </a:extLst>
          </p:cNvPr>
          <p:cNvSpPr txBox="1"/>
          <p:nvPr/>
        </p:nvSpPr>
        <p:spPr>
          <a:xfrm>
            <a:off x="6935426" y="4689595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F70989-CE3F-42EA-8DB9-F2A4BA3C8796}"/>
              </a:ext>
            </a:extLst>
          </p:cNvPr>
          <p:cNvSpPr txBox="1"/>
          <p:nvPr/>
        </p:nvSpPr>
        <p:spPr>
          <a:xfrm>
            <a:off x="6086373" y="3387461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DC0F3-AA23-4B41-8CDB-15ACFBFDBFA0}"/>
              </a:ext>
            </a:extLst>
          </p:cNvPr>
          <p:cNvSpPr txBox="1"/>
          <p:nvPr/>
        </p:nvSpPr>
        <p:spPr>
          <a:xfrm>
            <a:off x="3793474" y="434429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C274D2-98BB-4577-8703-B9DBFABFD9AC}"/>
              </a:ext>
            </a:extLst>
          </p:cNvPr>
          <p:cNvSpPr txBox="1"/>
          <p:nvPr/>
        </p:nvSpPr>
        <p:spPr>
          <a:xfrm>
            <a:off x="3437408" y="346770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E3E8F3-3ABA-403D-84B5-73E44C8C1A0F}"/>
              </a:ext>
            </a:extLst>
          </p:cNvPr>
          <p:cNvSpPr txBox="1"/>
          <p:nvPr/>
        </p:nvSpPr>
        <p:spPr>
          <a:xfrm>
            <a:off x="5265247" y="322044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371590-12DC-418F-B273-08F5309B3537}"/>
              </a:ext>
            </a:extLst>
          </p:cNvPr>
          <p:cNvSpPr txBox="1"/>
          <p:nvPr/>
        </p:nvSpPr>
        <p:spPr>
          <a:xfrm>
            <a:off x="7090917" y="218613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E82EC7-6B60-4AAC-8EF0-1EE416396E87}"/>
                  </a:ext>
                </a:extLst>
              </p:cNvPr>
              <p:cNvSpPr txBox="1"/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E82EC7-6B60-4AAC-8EF0-1EE416396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D09C59-62E1-4F78-AB79-C1E6924F6C5D}"/>
                  </a:ext>
                </a:extLst>
              </p:cNvPr>
              <p:cNvSpPr txBox="1"/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D09C59-62E1-4F78-AB79-C1E6924F6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28B890-CB59-4E28-9771-363FCEA1700A}"/>
                  </a:ext>
                </a:extLst>
              </p:cNvPr>
              <p:cNvSpPr txBox="1"/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28B890-CB59-4E28-9771-363FCEA17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5CCE9D-C662-4421-8C14-9FF8CC06C364}"/>
                  </a:ext>
                </a:extLst>
              </p:cNvPr>
              <p:cNvSpPr txBox="1"/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5CCE9D-C662-4421-8C14-9FF8CC06C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28B986-5B54-4624-B28A-C2398A21E7FA}"/>
                  </a:ext>
                </a:extLst>
              </p:cNvPr>
              <p:cNvSpPr txBox="1"/>
              <p:nvPr/>
            </p:nvSpPr>
            <p:spPr>
              <a:xfrm>
                <a:off x="7815263" y="2910407"/>
                <a:ext cx="339035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: Checking cellphone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Feeling sleepy 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28B986-5B54-4624-B28A-C2398A21E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263" y="2910407"/>
                <a:ext cx="3390352" cy="954107"/>
              </a:xfrm>
              <a:prstGeom prst="rect">
                <a:avLst/>
              </a:prstGeom>
              <a:blipFill>
                <a:blip r:embed="rId6"/>
                <a:stretch>
                  <a:fillRect t="-5732" r="-2338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31C825A-CD49-428D-BF41-449F5210B52F}"/>
              </a:ext>
            </a:extLst>
          </p:cNvPr>
          <p:cNvCxnSpPr/>
          <p:nvPr/>
        </p:nvCxnSpPr>
        <p:spPr>
          <a:xfrm>
            <a:off x="1509576" y="1829448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352038-FDE7-4D22-B7D6-499563663CC8}"/>
              </a:ext>
            </a:extLst>
          </p:cNvPr>
          <p:cNvCxnSpPr/>
          <p:nvPr/>
        </p:nvCxnSpPr>
        <p:spPr>
          <a:xfrm>
            <a:off x="1275526" y="3541231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A0D3B9-B2EA-4C71-8EA6-CA27437B4DA2}"/>
              </a:ext>
            </a:extLst>
          </p:cNvPr>
          <p:cNvCxnSpPr>
            <a:cxnSpLocks/>
          </p:cNvCxnSpPr>
          <p:nvPr/>
        </p:nvCxnSpPr>
        <p:spPr>
          <a:xfrm flipV="1">
            <a:off x="5041000" y="4753691"/>
            <a:ext cx="424616" cy="445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FED78F-3ABB-473C-804D-4952E4F75C3F}"/>
              </a:ext>
            </a:extLst>
          </p:cNvPr>
          <p:cNvCxnSpPr/>
          <p:nvPr/>
        </p:nvCxnSpPr>
        <p:spPr>
          <a:xfrm>
            <a:off x="4974903" y="1838527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A31EFD9-8310-4C76-95C5-A87700804E41}"/>
              </a:ext>
            </a:extLst>
          </p:cNvPr>
          <p:cNvSpPr txBox="1"/>
          <p:nvPr/>
        </p:nvSpPr>
        <p:spPr>
          <a:xfrm>
            <a:off x="1296635" y="14120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D1515C-D454-4FD0-B1C1-37B5FD4FD162}"/>
              </a:ext>
            </a:extLst>
          </p:cNvPr>
          <p:cNvSpPr txBox="1"/>
          <p:nvPr/>
        </p:nvSpPr>
        <p:spPr>
          <a:xfrm>
            <a:off x="992799" y="30940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DC5E81-6312-45DE-BD1C-258BA13B8989}"/>
              </a:ext>
            </a:extLst>
          </p:cNvPr>
          <p:cNvSpPr txBox="1"/>
          <p:nvPr/>
        </p:nvSpPr>
        <p:spPr>
          <a:xfrm>
            <a:off x="4804824" y="13622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CE3C8F-749D-4C50-B16A-15BE98755266}"/>
              </a:ext>
            </a:extLst>
          </p:cNvPr>
          <p:cNvSpPr txBox="1"/>
          <p:nvPr/>
        </p:nvSpPr>
        <p:spPr>
          <a:xfrm>
            <a:off x="4716748" y="50301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2727650-1640-4E63-B15E-7EDEB7ED0BFC}"/>
              </a:ext>
            </a:extLst>
          </p:cNvPr>
          <p:cNvCxnSpPr>
            <a:cxnSpLocks/>
          </p:cNvCxnSpPr>
          <p:nvPr/>
        </p:nvCxnSpPr>
        <p:spPr>
          <a:xfrm flipH="1">
            <a:off x="3161763" y="2520334"/>
            <a:ext cx="1831410" cy="2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E344B8F-0659-4F11-BE72-4DB02C765708}"/>
              </a:ext>
            </a:extLst>
          </p:cNvPr>
          <p:cNvSpPr txBox="1"/>
          <p:nvPr/>
        </p:nvSpPr>
        <p:spPr>
          <a:xfrm>
            <a:off x="3844847" y="2144729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2397289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42C8E7-59BF-4DD5-8FA9-2A946246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chain: Transition probability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F630C-5EEB-4988-A958-1C57493C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9FD51F-3D56-4E2E-8490-0BEBB4E5BE57}"/>
              </a:ext>
            </a:extLst>
          </p:cNvPr>
          <p:cNvSpPr/>
          <p:nvPr/>
        </p:nvSpPr>
        <p:spPr>
          <a:xfrm>
            <a:off x="1423851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Accelerate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D92079-2283-4462-974B-A8B737A3D0E1}"/>
              </a:ext>
            </a:extLst>
          </p:cNvPr>
          <p:cNvSpPr/>
          <p:nvPr/>
        </p:nvSpPr>
        <p:spPr>
          <a:xfrm>
            <a:off x="4841966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Constant Speed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3832DE-6815-45A6-90BB-A7C93EDED134}"/>
              </a:ext>
            </a:extLst>
          </p:cNvPr>
          <p:cNvSpPr/>
          <p:nvPr/>
        </p:nvSpPr>
        <p:spPr>
          <a:xfrm>
            <a:off x="1423850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Idling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C5D0A6-E983-4CA4-A7F4-6715BB3EE0AD}"/>
              </a:ext>
            </a:extLst>
          </p:cNvPr>
          <p:cNvSpPr/>
          <p:nvPr/>
        </p:nvSpPr>
        <p:spPr>
          <a:xfrm>
            <a:off x="4841966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Brake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077EF8-F676-49EA-823C-4FFF30431D02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396342" y="2786739"/>
            <a:ext cx="1445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7CA7E3-F1A6-41A1-B5DA-8EAC480AAC17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3396342" y="2786739"/>
            <a:ext cx="1734489" cy="1302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E0DC5C-8C63-4DC3-AF7C-F532A4FD02EC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5828212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A7FE6-E4FD-4154-B004-884F33079D2E}"/>
              </a:ext>
            </a:extLst>
          </p:cNvPr>
          <p:cNvCxnSpPr>
            <a:cxnSpLocks/>
          </p:cNvCxnSpPr>
          <p:nvPr/>
        </p:nvCxnSpPr>
        <p:spPr>
          <a:xfrm flipV="1">
            <a:off x="6096000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50B186-E56E-4756-8522-14B9BA690800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flipH="1">
            <a:off x="3396341" y="4364276"/>
            <a:ext cx="1445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3549E-0666-4F97-BEAA-EAF06233FB81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2410096" y="3176153"/>
            <a:ext cx="1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1DCF9A9-4965-4035-B8A9-557BEF716859}"/>
              </a:ext>
            </a:extLst>
          </p:cNvPr>
          <p:cNvSpPr/>
          <p:nvPr/>
        </p:nvSpPr>
        <p:spPr>
          <a:xfrm>
            <a:off x="6643007" y="2227824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3636093-DF70-4BEF-BB64-4D92BE17D746}"/>
              </a:ext>
            </a:extLst>
          </p:cNvPr>
          <p:cNvSpPr/>
          <p:nvPr/>
        </p:nvSpPr>
        <p:spPr>
          <a:xfrm rot="5619972">
            <a:off x="6602190" y="4385003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A1A97A-65EA-464E-B1E8-D1669CAC9F9F}"/>
              </a:ext>
            </a:extLst>
          </p:cNvPr>
          <p:cNvSpPr/>
          <p:nvPr/>
        </p:nvSpPr>
        <p:spPr>
          <a:xfrm rot="7308126">
            <a:off x="2131419" y="4682439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82D9C51-0413-492C-82D5-805D60BD9BBA}"/>
              </a:ext>
            </a:extLst>
          </p:cNvPr>
          <p:cNvSpPr/>
          <p:nvPr/>
        </p:nvSpPr>
        <p:spPr>
          <a:xfrm rot="18334946">
            <a:off x="2123951" y="1883845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47E650-4010-45A4-A0AD-A93E24474390}"/>
              </a:ext>
            </a:extLst>
          </p:cNvPr>
          <p:cNvCxnSpPr>
            <a:cxnSpLocks/>
          </p:cNvCxnSpPr>
          <p:nvPr/>
        </p:nvCxnSpPr>
        <p:spPr>
          <a:xfrm flipH="1" flipV="1">
            <a:off x="3243264" y="2971800"/>
            <a:ext cx="1651703" cy="1259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1DC679-21BA-45EF-90F4-ECEEE4B49A65}"/>
              </a:ext>
            </a:extLst>
          </p:cNvPr>
          <p:cNvSpPr txBox="1"/>
          <p:nvPr/>
        </p:nvSpPr>
        <p:spPr>
          <a:xfrm>
            <a:off x="3974805" y="270539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7521A-D5A3-4A34-86FF-9BD5BBEC76CE}"/>
              </a:ext>
            </a:extLst>
          </p:cNvPr>
          <p:cNvSpPr txBox="1"/>
          <p:nvPr/>
        </p:nvSpPr>
        <p:spPr>
          <a:xfrm>
            <a:off x="4270729" y="308765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6E1F4-EF25-446C-BDA8-1F9A0FAA569C}"/>
              </a:ext>
            </a:extLst>
          </p:cNvPr>
          <p:cNvSpPr txBox="1"/>
          <p:nvPr/>
        </p:nvSpPr>
        <p:spPr>
          <a:xfrm>
            <a:off x="2123798" y="1598616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1CC53-1444-4056-A1C4-3750158963DB}"/>
              </a:ext>
            </a:extLst>
          </p:cNvPr>
          <p:cNvSpPr txBox="1"/>
          <p:nvPr/>
        </p:nvSpPr>
        <p:spPr>
          <a:xfrm>
            <a:off x="2116331" y="512350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E2C0B-7138-4ECB-B9FF-679ED5094328}"/>
              </a:ext>
            </a:extLst>
          </p:cNvPr>
          <p:cNvSpPr txBox="1"/>
          <p:nvPr/>
        </p:nvSpPr>
        <p:spPr>
          <a:xfrm>
            <a:off x="2431173" y="3318490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5DACF2-8BAB-4006-A717-E271B29BF3D7}"/>
              </a:ext>
            </a:extLst>
          </p:cNvPr>
          <p:cNvSpPr txBox="1"/>
          <p:nvPr/>
        </p:nvSpPr>
        <p:spPr>
          <a:xfrm>
            <a:off x="6935426" y="4689595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C947B-9657-4D8C-A2C3-ECB256656B36}"/>
              </a:ext>
            </a:extLst>
          </p:cNvPr>
          <p:cNvSpPr txBox="1"/>
          <p:nvPr/>
        </p:nvSpPr>
        <p:spPr>
          <a:xfrm>
            <a:off x="6086373" y="3387461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E98E55-1B76-4F51-9956-BBF957D3867C}"/>
              </a:ext>
            </a:extLst>
          </p:cNvPr>
          <p:cNvSpPr txBox="1"/>
          <p:nvPr/>
        </p:nvSpPr>
        <p:spPr>
          <a:xfrm>
            <a:off x="3793474" y="434429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9C6F22-217A-4917-90EE-C87900C43F81}"/>
              </a:ext>
            </a:extLst>
          </p:cNvPr>
          <p:cNvSpPr txBox="1"/>
          <p:nvPr/>
        </p:nvSpPr>
        <p:spPr>
          <a:xfrm>
            <a:off x="3437408" y="346770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DFAF6-6D08-4C84-8A29-4573AA04B29F}"/>
              </a:ext>
            </a:extLst>
          </p:cNvPr>
          <p:cNvSpPr txBox="1"/>
          <p:nvPr/>
        </p:nvSpPr>
        <p:spPr>
          <a:xfrm>
            <a:off x="5265247" y="322044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6D5887-1C8B-4F78-B88D-54E5CD24FBE1}"/>
              </a:ext>
            </a:extLst>
          </p:cNvPr>
          <p:cNvSpPr txBox="1"/>
          <p:nvPr/>
        </p:nvSpPr>
        <p:spPr>
          <a:xfrm>
            <a:off x="7090917" y="218613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4330AC-74F3-4EAF-BE23-0B36650708FB}"/>
                  </a:ext>
                </a:extLst>
              </p:cNvPr>
              <p:cNvSpPr txBox="1"/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4330AC-74F3-4EAF-BE23-0B3665070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46D544-88D3-442F-B4EB-17A41D7A4A95}"/>
                  </a:ext>
                </a:extLst>
              </p:cNvPr>
              <p:cNvSpPr txBox="1"/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46D544-88D3-442F-B4EB-17A41D7A4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E9A42-A8CF-49A1-B8BC-4BEF0E72D48E}"/>
                  </a:ext>
                </a:extLst>
              </p:cNvPr>
              <p:cNvSpPr txBox="1"/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E9A42-A8CF-49A1-B8BC-4BEF0E72D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E2338F-B981-4909-90E1-0081D8A87242}"/>
                  </a:ext>
                </a:extLst>
              </p:cNvPr>
              <p:cNvSpPr txBox="1"/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E2338F-B981-4909-90E1-0081D8A87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BA1704-CBB2-4135-B268-F722B89C2134}"/>
              </a:ext>
            </a:extLst>
          </p:cNvPr>
          <p:cNvCxnSpPr/>
          <p:nvPr/>
        </p:nvCxnSpPr>
        <p:spPr>
          <a:xfrm>
            <a:off x="1509576" y="1829448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F4905E-BE6B-4511-B1AC-62B211BD11C3}"/>
              </a:ext>
            </a:extLst>
          </p:cNvPr>
          <p:cNvCxnSpPr/>
          <p:nvPr/>
        </p:nvCxnSpPr>
        <p:spPr>
          <a:xfrm>
            <a:off x="1275526" y="3541231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160B4F-7522-4EB5-B6AD-48011385B9BC}"/>
              </a:ext>
            </a:extLst>
          </p:cNvPr>
          <p:cNvCxnSpPr>
            <a:cxnSpLocks/>
          </p:cNvCxnSpPr>
          <p:nvPr/>
        </p:nvCxnSpPr>
        <p:spPr>
          <a:xfrm flipV="1">
            <a:off x="5041000" y="4753691"/>
            <a:ext cx="424616" cy="445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7F0A40-F3E6-495A-AE02-007E019EFA4C}"/>
              </a:ext>
            </a:extLst>
          </p:cNvPr>
          <p:cNvCxnSpPr/>
          <p:nvPr/>
        </p:nvCxnSpPr>
        <p:spPr>
          <a:xfrm>
            <a:off x="4974903" y="1838527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C8EF105-C01E-4536-8A2D-A3CAAC946353}"/>
              </a:ext>
            </a:extLst>
          </p:cNvPr>
          <p:cNvSpPr txBox="1"/>
          <p:nvPr/>
        </p:nvSpPr>
        <p:spPr>
          <a:xfrm>
            <a:off x="992799" y="30940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960EC2-2EC1-4626-BE8B-53E25063320A}"/>
              </a:ext>
            </a:extLst>
          </p:cNvPr>
          <p:cNvSpPr txBox="1"/>
          <p:nvPr/>
        </p:nvSpPr>
        <p:spPr>
          <a:xfrm>
            <a:off x="4716748" y="50301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970DE2A-9E5C-402B-92D6-81A080BE5106}"/>
              </a:ext>
            </a:extLst>
          </p:cNvPr>
          <p:cNvCxnSpPr>
            <a:cxnSpLocks/>
          </p:cNvCxnSpPr>
          <p:nvPr/>
        </p:nvCxnSpPr>
        <p:spPr>
          <a:xfrm flipH="1">
            <a:off x="3161763" y="2520334"/>
            <a:ext cx="1831410" cy="2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2070B1E-A74D-4394-B22C-63D2C5BA705E}"/>
              </a:ext>
            </a:extLst>
          </p:cNvPr>
          <p:cNvSpPr txBox="1"/>
          <p:nvPr/>
        </p:nvSpPr>
        <p:spPr>
          <a:xfrm>
            <a:off x="3844847" y="2144729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3D2056-033E-4C37-ADAF-3B52F3684892}"/>
                  </a:ext>
                </a:extLst>
              </p:cNvPr>
              <p:cNvSpPr txBox="1"/>
              <p:nvPr/>
            </p:nvSpPr>
            <p:spPr>
              <a:xfrm>
                <a:off x="8208168" y="2144729"/>
                <a:ext cx="3400419" cy="1854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        A         C          B          I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  <m:brk m:alnAt="7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3D2056-033E-4C37-ADAF-3B52F3684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168" y="2144729"/>
                <a:ext cx="3400419" cy="1854867"/>
              </a:xfrm>
              <a:prstGeom prst="rect">
                <a:avLst/>
              </a:prstGeom>
              <a:blipFill>
                <a:blip r:embed="rId6"/>
                <a:stretch>
                  <a:fillRect t="-2632"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3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31A1EE-EB03-4FB3-86D3-5169A3EB2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00199"/>
                <a:ext cx="11699087" cy="40838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Transition probabilities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Chapman-Kolmogorov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probability of going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′′,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Corollary: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31A1EE-EB03-4FB3-86D3-5169A3EB2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00199"/>
                <a:ext cx="11699087" cy="4083841"/>
              </a:xfrm>
              <a:blipFill>
                <a:blip r:embed="rId3"/>
                <a:stretch>
                  <a:fillRect l="-625" t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880BE8-AD6C-4848-91CE-6C734E7A59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Probability of moving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880BE8-AD6C-4848-91CE-6C734E7A5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232" t="-19685" b="-32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0F049-B28C-4F43-8702-8C3ED4AE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649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B86A-ABFE-4CE4-8B77-D515B7C7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4444" r="-323297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204444" r="-137258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204444" b="-19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8605" r="-32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418605" r="-137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418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00" y="4835047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PCTL formulas are state formulas, path formulas used to define how to build a PCTL formula</a:t>
            </a:r>
          </a:p>
        </p:txBody>
      </p:sp>
    </p:spTree>
    <p:extLst>
      <p:ext uri="{BB962C8B-B14F-4D97-AF65-F5344CB8AC3E}">
        <p14:creationId xmlns:p14="http://schemas.microsoft.com/office/powerpoint/2010/main" val="1021461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𝑔𝑜𝑎𝑙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probability of eventually reaching the goal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[0,0.1]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=6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possible outcomes for a fair die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≥0.9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𝑜𝑏𝑠𝑡𝑎𝑐𝑙𝑒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≤5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d>
                          <m:d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reaching a state from where you </a:t>
                </a:r>
                <a:r>
                  <a:rPr lang="en-US" i="1" dirty="0"/>
                  <a:t>almost surely </a:t>
                </a:r>
                <a:r>
                  <a:rPr lang="en-US" dirty="0"/>
                  <a:t>are safe within 5 steps where you do not run into an obstacle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Almost surely safe does not mean always safe!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F18D-1DD0-4FE0-82B1-42D7524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D3ADB-5BE3-4651-9FB6-7F2F99B4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F42678-4362-4DFD-96C6-2380809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PCTL formulas</a:t>
            </a:r>
          </a:p>
        </p:txBody>
      </p:sp>
    </p:spTree>
    <p:extLst>
      <p:ext uri="{BB962C8B-B14F-4D97-AF65-F5344CB8AC3E}">
        <p14:creationId xmlns:p14="http://schemas.microsoft.com/office/powerpoint/2010/main" val="42508116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PCTL, you cannot negate path formulas (syntax does not allow)!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But,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the negation of the comparison operator. 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→  &gt;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b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06733-9DF4-4868-ABBD-CAEEB9B3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F58E-78C2-4ED0-914B-D5A077C1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B59AAB-BC5F-4111-8777-A9F8C9EE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equivalences</a:t>
            </a:r>
          </a:p>
        </p:txBody>
      </p:sp>
    </p:spTree>
    <p:extLst>
      <p:ext uri="{BB962C8B-B14F-4D97-AF65-F5344CB8AC3E}">
        <p14:creationId xmlns:p14="http://schemas.microsoft.com/office/powerpoint/2010/main" val="539449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1494-5018-411E-96DE-076887F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</p:spTree>
    <p:extLst>
      <p:ext uri="{BB962C8B-B14F-4D97-AF65-F5344CB8AC3E}">
        <p14:creationId xmlns:p14="http://schemas.microsoft.com/office/powerpoint/2010/main" val="1119176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Quantitative model checking: </a:t>
                </a:r>
              </a:p>
              <a:p>
                <a:pPr lvl="1"/>
                <a:r>
                  <a:rPr lang="en-US" dirty="0"/>
                  <a:t>Compute the probability bound of the outer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operator which holds over given LTS</a:t>
                </a:r>
              </a:p>
              <a:p>
                <a:endParaRPr lang="en-US" dirty="0"/>
              </a:p>
              <a:p>
                <a:r>
                  <a:rPr lang="en-US" dirty="0"/>
                  <a:t>Qualitative model checking</a:t>
                </a:r>
              </a:p>
              <a:p>
                <a:pPr lvl="1"/>
                <a:r>
                  <a:rPr lang="en-US" dirty="0"/>
                  <a:t>Check if under the given bound the formula is true</a:t>
                </a:r>
              </a:p>
              <a:p>
                <a:pPr lvl="1"/>
                <a:r>
                  <a:rPr lang="en-US" dirty="0"/>
                  <a:t>Can be solved by qualitative model checking: compute the actual bound and then compare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3D5E7-534D-4F9C-9C07-8FF6E59D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7B97-B51B-48C9-97CF-54557048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E912F0-2C31-4E16-B360-61FF471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vs. Qualitative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1096672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Overall algorithm similar to model checking CTL</a:t>
                </a:r>
              </a:p>
              <a:p>
                <a:r>
                  <a:rPr lang="en-US" dirty="0"/>
                  <a:t>Given DTMC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= Probability of satisfying the path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in the set of paths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 r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DA6A3-C253-464E-8093-49F94325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91440-32F7-4620-A429-5086E771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563038-B364-428B-B495-E594F658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PCTL</a:t>
            </a:r>
          </a:p>
        </p:txBody>
      </p:sp>
    </p:spTree>
    <p:extLst>
      <p:ext uri="{BB962C8B-B14F-4D97-AF65-F5344CB8AC3E}">
        <p14:creationId xmlns:p14="http://schemas.microsoft.com/office/powerpoint/2010/main" val="662613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we need to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𝑆𝑎𝑡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bar>
                      <m:barPr>
                        <m:pos m:val="bot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r>
                  <a:rPr lang="en-US" dirty="0"/>
                  <a:t> represent the state-indexed vector,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bot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ba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bar>
                          <m:barPr>
                            <m:pos m:val="bot"/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</m:ba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52A-7B44-44BB-B7BE-F8552E3F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6933-EB0B-4C32-B073-57B83DFA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59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</p:spPr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𝐔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pos m:val="bot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E74EF-7537-4663-8C65-C3539C90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C7F97-BB9A-4705-B182-0209A59F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53" t="-14844" b="-22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634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𝐔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this is a system of linear equations,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dirty="0"/>
                  <a:t> is a variable</a:t>
                </a:r>
              </a:p>
              <a:p>
                <a:endParaRPr lang="en-US" dirty="0"/>
              </a:p>
              <a:p>
                <a:r>
                  <a:rPr lang="en-US" dirty="0"/>
                  <a:t>We can solve this using standard methods to compute the probability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  <a:blipFill>
                <a:blip r:embed="rId2"/>
                <a:stretch>
                  <a:fillRect l="-417" t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0946E-368E-482D-8666-4FFF9C68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3B97-84A1-4A87-832B-E4DB2D8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63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ED2A7A-8AEB-7F5C-04D7-D4380BF7F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202179"/>
                <a:ext cx="11699087" cy="3849439"/>
              </a:xfrm>
            </p:spPr>
            <p:txBody>
              <a:bodyPr/>
              <a:lstStyle/>
              <a:p>
                <a:r>
                  <a:rPr lang="en-US" dirty="0"/>
                  <a:t>Qualitative Verification: Given Markov Chain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a PCTL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some given constant,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Quantitative Verification: Given Markov Chain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a PCTL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unknown,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ED2A7A-8AEB-7F5C-04D7-D4380BF7F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202179"/>
                <a:ext cx="11699087" cy="3849439"/>
              </a:xfrm>
              <a:blipFill>
                <a:blip r:embed="rId2"/>
                <a:stretch>
                  <a:fillRect l="-625" t="-2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A4B3C27-6B7A-978C-7AD0-0774C8A4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problems in Probabilistic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F5845-426C-F148-35E8-F24B5056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89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21B8CD-F864-4CAA-B414-E5712DB9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E04FC-52DF-430E-8151-7B8C2D06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9B65B9A-5692-4A2B-8F1E-BF5F10116F15}"/>
              </a:ext>
            </a:extLst>
          </p:cNvPr>
          <p:cNvGrpSpPr/>
          <p:nvPr/>
        </p:nvGrpSpPr>
        <p:grpSpPr>
          <a:xfrm>
            <a:off x="5152929" y="1810461"/>
            <a:ext cx="7039071" cy="3986553"/>
            <a:chOff x="679386" y="1598616"/>
            <a:chExt cx="6984124" cy="39865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77E69E-65B3-42B3-9EE2-42964E0C0116}"/>
                </a:ext>
              </a:extLst>
            </p:cNvPr>
            <p:cNvSpPr txBox="1"/>
            <p:nvPr/>
          </p:nvSpPr>
          <p:spPr>
            <a:xfrm>
              <a:off x="2116331" y="512350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F777FE-6948-4FD1-B7C6-A1FAD63D27A2}"/>
                </a:ext>
              </a:extLst>
            </p:cNvPr>
            <p:cNvSpPr txBox="1"/>
            <p:nvPr/>
          </p:nvSpPr>
          <p:spPr>
            <a:xfrm>
              <a:off x="4716748" y="503019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C3B920-0AD0-49C6-B82D-FE468D091F27}"/>
                </a:ext>
              </a:extLst>
            </p:cNvPr>
            <p:cNvSpPr/>
            <p:nvPr/>
          </p:nvSpPr>
          <p:spPr>
            <a:xfrm>
              <a:off x="1423851" y="2397325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Accelerate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CC0F15-28FD-44EA-96D5-D6855DA34831}"/>
                </a:ext>
              </a:extLst>
            </p:cNvPr>
            <p:cNvSpPr/>
            <p:nvPr/>
          </p:nvSpPr>
          <p:spPr>
            <a:xfrm>
              <a:off x="4841966" y="2397325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Constant Speed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9DEC02-2EC7-474C-B06E-9CBD34AE09AD}"/>
                </a:ext>
              </a:extLst>
            </p:cNvPr>
            <p:cNvSpPr/>
            <p:nvPr/>
          </p:nvSpPr>
          <p:spPr>
            <a:xfrm>
              <a:off x="1423850" y="3974862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Idling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8EBBB7-975D-4DF7-97FE-BC10FF1F5635}"/>
                </a:ext>
              </a:extLst>
            </p:cNvPr>
            <p:cNvSpPr/>
            <p:nvPr/>
          </p:nvSpPr>
          <p:spPr>
            <a:xfrm>
              <a:off x="4841966" y="3974862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Brake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7450CD-46D3-40D2-8F59-E170809EB76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3396342" y="2786739"/>
              <a:ext cx="14456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FF12551-2DD1-404B-AC4A-CAA6BA2EE35D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>
              <a:off x="3396342" y="2786739"/>
              <a:ext cx="1734489" cy="13021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D15FEE-B0EE-407D-88C7-EDD48EA141B2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5828212" y="3176153"/>
              <a:ext cx="0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D6722F-3917-4B96-A03A-3B669322FF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176153"/>
              <a:ext cx="0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EE049D-3122-4619-8683-AD5B9464B923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3396341" y="4364276"/>
              <a:ext cx="14456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E69F1B0-2E21-4101-A31A-45001D0819AC}"/>
                </a:ext>
              </a:extLst>
            </p:cNvPr>
            <p:cNvCxnSpPr>
              <a:cxnSpLocks/>
              <a:stCxn id="11" idx="0"/>
              <a:endCxn id="9" idx="4"/>
            </p:cNvCxnSpPr>
            <p:nvPr/>
          </p:nvCxnSpPr>
          <p:spPr>
            <a:xfrm flipV="1">
              <a:off x="2410096" y="3176153"/>
              <a:ext cx="1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2DD06E-EB05-44E0-B0E2-7CEC2808ADEC}"/>
                </a:ext>
              </a:extLst>
            </p:cNvPr>
            <p:cNvSpPr/>
            <p:nvPr/>
          </p:nvSpPr>
          <p:spPr>
            <a:xfrm>
              <a:off x="6643007" y="2227824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2E67106-E5E3-4A4C-862F-EA7A35475B2C}"/>
                </a:ext>
              </a:extLst>
            </p:cNvPr>
            <p:cNvSpPr/>
            <p:nvPr/>
          </p:nvSpPr>
          <p:spPr>
            <a:xfrm rot="5619972">
              <a:off x="6602190" y="4385003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FF1ABB-7FDC-4000-8BC1-1DFE601AFCC2}"/>
                </a:ext>
              </a:extLst>
            </p:cNvPr>
            <p:cNvSpPr/>
            <p:nvPr/>
          </p:nvSpPr>
          <p:spPr>
            <a:xfrm rot="7308126">
              <a:off x="2131419" y="4682439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FF8CC2B-2BA8-4EC9-89C2-83523FFB9642}"/>
                </a:ext>
              </a:extLst>
            </p:cNvPr>
            <p:cNvSpPr/>
            <p:nvPr/>
          </p:nvSpPr>
          <p:spPr>
            <a:xfrm rot="18334946">
              <a:off x="2123951" y="1883845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2648324-EF24-4A56-AFCB-DDC211E41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3264" y="2971800"/>
              <a:ext cx="1651703" cy="12596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AFA131-57F1-4CB5-ADC0-4EF573D950AD}"/>
                </a:ext>
              </a:extLst>
            </p:cNvPr>
            <p:cNvSpPr txBox="1"/>
            <p:nvPr/>
          </p:nvSpPr>
          <p:spPr>
            <a:xfrm>
              <a:off x="3974805" y="270539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3DCFB6-4BC4-4F57-98B3-FCE6EAB3309E}"/>
                </a:ext>
              </a:extLst>
            </p:cNvPr>
            <p:cNvSpPr txBox="1"/>
            <p:nvPr/>
          </p:nvSpPr>
          <p:spPr>
            <a:xfrm>
              <a:off x="4270729" y="3087658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F44F12-9168-40C4-B3C5-DF6E3A2B4848}"/>
                </a:ext>
              </a:extLst>
            </p:cNvPr>
            <p:cNvSpPr txBox="1"/>
            <p:nvPr/>
          </p:nvSpPr>
          <p:spPr>
            <a:xfrm>
              <a:off x="2123798" y="1598616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7A4D35-5872-4388-B832-3A98A73F1C7E}"/>
                </a:ext>
              </a:extLst>
            </p:cNvPr>
            <p:cNvSpPr txBox="1"/>
            <p:nvPr/>
          </p:nvSpPr>
          <p:spPr>
            <a:xfrm>
              <a:off x="2431173" y="3318490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545B69-7D0A-4A72-B4A6-9C6DD086FB8C}"/>
                </a:ext>
              </a:extLst>
            </p:cNvPr>
            <p:cNvSpPr txBox="1"/>
            <p:nvPr/>
          </p:nvSpPr>
          <p:spPr>
            <a:xfrm>
              <a:off x="6935426" y="468959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0.05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17BE69-5DC7-4FBD-BE4D-B931B6F16F89}"/>
                </a:ext>
              </a:extLst>
            </p:cNvPr>
            <p:cNvSpPr txBox="1"/>
            <p:nvPr/>
          </p:nvSpPr>
          <p:spPr>
            <a:xfrm>
              <a:off x="6086373" y="3387461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0.05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C03C62-0B26-4424-B4D3-853D184FB940}"/>
                </a:ext>
              </a:extLst>
            </p:cNvPr>
            <p:cNvSpPr txBox="1"/>
            <p:nvPr/>
          </p:nvSpPr>
          <p:spPr>
            <a:xfrm>
              <a:off x="3793474" y="4344295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66609C-02FA-40A6-A8F7-5F860863CF50}"/>
                </a:ext>
              </a:extLst>
            </p:cNvPr>
            <p:cNvSpPr txBox="1"/>
            <p:nvPr/>
          </p:nvSpPr>
          <p:spPr>
            <a:xfrm>
              <a:off x="3437408" y="3467705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58E97A-6852-4B96-92B2-0AFF2CE0C7A4}"/>
                </a:ext>
              </a:extLst>
            </p:cNvPr>
            <p:cNvSpPr txBox="1"/>
            <p:nvPr/>
          </p:nvSpPr>
          <p:spPr>
            <a:xfrm>
              <a:off x="5265247" y="3220442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339334-843D-43D5-9348-7D63652A300F}"/>
                </a:ext>
              </a:extLst>
            </p:cNvPr>
            <p:cNvSpPr txBox="1"/>
            <p:nvPr/>
          </p:nvSpPr>
          <p:spPr>
            <a:xfrm>
              <a:off x="7090917" y="2186138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DE88A5-CE1C-40A3-B25C-6542D69B52E3}"/>
                    </a:ext>
                  </a:extLst>
                </p:cNvPr>
                <p:cNvSpPr txBox="1"/>
                <p:nvPr/>
              </p:nvSpPr>
              <p:spPr>
                <a:xfrm>
                  <a:off x="880297" y="2093784"/>
                  <a:ext cx="71343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DE88A5-CE1C-40A3-B25C-6542D69B5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97" y="2093784"/>
                  <a:ext cx="713430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F90E5AC-E909-4D43-A802-49CFAFB53AB4}"/>
                    </a:ext>
                  </a:extLst>
                </p:cNvPr>
                <p:cNvSpPr txBox="1"/>
                <p:nvPr/>
              </p:nvSpPr>
              <p:spPr>
                <a:xfrm>
                  <a:off x="679386" y="4113462"/>
                  <a:ext cx="68989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F90E5AC-E909-4D43-A802-49CFAFB53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86" y="4113462"/>
                  <a:ext cx="68989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61C382-3455-4182-8BFF-4701127C3337}"/>
                    </a:ext>
                  </a:extLst>
                </p:cNvPr>
                <p:cNvSpPr txBox="1"/>
                <p:nvPr/>
              </p:nvSpPr>
              <p:spPr>
                <a:xfrm>
                  <a:off x="5548994" y="1891371"/>
                  <a:ext cx="7171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61C382-3455-4182-8BFF-4701127C3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8994" y="1891371"/>
                  <a:ext cx="71711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081E813-C2AC-4DC8-AF94-F2A4F27C46EE}"/>
                    </a:ext>
                  </a:extLst>
                </p:cNvPr>
                <p:cNvSpPr txBox="1"/>
                <p:nvPr/>
              </p:nvSpPr>
              <p:spPr>
                <a:xfrm>
                  <a:off x="5590558" y="4729282"/>
                  <a:ext cx="9173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081E813-C2AC-4DC8-AF94-F2A4F27C4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558" y="4729282"/>
                  <a:ext cx="917331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D3B1AD6-7E05-4852-99B1-62676C1BFDBD}"/>
                </a:ext>
              </a:extLst>
            </p:cNvPr>
            <p:cNvCxnSpPr/>
            <p:nvPr/>
          </p:nvCxnSpPr>
          <p:spPr>
            <a:xfrm>
              <a:off x="1509576" y="1829448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4BD2374-6A54-4D86-B019-33EB4451E53C}"/>
                </a:ext>
              </a:extLst>
            </p:cNvPr>
            <p:cNvCxnSpPr/>
            <p:nvPr/>
          </p:nvCxnSpPr>
          <p:spPr>
            <a:xfrm>
              <a:off x="1275526" y="3541231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0436C96-FC54-48BF-985B-2525DBF1E7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1000" y="4753691"/>
              <a:ext cx="424616" cy="4459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364514E-A4B7-4DA3-A7D3-B98DBB41B63B}"/>
                </a:ext>
              </a:extLst>
            </p:cNvPr>
            <p:cNvCxnSpPr/>
            <p:nvPr/>
          </p:nvCxnSpPr>
          <p:spPr>
            <a:xfrm>
              <a:off x="4974903" y="1838527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57EAA3-ADC3-4872-AB21-399987BD7E62}"/>
                </a:ext>
              </a:extLst>
            </p:cNvPr>
            <p:cNvSpPr txBox="1"/>
            <p:nvPr/>
          </p:nvSpPr>
          <p:spPr>
            <a:xfrm>
              <a:off x="992799" y="309403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C0C196C-5941-4542-A118-FE4580B7C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1763" y="2520334"/>
              <a:ext cx="1831410" cy="264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D80C8D-0814-4C92-BD8B-A23122558702}"/>
                </a:ext>
              </a:extLst>
            </p:cNvPr>
            <p:cNvSpPr txBox="1"/>
            <p:nvPr/>
          </p:nvSpPr>
          <p:spPr>
            <a:xfrm>
              <a:off x="3844847" y="2144729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7AFB2237-784B-45AE-ADCF-1B33D4891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043" y="1209202"/>
                <a:ext cx="5042426" cy="43847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Qualitative: Does this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≥0.5</m:t>
                        </m:r>
                      </m:sub>
                    </m:sSub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hold in state Brake?</a:t>
                </a:r>
              </a:p>
              <a:p>
                <a:r>
                  <a:rPr lang="en-US" sz="2400" dirty="0"/>
                  <a:t>Yes</a:t>
                </a:r>
              </a:p>
              <a:p>
                <a:r>
                  <a:rPr lang="en-US" sz="2400" dirty="0"/>
                  <a:t>Quantitative: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Compute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, pick smallest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    = 0.5 + 0.2 + 0.3*0.5 + 0.3*0.2</a:t>
                </a:r>
              </a:p>
              <a:p>
                <a:pPr marL="411480" lvl="1" indent="0">
                  <a:buNone/>
                </a:pPr>
                <a:r>
                  <a:rPr lang="en-US" sz="2400" dirty="0"/>
                  <a:t>    = 0.91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=0.91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I.e. with probability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 0.91, driver checks cell phone within 2 steps</a:t>
                </a: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7AFB2237-784B-45AE-ADCF-1B33D4891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3" y="1209202"/>
                <a:ext cx="5042426" cy="4384773"/>
              </a:xfrm>
              <a:prstGeom prst="rect">
                <a:avLst/>
              </a:prstGeom>
              <a:blipFill>
                <a:blip r:embed="rId6"/>
                <a:stretch>
                  <a:fillRect l="-846" t="-2778" r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194338D4-9312-4DC8-8BB8-3DBFDC1FE954}"/>
              </a:ext>
            </a:extLst>
          </p:cNvPr>
          <p:cNvSpPr txBox="1"/>
          <p:nvPr/>
        </p:nvSpPr>
        <p:spPr>
          <a:xfrm>
            <a:off x="5684616" y="1832327"/>
            <a:ext cx="342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E003D9-1B25-49C7-85DF-51231A042718}"/>
              </a:ext>
            </a:extLst>
          </p:cNvPr>
          <p:cNvSpPr txBox="1"/>
          <p:nvPr/>
        </p:nvSpPr>
        <p:spPr>
          <a:xfrm>
            <a:off x="9162245" y="1831922"/>
            <a:ext cx="342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07C388-E3FA-49B4-BB9D-2937ED49405A}"/>
                  </a:ext>
                </a:extLst>
              </p:cNvPr>
              <p:cNvSpPr txBox="1"/>
              <p:nvPr/>
            </p:nvSpPr>
            <p:spPr>
              <a:xfrm>
                <a:off x="6779099" y="653316"/>
                <a:ext cx="336489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: Checking cellphone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Feeling sleepy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07C388-E3FA-49B4-BB9D-2937ED49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099" y="653316"/>
                <a:ext cx="3364896" cy="954107"/>
              </a:xfrm>
              <a:prstGeom prst="rect">
                <a:avLst/>
              </a:prstGeom>
              <a:blipFill>
                <a:blip r:embed="rId7"/>
                <a:stretch>
                  <a:fillRect t="-5732" r="-2355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43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1494-5018-411E-96DE-076887F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</p:spTree>
    <p:extLst>
      <p:ext uri="{BB962C8B-B14F-4D97-AF65-F5344CB8AC3E}">
        <p14:creationId xmlns:p14="http://schemas.microsoft.com/office/powerpoint/2010/main" val="34629982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159515-6111-4061-ADE0-B966AB079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73670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Toss a coin repeatedly until “tails” is thrown</a:t>
                </a:r>
              </a:p>
              <a:p>
                <a:r>
                  <a:rPr lang="en-US" dirty="0"/>
                  <a:t>Is “tails” eventually thrown along all paths?</a:t>
                </a:r>
              </a:p>
              <a:p>
                <a:pPr lvl="1"/>
                <a:r>
                  <a:rPr lang="en-US" dirty="0"/>
                  <a:t>CTL: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𝐀𝐅</m:t>
                    </m:r>
                  </m:oMath>
                </a14:m>
                <a:r>
                  <a:rPr lang="en-US" dirty="0"/>
                  <a:t> tails</a:t>
                </a:r>
              </a:p>
              <a:p>
                <a:pPr lvl="1"/>
                <a:r>
                  <a:rPr lang="en-US" dirty="0"/>
                  <a:t>Result: false</a:t>
                </a:r>
              </a:p>
              <a:p>
                <a:pPr lvl="1"/>
                <a:r>
                  <a:rPr lang="en-US" dirty="0"/>
                  <a:t>Why?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the probability of eventually thrown “tails” equal to 1?</a:t>
                </a:r>
              </a:p>
              <a:p>
                <a:pPr lvl="1"/>
                <a:r>
                  <a:rPr lang="en-US" dirty="0"/>
                  <a:t>PCTL: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𝑡𝑎𝑖𝑙𝑠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Result</a:t>
                </a:r>
                <a:r>
                  <a:rPr lang="en-US" i="1" dirty="0"/>
                  <a:t>: true</a:t>
                </a:r>
              </a:p>
              <a:p>
                <a:pPr lvl="1"/>
                <a:r>
                  <a:rPr lang="en-US" dirty="0"/>
                  <a:t>Probability of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/>
                  <a:t> is zero!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159515-6111-4061-ADE0-B966AB079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7367004" cy="4351338"/>
              </a:xfrm>
              <a:blipFill>
                <a:blip r:embed="rId2"/>
                <a:stretch>
                  <a:fillRect l="-662" t="-1964" r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7295EB-4CBB-4681-AC16-2CBE106F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vs. Nondeterministic verification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31C10-22F5-4F81-BD09-C6A5D73F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64310DD-E1BA-4035-B9A0-F5AADBA79D45}"/>
                  </a:ext>
                </a:extLst>
              </p:cNvPr>
              <p:cNvSpPr/>
              <p:nvPr/>
            </p:nvSpPr>
            <p:spPr>
              <a:xfrm>
                <a:off x="8341609" y="2708809"/>
                <a:ext cx="968783" cy="890124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64310DD-E1BA-4035-B9A0-F5AADBA79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09" y="2708809"/>
                <a:ext cx="968783" cy="89012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D73396C-1AC5-4663-ABC7-CDDF7FCFB681}"/>
                  </a:ext>
                </a:extLst>
              </p:cNvPr>
              <p:cNvSpPr/>
              <p:nvPr/>
            </p:nvSpPr>
            <p:spPr>
              <a:xfrm>
                <a:off x="9867463" y="1533231"/>
                <a:ext cx="863586" cy="778828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D73396C-1AC5-4663-ABC7-CDDF7FCFB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463" y="1533231"/>
                <a:ext cx="863586" cy="7788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5D654F1-3432-403E-A9C9-BBADB2F7A0CF}"/>
                  </a:ext>
                </a:extLst>
              </p:cNvPr>
              <p:cNvSpPr/>
              <p:nvPr/>
            </p:nvSpPr>
            <p:spPr>
              <a:xfrm>
                <a:off x="9904140" y="3904882"/>
                <a:ext cx="968783" cy="890124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5D654F1-3432-403E-A9C9-BBADB2F7A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140" y="3904882"/>
                <a:ext cx="968783" cy="89012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2CF0C6-A500-491F-92A0-C26D6CDBACE0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9168517" y="2198002"/>
            <a:ext cx="825415" cy="641163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222A96-3601-4180-9B47-71ABD3864AC8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168517" y="3468577"/>
            <a:ext cx="877498" cy="566661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EA94DA-7450-4CCF-9F93-45E492A9E0F3}"/>
              </a:ext>
            </a:extLst>
          </p:cNvPr>
          <p:cNvSpPr/>
          <p:nvPr/>
        </p:nvSpPr>
        <p:spPr>
          <a:xfrm>
            <a:off x="8820319" y="1861168"/>
            <a:ext cx="1027688" cy="825388"/>
          </a:xfrm>
          <a:custGeom>
            <a:avLst/>
            <a:gdLst>
              <a:gd name="connsiteX0" fmla="*/ 1027688 w 1027688"/>
              <a:gd name="connsiteY0" fmla="*/ 0 h 825388"/>
              <a:gd name="connsiteX1" fmla="*/ 315589 w 1027688"/>
              <a:gd name="connsiteY1" fmla="*/ 145657 h 825388"/>
              <a:gd name="connsiteX2" fmla="*/ 0 w 1027688"/>
              <a:gd name="connsiteY2" fmla="*/ 825388 h 8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7688" h="825388">
                <a:moveTo>
                  <a:pt x="1027688" y="0"/>
                </a:moveTo>
                <a:cubicBezTo>
                  <a:pt x="757279" y="4046"/>
                  <a:pt x="486870" y="8092"/>
                  <a:pt x="315589" y="145657"/>
                </a:cubicBezTo>
                <a:cubicBezTo>
                  <a:pt x="144308" y="283222"/>
                  <a:pt x="72154" y="554305"/>
                  <a:pt x="0" y="825388"/>
                </a:cubicBezTo>
              </a:path>
            </a:pathLst>
          </a:cu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023399-4E06-455C-8022-A86B6F1DD24D}"/>
              </a:ext>
            </a:extLst>
          </p:cNvPr>
          <p:cNvSpPr/>
          <p:nvPr/>
        </p:nvSpPr>
        <p:spPr>
          <a:xfrm flipV="1">
            <a:off x="10603106" y="3575509"/>
            <a:ext cx="689472" cy="658384"/>
          </a:xfrm>
          <a:custGeom>
            <a:avLst/>
            <a:gdLst>
              <a:gd name="connsiteX0" fmla="*/ 1027688 w 1027688"/>
              <a:gd name="connsiteY0" fmla="*/ 0 h 825388"/>
              <a:gd name="connsiteX1" fmla="*/ 315589 w 1027688"/>
              <a:gd name="connsiteY1" fmla="*/ 145657 h 825388"/>
              <a:gd name="connsiteX2" fmla="*/ 0 w 1027688"/>
              <a:gd name="connsiteY2" fmla="*/ 825388 h 825388"/>
              <a:gd name="connsiteX0" fmla="*/ 1027688 w 1222235"/>
              <a:gd name="connsiteY0" fmla="*/ 0 h 836167"/>
              <a:gd name="connsiteX1" fmla="*/ 1191162 w 1222235"/>
              <a:gd name="connsiteY1" fmla="*/ 805712 h 836167"/>
              <a:gd name="connsiteX2" fmla="*/ 0 w 1222235"/>
              <a:gd name="connsiteY2" fmla="*/ 825388 h 836167"/>
              <a:gd name="connsiteX0" fmla="*/ 941846 w 1132304"/>
              <a:gd name="connsiteY0" fmla="*/ 0 h 810952"/>
              <a:gd name="connsiteX1" fmla="*/ 1105320 w 1132304"/>
              <a:gd name="connsiteY1" fmla="*/ 805712 h 810952"/>
              <a:gd name="connsiteX2" fmla="*/ 0 w 1132304"/>
              <a:gd name="connsiteY2" fmla="*/ 436427 h 810952"/>
              <a:gd name="connsiteX0" fmla="*/ 941846 w 954125"/>
              <a:gd name="connsiteY0" fmla="*/ 0 h 1151132"/>
              <a:gd name="connsiteX1" fmla="*/ 916469 w 954125"/>
              <a:gd name="connsiteY1" fmla="*/ 1147527 h 1151132"/>
              <a:gd name="connsiteX2" fmla="*/ 0 w 954125"/>
              <a:gd name="connsiteY2" fmla="*/ 436427 h 1151132"/>
              <a:gd name="connsiteX0" fmla="*/ 941846 w 977170"/>
              <a:gd name="connsiteY0" fmla="*/ 0 h 1158687"/>
              <a:gd name="connsiteX1" fmla="*/ 896224 w 977170"/>
              <a:gd name="connsiteY1" fmla="*/ 809335 h 1158687"/>
              <a:gd name="connsiteX2" fmla="*/ 916469 w 977170"/>
              <a:gd name="connsiteY2" fmla="*/ 1147527 h 1158687"/>
              <a:gd name="connsiteX3" fmla="*/ 0 w 977170"/>
              <a:gd name="connsiteY3" fmla="*/ 436427 h 1158687"/>
              <a:gd name="connsiteX0" fmla="*/ 941846 w 1462799"/>
              <a:gd name="connsiteY0" fmla="*/ 0 h 1147567"/>
              <a:gd name="connsiteX1" fmla="*/ 1462773 w 1462799"/>
              <a:gd name="connsiteY1" fmla="*/ 467520 h 1147567"/>
              <a:gd name="connsiteX2" fmla="*/ 916469 w 1462799"/>
              <a:gd name="connsiteY2" fmla="*/ 1147527 h 1147567"/>
              <a:gd name="connsiteX3" fmla="*/ 0 w 1462799"/>
              <a:gd name="connsiteY3" fmla="*/ 436427 h 1147567"/>
              <a:gd name="connsiteX0" fmla="*/ 941846 w 1462799"/>
              <a:gd name="connsiteY0" fmla="*/ 0 h 1053283"/>
              <a:gd name="connsiteX1" fmla="*/ 1462773 w 1462799"/>
              <a:gd name="connsiteY1" fmla="*/ 467520 h 1053283"/>
              <a:gd name="connsiteX2" fmla="*/ 521605 w 1462799"/>
              <a:gd name="connsiteY2" fmla="*/ 1053234 h 1053283"/>
              <a:gd name="connsiteX3" fmla="*/ 0 w 1462799"/>
              <a:gd name="connsiteY3" fmla="*/ 436427 h 1053283"/>
              <a:gd name="connsiteX0" fmla="*/ 564147 w 1462786"/>
              <a:gd name="connsiteY0" fmla="*/ 0 h 958990"/>
              <a:gd name="connsiteX1" fmla="*/ 1462773 w 1462786"/>
              <a:gd name="connsiteY1" fmla="*/ 373227 h 958990"/>
              <a:gd name="connsiteX2" fmla="*/ 521605 w 1462786"/>
              <a:gd name="connsiteY2" fmla="*/ 958941 h 958990"/>
              <a:gd name="connsiteX3" fmla="*/ 0 w 1462786"/>
              <a:gd name="connsiteY3" fmla="*/ 342134 h 95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2786" h="958990">
                <a:moveTo>
                  <a:pt x="564147" y="0"/>
                </a:moveTo>
                <a:cubicBezTo>
                  <a:pt x="556543" y="134889"/>
                  <a:pt x="1467002" y="181973"/>
                  <a:pt x="1462773" y="373227"/>
                </a:cubicBezTo>
                <a:cubicBezTo>
                  <a:pt x="1458544" y="564481"/>
                  <a:pt x="765400" y="964123"/>
                  <a:pt x="521605" y="958941"/>
                </a:cubicBezTo>
                <a:cubicBezTo>
                  <a:pt x="277810" y="953759"/>
                  <a:pt x="72154" y="71051"/>
                  <a:pt x="0" y="342134"/>
                </a:cubicBezTo>
              </a:path>
            </a:pathLst>
          </a:cu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C910E-15DB-411E-B5A9-E682CE8B0CFB}"/>
              </a:ext>
            </a:extLst>
          </p:cNvPr>
          <p:cNvSpPr txBox="1"/>
          <p:nvPr/>
        </p:nvSpPr>
        <p:spPr>
          <a:xfrm>
            <a:off x="9476793" y="2482044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B1E9D0-DC0F-433A-9AEA-3C8B46EAD1B0}"/>
              </a:ext>
            </a:extLst>
          </p:cNvPr>
          <p:cNvSpPr txBox="1"/>
          <p:nvPr/>
        </p:nvSpPr>
        <p:spPr>
          <a:xfrm>
            <a:off x="9546702" y="3222662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1B8135-A886-4508-BD43-C2E647A14203}"/>
              </a:ext>
            </a:extLst>
          </p:cNvPr>
          <p:cNvSpPr txBox="1"/>
          <p:nvPr/>
        </p:nvSpPr>
        <p:spPr>
          <a:xfrm>
            <a:off x="11176888" y="333732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66EA9-A331-437F-A4B7-25DE7308F108}"/>
              </a:ext>
            </a:extLst>
          </p:cNvPr>
          <p:cNvSpPr txBox="1"/>
          <p:nvPr/>
        </p:nvSpPr>
        <p:spPr>
          <a:xfrm>
            <a:off x="8984813" y="144312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3ED33-20FD-406A-AF3B-0900DF429B1B}"/>
                  </a:ext>
                </a:extLst>
              </p:cNvPr>
              <p:cNvSpPr txBox="1"/>
              <p:nvPr/>
            </p:nvSpPr>
            <p:spPr>
              <a:xfrm>
                <a:off x="10638664" y="1661035"/>
                <a:ext cx="12243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ℎ𝑒𝑎𝑑𝑠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3ED33-20FD-406A-AF3B-0900DF429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664" y="1661035"/>
                <a:ext cx="12243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8013B1-A306-4924-B6AB-FB26B2E07BD9}"/>
                  </a:ext>
                </a:extLst>
              </p:cNvPr>
              <p:cNvSpPr txBox="1"/>
              <p:nvPr/>
            </p:nvSpPr>
            <p:spPr>
              <a:xfrm>
                <a:off x="10803348" y="4227475"/>
                <a:ext cx="10079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𝑡𝑎𝑖𝑙𝑠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8013B1-A306-4924-B6AB-FB26B2E0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48" y="4227475"/>
                <a:ext cx="10079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D5AF07-EE04-8C60-F5D8-B95F1E8B9B08}"/>
                  </a:ext>
                </a:extLst>
              </p14:cNvPr>
              <p14:cNvContentPartPr/>
              <p14:nvPr/>
            </p14:nvContentPartPr>
            <p14:xfrm>
              <a:off x="7048440" y="140508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D5AF07-EE04-8C60-F5D8-B95F1E8B9B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39080" y="1395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19323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83A8C-5BAD-42AA-AEBF-6C800303F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prob. mass function of a geometric distribution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83A8C-5BAD-42AA-AEBF-6C800303F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FD6E949-5F31-4A0B-AAEE-A82F9862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distribution for discrete random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0C066-0CE0-462C-9B7A-1796C99A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79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C3C957-5901-4C43-B8C1-CFED6FB2C7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70928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Residence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a Markov chain is an </a:t>
                </a:r>
                <a:r>
                  <a:rPr lang="en-US" dirty="0" err="1"/>
                  <a:t>r.v.</a:t>
                </a:r>
                <a:r>
                  <a:rPr lang="en-US" dirty="0"/>
                  <a:t> with geometric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What is the expected time you stay in a state?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the variance?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C3C957-5901-4C43-B8C1-CFED6FB2C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709282"/>
              </a:xfrm>
              <a:blipFill>
                <a:blip r:embed="rId2"/>
                <a:stretch>
                  <a:fillRect l="-625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3FFABB-10C3-4EC3-92A9-111EFCF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Residence/Dwell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371B9-D892-4EC7-BA28-1D01902B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92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D25B1-7EA1-4F66-A82C-146EB778A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53087"/>
            <a:ext cx="11699087" cy="3730954"/>
          </a:xfrm>
        </p:spPr>
        <p:txBody>
          <a:bodyPr>
            <a:normAutofit/>
          </a:bodyPr>
          <a:lstStyle/>
          <a:p>
            <a:r>
              <a:rPr lang="en-US" dirty="0"/>
              <a:t>Time in DTMC is discrete</a:t>
            </a:r>
          </a:p>
          <a:p>
            <a:r>
              <a:rPr lang="en-US" dirty="0"/>
              <a:t>CTMCs: </a:t>
            </a:r>
          </a:p>
          <a:p>
            <a:pPr lvl="1"/>
            <a:r>
              <a:rPr lang="en-US" dirty="0"/>
              <a:t>dense model of time</a:t>
            </a:r>
          </a:p>
          <a:p>
            <a:pPr lvl="1"/>
            <a:r>
              <a:rPr lang="en-US" dirty="0"/>
              <a:t>transitions can occur at any time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ways of modeling CTMCs:</a:t>
            </a:r>
          </a:p>
          <a:p>
            <a:pPr lvl="1"/>
            <a:r>
              <a:rPr lang="en-US" dirty="0"/>
              <a:t>dwell time in a state is (negative) </a:t>
            </a:r>
            <a:r>
              <a:rPr lang="en-US" i="1" dirty="0"/>
              <a:t>exponentially distributed</a:t>
            </a:r>
          </a:p>
          <a:p>
            <a:pPr lvl="1"/>
            <a:r>
              <a:rPr lang="en-US" dirty="0"/>
              <a:t>transition rate is (negative) </a:t>
            </a:r>
            <a:r>
              <a:rPr lang="en-US" i="1" dirty="0"/>
              <a:t>exponentially distributed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604230-E351-45AB-86BA-ABA15D2A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Time Markov Chains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F0C8-E8FA-41D2-952A-3C6AD22C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8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FFAE21-93A2-4CEA-8702-420335D22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Continuous random variable : probability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(≥0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A negative exponentially distributed random variable </a:t>
                </a:r>
                <a:r>
                  <a:rPr lang="en-US" i="1" dirty="0"/>
                  <a:t>X </a:t>
                </a:r>
                <a:r>
                  <a:rPr lang="en-US" dirty="0"/>
                  <a:t>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has probability density function (pdf)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defined as follows: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FFAE21-93A2-4CEA-8702-420335D22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1918" r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76A5FA1-89E4-428A-A6D7-24F0D8C3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E4E8B-2BAA-43BA-8AAB-A9C1BDA3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488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3032-2D6E-4A57-8B89-035CA79E4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Cumulative distribution function (CDF)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i="0" dirty="0"/>
                          <m:t> </m:t>
                        </m:r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mr>
                      <m:m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=(1−</m:t>
                    </m:r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 err="1"/>
                  <a:t>I.e</a:t>
                </a:r>
                <a:r>
                  <a:rPr lang="en-US" sz="2400" dirty="0"/>
                  <a:t>,. zero probability of doing transition out of a state in duration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but probability becomes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Fun exercise: show that above CDF is memoryless, i.e.,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Fun exercise 2: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are </a:t>
                </a:r>
                <a:r>
                  <a:rPr lang="en-US" sz="2400" dirty="0" err="1"/>
                  <a:t>r.v.s</a:t>
                </a:r>
                <a:r>
                  <a:rPr lang="en-US" sz="2400" dirty="0"/>
                  <a:t> negatively exponentially distributed with rates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Fun exercise 3: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are negative exponentially distributed with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3032-2D6E-4A57-8B89-035CA79E4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3359CB6-0DA7-4402-BE37-FB671380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C681D-7CCA-40F6-B3D7-4B02B0AD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467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003" y="1332703"/>
                <a:ext cx="733576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Tuple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finite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sz="2000" dirty="0"/>
                  <a:t> is a transition probability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dirty="0" err="1"/>
                  <a:t>init.</a:t>
                </a:r>
                <a:r>
                  <a:rPr lang="en-US" sz="2000" dirty="0"/>
                  <a:t> dist.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sz="2000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sz="2000" dirty="0"/>
                  <a:t> is a function that assigns some subset of Boolean propositions to each state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p>
                    </m:sSup>
                  </m:oMath>
                </a14:m>
                <a:r>
                  <a:rPr lang="en-US" sz="2000" dirty="0"/>
                  <a:t> is the exit-rate function</a:t>
                </a:r>
              </a:p>
              <a:p>
                <a:r>
                  <a:rPr lang="en-US" sz="2000" dirty="0"/>
                  <a:t>Dwell time in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negative exponentially distributed with rate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Average residence time in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den>
                    </m:f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Bigger the exit-rate, shorter the average residence time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003" y="1332703"/>
                <a:ext cx="7335766" cy="4351338"/>
              </a:xfrm>
              <a:blipFill>
                <a:blip r:embed="rId2"/>
                <a:stretch>
                  <a:fillRect l="-665" t="-1964" r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48CE6F-B593-44C9-926A-76396878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CTMC modeled with </a:t>
            </a:r>
            <a:r>
              <a:rPr lang="en-US" dirty="0" err="1"/>
              <a:t>n.exp</a:t>
            </a:r>
            <a:r>
              <a:rPr lang="en-US" dirty="0"/>
              <a:t>. distributed dwell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1BE3-81A0-4372-9ED1-7FD70BB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/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/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  <a:blipFill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/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  <a:blipFill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92DECF-880B-422C-95C4-01BF5D531D73}"/>
              </a:ext>
            </a:extLst>
          </p:cNvPr>
          <p:cNvSpPr/>
          <p:nvPr/>
        </p:nvSpPr>
        <p:spPr>
          <a:xfrm>
            <a:off x="1310185" y="2790967"/>
            <a:ext cx="696036" cy="975815"/>
          </a:xfrm>
          <a:custGeom>
            <a:avLst/>
            <a:gdLst>
              <a:gd name="connsiteX0" fmla="*/ 0 w 696036"/>
              <a:gd name="connsiteY0" fmla="*/ 0 h 975815"/>
              <a:gd name="connsiteX1" fmla="*/ 232012 w 696036"/>
              <a:gd name="connsiteY1" fmla="*/ 655093 h 975815"/>
              <a:gd name="connsiteX2" fmla="*/ 696036 w 696036"/>
              <a:gd name="connsiteY2" fmla="*/ 975815 h 97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036" h="975815">
                <a:moveTo>
                  <a:pt x="0" y="0"/>
                </a:moveTo>
                <a:cubicBezTo>
                  <a:pt x="58003" y="246228"/>
                  <a:pt x="116006" y="492457"/>
                  <a:pt x="232012" y="655093"/>
                </a:cubicBezTo>
                <a:cubicBezTo>
                  <a:pt x="348018" y="817729"/>
                  <a:pt x="522027" y="896772"/>
                  <a:pt x="696036" y="975815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27A0E8-579A-41C5-9DDC-E6D6D5E4B38C}"/>
              </a:ext>
            </a:extLst>
          </p:cNvPr>
          <p:cNvSpPr/>
          <p:nvPr/>
        </p:nvSpPr>
        <p:spPr>
          <a:xfrm>
            <a:off x="1801504" y="2039487"/>
            <a:ext cx="1473959" cy="219217"/>
          </a:xfrm>
          <a:custGeom>
            <a:avLst/>
            <a:gdLst>
              <a:gd name="connsiteX0" fmla="*/ 0 w 1473959"/>
              <a:gd name="connsiteY0" fmla="*/ 157803 h 219217"/>
              <a:gd name="connsiteX1" fmla="*/ 696036 w 1473959"/>
              <a:gd name="connsiteY1" fmla="*/ 853 h 219217"/>
              <a:gd name="connsiteX2" fmla="*/ 1473959 w 1473959"/>
              <a:gd name="connsiteY2" fmla="*/ 219217 h 21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3959" h="219217">
                <a:moveTo>
                  <a:pt x="0" y="157803"/>
                </a:moveTo>
                <a:cubicBezTo>
                  <a:pt x="225188" y="74210"/>
                  <a:pt x="450376" y="-9383"/>
                  <a:pt x="696036" y="853"/>
                </a:cubicBezTo>
                <a:cubicBezTo>
                  <a:pt x="941696" y="11089"/>
                  <a:pt x="1207827" y="115153"/>
                  <a:pt x="1473959" y="219217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70457C-DDED-4DA0-AFAD-0362288F0D8E}"/>
              </a:ext>
            </a:extLst>
          </p:cNvPr>
          <p:cNvSpPr/>
          <p:nvPr/>
        </p:nvSpPr>
        <p:spPr>
          <a:xfrm>
            <a:off x="1856096" y="2722728"/>
            <a:ext cx="1337480" cy="138450"/>
          </a:xfrm>
          <a:custGeom>
            <a:avLst/>
            <a:gdLst>
              <a:gd name="connsiteX0" fmla="*/ 1337480 w 1337480"/>
              <a:gd name="connsiteY0" fmla="*/ 0 h 138450"/>
              <a:gd name="connsiteX1" fmla="*/ 634620 w 1337480"/>
              <a:gd name="connsiteY1" fmla="*/ 136478 h 138450"/>
              <a:gd name="connsiteX2" fmla="*/ 0 w 1337480"/>
              <a:gd name="connsiteY2" fmla="*/ 68239 h 1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480" h="138450">
                <a:moveTo>
                  <a:pt x="1337480" y="0"/>
                </a:moveTo>
                <a:cubicBezTo>
                  <a:pt x="1097506" y="62552"/>
                  <a:pt x="857533" y="125105"/>
                  <a:pt x="634620" y="136478"/>
                </a:cubicBezTo>
                <a:cubicBezTo>
                  <a:pt x="411707" y="147851"/>
                  <a:pt x="205853" y="108045"/>
                  <a:pt x="0" y="68239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3C3602-8B7A-462E-84A2-14C0908D1E92}"/>
              </a:ext>
            </a:extLst>
          </p:cNvPr>
          <p:cNvSpPr/>
          <p:nvPr/>
        </p:nvSpPr>
        <p:spPr>
          <a:xfrm>
            <a:off x="1890215" y="2804615"/>
            <a:ext cx="354842" cy="736979"/>
          </a:xfrm>
          <a:custGeom>
            <a:avLst/>
            <a:gdLst>
              <a:gd name="connsiteX0" fmla="*/ 354842 w 354842"/>
              <a:gd name="connsiteY0" fmla="*/ 736979 h 736979"/>
              <a:gd name="connsiteX1" fmla="*/ 218364 w 354842"/>
              <a:gd name="connsiteY1" fmla="*/ 266131 h 736979"/>
              <a:gd name="connsiteX2" fmla="*/ 0 w 354842"/>
              <a:gd name="connsiteY2" fmla="*/ 0 h 73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2" h="736979">
                <a:moveTo>
                  <a:pt x="354842" y="736979"/>
                </a:moveTo>
                <a:cubicBezTo>
                  <a:pt x="316173" y="562970"/>
                  <a:pt x="277504" y="388961"/>
                  <a:pt x="218364" y="266131"/>
                </a:cubicBezTo>
                <a:cubicBezTo>
                  <a:pt x="159224" y="143301"/>
                  <a:pt x="79612" y="71650"/>
                  <a:pt x="0" y="0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25D4D-1ECB-4183-813F-325ECE241102}"/>
              </a:ext>
            </a:extLst>
          </p:cNvPr>
          <p:cNvSpPr txBox="1"/>
          <p:nvPr/>
        </p:nvSpPr>
        <p:spPr>
          <a:xfrm>
            <a:off x="2057400" y="1729684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68344B-DB9C-4410-AB46-D03C0EC39CE8}"/>
              </a:ext>
            </a:extLst>
          </p:cNvPr>
          <p:cNvSpPr txBox="1"/>
          <p:nvPr/>
        </p:nvSpPr>
        <p:spPr>
          <a:xfrm>
            <a:off x="904164" y="3278874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0.8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E990FB2-569B-4D54-B001-9AC1CCB9701C}"/>
              </a:ext>
            </a:extLst>
          </p:cNvPr>
          <p:cNvSpPr/>
          <p:nvPr/>
        </p:nvSpPr>
        <p:spPr>
          <a:xfrm>
            <a:off x="4026090" y="235345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19290C-A0DE-48D1-8125-DE08AE7B9D0E}"/>
              </a:ext>
            </a:extLst>
          </p:cNvPr>
          <p:cNvSpPr/>
          <p:nvPr/>
        </p:nvSpPr>
        <p:spPr>
          <a:xfrm>
            <a:off x="2900258" y="3668333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DEE245-9C19-4FA3-97D0-E73197ABEA03}"/>
              </a:ext>
            </a:extLst>
          </p:cNvPr>
          <p:cNvSpPr/>
          <p:nvPr/>
        </p:nvSpPr>
        <p:spPr>
          <a:xfrm rot="11686522">
            <a:off x="820823" y="220986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EA73B-ED8D-4799-B1F2-586FDEEBA961}"/>
              </a:ext>
            </a:extLst>
          </p:cNvPr>
          <p:cNvSpPr txBox="1"/>
          <p:nvPr/>
        </p:nvSpPr>
        <p:spPr>
          <a:xfrm>
            <a:off x="4076022" y="2140179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0.4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9FC6AB-90DE-4848-AAD9-ABAE38DA4744}"/>
              </a:ext>
            </a:extLst>
          </p:cNvPr>
          <p:cNvSpPr txBox="1"/>
          <p:nvPr/>
        </p:nvSpPr>
        <p:spPr>
          <a:xfrm>
            <a:off x="2071048" y="2579427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0.3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CD0B1-FCB4-4AE6-A756-2E1CB64933C4}"/>
              </a:ext>
            </a:extLst>
          </p:cNvPr>
          <p:cNvSpPr txBox="1"/>
          <p:nvPr/>
        </p:nvSpPr>
        <p:spPr>
          <a:xfrm>
            <a:off x="1924336" y="3015498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E2D6A-02D7-44CE-B493-B298FA387916}"/>
              </a:ext>
            </a:extLst>
          </p:cNvPr>
          <p:cNvSpPr txBox="1"/>
          <p:nvPr/>
        </p:nvSpPr>
        <p:spPr>
          <a:xfrm>
            <a:off x="3108387" y="3738640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9DD44-308F-4A4A-BEBE-F5CACED5A477}"/>
              </a:ext>
            </a:extLst>
          </p:cNvPr>
          <p:cNvSpPr txBox="1"/>
          <p:nvPr/>
        </p:nvSpPr>
        <p:spPr>
          <a:xfrm>
            <a:off x="254758" y="2166583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4716AC-06AA-42E9-9D04-E4FF185827D4}"/>
              </a:ext>
            </a:extLst>
          </p:cNvPr>
          <p:cNvSpPr txBox="1"/>
          <p:nvPr/>
        </p:nvSpPr>
        <p:spPr>
          <a:xfrm>
            <a:off x="1288643" y="17571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B21908-FB8A-49F4-B4F6-336A331963B5}"/>
              </a:ext>
            </a:extLst>
          </p:cNvPr>
          <p:cNvSpPr txBox="1"/>
          <p:nvPr/>
        </p:nvSpPr>
        <p:spPr>
          <a:xfrm>
            <a:off x="2273612" y="41808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BAD7C2-FF50-4B1B-8FA4-8990C60E1DE1}"/>
              </a:ext>
            </a:extLst>
          </p:cNvPr>
          <p:cNvSpPr txBox="1"/>
          <p:nvPr/>
        </p:nvSpPr>
        <p:spPr>
          <a:xfrm>
            <a:off x="3475603" y="28353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65846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8DD3C97-819A-4092-813B-3557C7A5F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Transition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dirty="0"/>
                  <a:t>modeled</a:t>
                </a:r>
                <a:r>
                  <a:rPr lang="en-US" sz="2800" dirty="0"/>
                  <a:t> as a </a:t>
                </a:r>
                <a:r>
                  <a:rPr lang="en-US" sz="2800" dirty="0" err="1"/>
                  <a:t>r.v.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sz="2800" dirty="0"/>
                  <a:t> that is neg</a:t>
                </a:r>
                <a:r>
                  <a:rPr lang="en-US" dirty="0"/>
                  <a:t>ative</a:t>
                </a:r>
                <a:r>
                  <a:rPr lang="en-US" sz="2800" dirty="0"/>
                  <a:t> exponentially distributed with rate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b="0" dirty="0"/>
                  <a:t>Bigger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/>
                  <a:t>means </a:t>
                </a:r>
                <a:r>
                  <a:rPr lang="en-US" sz="2800" b="0" i="1" dirty="0"/>
                  <a:t>lower </a:t>
                </a:r>
                <a:r>
                  <a:rPr lang="en-US" dirty="0"/>
                  <a:t>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b="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Probability of reaching state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 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suc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𝑐𝑒𝑠𝑜𝑟𝑠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′}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sz="2800" dirty="0"/>
              </a:p>
              <a:p>
                <a:r>
                  <a:rPr lang="en-US" sz="2800" dirty="0"/>
                  <a:t>Transition rate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800" b="0" dirty="0"/>
              </a:p>
              <a:p>
                <a:endParaRPr lang="en-US" sz="2800" b="0" dirty="0"/>
              </a:p>
              <a:p>
                <a:endParaRPr lang="en-US" sz="2800" dirty="0"/>
              </a:p>
              <a:p>
                <a:endParaRPr lang="en-US" sz="2800" b="0" dirty="0"/>
              </a:p>
              <a:p>
                <a:r>
                  <a:rPr lang="en-US" b="0" dirty="0"/>
                  <a:t>Probability of moving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8DD3C97-819A-4092-813B-3557C7A5F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758" r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BBC9F78-3875-48D4-A90C-C97D6D56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CTMC modeled with </a:t>
            </a:r>
            <a:r>
              <a:rPr lang="en-US" dirty="0" err="1"/>
              <a:t>n.e.</a:t>
            </a:r>
            <a:r>
              <a:rPr lang="en-US" dirty="0"/>
              <a:t> distributed transition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71804-ACFB-45D0-9073-A092560C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4F758-6C5C-4628-AF72-8743890F68A0}"/>
                  </a:ext>
                </a:extLst>
              </p:cNvPr>
              <p:cNvSpPr txBox="1"/>
              <p:nvPr/>
            </p:nvSpPr>
            <p:spPr>
              <a:xfrm>
                <a:off x="2940113" y="4234385"/>
                <a:ext cx="1716047" cy="369332"/>
              </a:xfrm>
              <a:prstGeom prst="wedgeRectCallout">
                <a:avLst>
                  <a:gd name="adj1" fmla="val 40893"/>
                  <a:gd name="adj2" fmla="val -92238"/>
                </a:avLst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Rate of exiting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4F758-6C5C-4628-AF72-8743890F6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113" y="4234385"/>
                <a:ext cx="1716047" cy="369332"/>
              </a:xfrm>
              <a:prstGeom prst="wedgeRectCallout">
                <a:avLst>
                  <a:gd name="adj1" fmla="val 40893"/>
                  <a:gd name="adj2" fmla="val -92238"/>
                </a:avLst>
              </a:prstGeom>
              <a:blipFill>
                <a:blip r:embed="rId3"/>
                <a:stretch>
                  <a:fillRect l="-2465" b="-17045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3C7B3E-9B83-4BE8-8A66-9BE09ACB61A2}"/>
                  </a:ext>
                </a:extLst>
              </p:cNvPr>
              <p:cNvSpPr txBox="1"/>
              <p:nvPr/>
            </p:nvSpPr>
            <p:spPr>
              <a:xfrm>
                <a:off x="5107247" y="4156420"/>
                <a:ext cx="2482218" cy="369332"/>
              </a:xfrm>
              <a:prstGeom prst="wedgeRectCallout">
                <a:avLst>
                  <a:gd name="adj1" fmla="val -33493"/>
                  <a:gd name="adj2" fmla="val -87080"/>
                </a:avLst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Probability of going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3C7B3E-9B83-4BE8-8A66-9BE09ACB6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47" y="4156420"/>
                <a:ext cx="2482218" cy="369332"/>
              </a:xfrm>
              <a:prstGeom prst="wedgeRectCallout">
                <a:avLst>
                  <a:gd name="adj1" fmla="val -33493"/>
                  <a:gd name="adj2" fmla="val -87080"/>
                </a:avLst>
              </a:prstGeom>
              <a:blipFill>
                <a:blip r:embed="rId4"/>
                <a:stretch>
                  <a:fillRect l="-1956" b="-17647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4503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2928" y="921058"/>
                <a:ext cx="7377389" cy="50158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Probability to go from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sz="2000" dirty="0"/>
                  <a:t>What is the probability of changing to some lane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seconds?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𝑙𝑎𝑛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𝑙𝑎𝑛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=(1−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𝑙𝑎𝑛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2928" y="921058"/>
                <a:ext cx="7377389" cy="5015883"/>
              </a:xfrm>
              <a:blipFill>
                <a:blip r:embed="rId2"/>
                <a:stretch>
                  <a:fillRect l="-331" t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48CE6F-B593-44C9-926A-76396878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CTMC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1BE3-81A0-4372-9ED1-7FD70BB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/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/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  <a:blipFill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/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  <a:blipFill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92DECF-880B-422C-95C4-01BF5D531D73}"/>
              </a:ext>
            </a:extLst>
          </p:cNvPr>
          <p:cNvSpPr/>
          <p:nvPr/>
        </p:nvSpPr>
        <p:spPr>
          <a:xfrm>
            <a:off x="1310185" y="2790967"/>
            <a:ext cx="696036" cy="975815"/>
          </a:xfrm>
          <a:custGeom>
            <a:avLst/>
            <a:gdLst>
              <a:gd name="connsiteX0" fmla="*/ 0 w 696036"/>
              <a:gd name="connsiteY0" fmla="*/ 0 h 975815"/>
              <a:gd name="connsiteX1" fmla="*/ 232012 w 696036"/>
              <a:gd name="connsiteY1" fmla="*/ 655093 h 975815"/>
              <a:gd name="connsiteX2" fmla="*/ 696036 w 696036"/>
              <a:gd name="connsiteY2" fmla="*/ 975815 h 97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036" h="975815">
                <a:moveTo>
                  <a:pt x="0" y="0"/>
                </a:moveTo>
                <a:cubicBezTo>
                  <a:pt x="58003" y="246228"/>
                  <a:pt x="116006" y="492457"/>
                  <a:pt x="232012" y="655093"/>
                </a:cubicBezTo>
                <a:cubicBezTo>
                  <a:pt x="348018" y="817729"/>
                  <a:pt x="522027" y="896772"/>
                  <a:pt x="696036" y="975815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27A0E8-579A-41C5-9DDC-E6D6D5E4B38C}"/>
              </a:ext>
            </a:extLst>
          </p:cNvPr>
          <p:cNvSpPr/>
          <p:nvPr/>
        </p:nvSpPr>
        <p:spPr>
          <a:xfrm>
            <a:off x="1801504" y="2039487"/>
            <a:ext cx="1473959" cy="219217"/>
          </a:xfrm>
          <a:custGeom>
            <a:avLst/>
            <a:gdLst>
              <a:gd name="connsiteX0" fmla="*/ 0 w 1473959"/>
              <a:gd name="connsiteY0" fmla="*/ 157803 h 219217"/>
              <a:gd name="connsiteX1" fmla="*/ 696036 w 1473959"/>
              <a:gd name="connsiteY1" fmla="*/ 853 h 219217"/>
              <a:gd name="connsiteX2" fmla="*/ 1473959 w 1473959"/>
              <a:gd name="connsiteY2" fmla="*/ 219217 h 21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3959" h="219217">
                <a:moveTo>
                  <a:pt x="0" y="157803"/>
                </a:moveTo>
                <a:cubicBezTo>
                  <a:pt x="225188" y="74210"/>
                  <a:pt x="450376" y="-9383"/>
                  <a:pt x="696036" y="853"/>
                </a:cubicBezTo>
                <a:cubicBezTo>
                  <a:pt x="941696" y="11089"/>
                  <a:pt x="1207827" y="115153"/>
                  <a:pt x="1473959" y="219217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70457C-DDED-4DA0-AFAD-0362288F0D8E}"/>
              </a:ext>
            </a:extLst>
          </p:cNvPr>
          <p:cNvSpPr/>
          <p:nvPr/>
        </p:nvSpPr>
        <p:spPr>
          <a:xfrm>
            <a:off x="1856096" y="2722728"/>
            <a:ext cx="1337480" cy="138450"/>
          </a:xfrm>
          <a:custGeom>
            <a:avLst/>
            <a:gdLst>
              <a:gd name="connsiteX0" fmla="*/ 1337480 w 1337480"/>
              <a:gd name="connsiteY0" fmla="*/ 0 h 138450"/>
              <a:gd name="connsiteX1" fmla="*/ 634620 w 1337480"/>
              <a:gd name="connsiteY1" fmla="*/ 136478 h 138450"/>
              <a:gd name="connsiteX2" fmla="*/ 0 w 1337480"/>
              <a:gd name="connsiteY2" fmla="*/ 68239 h 1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480" h="138450">
                <a:moveTo>
                  <a:pt x="1337480" y="0"/>
                </a:moveTo>
                <a:cubicBezTo>
                  <a:pt x="1097506" y="62552"/>
                  <a:pt x="857533" y="125105"/>
                  <a:pt x="634620" y="136478"/>
                </a:cubicBezTo>
                <a:cubicBezTo>
                  <a:pt x="411707" y="147851"/>
                  <a:pt x="205853" y="108045"/>
                  <a:pt x="0" y="68239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3C3602-8B7A-462E-84A2-14C0908D1E92}"/>
              </a:ext>
            </a:extLst>
          </p:cNvPr>
          <p:cNvSpPr/>
          <p:nvPr/>
        </p:nvSpPr>
        <p:spPr>
          <a:xfrm>
            <a:off x="1890215" y="2804615"/>
            <a:ext cx="354842" cy="736979"/>
          </a:xfrm>
          <a:custGeom>
            <a:avLst/>
            <a:gdLst>
              <a:gd name="connsiteX0" fmla="*/ 354842 w 354842"/>
              <a:gd name="connsiteY0" fmla="*/ 736979 h 736979"/>
              <a:gd name="connsiteX1" fmla="*/ 218364 w 354842"/>
              <a:gd name="connsiteY1" fmla="*/ 266131 h 736979"/>
              <a:gd name="connsiteX2" fmla="*/ 0 w 354842"/>
              <a:gd name="connsiteY2" fmla="*/ 0 h 73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2" h="736979">
                <a:moveTo>
                  <a:pt x="354842" y="736979"/>
                </a:moveTo>
                <a:cubicBezTo>
                  <a:pt x="316173" y="562970"/>
                  <a:pt x="277504" y="388961"/>
                  <a:pt x="218364" y="266131"/>
                </a:cubicBezTo>
                <a:cubicBezTo>
                  <a:pt x="159224" y="143301"/>
                  <a:pt x="79612" y="71650"/>
                  <a:pt x="0" y="0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25D4D-1ECB-4183-813F-325ECE241102}"/>
              </a:ext>
            </a:extLst>
          </p:cNvPr>
          <p:cNvSpPr txBox="1"/>
          <p:nvPr/>
        </p:nvSpPr>
        <p:spPr>
          <a:xfrm>
            <a:off x="2057400" y="1729684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68344B-DB9C-4410-AB46-D03C0EC39CE8}"/>
              </a:ext>
            </a:extLst>
          </p:cNvPr>
          <p:cNvSpPr txBox="1"/>
          <p:nvPr/>
        </p:nvSpPr>
        <p:spPr>
          <a:xfrm>
            <a:off x="904164" y="3278874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0.8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E990FB2-569B-4D54-B001-9AC1CCB9701C}"/>
              </a:ext>
            </a:extLst>
          </p:cNvPr>
          <p:cNvSpPr/>
          <p:nvPr/>
        </p:nvSpPr>
        <p:spPr>
          <a:xfrm>
            <a:off x="4026090" y="235345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19290C-A0DE-48D1-8125-DE08AE7B9D0E}"/>
              </a:ext>
            </a:extLst>
          </p:cNvPr>
          <p:cNvSpPr/>
          <p:nvPr/>
        </p:nvSpPr>
        <p:spPr>
          <a:xfrm>
            <a:off x="2900258" y="3668333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DEE245-9C19-4FA3-97D0-E73197ABEA03}"/>
              </a:ext>
            </a:extLst>
          </p:cNvPr>
          <p:cNvSpPr/>
          <p:nvPr/>
        </p:nvSpPr>
        <p:spPr>
          <a:xfrm rot="11686522">
            <a:off x="820823" y="220986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EA73B-ED8D-4799-B1F2-586FDEEBA961}"/>
              </a:ext>
            </a:extLst>
          </p:cNvPr>
          <p:cNvSpPr txBox="1"/>
          <p:nvPr/>
        </p:nvSpPr>
        <p:spPr>
          <a:xfrm>
            <a:off x="4076022" y="2140179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0.4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9FC6AB-90DE-4848-AAD9-ABAE38DA4744}"/>
              </a:ext>
            </a:extLst>
          </p:cNvPr>
          <p:cNvSpPr txBox="1"/>
          <p:nvPr/>
        </p:nvSpPr>
        <p:spPr>
          <a:xfrm>
            <a:off x="2071048" y="2579427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0.3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CD0B1-FCB4-4AE6-A756-2E1CB64933C4}"/>
              </a:ext>
            </a:extLst>
          </p:cNvPr>
          <p:cNvSpPr txBox="1"/>
          <p:nvPr/>
        </p:nvSpPr>
        <p:spPr>
          <a:xfrm>
            <a:off x="1924336" y="3015498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E2D6A-02D7-44CE-B493-B298FA387916}"/>
              </a:ext>
            </a:extLst>
          </p:cNvPr>
          <p:cNvSpPr txBox="1"/>
          <p:nvPr/>
        </p:nvSpPr>
        <p:spPr>
          <a:xfrm>
            <a:off x="3108387" y="3738640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9DD44-308F-4A4A-BEBE-F5CACED5A477}"/>
              </a:ext>
            </a:extLst>
          </p:cNvPr>
          <p:cNvSpPr txBox="1"/>
          <p:nvPr/>
        </p:nvSpPr>
        <p:spPr>
          <a:xfrm>
            <a:off x="254758" y="2166583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4716AC-06AA-42E9-9D04-E4FF185827D4}"/>
              </a:ext>
            </a:extLst>
          </p:cNvPr>
          <p:cNvSpPr txBox="1"/>
          <p:nvPr/>
        </p:nvSpPr>
        <p:spPr>
          <a:xfrm>
            <a:off x="1288643" y="17571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B21908-FB8A-49F4-B4F6-336A331963B5}"/>
              </a:ext>
            </a:extLst>
          </p:cNvPr>
          <p:cNvSpPr txBox="1"/>
          <p:nvPr/>
        </p:nvSpPr>
        <p:spPr>
          <a:xfrm>
            <a:off x="2273612" y="41808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BAD7C2-FF50-4B1B-8FA4-8990C60E1DE1}"/>
              </a:ext>
            </a:extLst>
          </p:cNvPr>
          <p:cNvSpPr txBox="1"/>
          <p:nvPr/>
        </p:nvSpPr>
        <p:spPr>
          <a:xfrm>
            <a:off x="3475603" y="28353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5368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4FA1A6-1968-426C-BD31-759337CD6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557" y="1332703"/>
                <a:ext cx="741521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≥0.5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Also 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Probability to 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0,0.5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enabled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0,0.5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×0.5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4FA1A6-1968-426C-BD31-759337CD6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557" y="1332703"/>
                <a:ext cx="7415212" cy="4351338"/>
              </a:xfrm>
              <a:blipFill>
                <a:blip r:embed="rId2"/>
                <a:stretch>
                  <a:fillRect l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B63AEA5-F093-45C9-8431-78FC419C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CTMC + PCTL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5D284-A56E-41D8-8AB7-2056DEC1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9249F9-0248-414D-8857-4344859CB743}"/>
                  </a:ext>
                </a:extLst>
              </p:cNvPr>
              <p:cNvSpPr/>
              <p:nvPr/>
            </p:nvSpPr>
            <p:spPr>
              <a:xfrm>
                <a:off x="857250" y="2886075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9249F9-0248-414D-8857-4344859CB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886075"/>
                <a:ext cx="535781" cy="5429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5FDBE8-6A43-4BB6-B410-0F6ADA58D3C0}"/>
                  </a:ext>
                </a:extLst>
              </p:cNvPr>
              <p:cNvSpPr/>
              <p:nvPr/>
            </p:nvSpPr>
            <p:spPr>
              <a:xfrm>
                <a:off x="2580080" y="1874044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5FDBE8-6A43-4BB6-B410-0F6ADA58D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80" y="1874044"/>
                <a:ext cx="535781" cy="54292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18E2BA-059E-4D23-859B-583115DA6CE9}"/>
                  </a:ext>
                </a:extLst>
              </p:cNvPr>
              <p:cNvSpPr/>
              <p:nvPr/>
            </p:nvSpPr>
            <p:spPr>
              <a:xfrm>
                <a:off x="2559842" y="2886075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18E2BA-059E-4D23-859B-583115DA6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842" y="2886075"/>
                <a:ext cx="535781" cy="54292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7A1F30-C124-4834-8928-44F69A430896}"/>
                  </a:ext>
                </a:extLst>
              </p:cNvPr>
              <p:cNvSpPr/>
              <p:nvPr/>
            </p:nvSpPr>
            <p:spPr>
              <a:xfrm>
                <a:off x="2559841" y="4108920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7A1F30-C124-4834-8928-44F69A4308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841" y="4108920"/>
                <a:ext cx="535781" cy="54292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2EC12F-E143-4F9A-9ED6-B1E49B5B1D1E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1393031" y="3157538"/>
            <a:ext cx="11668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1AA939-0DEA-45B1-93FF-A262203C7D75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314568" y="2337459"/>
            <a:ext cx="1343975" cy="628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4D0806-D1E6-4766-8629-A8260B622966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314568" y="3349490"/>
            <a:ext cx="1323736" cy="8389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38648B-0914-4B35-8822-AD6C86DBAF91}"/>
              </a:ext>
            </a:extLst>
          </p:cNvPr>
          <p:cNvSpPr txBox="1"/>
          <p:nvPr/>
        </p:nvSpPr>
        <p:spPr>
          <a:xfrm>
            <a:off x="1761889" y="22323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75536-ED99-4EF4-926D-24AEFCB90FB2}"/>
              </a:ext>
            </a:extLst>
          </p:cNvPr>
          <p:cNvSpPr txBox="1"/>
          <p:nvPr/>
        </p:nvSpPr>
        <p:spPr>
          <a:xfrm>
            <a:off x="1803193" y="315753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19FB3D-FA42-4EC4-9073-3ED6240FB744}"/>
              </a:ext>
            </a:extLst>
          </p:cNvPr>
          <p:cNvSpPr txBox="1"/>
          <p:nvPr/>
        </p:nvSpPr>
        <p:spPr>
          <a:xfrm>
            <a:off x="1734063" y="386613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7AB5F-DEC6-47C2-A08E-6E3B3C2E79A2}"/>
                  </a:ext>
                </a:extLst>
              </p:cNvPr>
              <p:cNvSpPr txBox="1"/>
              <p:nvPr/>
            </p:nvSpPr>
            <p:spPr>
              <a:xfrm>
                <a:off x="3002679" y="1757818"/>
                <a:ext cx="541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7AB5F-DEC6-47C2-A08E-6E3B3C2E7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679" y="1757818"/>
                <a:ext cx="541751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52E6AC-1829-4206-9FF9-64E7044EE58F}"/>
                  </a:ext>
                </a:extLst>
              </p:cNvPr>
              <p:cNvSpPr txBox="1"/>
              <p:nvPr/>
            </p:nvSpPr>
            <p:spPr>
              <a:xfrm>
                <a:off x="3089241" y="2965585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52E6AC-1829-4206-9FF9-64E7044EE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41" y="2965585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A7F522-5630-4A1B-A3F2-02B803C53EDE}"/>
                  </a:ext>
                </a:extLst>
              </p:cNvPr>
              <p:cNvSpPr txBox="1"/>
              <p:nvPr/>
            </p:nvSpPr>
            <p:spPr>
              <a:xfrm>
                <a:off x="3082775" y="4195716"/>
                <a:ext cx="541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A7F522-5630-4A1B-A3F2-02B803C53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775" y="4195716"/>
                <a:ext cx="541750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B3CB0-C035-4A48-A30A-EFF73AADDC39}"/>
                  </a:ext>
                </a:extLst>
              </p:cNvPr>
              <p:cNvSpPr txBox="1"/>
              <p:nvPr/>
            </p:nvSpPr>
            <p:spPr>
              <a:xfrm>
                <a:off x="306103" y="3476041"/>
                <a:ext cx="11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B3CB0-C035-4A48-A30A-EFF73AAD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03" y="3476041"/>
                <a:ext cx="11819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0056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57007-FD10-46D2-B23C-11C167C6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Breach : </a:t>
            </a:r>
            <a:r>
              <a:rPr lang="en-US" sz="1200" dirty="0">
                <a:solidFill>
                  <a:srgbClr val="FF0000"/>
                </a:solidFill>
                <a:hlinkClick r:id="rId2"/>
              </a:rPr>
              <a:t>https://link.springer.com/chapter/10.1007/978-3-642-14295-6_17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Prajna</a:t>
            </a:r>
            <a:r>
              <a:rPr lang="en-US" sz="1200" dirty="0"/>
              <a:t>, S., &amp; </a:t>
            </a:r>
            <a:r>
              <a:rPr lang="en-US" sz="1200" dirty="0" err="1"/>
              <a:t>Jadbabaie</a:t>
            </a:r>
            <a:r>
              <a:rPr lang="en-US" sz="1200" dirty="0"/>
              <a:t>, A. (2004, March). Safety verification of hybrid systems using barrier certificates.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 (pp. 477-492).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Duggirala</a:t>
            </a:r>
            <a:r>
              <a:rPr lang="en-US" sz="1200" dirty="0"/>
              <a:t>, </a:t>
            </a:r>
            <a:r>
              <a:rPr lang="en-US" sz="1200" dirty="0" err="1"/>
              <a:t>Parasara</a:t>
            </a:r>
            <a:r>
              <a:rPr lang="en-US" sz="1200" dirty="0"/>
              <a:t> Sridhar, et al. "C2E2: a verification tool for </a:t>
            </a:r>
            <a:r>
              <a:rPr lang="en-US" sz="1200" dirty="0" err="1"/>
              <a:t>stateflow</a:t>
            </a:r>
            <a:r>
              <a:rPr lang="en-US" sz="1200" dirty="0"/>
              <a:t> models." </a:t>
            </a:r>
            <a:r>
              <a:rPr lang="en-US" sz="1200" i="1" dirty="0"/>
              <a:t>International Conference on Tools and Algorithms for the Construction and Analysis of Systems</a:t>
            </a:r>
            <a:r>
              <a:rPr lang="en-US" sz="12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Goran, Colas Le </a:t>
            </a:r>
            <a:r>
              <a:rPr lang="en-US" sz="1200" dirty="0" err="1"/>
              <a:t>Guernic</a:t>
            </a:r>
            <a:r>
              <a:rPr lang="en-US" sz="1200" dirty="0"/>
              <a:t>, Alexandre Donzé, Scott Cotton, </a:t>
            </a:r>
            <a:r>
              <a:rPr lang="en-US" sz="1200" dirty="0" err="1"/>
              <a:t>Rajarshi</a:t>
            </a:r>
            <a:r>
              <a:rPr lang="en-US" sz="1200" dirty="0"/>
              <a:t> Ray, Olivier </a:t>
            </a:r>
            <a:r>
              <a:rPr lang="en-US" sz="1200" dirty="0" err="1"/>
              <a:t>Lebeltel</a:t>
            </a:r>
            <a:r>
              <a:rPr lang="en-US" sz="1200" dirty="0"/>
              <a:t>, Rodolfo </a:t>
            </a:r>
            <a:r>
              <a:rPr lang="en-US" sz="1200" dirty="0" err="1"/>
              <a:t>Ripado</a:t>
            </a:r>
            <a:r>
              <a:rPr lang="en-US" sz="1200" dirty="0"/>
              <a:t>, Antoine Girard, Thao Dang, and Oded Maler. "</a:t>
            </a:r>
            <a:r>
              <a:rPr lang="en-US" sz="1200" dirty="0" err="1"/>
              <a:t>SpaceEx</a:t>
            </a:r>
            <a:r>
              <a:rPr lang="en-US" sz="1200" dirty="0"/>
              <a:t>: Scalable verification of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379-395. Springer, Berlin, Heidelberg, 2011.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Chen, Xin, Erika </a:t>
            </a:r>
            <a:r>
              <a:rPr lang="en-US" sz="1200" dirty="0" err="1"/>
              <a:t>Ábrahám</a:t>
            </a:r>
            <a:r>
              <a:rPr lang="en-US" sz="1200" dirty="0"/>
              <a:t>, and Sriram </a:t>
            </a:r>
            <a:r>
              <a:rPr lang="en-US" sz="1200" dirty="0" err="1"/>
              <a:t>Sankaranarayanan</a:t>
            </a:r>
            <a:r>
              <a:rPr lang="en-US" sz="1200" dirty="0"/>
              <a:t>. "Flow*: An analyzer for non-linear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258-263. Springer, Berlin, Heidelberg, 2013.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Goran. "</a:t>
            </a:r>
            <a:r>
              <a:rPr lang="en-US" sz="1200" dirty="0" err="1"/>
              <a:t>PHAVer</a:t>
            </a:r>
            <a:r>
              <a:rPr lang="en-US" sz="1200" dirty="0"/>
              <a:t>: Algorithmic verification of hybrid systems past </a:t>
            </a:r>
            <a:r>
              <a:rPr lang="en-US" sz="1200" dirty="0" err="1"/>
              <a:t>HyTech</a:t>
            </a:r>
            <a:r>
              <a:rPr lang="en-US" sz="1200" dirty="0"/>
              <a:t>."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. Springer, Berlin, Heidelberg, 2005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Asarin</a:t>
            </a:r>
            <a:r>
              <a:rPr lang="en-US" sz="1200" dirty="0"/>
              <a:t>, E., Dang, T., &amp; Maler, O. (2002, July). The d/</a:t>
            </a:r>
            <a:r>
              <a:rPr lang="en-US" sz="1200" dirty="0" err="1"/>
              <a:t>dt</a:t>
            </a:r>
            <a:r>
              <a:rPr lang="en-US" sz="1200" dirty="0"/>
              <a:t> tool for verification of hybrid systems.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 (pp. 365-370). Springer, Berlin, Heidelberg.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Fan, </a:t>
            </a:r>
            <a:r>
              <a:rPr lang="en-US" sz="1200" dirty="0" err="1"/>
              <a:t>Chuchu</a:t>
            </a:r>
            <a:r>
              <a:rPr lang="en-US" sz="1200" dirty="0"/>
              <a:t>, Bolun Qi, </a:t>
            </a:r>
            <a:r>
              <a:rPr lang="en-US" sz="1200" dirty="0" err="1"/>
              <a:t>Sayan</a:t>
            </a:r>
            <a:r>
              <a:rPr lang="en-US" sz="1200" dirty="0"/>
              <a:t> </a:t>
            </a:r>
            <a:r>
              <a:rPr lang="en-US" sz="1200" dirty="0" err="1"/>
              <a:t>Mitra</a:t>
            </a:r>
            <a:r>
              <a:rPr lang="en-US" sz="1200" dirty="0"/>
              <a:t>, Mahesh Viswanathan, and </a:t>
            </a:r>
            <a:r>
              <a:rPr lang="en-US" sz="1200" dirty="0" err="1"/>
              <a:t>Parasara</a:t>
            </a:r>
            <a:r>
              <a:rPr lang="en-US" sz="1200" dirty="0"/>
              <a:t> Sridhar </a:t>
            </a:r>
            <a:r>
              <a:rPr lang="en-US" sz="1200" dirty="0" err="1"/>
              <a:t>Duggirala</a:t>
            </a:r>
            <a:r>
              <a:rPr lang="en-US" sz="1200" dirty="0"/>
              <a:t>. "Automatic reachability analysis for nonlinear hybrid models with C2E2."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531-538. Springer, Cham, 2016.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Donzé, Alexandre, and Oded Maler. "Systematic simulation using sensitivity analysis."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, pp. 174-189. Springer, Berlin, Heidelberg, 2007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D671-731B-41FA-9AC5-734BEB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D441-B642-4940-AE7C-07E06CC5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8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22626</TotalTime>
  <Words>3861</Words>
  <Application>Microsoft Office PowerPoint</Application>
  <PresentationFormat>Widescreen</PresentationFormat>
  <Paragraphs>596</Paragraphs>
  <Slides>54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Cambria</vt:lpstr>
      <vt:lpstr>Cambria Math</vt:lpstr>
      <vt:lpstr>Garamond</vt:lpstr>
      <vt:lpstr>Times New Roman</vt:lpstr>
      <vt:lpstr>Wingdings 3</vt:lpstr>
      <vt:lpstr>Office Theme</vt:lpstr>
      <vt:lpstr>Autonomous Cyber-Physical Systems:  Deductive verification + Model Checking</vt:lpstr>
      <vt:lpstr>PowerPoint Presentation</vt:lpstr>
      <vt:lpstr>Safety verification using barrier certificates</vt:lpstr>
      <vt:lpstr>Strict barrier certificate</vt:lpstr>
      <vt:lpstr>Example</vt:lpstr>
      <vt:lpstr>Example</vt:lpstr>
      <vt:lpstr>Control Barrier Functions</vt:lpstr>
      <vt:lpstr>Viability Kernels</vt:lpstr>
      <vt:lpstr>Time-bounded Reachability</vt:lpstr>
      <vt:lpstr>Problem definition</vt:lpstr>
      <vt:lpstr>Solutions to time-bounded reachability</vt:lpstr>
      <vt:lpstr>Under-approximation</vt:lpstr>
      <vt:lpstr>Under-approximation: sound for bug-finding</vt:lpstr>
      <vt:lpstr>Under-approximation: unsound for verification</vt:lpstr>
      <vt:lpstr>Over-approximation</vt:lpstr>
      <vt:lpstr>Reachability for piecewise affine (PWA) systems</vt:lpstr>
      <vt:lpstr>Reachability for affine systems</vt:lpstr>
      <vt:lpstr>Problem for CPS (hybrid systems)</vt:lpstr>
      <vt:lpstr>Reachability for nonlinear systems</vt:lpstr>
      <vt:lpstr>Combining under and over-approximations</vt:lpstr>
      <vt:lpstr>Simlulation-guided reachability depiction</vt:lpstr>
      <vt:lpstr>Secret sauce: how to bloat</vt:lpstr>
      <vt:lpstr>PowerPoint Presentation</vt:lpstr>
      <vt:lpstr>Probabilistic Models</vt:lpstr>
      <vt:lpstr>Stochastic Process</vt:lpstr>
      <vt:lpstr>Markov chains</vt:lpstr>
      <vt:lpstr>Discrete-time Markov chain (DTMC)</vt:lpstr>
      <vt:lpstr>Formal definition: DTMC as a transition system</vt:lpstr>
      <vt:lpstr>Markov chain example: Driver modeling</vt:lpstr>
      <vt:lpstr>Markov chain: Transition probability matrix</vt:lpstr>
      <vt:lpstr>Probability of moving n steps</vt:lpstr>
      <vt:lpstr>PCTL</vt:lpstr>
      <vt:lpstr>Example PCTL formulas</vt:lpstr>
      <vt:lpstr>PCTL equivalences</vt:lpstr>
      <vt:lpstr>PCTL vs. CTL</vt:lpstr>
      <vt:lpstr>Quantitative vs. Qualitative model checking</vt:lpstr>
      <vt:lpstr>Model checking PCTL</vt:lpstr>
      <vt:lpstr>Computing P_(∼p) ψ</vt:lpstr>
      <vt:lpstr>Computing P_(∼p ) Φ U^(≤k)  Ψ</vt:lpstr>
      <vt:lpstr>Computing P_(∼p ) Φ U^(&lt;∞)  Ψ</vt:lpstr>
      <vt:lpstr>Types of problems in Probabilistic Verification</vt:lpstr>
      <vt:lpstr>PCTL</vt:lpstr>
      <vt:lpstr>PCTL vs. CTL</vt:lpstr>
      <vt:lpstr>Probabilistic vs. Nondeterministic verification </vt:lpstr>
      <vt:lpstr>Geometric distribution for discrete random variables</vt:lpstr>
      <vt:lpstr>Residence/Dwell times</vt:lpstr>
      <vt:lpstr>Continuous Time Markov Chains</vt:lpstr>
      <vt:lpstr>Exponential distribution</vt:lpstr>
      <vt:lpstr>Exponential distribution properties</vt:lpstr>
      <vt:lpstr>CTMC modeled with n.exp. distributed dwell time</vt:lpstr>
      <vt:lpstr>CTMC modeled with n.e. distributed transition rate</vt:lpstr>
      <vt:lpstr>CTMC example</vt:lpstr>
      <vt:lpstr>CTMC + PCTL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373</cp:revision>
  <dcterms:created xsi:type="dcterms:W3CDTF">2018-01-04T23:14:16Z</dcterms:created>
  <dcterms:modified xsi:type="dcterms:W3CDTF">2026-10-13T22:21:05Z</dcterms:modified>
</cp:coreProperties>
</file>