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364" r:id="rId3"/>
    <p:sldId id="366" r:id="rId4"/>
    <p:sldId id="315" r:id="rId5"/>
    <p:sldId id="316" r:id="rId6"/>
    <p:sldId id="312" r:id="rId7"/>
    <p:sldId id="272" r:id="rId8"/>
    <p:sldId id="367" r:id="rId9"/>
    <p:sldId id="289" r:id="rId10"/>
    <p:sldId id="313" r:id="rId11"/>
    <p:sldId id="314" r:id="rId12"/>
    <p:sldId id="317" r:id="rId13"/>
    <p:sldId id="357" r:id="rId14"/>
    <p:sldId id="318" r:id="rId15"/>
    <p:sldId id="319" r:id="rId16"/>
    <p:sldId id="320" r:id="rId17"/>
    <p:sldId id="321" r:id="rId18"/>
    <p:sldId id="322" r:id="rId19"/>
    <p:sldId id="365" r:id="rId20"/>
    <p:sldId id="328" r:id="rId21"/>
    <p:sldId id="324" r:id="rId22"/>
    <p:sldId id="325" r:id="rId23"/>
    <p:sldId id="323" r:id="rId24"/>
    <p:sldId id="326" r:id="rId25"/>
    <p:sldId id="327" r:id="rId26"/>
    <p:sldId id="363" r:id="rId27"/>
    <p:sldId id="360" r:id="rId28"/>
    <p:sldId id="361" r:id="rId29"/>
    <p:sldId id="362" r:id="rId30"/>
    <p:sldId id="329" r:id="rId31"/>
    <p:sldId id="330" r:id="rId32"/>
    <p:sldId id="331" r:id="rId33"/>
    <p:sldId id="278" r:id="rId34"/>
    <p:sldId id="397" r:id="rId35"/>
    <p:sldId id="434" r:id="rId36"/>
    <p:sldId id="400" r:id="rId37"/>
    <p:sldId id="435" r:id="rId38"/>
    <p:sldId id="430" r:id="rId39"/>
    <p:sldId id="428" r:id="rId40"/>
    <p:sldId id="432" r:id="rId41"/>
    <p:sldId id="433" r:id="rId42"/>
    <p:sldId id="380" r:id="rId43"/>
    <p:sldId id="406" r:id="rId44"/>
    <p:sldId id="407" r:id="rId45"/>
    <p:sldId id="438" r:id="rId46"/>
    <p:sldId id="436" r:id="rId47"/>
    <p:sldId id="404" r:id="rId48"/>
    <p:sldId id="405" r:id="rId49"/>
    <p:sldId id="421" r:id="rId50"/>
    <p:sldId id="411" r:id="rId51"/>
    <p:sldId id="419" r:id="rId52"/>
    <p:sldId id="420" r:id="rId53"/>
    <p:sldId id="408" r:id="rId54"/>
    <p:sldId id="409" r:id="rId55"/>
    <p:sldId id="410" r:id="rId56"/>
    <p:sldId id="417" r:id="rId57"/>
    <p:sldId id="422" r:id="rId58"/>
    <p:sldId id="423" r:id="rId59"/>
    <p:sldId id="413" r:id="rId60"/>
    <p:sldId id="414" r:id="rId61"/>
    <p:sldId id="415" r:id="rId62"/>
    <p:sldId id="416" r:id="rId63"/>
    <p:sldId id="424" r:id="rId64"/>
    <p:sldId id="425" r:id="rId65"/>
    <p:sldId id="426" r:id="rId66"/>
    <p:sldId id="412" r:id="rId67"/>
    <p:sldId id="429" r:id="rId68"/>
    <p:sldId id="427" r:id="rId69"/>
    <p:sldId id="418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2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FEDBB-23D4-4FB2-B355-2F6DA13DD15F}"/>
              </a:ext>
            </a:extLst>
          </p:cNvPr>
          <p:cNvSpPr txBox="1"/>
          <p:nvPr userDrawn="1"/>
        </p:nvSpPr>
        <p:spPr>
          <a:xfrm>
            <a:off x="0" y="6150114"/>
            <a:ext cx="571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9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27279"/>
            <a:ext cx="11699087" cy="475676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61308" y="65138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6513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A0AC-1377-4982-AD37-F63712CCADEE}"/>
              </a:ext>
            </a:extLst>
          </p:cNvPr>
          <p:cNvSpPr txBox="1"/>
          <p:nvPr userDrawn="1"/>
        </p:nvSpPr>
        <p:spPr>
          <a:xfrm>
            <a:off x="0" y="6150114"/>
            <a:ext cx="571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9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4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4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1.png"/><Relationship Id="rId7" Type="http://schemas.openxmlformats.org/officeDocument/2006/relationships/image" Target="../media/image33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613.png"/><Relationship Id="rId4" Type="http://schemas.openxmlformats.org/officeDocument/2006/relationships/image" Target="../media/image3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30.png"/><Relationship Id="rId12" Type="http://schemas.openxmlformats.org/officeDocument/2006/relationships/image" Target="../media/image42.png"/><Relationship Id="rId2" Type="http://schemas.openxmlformats.org/officeDocument/2006/relationships/image" Target="../media/image34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110.png"/><Relationship Id="rId4" Type="http://schemas.openxmlformats.org/officeDocument/2006/relationships/image" Target="../media/image590.png"/><Relationship Id="rId9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51.png"/><Relationship Id="rId4" Type="http://schemas.openxmlformats.org/officeDocument/2006/relationships/image" Target="../media/image4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51.png"/><Relationship Id="rId4" Type="http://schemas.openxmlformats.org/officeDocument/2006/relationships/image" Target="../media/image4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41.png"/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6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2.png"/><Relationship Id="rId4" Type="http://schemas.openxmlformats.org/officeDocument/2006/relationships/image" Target="../media/image6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7" Type="http://schemas.openxmlformats.org/officeDocument/2006/relationships/image" Target="../media/image641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10" Type="http://schemas.openxmlformats.org/officeDocument/2006/relationships/image" Target="../media/image672.png"/><Relationship Id="rId4" Type="http://schemas.openxmlformats.org/officeDocument/2006/relationships/image" Target="../media/image66.png"/><Relationship Id="rId9" Type="http://schemas.openxmlformats.org/officeDocument/2006/relationships/image" Target="../media/image6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0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510.png"/><Relationship Id="rId4" Type="http://schemas.openxmlformats.org/officeDocument/2006/relationships/image" Target="../media/image41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0.png"/><Relationship Id="rId13" Type="http://schemas.openxmlformats.org/officeDocument/2006/relationships/image" Target="../media/image2200.png"/><Relationship Id="rId18" Type="http://schemas.openxmlformats.org/officeDocument/2006/relationships/image" Target="../media/image270.png"/><Relationship Id="rId3" Type="http://schemas.openxmlformats.org/officeDocument/2006/relationships/image" Target="../media/image129.png"/><Relationship Id="rId21" Type="http://schemas.openxmlformats.org/officeDocument/2006/relationships/image" Target="../media/image3000.png"/><Relationship Id="rId7" Type="http://schemas.openxmlformats.org/officeDocument/2006/relationships/image" Target="../media/image1600.png"/><Relationship Id="rId12" Type="http://schemas.openxmlformats.org/officeDocument/2006/relationships/image" Target="../media/image2110.png"/><Relationship Id="rId17" Type="http://schemas.openxmlformats.org/officeDocument/2006/relationships/image" Target="../media/image260.png"/><Relationship Id="rId2" Type="http://schemas.openxmlformats.org/officeDocument/2006/relationships/image" Target="../media/image1110.png"/><Relationship Id="rId16" Type="http://schemas.openxmlformats.org/officeDocument/2006/relationships/image" Target="../media/image2500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0.png"/><Relationship Id="rId11" Type="http://schemas.openxmlformats.org/officeDocument/2006/relationships/image" Target="../media/image2000.png"/><Relationship Id="rId5" Type="http://schemas.openxmlformats.org/officeDocument/2006/relationships/image" Target="../media/image1400.png"/><Relationship Id="rId15" Type="http://schemas.openxmlformats.org/officeDocument/2006/relationships/image" Target="../media/image2400.png"/><Relationship Id="rId10" Type="http://schemas.openxmlformats.org/officeDocument/2006/relationships/image" Target="../media/image190.png"/><Relationship Id="rId19" Type="http://schemas.openxmlformats.org/officeDocument/2006/relationships/image" Target="../media/image280.png"/><Relationship Id="rId4" Type="http://schemas.openxmlformats.org/officeDocument/2006/relationships/image" Target="../media/image1310.png"/><Relationship Id="rId9" Type="http://schemas.openxmlformats.org/officeDocument/2006/relationships/image" Target="../media/image1800.png"/><Relationship Id="rId14" Type="http://schemas.openxmlformats.org/officeDocument/2006/relationships/image" Target="../media/image23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7" Type="http://schemas.openxmlformats.org/officeDocument/2006/relationships/image" Target="../media/image641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4" Type="http://schemas.openxmlformats.org/officeDocument/2006/relationships/image" Target="../media/image61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12.png"/><Relationship Id="rId7" Type="http://schemas.openxmlformats.org/officeDocument/2006/relationships/image" Target="../media/image450.png"/><Relationship Id="rId12" Type="http://schemas.openxmlformats.org/officeDocument/2006/relationships/image" Target="../media/image33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11" Type="http://schemas.openxmlformats.org/officeDocument/2006/relationships/image" Target="../media/image491.png"/><Relationship Id="rId5" Type="http://schemas.openxmlformats.org/officeDocument/2006/relationships/image" Target="../media/image430.png"/><Relationship Id="rId10" Type="http://schemas.openxmlformats.org/officeDocument/2006/relationships/image" Target="../media/image480.png"/><Relationship Id="rId4" Type="http://schemas.openxmlformats.org/officeDocument/2006/relationships/image" Target="../media/image421.png"/><Relationship Id="rId9" Type="http://schemas.openxmlformats.org/officeDocument/2006/relationships/image" Target="../media/image470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0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0.png"/><Relationship Id="rId4" Type="http://schemas.openxmlformats.org/officeDocument/2006/relationships/image" Target="../media/image330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0.png"/><Relationship Id="rId13" Type="http://schemas.openxmlformats.org/officeDocument/2006/relationships/image" Target="../media/image640.png"/><Relationship Id="rId18" Type="http://schemas.openxmlformats.org/officeDocument/2006/relationships/image" Target="../media/image690.png"/><Relationship Id="rId21" Type="http://schemas.openxmlformats.org/officeDocument/2006/relationships/image" Target="../media/image720.png"/><Relationship Id="rId7" Type="http://schemas.openxmlformats.org/officeDocument/2006/relationships/image" Target="../media/image581.png"/><Relationship Id="rId12" Type="http://schemas.openxmlformats.org/officeDocument/2006/relationships/image" Target="../media/image630.png"/><Relationship Id="rId17" Type="http://schemas.openxmlformats.org/officeDocument/2006/relationships/image" Target="../media/image680.png"/><Relationship Id="rId2" Type="http://schemas.openxmlformats.org/officeDocument/2006/relationships/image" Target="../media/image71.png"/><Relationship Id="rId16" Type="http://schemas.openxmlformats.org/officeDocument/2006/relationships/image" Target="../media/image670.png"/><Relationship Id="rId20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11" Type="http://schemas.openxmlformats.org/officeDocument/2006/relationships/image" Target="../media/image620.png"/><Relationship Id="rId5" Type="http://schemas.openxmlformats.org/officeDocument/2006/relationships/image" Target="../media/image561.png"/><Relationship Id="rId15" Type="http://schemas.openxmlformats.org/officeDocument/2006/relationships/image" Target="../media/image660.png"/><Relationship Id="rId23" Type="http://schemas.openxmlformats.org/officeDocument/2006/relationships/image" Target="../media/image74.png"/><Relationship Id="rId10" Type="http://schemas.openxmlformats.org/officeDocument/2006/relationships/image" Target="../media/image611.png"/><Relationship Id="rId19" Type="http://schemas.openxmlformats.org/officeDocument/2006/relationships/image" Target="../media/image700.png"/><Relationship Id="rId4" Type="http://schemas.openxmlformats.org/officeDocument/2006/relationships/image" Target="../media/image551.png"/><Relationship Id="rId9" Type="http://schemas.openxmlformats.org/officeDocument/2006/relationships/image" Target="../media/image600.png"/><Relationship Id="rId14" Type="http://schemas.openxmlformats.org/officeDocument/2006/relationships/image" Target="../media/image650.png"/><Relationship Id="rId22" Type="http://schemas.openxmlformats.org/officeDocument/2006/relationships/image" Target="../media/image73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410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0.png"/><Relationship Id="rId10" Type="http://schemas.openxmlformats.org/officeDocument/2006/relationships/image" Target="../media/image800.png"/><Relationship Id="rId4" Type="http://schemas.openxmlformats.org/officeDocument/2006/relationships/image" Target="../media/image420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spaceex.imag.fr/" TargetMode="External"/><Relationship Id="rId2" Type="http://schemas.openxmlformats.org/officeDocument/2006/relationships/hyperlink" Target="http://qmc.cs.aau.dk/slides/slides-frehs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6.in.tum.de/Main/SoftwareCORA" TargetMode="External"/><Relationship Id="rId5" Type="http://schemas.openxmlformats.org/officeDocument/2006/relationships/hyperlink" Target="http://dreal.github.io/dReach/" TargetMode="External"/><Relationship Id="rId4" Type="http://schemas.openxmlformats.org/officeDocument/2006/relationships/hyperlink" Target="https://flowsta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dirty="0"/>
              <a:t>Autonomous Cyber-Physical Systems: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Timed &amp; Hybrid Dynamical Systems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CSCI 513.</a:t>
            </a:r>
          </a:p>
          <a:p>
            <a:r>
              <a:rPr lang="en-US" dirty="0"/>
              <a:t>Instructor: Jyo Deshmukh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1A7DD-D17C-40BC-A055-744B6A9FE579}"/>
              </a:ext>
            </a:extLst>
          </p:cNvPr>
          <p:cNvSpPr txBox="1"/>
          <p:nvPr/>
        </p:nvSpPr>
        <p:spPr>
          <a:xfrm>
            <a:off x="291993" y="4958678"/>
            <a:ext cx="11725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Acknowledgment: Some of the material in these slides is based on the lecture slides for CIS 540: Principles of Embedded Computation taught by Rajeev Alur at the University of Pennsylvania. http://www.seas.upenn.edu/~cis540/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Computation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4B02C-A1AC-4CA0-B349-4E16229135E5}"/>
              </a:ext>
            </a:extLst>
          </p:cNvPr>
          <p:cNvSpPr txBox="1"/>
          <p:nvPr/>
        </p:nvSpPr>
        <p:spPr>
          <a:xfrm>
            <a:off x="7622367" y="5842421"/>
            <a:ext cx="4433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[1] Nicolescu, Gabriela; Mosterman, Pieter J., eds. (2010). Model-Based Design for Embedded Systems. Computational Analysis, Synthesis, and Design of Dynamic Systems. 1. Boca Raton: CRC Press.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5505"/>
            <a:ext cx="11699087" cy="4348536"/>
          </a:xfrm>
        </p:spPr>
        <p:txBody>
          <a:bodyPr>
            <a:normAutofit/>
          </a:bodyPr>
          <a:lstStyle/>
          <a:p>
            <a:r>
              <a:rPr lang="en-US" strike="sngStrike" dirty="0"/>
              <a:t>Synchronous Process Models</a:t>
            </a:r>
          </a:p>
          <a:p>
            <a:r>
              <a:rPr lang="en-US" strike="sngStrike" dirty="0"/>
              <a:t>Asynchronous Process Models</a:t>
            </a:r>
          </a:p>
          <a:p>
            <a:r>
              <a:rPr lang="en-US" strike="sngStrike" dirty="0"/>
              <a:t>Continuous-time models/Dynamical system models</a:t>
            </a:r>
          </a:p>
          <a:p>
            <a:pPr lvl="1"/>
            <a:r>
              <a:rPr lang="en-US" strike="sngStrike" dirty="0"/>
              <a:t>Like Synchronous, but time evolves continuously</a:t>
            </a:r>
          </a:p>
          <a:p>
            <a:r>
              <a:rPr lang="en-US" dirty="0"/>
              <a:t>Timed &amp; Hybrid Dynamical Models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1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8D79018-1335-44E9-A469-6C3DA3B7CC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07804" y="1042075"/>
            <a:ext cx="4736107" cy="52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Like asynchronous ESMs, have input, output channels, state variables</a:t>
            </a:r>
          </a:p>
          <a:p>
            <a:r>
              <a:rPr lang="en-US" dirty="0"/>
              <a:t>Special type of state variable called “clock” </a:t>
            </a:r>
          </a:p>
          <a:p>
            <a:r>
              <a:rPr lang="en-US" dirty="0"/>
              <a:t>Clock variables evolve continuously in time</a:t>
            </a:r>
          </a:p>
          <a:p>
            <a:r>
              <a:rPr lang="en-US" dirty="0"/>
              <a:t>ESM can “stay” in a mode with clock increasing monotonically from the start value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ESMs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032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BB2B7-E1C7-474B-9F77-CECBD775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901" y="1340387"/>
            <a:ext cx="4915350" cy="4351338"/>
          </a:xfrm>
        </p:spPr>
        <p:txBody>
          <a:bodyPr>
            <a:normAutofit/>
          </a:bodyPr>
          <a:lstStyle/>
          <a:p>
            <a:r>
              <a:rPr lang="en-US" dirty="0"/>
              <a:t>Mode switch: discrete action</a:t>
            </a:r>
          </a:p>
          <a:p>
            <a:pPr lvl="1"/>
            <a:r>
              <a:rPr lang="en-US" dirty="0"/>
              <a:t>machine moves from one mode to another</a:t>
            </a:r>
          </a:p>
          <a:p>
            <a:pPr lvl="1"/>
            <a:r>
              <a:rPr lang="en-US" dirty="0"/>
              <a:t>guard on the transition must be true for mode switch to occur</a:t>
            </a:r>
          </a:p>
          <a:p>
            <a:pPr lvl="1"/>
            <a:r>
              <a:rPr lang="en-US" dirty="0"/>
              <a:t>update specified by the transition will update/reset clock variables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203D0-2F03-4F5E-9522-969F48FB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CADA-AEA6-4AE7-8A25-2AE905B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FDEDDF-FDF5-41B1-BC3A-3F9ABC1F8C51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9AB84B-473C-4A4A-9473-5622711C5DB4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C34412-B461-4488-B3BF-94DE23AD9C3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B324E2-5EAC-4978-9CDA-673514D7D675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CF0D30-8738-4D7D-A1FC-0AE52B886AFF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CE130A-C9A5-45E1-9FB6-B2BE4D91793F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4ACD20-5DBC-496B-B703-CB72831386A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697C5A-6EAB-4BB3-AA16-7CA9C646C9E2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80DC57-0F9A-4C43-9B92-350F6ADE5442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1C5117-91B9-4A17-BDED-439786D632D5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AB365-1731-4B00-B6D3-EAABC37287B4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AA3F06-CF9E-40FC-A6D7-E7539E2B19ED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BB34096E-0BE2-4A16-B5BC-7CEE4F9641D4}"/>
              </a:ext>
            </a:extLst>
          </p:cNvPr>
          <p:cNvSpPr txBox="1">
            <a:spLocks/>
          </p:cNvSpPr>
          <p:nvPr/>
        </p:nvSpPr>
        <p:spPr>
          <a:xfrm>
            <a:off x="2425596" y="476443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5B5FBF3-345B-4AE5-94B0-C748DEB188AB}"/>
              </a:ext>
            </a:extLst>
          </p:cNvPr>
          <p:cNvSpPr txBox="1">
            <a:spLocks/>
          </p:cNvSpPr>
          <p:nvPr/>
        </p:nvSpPr>
        <p:spPr>
          <a:xfrm>
            <a:off x="4285820" y="475942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8A24D-6D4C-43E7-B3E8-183C4B25D38F}"/>
              </a:ext>
            </a:extLst>
          </p:cNvPr>
          <p:cNvSpPr txBox="1"/>
          <p:nvPr/>
        </p:nvSpPr>
        <p:spPr>
          <a:xfrm>
            <a:off x="3348559" y="458306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CDFB8D-E14E-4416-BD86-8A55B429CF03}"/>
              </a:ext>
            </a:extLst>
          </p:cNvPr>
          <p:cNvCxnSpPr>
            <a:cxnSpLocks/>
          </p:cNvCxnSpPr>
          <p:nvPr/>
        </p:nvCxnSpPr>
        <p:spPr>
          <a:xfrm>
            <a:off x="3424682" y="492870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5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In a mode: Timed action</a:t>
                </a:r>
              </a:p>
              <a:p>
                <a:r>
                  <a:rPr lang="en-US" dirty="0"/>
                  <a:t>When machine stays in any given mode for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each clock variable increases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and all other state variables remain unchanged</a:t>
                </a:r>
              </a:p>
              <a:p>
                <a:r>
                  <a:rPr lang="en-US" dirty="0"/>
                  <a:t>Captures timing constraints</a:t>
                </a:r>
              </a:p>
              <a:p>
                <a:pPr lvl="1"/>
                <a:r>
                  <a:rPr lang="en-US" sz="2400" dirty="0"/>
                  <a:t>Resetting c to 0 from off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dim and guard 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1 from dim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off specifies that these mode switches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1 second apart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  <a:blipFill>
                <a:blip r:embed="rId2"/>
                <a:stretch>
                  <a:fillRect l="-2706" t="-2316" r="-3093" b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11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Clock variables</a:t>
                </a:r>
              </a:p>
              <a:p>
                <a:pPr lvl="1"/>
                <a:r>
                  <a:rPr lang="en-US" dirty="0"/>
                  <a:t>Like other state variables, can be used in guards</a:t>
                </a:r>
              </a:p>
              <a:p>
                <a:pPr lvl="1"/>
                <a:r>
                  <a:rPr lang="en-US" dirty="0"/>
                  <a:t>Can be reset to 0 during mode switches</a:t>
                </a:r>
              </a:p>
              <a:p>
                <a:pPr lvl="1"/>
                <a:r>
                  <a:rPr lang="en-US" dirty="0"/>
                  <a:t>When the machine is in a given mode for duration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clock variable increases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  <a:blipFill>
                <a:blip r:embed="rId3"/>
                <a:stretch>
                  <a:fillRect l="-1615" t="-2585" b="-3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8DE0F86-9BC9-4767-9998-CE9356D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Processes: explicit clock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9896-4F17-4713-8362-247E622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D46C9-B905-45DC-BCE6-D9F5D597FD12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0424B2-C0EA-4C19-A65F-2208D370E9E0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901C78-3E2E-4D68-9762-C6BF070EAE2D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DBB024-D4C8-4B02-893A-021A4751E1BC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B99FF3-5B9E-427B-8D2A-3437DB8EAACE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C948EFF-8209-45A4-812D-D2AB936F3B5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06947F-7874-42AD-921D-2E7FB6EED009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4028D5-3351-4559-9BB4-619D09DBFC4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81D0B-9CA7-4571-91D9-68C5E95EA2CD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8585CE-D023-42BB-BD59-5CA991A6A83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2ECD-173C-40F2-88AC-E7952A97C0D3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7E5E64-F07C-4C11-8229-4B55AE5F9A9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18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76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pic>
        <p:nvPicPr>
          <p:cNvPr id="51" name="Graphic 50" descr="Clock">
            <a:extLst>
              <a:ext uri="{FF2B5EF4-FFF2-40B4-BE49-F238E27FC236}">
                <a16:creationId xmlns:a16="http://schemas.microsoft.com/office/drawing/2014/main" id="{2543A277-606A-4BFB-906A-BA8C746C9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3758" y="4958314"/>
            <a:ext cx="449052" cy="4490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84A00CE-14A2-421F-A4ED-6105EFE5B35A}"/>
              </a:ext>
            </a:extLst>
          </p:cNvPr>
          <p:cNvSpPr txBox="1"/>
          <p:nvPr/>
        </p:nvSpPr>
        <p:spPr>
          <a:xfrm>
            <a:off x="6859246" y="4674037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AAB2C8-0137-4D98-9A5E-D9CB821A075B}"/>
              </a:ext>
            </a:extLst>
          </p:cNvPr>
          <p:cNvCxnSpPr>
            <a:cxnSpLocks/>
          </p:cNvCxnSpPr>
          <p:nvPr/>
        </p:nvCxnSpPr>
        <p:spPr>
          <a:xfrm flipV="1">
            <a:off x="4813204" y="5060516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36EACA90-9368-4AD4-9048-A912D894C9C2}"/>
              </a:ext>
            </a:extLst>
          </p:cNvPr>
          <p:cNvSpPr txBox="1">
            <a:spLocks/>
          </p:cNvSpPr>
          <p:nvPr/>
        </p:nvSpPr>
        <p:spPr>
          <a:xfrm>
            <a:off x="5821195" y="4892928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67D7F2C1-5FAA-42C8-A9E3-E656464FAB01}"/>
              </a:ext>
            </a:extLst>
          </p:cNvPr>
          <p:cNvSpPr txBox="1">
            <a:spLocks/>
          </p:cNvSpPr>
          <p:nvPr/>
        </p:nvSpPr>
        <p:spPr>
          <a:xfrm>
            <a:off x="7871138" y="4878137"/>
            <a:ext cx="1548524" cy="3798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(bright,0.8)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613C37-7E52-470A-9402-3ED336D89516}"/>
              </a:ext>
            </a:extLst>
          </p:cNvPr>
          <p:cNvCxnSpPr>
            <a:cxnSpLocks/>
          </p:cNvCxnSpPr>
          <p:nvPr/>
        </p:nvCxnSpPr>
        <p:spPr>
          <a:xfrm flipV="1">
            <a:off x="6940629" y="5022651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2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76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C9968F8-4D40-4363-AAEA-97D44C92BBA7}"/>
              </a:ext>
            </a:extLst>
          </p:cNvPr>
          <p:cNvCxnSpPr>
            <a:cxnSpLocks/>
          </p:cNvCxnSpPr>
          <p:nvPr/>
        </p:nvCxnSpPr>
        <p:spPr>
          <a:xfrm>
            <a:off x="5422810" y="5668764"/>
            <a:ext cx="24389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5710CD-D308-41B3-9994-C10E7AB33B7E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425040" y="5229793"/>
            <a:ext cx="997770" cy="438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Clock">
            <a:extLst>
              <a:ext uri="{FF2B5EF4-FFF2-40B4-BE49-F238E27FC236}">
                <a16:creationId xmlns:a16="http://schemas.microsoft.com/office/drawing/2014/main" id="{D6BA4E74-FABC-424D-8069-952CEE474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544" y="5334076"/>
            <a:ext cx="449052" cy="449052"/>
          </a:xfrm>
          <a:prstGeom prst="rect">
            <a:avLst/>
          </a:prstGeom>
        </p:spPr>
      </p:pic>
      <p:sp>
        <p:nvSpPr>
          <p:cNvPr id="65" name="Content Placeholder 1">
            <a:extLst>
              <a:ext uri="{FF2B5EF4-FFF2-40B4-BE49-F238E27FC236}">
                <a16:creationId xmlns:a16="http://schemas.microsoft.com/office/drawing/2014/main" id="{790B24FD-AFCD-4B57-B32F-20C3784359BC}"/>
              </a:ext>
            </a:extLst>
          </p:cNvPr>
          <p:cNvSpPr txBox="1">
            <a:spLocks/>
          </p:cNvSpPr>
          <p:nvPr/>
        </p:nvSpPr>
        <p:spPr>
          <a:xfrm>
            <a:off x="7963990" y="5470716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(dim,3.8)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15FAA-766C-45FE-B176-E78166EF0413}"/>
              </a:ext>
            </a:extLst>
          </p:cNvPr>
          <p:cNvCxnSpPr>
            <a:cxnSpLocks/>
          </p:cNvCxnSpPr>
          <p:nvPr/>
        </p:nvCxnSpPr>
        <p:spPr>
          <a:xfrm>
            <a:off x="9194494" y="5606221"/>
            <a:ext cx="99512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97C7BCF-D695-44AD-B955-E945B16B98F6}"/>
              </a:ext>
            </a:extLst>
          </p:cNvPr>
          <p:cNvSpPr txBox="1"/>
          <p:nvPr/>
        </p:nvSpPr>
        <p:spPr>
          <a:xfrm>
            <a:off x="9148817" y="5222739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(press==1)?</a:t>
            </a: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1F60487C-7FF9-40D1-9E3E-9E3C894E94E7}"/>
              </a:ext>
            </a:extLst>
          </p:cNvPr>
          <p:cNvSpPr txBox="1">
            <a:spLocks/>
          </p:cNvSpPr>
          <p:nvPr/>
        </p:nvSpPr>
        <p:spPr>
          <a:xfrm>
            <a:off x="10277975" y="5423671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(off,3.8)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4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7" grpId="0"/>
      <p:bldP spid="65" grpId="0"/>
      <p:bldP spid="40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Input channel </a:t>
                </a:r>
                <a:r>
                  <a:rPr lang="en-US" dirty="0">
                    <a:solidFill>
                      <a:srgbClr val="FF0000"/>
                    </a:solidFill>
                  </a:rPr>
                  <a:t>in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Output channel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out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State variable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x</a:t>
                </a:r>
                <a:r>
                  <a:rPr lang="en-US" dirty="0"/>
                  <a:t> of type bool+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indicates empty</a:t>
                </a:r>
              </a:p>
              <a:p>
                <a:r>
                  <a:rPr lang="en-US" dirty="0"/>
                  <a:t>If 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, then read new value into x, and set clock to 0</a:t>
                </a:r>
              </a:p>
              <a:p>
                <a:r>
                  <a:rPr lang="en-US" dirty="0"/>
                  <a:t>If clock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 seconds, output value of x, and set x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  <a:blipFill>
                <a:blip r:embed="rId2"/>
                <a:stretch>
                  <a:fillRect l="-1224" t="-265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89A1683-0128-4614-B590-20933FDE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Buffer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BA18-E1CB-4B79-AAFC-FDACD8F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15AA8-E008-4132-A078-BB325CF81928}"/>
              </a:ext>
            </a:extLst>
          </p:cNvPr>
          <p:cNvSpPr txBox="1"/>
          <p:nvPr/>
        </p:nvSpPr>
        <p:spPr>
          <a:xfrm>
            <a:off x="4872078" y="2272658"/>
            <a:ext cx="9156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bool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out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BD3D74-E6B3-45E7-A43C-156493F31D06}"/>
              </a:ext>
            </a:extLst>
          </p:cNvPr>
          <p:cNvGrpSpPr/>
          <p:nvPr/>
        </p:nvGrpSpPr>
        <p:grpSpPr>
          <a:xfrm>
            <a:off x="166680" y="1655832"/>
            <a:ext cx="4841089" cy="3966299"/>
            <a:chOff x="20042" y="1541532"/>
            <a:chExt cx="5606847" cy="38974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72B848-46A2-40B5-9381-70B05885355E}"/>
                </a:ext>
              </a:extLst>
            </p:cNvPr>
            <p:cNvSpPr/>
            <p:nvPr/>
          </p:nvSpPr>
          <p:spPr>
            <a:xfrm>
              <a:off x="1206585" y="1723596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014A381-F3B7-46E2-BF5E-E6B0F9BDF849}"/>
                </a:ext>
              </a:extLst>
            </p:cNvPr>
            <p:cNvCxnSpPr>
              <a:cxnSpLocks/>
            </p:cNvCxnSpPr>
            <p:nvPr/>
          </p:nvCxnSpPr>
          <p:spPr>
            <a:xfrm>
              <a:off x="4972811" y="2211839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FCB4D5-5532-4854-932C-734C1F85D29A}"/>
                </a:ext>
              </a:extLst>
            </p:cNvPr>
            <p:cNvCxnSpPr>
              <a:cxnSpLocks/>
            </p:cNvCxnSpPr>
            <p:nvPr/>
          </p:nvCxnSpPr>
          <p:spPr>
            <a:xfrm>
              <a:off x="92208" y="2135635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55DF31-D189-4DEE-A7A0-624994297992}"/>
                </a:ext>
              </a:extLst>
            </p:cNvPr>
            <p:cNvSpPr txBox="1"/>
            <p:nvPr/>
          </p:nvSpPr>
          <p:spPr>
            <a:xfrm>
              <a:off x="20042" y="1541532"/>
              <a:ext cx="830677" cy="312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bool</a:t>
              </a:r>
              <a:r>
                <a:rPr lang="en-US" dirty="0"/>
                <a:t> in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ECF661-C3D7-4BBC-91C1-C0FDD74F9137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/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bool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</m:oMath>
                  </a14:m>
                  <a:r>
                    <a:rPr lang="en-US" dirty="0"/>
                    <a:t> x:=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, clock c:=0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blipFill>
                  <a:blip r:embed="rId3"/>
                  <a:stretch>
                    <a:fillRect t="-7547" r="-17231" b="-452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/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Tin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(x==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) &amp; 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	x:=in; c:=0;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blipFill>
                  <a:blip r:embed="rId4"/>
                  <a:stretch>
                    <a:fillRect l="-1684" t="-6593" b="-329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/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Tout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(c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2)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</a:t>
                  </a:r>
                </a:p>
                <a:p>
                  <a:r>
                    <a:rPr lang="en-US" dirty="0"/>
                    <a:t>	{ out := x;</a:t>
                  </a:r>
                </a:p>
                <a:p>
                  <a:r>
                    <a:rPr lang="en-US" dirty="0"/>
                    <a:t>                    x 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 }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blipFill>
                  <a:blip r:embed="rId5"/>
                  <a:stretch>
                    <a:fillRect l="-1794" t="-3846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/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T</a:t>
                </a:r>
                <a:r>
                  <a:rPr lang="en-US" sz="2400" baseline="-25000" dirty="0"/>
                  <a:t>infull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0" dirty="0"/>
                  <a:t> in?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	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blipFill>
                <a:blip r:embed="rId6"/>
                <a:stretch>
                  <a:fillRect l="-3101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37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4F0192-A3CC-4EF6-91CD-BC3F41DD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State Machine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F16B1-994F-4B79-96D1-2BF7CA1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Mode captures whether x==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Clock variable tracks the time that elapsed since x received a value</a:t>
                </a:r>
              </a:p>
              <a:p>
                <a:r>
                  <a:rPr lang="en-US" dirty="0"/>
                  <a:t>Guard ensures that </a:t>
                </a:r>
                <a:r>
                  <a:rPr lang="en-US" dirty="0">
                    <a:solidFill>
                      <a:srgbClr val="FF0000"/>
                    </a:solidFill>
                  </a:rPr>
                  <a:t>at least </a:t>
                </a:r>
                <a:r>
                  <a:rPr lang="en-US" dirty="0"/>
                  <a:t>2 seconds pass before the value of x is output </a:t>
                </a:r>
              </a:p>
              <a:p>
                <a:r>
                  <a:rPr lang="en-US" dirty="0"/>
                  <a:t>Guard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does not force </a:t>
                </a:r>
                <a:r>
                  <a:rPr lang="en-US" dirty="0"/>
                  <a:t>transitions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can keep increasing while process remains in mode full</a:t>
                </a:r>
              </a:p>
              <a:p>
                <a:r>
                  <a:rPr lang="en-US" dirty="0"/>
                  <a:t>How do we make sure that process does not remain in full mode for </a:t>
                </a:r>
                <a:r>
                  <a:rPr lang="en-US" dirty="0">
                    <a:solidFill>
                      <a:srgbClr val="FF0000"/>
                    </a:solidFill>
                  </a:rPr>
                  <a:t>at most</a:t>
                </a:r>
                <a:r>
                  <a:rPr lang="en-US" dirty="0"/>
                  <a:t> 3 seconds?</a:t>
                </a:r>
              </a:p>
            </p:txBody>
          </p:sp>
        </mc:Choice>
        <mc:Fallback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  <a:blipFill>
                <a:blip r:embed="rId2"/>
                <a:stretch>
                  <a:fillRect l="-384" t="-1297" r="-1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BC812-BBEB-48C8-951E-46DB418FC731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7C8B1E-13DC-4D61-A3D3-3228EB5DA76F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3211FC1-AAFE-4C59-A896-A4B872C9BBAD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4FD206-C939-4D69-A62F-0B97EA183469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BBDF3-B6A7-4D0B-9ED5-C0802B044277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42D8E79-D767-4B95-AFD8-1C4E08EFA1C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8A40F54-3117-40ED-9F28-C44282AB1BB4}"/>
                  </a:ext>
                </a:extLst>
              </p:cNvPr>
              <p:cNvCxnSpPr>
                <a:cxnSpLocks/>
                <a:endCxn id="5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78578B-1E05-458F-820C-D924FF033114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3369D7D-4043-4492-9918-C0F6EE397266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7F0B4-CCBF-460F-A6B5-01728E9CFDEE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27818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Attempt 1: we could make the guard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Attempt 1 fails because: </a:t>
                </a:r>
              </a:p>
              <a:p>
                <a:pPr lvl="1"/>
                <a:r>
                  <a:rPr lang="en-US" sz="2400" dirty="0"/>
                  <a:t>You could keep getting new input (self-loop executes) till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Larger problem: Guards are non-forcing: nothing requires the guard to be executed</a:t>
                </a:r>
              </a:p>
              <a:p>
                <a:r>
                  <a:rPr lang="en-US" sz="2400" dirty="0"/>
                  <a:t>We can fix this by introducing </a:t>
                </a:r>
                <a:r>
                  <a:rPr lang="en-US" sz="2400" b="1" dirty="0"/>
                  <a:t>clock invariants</a:t>
                </a:r>
              </a:p>
              <a:p>
                <a:r>
                  <a:rPr lang="en-US" sz="2400" dirty="0"/>
                  <a:t>Clock invariant of any mode: symbolic expression that must evaluate to true at all times, and if not, the process must exit that mode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  <a:blipFill>
                <a:blip r:embed="rId2"/>
                <a:stretch>
                  <a:fillRect l="-817" t="-2326" r="-1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368502"/>
            <a:chOff x="314511" y="1810435"/>
            <a:chExt cx="5104700" cy="23685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368502"/>
              <a:chOff x="1244813" y="1428772"/>
              <a:chExt cx="4851187" cy="236850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505993-EA7E-40A3-8AA1-6C53E43A92B2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859770" y="1805508"/>
                <a:ext cx="2588210" cy="453836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96670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9836" r="-25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6131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 clock invariant:</a:t>
                </a:r>
              </a:p>
              <a:p>
                <a:pPr marL="0" indent="0">
                  <a:buNone/>
                </a:pPr>
                <a:r>
                  <a:rPr lang="en-US" dirty="0"/>
                  <a:t>	(mode==full)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(c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3)</a:t>
                </a:r>
              </a:p>
              <a:p>
                <a:r>
                  <a:rPr lang="en-US" dirty="0"/>
                  <a:t>Forces process to leave mode full if c becomes greater than 3</a:t>
                </a:r>
              </a:p>
              <a:p>
                <a:r>
                  <a:rPr lang="en-US" dirty="0"/>
                  <a:t>Staying in mode full when 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would violate the clock invariant</a:t>
                </a:r>
              </a:p>
              <a:p>
                <a:r>
                  <a:rPr lang="en-US" dirty="0"/>
                  <a:t>Useful construct to limit how long a process stays in a certain mode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  <a:blipFill>
                <a:blip r:embed="rId2"/>
                <a:stretch>
                  <a:fillRect l="-1224" t="-2711" r="-2653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/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b="1" dirty="0">
                        <a:solidFill>
                          <a:srgbClr val="FF0000"/>
                        </a:solidFill>
                      </a:rPr>
                      <a:t>c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 t="-4673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374926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mode is a guard-enabled task; if guard is true, task is executed</a:t>
                </a:r>
              </a:p>
              <a:p>
                <a:pPr lvl="1"/>
                <a:r>
                  <a:rPr lang="en-US" sz="2400" dirty="0"/>
                  <a:t>Going from one mode to another is a task switch</a:t>
                </a:r>
              </a:p>
              <a:p>
                <a:r>
                  <a:rPr lang="en-US" dirty="0"/>
                  <a:t>Checking if process leaves mode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depends on if incoming </a:t>
                </a:r>
                <a:r>
                  <a:rPr lang="en-US" i="1" dirty="0"/>
                  <a:t>guard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is true</a:t>
                </a:r>
              </a:p>
              <a:p>
                <a:r>
                  <a:rPr lang="en-US" dirty="0"/>
                  <a:t>Staying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does not/should not depend on the </a:t>
                </a:r>
                <a:r>
                  <a:rPr lang="en-US" i="1" dirty="0"/>
                  <a:t>guard </a:t>
                </a:r>
                <a:r>
                  <a:rPr lang="en-US" dirty="0"/>
                  <a:t>of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So, we use invariants:</a:t>
                </a:r>
              </a:p>
              <a:p>
                <a:pPr lvl="1"/>
                <a:r>
                  <a:rPr lang="en-US" dirty="0"/>
                  <a:t>a condition always checked in a given mode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  <a:blipFill>
                <a:blip r:embed="rId2"/>
                <a:stretch>
                  <a:fillRect l="-929" t="-2378" r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ED05BE-D1EA-4F1F-8FCA-F6888CD2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 using invariants and guards?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F7A8-B764-439E-8F64-A48DB998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A06F97-8131-420F-83CF-1B87827C5738}"/>
              </a:ext>
            </a:extLst>
          </p:cNvPr>
          <p:cNvGrpSpPr/>
          <p:nvPr/>
        </p:nvGrpSpPr>
        <p:grpSpPr>
          <a:xfrm>
            <a:off x="8669020" y="3715765"/>
            <a:ext cx="2533915" cy="1873250"/>
            <a:chOff x="8637270" y="3190292"/>
            <a:chExt cx="2533915" cy="1873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/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/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70A6D7-FAD1-4C4E-8CDD-2CBF86817082}"/>
                </a:ext>
              </a:extLst>
            </p:cNvPr>
            <p:cNvSpPr/>
            <p:nvPr/>
          </p:nvSpPr>
          <p:spPr>
            <a:xfrm>
              <a:off x="10267896" y="353636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F6A069-D3C9-4E20-AB72-EB09CB12017D}"/>
                </a:ext>
              </a:extLst>
            </p:cNvPr>
            <p:cNvSpPr/>
            <p:nvPr/>
          </p:nvSpPr>
          <p:spPr>
            <a:xfrm flipH="1">
              <a:off x="9126890" y="356811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/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/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8610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Model with one input channel and two output channels: out</a:t>
                </a:r>
                <a:r>
                  <a:rPr lang="en-US" baseline="-25000" dirty="0"/>
                  <a:t>1 </a:t>
                </a:r>
                <a:r>
                  <a:rPr lang="en-US" dirty="0"/>
                  <a:t>and out</a:t>
                </a:r>
                <a:r>
                  <a:rPr lang="en-US" baseline="-25000" dirty="0"/>
                  <a:t>2</a:t>
                </a:r>
                <a:endParaRPr lang="en-US" dirty="0"/>
              </a:p>
              <a:p>
                <a:r>
                  <a:rPr lang="en-US" dirty="0"/>
                  <a:t>Clock c tracks time elapsed since occurrence of the input task execution</a:t>
                </a:r>
              </a:p>
              <a:p>
                <a:r>
                  <a:rPr lang="en-US" dirty="0"/>
                  <a:t>Clock d tracks time elapsed since occurrence of output task for out</a:t>
                </a:r>
                <a:r>
                  <a:rPr lang="en-US" baseline="-25000" dirty="0"/>
                  <a:t>1</a:t>
                </a:r>
              </a:p>
              <a:p>
                <a:r>
                  <a:rPr lang="en-US" dirty="0"/>
                  <a:t>Behavior of process: If input event occurs at some time t, then process issues output </a:t>
                </a:r>
                <a:r>
                  <a:rPr lang="en-US" dirty="0">
                    <a:solidFill>
                      <a:srgbClr val="FF0000"/>
                    </a:solidFill>
                  </a:rPr>
                  <a:t>#</a:t>
                </a:r>
                <a:r>
                  <a:rPr lang="en-US" dirty="0"/>
                  <a:t> on out</a:t>
                </a:r>
                <a:r>
                  <a:rPr lang="en-US" baseline="-25000" dirty="0"/>
                  <a:t>1 </a:t>
                </a:r>
                <a:r>
                  <a:rPr lang="en-US" dirty="0"/>
                  <a:t>some time t’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[t,t+1] and then issues output </a:t>
                </a:r>
                <a:r>
                  <a:rPr lang="en-US" dirty="0">
                    <a:solidFill>
                      <a:srgbClr val="7030A0"/>
                    </a:solidFill>
                  </a:rPr>
                  <a:t>* </a:t>
                </a:r>
                <a:r>
                  <a:rPr lang="en-US" dirty="0"/>
                  <a:t>on out</a:t>
                </a:r>
                <a:r>
                  <a:rPr lang="en-US" baseline="-25000" dirty="0"/>
                  <a:t>2 </a:t>
                </a:r>
                <a:r>
                  <a:rPr lang="en-US" dirty="0"/>
                  <a:t>at time t’’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[t’+1, t+2]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  <a:blipFill>
                <a:blip r:embed="rId2"/>
                <a:stretch>
                  <a:fillRect l="-333" t="-1543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4B9EF8-CE9D-40AF-AC47-A35F905E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two clocks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9513-FEC4-4FD1-93CC-E9123F33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40D095-0DB9-4789-B098-E7E97DD04C2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58216" y="2475405"/>
            <a:ext cx="0" cy="746004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/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wait1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1</a:t>
                </a:r>
                <a:r>
                  <a:rPr lang="en-US" sz="2400" baseline="-2500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blipFill>
                <a:blip r:embed="rId3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0729A-C41B-4724-A3E7-59FE3D02C23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2158216" y="4100118"/>
            <a:ext cx="0" cy="766992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13A0FC-07FE-43A0-AF16-A58652F7AA17}"/>
              </a:ext>
            </a:extLst>
          </p:cNvPr>
          <p:cNvSpPr/>
          <p:nvPr/>
        </p:nvSpPr>
        <p:spPr>
          <a:xfrm>
            <a:off x="2700613" y="2204970"/>
            <a:ext cx="661361" cy="2902645"/>
          </a:xfrm>
          <a:custGeom>
            <a:avLst/>
            <a:gdLst>
              <a:gd name="connsiteX0" fmla="*/ 0 w 222837"/>
              <a:gd name="connsiteY0" fmla="*/ 2474259 h 2474259"/>
              <a:gd name="connsiteX1" fmla="*/ 222837 w 222837"/>
              <a:gd name="connsiteY1" fmla="*/ 1091132 h 2474259"/>
              <a:gd name="connsiteX2" fmla="*/ 0 w 222837"/>
              <a:gd name="connsiteY2" fmla="*/ 0 h 247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37" h="2474259">
                <a:moveTo>
                  <a:pt x="0" y="2474259"/>
                </a:moveTo>
                <a:cubicBezTo>
                  <a:pt x="111418" y="1988883"/>
                  <a:pt x="222837" y="1503508"/>
                  <a:pt x="222837" y="1091132"/>
                </a:cubicBezTo>
                <a:cubicBezTo>
                  <a:pt x="222837" y="678756"/>
                  <a:pt x="111418" y="339378"/>
                  <a:pt x="0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85B20F-9BF1-4137-BA8A-FE9CB23658F9}"/>
              </a:ext>
            </a:extLst>
          </p:cNvPr>
          <p:cNvSpPr/>
          <p:nvPr/>
        </p:nvSpPr>
        <p:spPr>
          <a:xfrm>
            <a:off x="1532237" y="1584058"/>
            <a:ext cx="1251958" cy="87870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idle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/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Wait2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2</a:t>
                </a: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blipFill>
                <a:blip r:embed="rId4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80890-901F-4A25-824A-FFCB4AB7A71F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99355" y="2023413"/>
            <a:ext cx="932882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88D912-EFE7-4279-8CA1-C79B49425F75}"/>
              </a:ext>
            </a:extLst>
          </p:cNvPr>
          <p:cNvSpPr txBox="1"/>
          <p:nvPr/>
        </p:nvSpPr>
        <p:spPr>
          <a:xfrm>
            <a:off x="326232" y="1094366"/>
            <a:ext cx="1246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clock </a:t>
            </a:r>
            <a:r>
              <a:rPr lang="en-US" sz="2800" dirty="0" err="1"/>
              <a:t>c,d</a:t>
            </a:r>
            <a:r>
              <a:rPr lang="en-US" sz="2800" dirty="0"/>
              <a:t>:=0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/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in?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blipFill>
                <a:blip r:embed="rId5"/>
                <a:stretch>
                  <a:fillRect l="-6612" t="-10526" r="-495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B8EBE32-945E-42B0-8EDF-2A393B34DA99}"/>
              </a:ext>
            </a:extLst>
          </p:cNvPr>
          <p:cNvSpPr txBox="1"/>
          <p:nvPr/>
        </p:nvSpPr>
        <p:spPr>
          <a:xfrm>
            <a:off x="511498" y="4232579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</a:t>
            </a:r>
            <a:r>
              <a:rPr lang="en-US" sz="2400" baseline="-25000" dirty="0"/>
              <a:t>1</a:t>
            </a:r>
            <a:r>
              <a:rPr lang="en-US" sz="2400" dirty="0"/>
              <a:t>!</a:t>
            </a:r>
            <a:r>
              <a:rPr lang="en-US" sz="2400" dirty="0">
                <a:solidFill>
                  <a:srgbClr val="FF0000"/>
                </a:solidFill>
              </a:rPr>
              <a:t>#</a:t>
            </a:r>
            <a:r>
              <a:rPr lang="en-US" sz="2400" dirty="0"/>
              <a:t>;d:=0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/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≥1→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!</a:t>
                </a:r>
                <a:r>
                  <a:rPr lang="en-US" sz="2400" dirty="0">
                    <a:solidFill>
                      <a:srgbClr val="7030A0"/>
                    </a:solidFill>
                  </a:rPr>
                  <a:t>*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blipFill>
                <a:blip r:embed="rId6"/>
                <a:stretch>
                  <a:fillRect l="-7805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09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Timed process consists of:</a:t>
                </a:r>
              </a:p>
              <a:p>
                <a:pPr lvl="1"/>
                <a:r>
                  <a:rPr lang="en-US" sz="2400" dirty="0"/>
                  <a:t>An asynchronous process, where some of the state variables are of type clock (ranging over non-negative reals)</a:t>
                </a:r>
              </a:p>
              <a:p>
                <a:pPr lvl="1"/>
                <a:r>
                  <a:rPr lang="en-US" sz="2400" dirty="0"/>
                  <a:t>A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 </a:t>
                </a:r>
                <a:r>
                  <a:rPr lang="en-US" sz="2400" dirty="0"/>
                  <a:t>which is a Boolean expression over the state variables</a:t>
                </a:r>
              </a:p>
              <a:p>
                <a:r>
                  <a:rPr lang="en-US" sz="2400" dirty="0"/>
                  <a:t>Inputs, Outputs, States, Initial states, Actions: Internal, Input and Output: same as for asynchronous processes</a:t>
                </a:r>
              </a:p>
              <a:p>
                <a:r>
                  <a:rPr lang="en-US" sz="2400" dirty="0"/>
                  <a:t>Timed Action: Given a state q and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action q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</m:oMath>
                </a14:m>
                <a:r>
                  <a:rPr lang="en-US" sz="2400" dirty="0"/>
                  <a:t>q’ specifies a transition of duration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if:</a:t>
                </a:r>
              </a:p>
              <a:p>
                <a:pPr lvl="1"/>
                <a:r>
                  <a:rPr lang="en-US" sz="2400" dirty="0"/>
                  <a:t>q’ represents a state where the non-clock variables have the same value as in q, i.e. q’(x) = q(x)</a:t>
                </a:r>
              </a:p>
              <a:p>
                <a:pPr lvl="1"/>
                <a:r>
                  <a:rPr lang="en-US" sz="2400" dirty="0"/>
                  <a:t>q’ represents a state where the clock variables in q are incremented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, i.e. q’(c) = q(c) +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</a:t>
                </a:r>
              </a:p>
              <a:p>
                <a:pPr lvl="1"/>
                <a:r>
                  <a:rPr lang="en-US" sz="2400" dirty="0"/>
                  <a:t>For all times 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[q(c),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], the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</a:t>
                </a:r>
                <a:r>
                  <a:rPr lang="en-US" sz="2400" dirty="0"/>
                  <a:t> is satisfied</a:t>
                </a:r>
              </a:p>
              <a:p>
                <a:pPr lvl="1"/>
                <a:r>
                  <a:rPr lang="en-US" sz="2400" dirty="0"/>
                  <a:t>If clock invariant is </a:t>
                </a:r>
                <a:r>
                  <a:rPr lang="en-US" sz="2400" i="1" dirty="0"/>
                  <a:t>convex</a:t>
                </a:r>
                <a:r>
                  <a:rPr lang="en-US" sz="2400" dirty="0"/>
                  <a:t>, enough to check clock invariant at q(c) and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  <a:blipFill>
                <a:blip r:embed="rId2"/>
                <a:stretch>
                  <a:fillRect l="-303" t="-2525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76B661-006B-4781-A6A4-ACBD92B9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recap of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D3E23-7E39-474A-ACA5-06571782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28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147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297784" cy="1712720"/>
            <a:chOff x="314511" y="2114308"/>
            <a:chExt cx="5297784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5070657" cy="1712720"/>
              <a:chOff x="1244813" y="1732645"/>
              <a:chExt cx="507065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3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226126" y="2628451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process stays in mode full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Need to construct a new process with 4 new modes</a:t>
                </a:r>
              </a:p>
              <a:p>
                <a:r>
                  <a:rPr lang="en-US" dirty="0"/>
                  <a:t>Each new mode is a pair consisting of modes from process 1 and 2</a:t>
                </a:r>
              </a:p>
              <a:p>
                <a:r>
                  <a:rPr lang="en-US" dirty="0"/>
                  <a:t>Mode switches in the new machine correspond to mode switches in the old machine</a:t>
                </a:r>
              </a:p>
              <a:p>
                <a:r>
                  <a:rPr lang="en-US" dirty="0"/>
                  <a:t>Interesting timing behavior can arise!</a:t>
                </a:r>
              </a:p>
            </p:txBody>
          </p:sp>
        </mc:Choice>
        <mc:Fallback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  <a:blipFill>
                <a:blip r:embed="rId8"/>
                <a:stretch>
                  <a:fillRect l="-431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874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977164" y="2156952"/>
                <a:ext cx="2470816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104700" cy="1712720"/>
            <a:chOff x="314511" y="2114308"/>
            <a:chExt cx="5104700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2CA13FC-358B-4971-924D-1D6B894AA081}"/>
              </a:ext>
            </a:extLst>
          </p:cNvPr>
          <p:cNvSpPr/>
          <p:nvPr/>
        </p:nvSpPr>
        <p:spPr>
          <a:xfrm>
            <a:off x="4975072" y="1660012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C72FEB0-2ECB-45DF-BEFD-102D0EC02035}"/>
              </a:ext>
            </a:extLst>
          </p:cNvPr>
          <p:cNvSpPr/>
          <p:nvPr/>
        </p:nvSpPr>
        <p:spPr>
          <a:xfrm>
            <a:off x="4937486" y="3729833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959141E-0EB4-4F22-9D43-5B15AB7C7FAD}"/>
              </a:ext>
            </a:extLst>
          </p:cNvPr>
          <p:cNvGrpSpPr/>
          <p:nvPr/>
        </p:nvGrpSpPr>
        <p:grpSpPr>
          <a:xfrm>
            <a:off x="5847398" y="1642616"/>
            <a:ext cx="6151729" cy="3972992"/>
            <a:chOff x="5847398" y="1642616"/>
            <a:chExt cx="6151729" cy="39729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F8F425-4FE6-4A71-9424-EC6E6C3D1747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8"/>
                  <a:stretch>
                    <a:fillRect t="-3738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10"/>
                  <a:stretch>
                    <a:fillRect b="-5488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6C26BD2-11E1-4645-BE87-DBB7CBFC597D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246BB9-951E-40B2-8C5F-E865DD155F3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E44F2B-F362-4944-B18C-9706BAAC86A1}"/>
                </a:ext>
              </a:extLst>
            </p:cNvPr>
            <p:cNvCxnSpPr>
              <a:cxnSpLocks/>
              <a:stCxn id="31" idx="7"/>
              <a:endCxn id="32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AD3FF5C-57A0-4E57-8296-A0A8CF2BC24F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4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5460057-06F9-4AC9-8097-64C627D69C98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70EC45A-8E1F-4A30-B0F0-EC16629F7202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409" r="-2652" b="-6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471F39B-A96F-4C2B-80D8-FBE06ADAE89A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7062A4A-E4AE-4889-90E7-93CE36502C3E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6EB63EF-F59F-466F-8CDD-D5918A397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5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28E36CB-271B-4DF6-83E9-A0F92E59F7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23A2AAE-737F-4CAF-AD33-B50041618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214" t="-2419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3810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 never be enabled! </a:t>
                </a:r>
              </a:p>
              <a:p>
                <a:pPr marL="0" indent="0">
                  <a:buNone/>
                </a:pPr>
                <a:r>
                  <a:rPr lang="en-US" sz="2400" dirty="0"/>
                  <a:t>Why?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the process gets kicked out of state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cannot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so, guard from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to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is not enabled!</a:t>
                </a:r>
              </a:p>
              <a:p>
                <a:pPr lvl="2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1700" t="-1964" r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5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cannot happen</a:t>
                </a:r>
              </a:p>
              <a:p>
                <a:r>
                  <a:rPr lang="en-US" sz="2400" dirty="0"/>
                  <a:t>If</a:t>
                </a:r>
                <a:r>
                  <a:rPr lang="en-US" sz="2400" dirty="0">
                    <a:solidFill>
                      <a:srgbClr val="FF0000"/>
                    </a:solidFill>
                  </a:rPr>
                  <a:t> B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(full, full)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empty,full</a:t>
                </a:r>
                <a:r>
                  <a:rPr lang="en-US" sz="2400" dirty="0"/>
                  <a:t>) will happen eventually</a:t>
                </a:r>
              </a:p>
              <a:p>
                <a:r>
                  <a:rPr lang="en-US" sz="2400" b="1" dirty="0"/>
                  <a:t>out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 guaranteed to happen before out</a:t>
                </a:r>
                <a:r>
                  <a:rPr lang="en-US" sz="2400" b="1" baseline="-25000" dirty="0"/>
                  <a:t>2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Implicit coordination based on delays</a:t>
                </a:r>
              </a:p>
              <a:p>
                <a:pPr lvl="1"/>
                <a:r>
                  <a:rPr lang="en-US" sz="2400" dirty="0"/>
                  <a:t>Both process clocks increase in tandem</a:t>
                </a:r>
              </a:p>
              <a:p>
                <a:pPr lvl="1"/>
                <a:r>
                  <a:rPr lang="en-US" sz="2400" dirty="0"/>
                  <a:t>Global clock-based synchronization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744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44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A4B2A-81A2-4549-B0BB-23A31312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05" y="1299029"/>
            <a:ext cx="10443368" cy="3949584"/>
          </a:xfrm>
        </p:spPr>
        <p:txBody>
          <a:bodyPr/>
          <a:lstStyle/>
          <a:p>
            <a:r>
              <a:rPr lang="en-US" dirty="0"/>
              <a:t>Most material that follows is from this paper:</a:t>
            </a:r>
          </a:p>
          <a:p>
            <a:pPr marL="0" indent="0">
              <a:buNone/>
            </a:pPr>
            <a:r>
              <a:rPr lang="en-US" dirty="0"/>
              <a:t>Z. Jiang, M. </a:t>
            </a:r>
            <a:r>
              <a:rPr lang="en-US" dirty="0" err="1"/>
              <a:t>Pajic</a:t>
            </a:r>
            <a:r>
              <a:rPr lang="en-US" dirty="0"/>
              <a:t>, S. </a:t>
            </a:r>
            <a:r>
              <a:rPr lang="en-US" dirty="0" err="1"/>
              <a:t>Moarref</a:t>
            </a:r>
            <a:r>
              <a:rPr lang="en-US" dirty="0"/>
              <a:t>, R. Alur, R. </a:t>
            </a:r>
            <a:r>
              <a:rPr lang="en-US" dirty="0" err="1"/>
              <a:t>Mangharam</a:t>
            </a:r>
            <a:r>
              <a:rPr lang="en-US" dirty="0"/>
              <a:t>, </a:t>
            </a:r>
            <a:r>
              <a:rPr lang="en-US" i="1" dirty="0"/>
              <a:t>Modeling and Verification of a Dual Chamber Implantable Pacemaker</a:t>
            </a:r>
            <a:r>
              <a:rPr lang="en-US" dirty="0"/>
              <a:t>, In Proceedings of Tools and Algorithms for the Construction and Analysis of Systems (TACAS), 2012.  </a:t>
            </a:r>
          </a:p>
          <a:p>
            <a:r>
              <a:rPr lang="en-US" dirty="0"/>
              <a:t>Alur’s textbook has detailed descriptions of some other pacemaker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CEEBE-9909-446B-8D6C-C858EF6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Pacemaker Modeling as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D84FF-0FBD-4423-A6FF-63A9EDF6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0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498B7-9DF3-4ACB-A04A-28486CD8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0" y="1252009"/>
            <a:ext cx="5722153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SA node (controlled by nervous system) periodically generates an electric pulse</a:t>
            </a:r>
          </a:p>
          <a:p>
            <a:r>
              <a:rPr lang="en-US" sz="2400" dirty="0"/>
              <a:t>This pulse causes both atria to contract pushing blood into the ventricles</a:t>
            </a:r>
          </a:p>
          <a:p>
            <a:r>
              <a:rPr lang="en-US" sz="2400" dirty="0"/>
              <a:t>Conduction is delayed at the AV node allowing ventricles to fill</a:t>
            </a:r>
          </a:p>
          <a:p>
            <a:r>
              <a:rPr lang="en-US" sz="2400" dirty="0"/>
              <a:t>Finally the His-Purkinje system spreads electric activation through ventricles causing them both to contract, pumping blood out of the heart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39614-7919-45A9-802C-F1C71975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healthy heart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0FE83-540B-457E-843A-80BB2D55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18859-CB01-458E-9485-B858F7F7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1425102"/>
            <a:ext cx="4185453" cy="358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0568F-29FC-486E-9CDA-AF9332320B96}"/>
              </a:ext>
            </a:extLst>
          </p:cNvPr>
          <p:cNvSpPr txBox="1"/>
          <p:nvPr/>
        </p:nvSpPr>
        <p:spPr>
          <a:xfrm>
            <a:off x="829292" y="5008258"/>
            <a:ext cx="414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Electrical Conduction System of the Heart</a:t>
            </a:r>
          </a:p>
        </p:txBody>
      </p:sp>
    </p:spTree>
    <p:extLst>
      <p:ext uri="{BB962C8B-B14F-4D97-AF65-F5344CB8AC3E}">
        <p14:creationId xmlns:p14="http://schemas.microsoft.com/office/powerpoint/2010/main" val="193813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22C48-E285-4534-8CF1-D388D95C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650" y="1332703"/>
            <a:ext cx="7554118" cy="4351338"/>
          </a:xfrm>
        </p:spPr>
        <p:txBody>
          <a:bodyPr/>
          <a:lstStyle/>
          <a:p>
            <a:r>
              <a:rPr lang="en-US" dirty="0"/>
              <a:t>Aging and/or diseases cause conduction properties of heart tissue to change leading to changes in heart rhythm</a:t>
            </a:r>
          </a:p>
          <a:p>
            <a:r>
              <a:rPr lang="en-US" dirty="0"/>
              <a:t>Tachycardia: faster than desirable heart rate impairing </a:t>
            </a:r>
            <a:r>
              <a:rPr lang="en-US" dirty="0" err="1"/>
              <a:t>hemo</a:t>
            </a:r>
            <a:r>
              <a:rPr lang="en-US" dirty="0"/>
              <a:t>-dynamics (blood flow dynamics)</a:t>
            </a:r>
          </a:p>
          <a:p>
            <a:r>
              <a:rPr lang="en-US" dirty="0"/>
              <a:t>Bradycardia: slower heart rate leading to insufficient blood supply</a:t>
            </a:r>
          </a:p>
          <a:p>
            <a:r>
              <a:rPr lang="en-US" dirty="0"/>
              <a:t>Pacemakers can be used to treat bradycardia by providing pulses when heart rate is low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F45B5-0324-4A06-9341-8FD9001D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pacemakers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E67E-0DD5-4947-A907-01CE2C63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C3D7A9-70E1-475F-8073-AE9F3F81D2D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26232" y="1651001"/>
            <a:ext cx="3276600" cy="2572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172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FDD14-FC96-4BCF-BCDC-C9EC01B0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Implantable Pacemaker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1C59-11FC-4348-82D5-E6F0437A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内容占位符 4" descr="PM_timers.jpg">
            <a:extLst>
              <a:ext uri="{FF2B5EF4-FFF2-40B4-BE49-F238E27FC236}">
                <a16:creationId xmlns:a16="http://schemas.microsoft.com/office/drawing/2014/main" id="{3B7C0997-E623-4BDF-A5B5-6B5EA72CE2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81243" y="1612900"/>
            <a:ext cx="5772713" cy="29267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782F837-70C1-4BB1-9A0C-AF706183267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28443" y="1689101"/>
            <a:ext cx="3276600" cy="2572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0FB92DC0-A443-48EC-B3D5-CE3DE73DD70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939487" y="1797050"/>
            <a:ext cx="1905000" cy="16764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9">
            <a:extLst>
              <a:ext uri="{FF2B5EF4-FFF2-40B4-BE49-F238E27FC236}">
                <a16:creationId xmlns:a16="http://schemas.microsoft.com/office/drawing/2014/main" id="{FAEDFE9C-E1A6-406C-99B1-FF545A76FD5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3244287" y="2178050"/>
            <a:ext cx="1600200" cy="15240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63C8A-CE65-4678-B793-D29CB17A2BF8}"/>
              </a:ext>
            </a:extLst>
          </p:cNvPr>
          <p:cNvCxnSpPr/>
          <p:nvPr/>
        </p:nvCxnSpPr>
        <p:spPr>
          <a:xfrm flipV="1">
            <a:off x="3975100" y="1797050"/>
            <a:ext cx="869387" cy="768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9E42C-1B4A-4337-B04C-8294B5D715B8}"/>
              </a:ext>
            </a:extLst>
          </p:cNvPr>
          <p:cNvCxnSpPr>
            <a:cxnSpLocks/>
          </p:cNvCxnSpPr>
          <p:nvPr/>
        </p:nvCxnSpPr>
        <p:spPr>
          <a:xfrm flipV="1">
            <a:off x="4051300" y="2178050"/>
            <a:ext cx="793187" cy="76200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6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2385E-349B-4E02-A706-4B3B2BBD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79" y="1209202"/>
            <a:ext cx="11089149" cy="2484684"/>
          </a:xfrm>
        </p:spPr>
        <p:txBody>
          <a:bodyPr/>
          <a:lstStyle/>
          <a:p>
            <a:r>
              <a:rPr lang="en-US" dirty="0"/>
              <a:t>Two fixed leads on wall of right atrium and ventricle respectively</a:t>
            </a:r>
          </a:p>
          <a:p>
            <a:r>
              <a:rPr lang="en-US" dirty="0"/>
              <a:t>Activation of local tissue sensed by the leads (giving rise to events Atrial Sense (AS) and Ventricular Sense (VS))</a:t>
            </a:r>
          </a:p>
          <a:p>
            <a:r>
              <a:rPr lang="en-US" dirty="0"/>
              <a:t>Atrial Pacing (AP) or Ventricular Pacing (VP) are delivered if no sensed events occur within deadlines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FE6E07-1D9A-4628-92D3-AAC91E93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dual-chamber pacemakers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8A67-77E1-4A61-869B-F6A7006B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EAFFC-E279-4406-91DA-C4EA0FD537A5}"/>
              </a:ext>
            </a:extLst>
          </p:cNvPr>
          <p:cNvSpPr/>
          <p:nvPr/>
        </p:nvSpPr>
        <p:spPr>
          <a:xfrm>
            <a:off x="2881086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5334C-2A62-471F-B945-C1763004EE1E}"/>
              </a:ext>
            </a:extLst>
          </p:cNvPr>
          <p:cNvSpPr/>
          <p:nvPr/>
        </p:nvSpPr>
        <p:spPr>
          <a:xfrm>
            <a:off x="6408054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Pacemaker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22717-CBB7-4C6F-B911-298E38E61FA2}"/>
              </a:ext>
            </a:extLst>
          </p:cNvPr>
          <p:cNvCxnSpPr>
            <a:cxnSpLocks/>
          </p:cNvCxnSpPr>
          <p:nvPr/>
        </p:nvCxnSpPr>
        <p:spPr>
          <a:xfrm>
            <a:off x="4608286" y="3757294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52B6DF-2C35-44D7-859E-ADF4CB8648C6}"/>
              </a:ext>
            </a:extLst>
          </p:cNvPr>
          <p:cNvCxnSpPr>
            <a:cxnSpLocks/>
          </p:cNvCxnSpPr>
          <p:nvPr/>
        </p:nvCxnSpPr>
        <p:spPr>
          <a:xfrm>
            <a:off x="4608285" y="3975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0101FE-AD10-4F29-B5D2-444FB7335291}"/>
              </a:ext>
            </a:extLst>
          </p:cNvPr>
          <p:cNvCxnSpPr>
            <a:cxnSpLocks/>
          </p:cNvCxnSpPr>
          <p:nvPr/>
        </p:nvCxnSpPr>
        <p:spPr>
          <a:xfrm flipH="1">
            <a:off x="4608285" y="4737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98F89D-50B5-462A-9A0C-DACBBC18FEE0}"/>
              </a:ext>
            </a:extLst>
          </p:cNvPr>
          <p:cNvCxnSpPr>
            <a:cxnSpLocks/>
          </p:cNvCxnSpPr>
          <p:nvPr/>
        </p:nvCxnSpPr>
        <p:spPr>
          <a:xfrm flipH="1">
            <a:off x="4608284" y="4954722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E704AD-EA7F-49C3-9FB3-F17CF766E0FE}"/>
              </a:ext>
            </a:extLst>
          </p:cNvPr>
          <p:cNvSpPr txBox="1"/>
          <p:nvPr/>
        </p:nvSpPr>
        <p:spPr>
          <a:xfrm>
            <a:off x="5360433" y="336482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56B71-65A3-4D3B-B465-16C7325E8378}"/>
              </a:ext>
            </a:extLst>
          </p:cNvPr>
          <p:cNvSpPr txBox="1"/>
          <p:nvPr/>
        </p:nvSpPr>
        <p:spPr>
          <a:xfrm>
            <a:off x="5353176" y="400805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C5443-66EE-4175-B724-5D3D82AD04B3}"/>
              </a:ext>
            </a:extLst>
          </p:cNvPr>
          <p:cNvSpPr txBox="1"/>
          <p:nvPr/>
        </p:nvSpPr>
        <p:spPr>
          <a:xfrm>
            <a:off x="5340352" y="441043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F02CD-4888-4D06-BDB7-EE00C5C2587A}"/>
              </a:ext>
            </a:extLst>
          </p:cNvPr>
          <p:cNvSpPr txBox="1"/>
          <p:nvPr/>
        </p:nvSpPr>
        <p:spPr>
          <a:xfrm>
            <a:off x="5340352" y="494033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419851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2E155-E31C-4DBF-8B2F-68134C02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B533-E7D4-444F-B17D-15C9819B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228B81-3619-4522-A7A8-08F14E384BF7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50EBD7-06E9-4015-A93D-1AE97D5C4DD1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018F7A-2301-43D5-8372-AF0692EA162C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47F0BB-9EC7-433C-B8D0-E29D0D5C45C2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1F9301-D9BC-4242-B49C-94CB4F979CE6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BF9F3-16C0-43AD-B78A-FA600A59EF7E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8CAD9-EC94-4740-8899-C3800FB84B65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E06FEA-E9DF-482B-9CDB-A0A5BDC6D374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C57C69C-14F2-4373-B57B-81CC6B9FCD42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r>
                  <a:rPr lang="en-US" dirty="0"/>
                  <a:t>LRI component keeps heart rate above minimum level</a:t>
                </a:r>
              </a:p>
              <a:p>
                <a:r>
                  <a:rPr lang="en-US" dirty="0"/>
                  <a:t>One of the pacemaker modes of operation that models the basic timing cycle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412" t="-1543" r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76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Finite State Automata: A 3-slide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1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1C78D2-95FA-430C-AF6B-0DA6670C0780}"/>
              </a:ext>
            </a:extLst>
          </p:cNvPr>
          <p:cNvGrpSpPr/>
          <p:nvPr/>
        </p:nvGrpSpPr>
        <p:grpSpPr>
          <a:xfrm>
            <a:off x="6835536" y="2078643"/>
            <a:ext cx="5305337" cy="3444340"/>
            <a:chOff x="6010945" y="2019402"/>
            <a:chExt cx="5305337" cy="3444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/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/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73617C4-0907-4623-90F7-BA5831A582B9}"/>
                </a:ext>
              </a:extLst>
            </p:cNvPr>
            <p:cNvCxnSpPr>
              <a:cxnSpLocks/>
              <a:stCxn id="38" idx="5"/>
              <a:endCxn id="42" idx="1"/>
            </p:cNvCxnSpPr>
            <p:nvPr/>
          </p:nvCxnSpPr>
          <p:spPr>
            <a:xfrm>
              <a:off x="7124212" y="3074128"/>
              <a:ext cx="684470" cy="46577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54A7FD-3950-4761-ACD9-6A0ACFFD3D58}"/>
                </a:ext>
              </a:extLst>
            </p:cNvPr>
            <p:cNvSpPr txBox="1"/>
            <p:nvPr/>
          </p:nvSpPr>
          <p:spPr>
            <a:xfrm>
              <a:off x="7250811" y="2787495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/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57B32A5-68D8-4EB3-929D-22D2D1CF9A08}"/>
                </a:ext>
              </a:extLst>
            </p:cNvPr>
            <p:cNvCxnSpPr>
              <a:cxnSpLocks/>
              <a:stCxn id="42" idx="7"/>
              <a:endCxn id="39" idx="3"/>
            </p:cNvCxnSpPr>
            <p:nvPr/>
          </p:nvCxnSpPr>
          <p:spPr>
            <a:xfrm flipV="1">
              <a:off x="8516517" y="3025335"/>
              <a:ext cx="771342" cy="514564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48E0D6-491D-4CD6-AF14-38554D90F9A4}"/>
                </a:ext>
              </a:extLst>
            </p:cNvPr>
            <p:cNvSpPr txBox="1"/>
            <p:nvPr/>
          </p:nvSpPr>
          <p:spPr>
            <a:xfrm>
              <a:off x="8808880" y="3209090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60BF7D4-8B41-4652-A6C1-8F5DA2B2C379}"/>
                </a:ext>
              </a:extLst>
            </p:cNvPr>
            <p:cNvSpPr/>
            <p:nvPr/>
          </p:nvSpPr>
          <p:spPr>
            <a:xfrm>
              <a:off x="7808682" y="3925970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197495C-0C2A-410B-9C7B-B9D4739675CB}"/>
                </a:ext>
              </a:extLst>
            </p:cNvPr>
            <p:cNvSpPr txBox="1"/>
            <p:nvPr/>
          </p:nvSpPr>
          <p:spPr>
            <a:xfrm>
              <a:off x="7832220" y="4515707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DB52020-B980-4DE5-BAD5-356F52F15300}"/>
                </a:ext>
              </a:extLst>
            </p:cNvPr>
            <p:cNvSpPr/>
            <p:nvPr/>
          </p:nvSpPr>
          <p:spPr>
            <a:xfrm>
              <a:off x="8884206" y="4940522"/>
              <a:ext cx="24320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[a-z][0-9]*[a-z]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/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57E5770-0D94-4EE6-9218-19863F50A356}"/>
                </a:ext>
              </a:extLst>
            </p:cNvPr>
            <p:cNvCxnSpPr>
              <a:cxnSpLocks/>
            </p:cNvCxnSpPr>
            <p:nvPr/>
          </p:nvCxnSpPr>
          <p:spPr>
            <a:xfrm>
              <a:off x="6010945" y="2359278"/>
              <a:ext cx="342235" cy="372227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/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09703-B856-4EA9-866F-380E2415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" y="1777999"/>
            <a:ext cx="11923719" cy="3334328"/>
          </a:xfrm>
        </p:spPr>
        <p:txBody>
          <a:bodyPr>
            <a:normAutofit/>
          </a:bodyPr>
          <a:lstStyle/>
          <a:p>
            <a:r>
              <a:rPr lang="en-US" dirty="0"/>
              <a:t>Useful tool to do timing analysis and explore properties of timed processes</a:t>
            </a:r>
          </a:p>
          <a:p>
            <a:r>
              <a:rPr lang="en-US" dirty="0"/>
              <a:t>State-space of timed automata is infinite (clocks can become arbitrarily large!)</a:t>
            </a:r>
          </a:p>
          <a:p>
            <a:r>
              <a:rPr lang="en-US" dirty="0"/>
              <a:t>But some questions about timed automata behavior can still be answered exactly</a:t>
            </a:r>
          </a:p>
          <a:p>
            <a:pPr lvl="1"/>
            <a:r>
              <a:rPr lang="en-US" dirty="0"/>
              <a:t>Does the automaton accept any string? (also known as emptiness problem)</a:t>
            </a:r>
          </a:p>
          <a:p>
            <a:pPr lvl="1"/>
            <a:r>
              <a:rPr lang="en-US" dirty="0"/>
              <a:t>Reachability of a particular configuration</a:t>
            </a:r>
          </a:p>
          <a:p>
            <a:r>
              <a:rPr lang="en-US" dirty="0"/>
              <a:t>We will revisit this later in the course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E63D95-9115-4756-939E-25F4A2B5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109C-0E13-46D3-AFEC-5AC90CE7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35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29F27-FCAD-4AF8-8E7E-E8B6B950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C2AD6-AE67-4C3A-BFC6-EB5A4BF6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BA2619-B972-445D-A572-705CBC719809}"/>
              </a:ext>
            </a:extLst>
          </p:cNvPr>
          <p:cNvCxnSpPr/>
          <p:nvPr/>
        </p:nvCxnSpPr>
        <p:spPr>
          <a:xfrm>
            <a:off x="533397" y="3283440"/>
            <a:ext cx="5334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72BDC28-1725-4458-B160-D34B2EBD082D}"/>
              </a:ext>
            </a:extLst>
          </p:cNvPr>
          <p:cNvSpPr/>
          <p:nvPr/>
        </p:nvSpPr>
        <p:spPr>
          <a:xfrm>
            <a:off x="10668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0F824-0835-417A-B648-03DB25741088}"/>
              </a:ext>
            </a:extLst>
          </p:cNvPr>
          <p:cNvSpPr txBox="1"/>
          <p:nvPr/>
        </p:nvSpPr>
        <p:spPr>
          <a:xfrm>
            <a:off x="1983720" y="2819400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x&gt;=3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y:=0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B69D5F-E242-49CB-BD78-824F8E095C59}"/>
              </a:ext>
            </a:extLst>
          </p:cNvPr>
          <p:cNvCxnSpPr/>
          <p:nvPr/>
        </p:nvCxnSpPr>
        <p:spPr>
          <a:xfrm>
            <a:off x="1981200" y="3276600"/>
            <a:ext cx="15240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90D734-45A8-4EF4-BDD3-C8AD29460AC3}"/>
              </a:ext>
            </a:extLst>
          </p:cNvPr>
          <p:cNvSpPr txBox="1"/>
          <p:nvPr/>
        </p:nvSpPr>
        <p:spPr>
          <a:xfrm>
            <a:off x="11969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</a:t>
            </a:r>
          </a:p>
          <a:p>
            <a:pPr algn="ctr"/>
            <a:r>
              <a:rPr lang="en-US" sz="2000" dirty="0"/>
              <a:t>x&lt;=5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6EB293-764F-471F-9506-0C6F6749B0F6}"/>
              </a:ext>
            </a:extLst>
          </p:cNvPr>
          <p:cNvCxnSpPr/>
          <p:nvPr/>
        </p:nvCxnSpPr>
        <p:spPr>
          <a:xfrm flipV="1">
            <a:off x="6172200" y="2286000"/>
            <a:ext cx="838200" cy="72174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42D41B-B336-4470-A903-EAA8479CE74A}"/>
              </a:ext>
            </a:extLst>
          </p:cNvPr>
          <p:cNvCxnSpPr/>
          <p:nvPr/>
        </p:nvCxnSpPr>
        <p:spPr>
          <a:xfrm>
            <a:off x="6096000" y="3581400"/>
            <a:ext cx="914400" cy="76200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26FCD8-31D1-4F2A-AE9E-2D89970547CB}"/>
              </a:ext>
            </a:extLst>
          </p:cNvPr>
          <p:cNvSpPr txBox="1"/>
          <p:nvPr/>
        </p:nvSpPr>
        <p:spPr>
          <a:xfrm>
            <a:off x="5791200" y="22098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6)?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5ABA39-02D4-490C-969E-C4278C9D1F97}"/>
              </a:ext>
            </a:extLst>
          </p:cNvPr>
          <p:cNvSpPr txBox="1"/>
          <p:nvPr/>
        </p:nvSpPr>
        <p:spPr>
          <a:xfrm>
            <a:off x="5731946" y="3886200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= 7)?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5B38B-72AF-4C2B-827E-29DA14F22EF0}"/>
              </a:ext>
            </a:extLst>
          </p:cNvPr>
          <p:cNvSpPr txBox="1"/>
          <p:nvPr/>
        </p:nvSpPr>
        <p:spPr>
          <a:xfrm>
            <a:off x="248691" y="2819400"/>
            <a:ext cx="801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/>
              <a:t>x,y</a:t>
            </a:r>
            <a:r>
              <a:rPr lang="en-US" sz="2000" dirty="0"/>
              <a:t>:=0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82741E-97C3-4309-8A08-1538612C4CD1}"/>
              </a:ext>
            </a:extLst>
          </p:cNvPr>
          <p:cNvSpPr/>
          <p:nvPr/>
        </p:nvSpPr>
        <p:spPr>
          <a:xfrm>
            <a:off x="350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1EC4D-78C3-44C2-88ED-440325E3E003}"/>
              </a:ext>
            </a:extLst>
          </p:cNvPr>
          <p:cNvSpPr txBox="1"/>
          <p:nvPr/>
        </p:nvSpPr>
        <p:spPr>
          <a:xfrm>
            <a:off x="4281742" y="28194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2)?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56D29-9D5F-4992-BC3F-D68099A75EAF}"/>
              </a:ext>
            </a:extLst>
          </p:cNvPr>
          <p:cNvCxnSpPr/>
          <p:nvPr/>
        </p:nvCxnSpPr>
        <p:spPr>
          <a:xfrm>
            <a:off x="4419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E8A757-5539-487A-ABFB-90416B2C6AE5}"/>
              </a:ext>
            </a:extLst>
          </p:cNvPr>
          <p:cNvSpPr txBox="1"/>
          <p:nvPr/>
        </p:nvSpPr>
        <p:spPr>
          <a:xfrm>
            <a:off x="36353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B</a:t>
            </a:r>
          </a:p>
          <a:p>
            <a:pPr algn="ctr"/>
            <a:r>
              <a:rPr lang="en-US" sz="2000" dirty="0"/>
              <a:t>x&lt;=7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/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C</a:t>
                </a:r>
              </a:p>
              <a:p>
                <a:pPr algn="ctr"/>
                <a:r>
                  <a:rPr lang="en-US" dirty="0"/>
                  <a:t>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8</a:t>
                </a:r>
              </a:p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blipFill>
                <a:blip r:embed="rId2"/>
                <a:stretch>
                  <a:fillRect t="-1282" b="-8333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077CB3-26F0-480A-BB86-8FAF31702764}"/>
              </a:ext>
            </a:extLst>
          </p:cNvPr>
          <p:cNvCxnSpPr/>
          <p:nvPr/>
        </p:nvCxnSpPr>
        <p:spPr>
          <a:xfrm>
            <a:off x="6324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864A04-33AF-4E02-8B60-AD2E3EDE3635}"/>
              </a:ext>
            </a:extLst>
          </p:cNvPr>
          <p:cNvSpPr txBox="1"/>
          <p:nvPr/>
        </p:nvSpPr>
        <p:spPr>
          <a:xfrm>
            <a:off x="6302329" y="2788348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&lt;= 4)?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FEC9D2-4723-49AF-8424-EA9014BEBC1F}"/>
              </a:ext>
            </a:extLst>
          </p:cNvPr>
          <p:cNvSpPr/>
          <p:nvPr/>
        </p:nvSpPr>
        <p:spPr>
          <a:xfrm>
            <a:off x="7010400" y="18288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F34CC8-D5D2-4BA3-8C6C-11E6F7AC116A}"/>
              </a:ext>
            </a:extLst>
          </p:cNvPr>
          <p:cNvSpPr/>
          <p:nvPr/>
        </p:nvSpPr>
        <p:spPr>
          <a:xfrm>
            <a:off x="731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E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6BCDA7-51A5-40BA-BF04-6A3DEB1BBB5F}"/>
              </a:ext>
            </a:extLst>
          </p:cNvPr>
          <p:cNvSpPr/>
          <p:nvPr/>
        </p:nvSpPr>
        <p:spPr>
          <a:xfrm>
            <a:off x="6898751" y="4185768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F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9DBCAC52-6F7A-4838-BA22-D48FB2EB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188" y="2445358"/>
            <a:ext cx="3658438" cy="231625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D, E, F can be reached?</a:t>
            </a:r>
          </a:p>
          <a:p>
            <a:r>
              <a:rPr lang="en-US" sz="2400" dirty="0"/>
              <a:t>Needs careful propagation of reachable combinations of x and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/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when we reach 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3,7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∈[2,∞)</m:t>
                    </m:r>
                  </m:oMath>
                </a14:m>
                <a:r>
                  <a:rPr lang="en-US" dirty="0"/>
                  <a:t> when we reach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∈[3,8]</m:t>
                    </m:r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[2,5]</m:t>
                    </m:r>
                  </m:oMath>
                </a14:m>
                <a:r>
                  <a:rPr lang="en-US" dirty="0"/>
                  <a:t> when you exit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and machine stops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blipFill>
                <a:blip r:embed="rId3"/>
                <a:stretch>
                  <a:fillRect l="-941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4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3C265-0AAD-4290-9203-DAD6F560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851148" cy="4351338"/>
          </a:xfrm>
        </p:spPr>
        <p:txBody>
          <a:bodyPr>
            <a:normAutofit/>
          </a:bodyPr>
          <a:lstStyle/>
          <a:p>
            <a:r>
              <a:rPr lang="en-US" dirty="0"/>
              <a:t>The key challenge is that if the automata has loops, then how do we know that our procedure for propagation of symbolic clock constraints will terminate?</a:t>
            </a:r>
          </a:p>
          <a:p>
            <a:r>
              <a:rPr lang="en-US" dirty="0"/>
              <a:t>The key insight by first papers on timed automata was that there is only a finite number of </a:t>
            </a:r>
            <a:r>
              <a:rPr lang="en-US" i="1" dirty="0"/>
              <a:t>regions</a:t>
            </a:r>
            <a:r>
              <a:rPr lang="en-US" dirty="0"/>
              <a:t> in the clock-space that can be visited</a:t>
            </a:r>
          </a:p>
          <a:p>
            <a:r>
              <a:rPr lang="en-US" dirty="0"/>
              <a:t>This gives a “pumping lemma” style argument*</a:t>
            </a:r>
          </a:p>
          <a:p>
            <a:r>
              <a:rPr lang="en-US" dirty="0"/>
              <a:t>Allows abstracting a finite timed automaton to an automaton where modes/states represent the regions</a:t>
            </a:r>
          </a:p>
          <a:p>
            <a:r>
              <a:rPr lang="en-US" dirty="0"/>
              <a:t>This was expensive, and improved by using zone-based constructions </a:t>
            </a:r>
          </a:p>
          <a:p>
            <a:pPr lvl="1"/>
            <a:r>
              <a:rPr lang="en-US" dirty="0"/>
              <a:t>(zones are a uniform representation of constraints that arise during analysis)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2370D-3D3B-413E-B0E3-543C763D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such analysis done?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CC646-AAAB-4EFE-BF3A-5266382A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9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788757"/>
            <a:ext cx="11699087" cy="487566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Hybrid Dynamical Systems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889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73550-7DFA-459C-9D02-9226B371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1518073"/>
          </a:xfrm>
        </p:spPr>
        <p:txBody>
          <a:bodyPr/>
          <a:lstStyle/>
          <a:p>
            <a:r>
              <a:rPr lang="en-US" dirty="0"/>
              <a:t>Generalization of a timed process</a:t>
            </a:r>
          </a:p>
          <a:p>
            <a:r>
              <a:rPr lang="en-US" dirty="0"/>
              <a:t>Instead of timed transitions, we can have arbitrary evolution of state/output variables, typically specified using differential equations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623690-CE4B-4C74-B533-69D35C58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8E21F-DBA5-4C3C-AEE5-4A87E4D9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B32506-EFF0-40BF-8D14-A7973C5F32F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F7C1F45-6EC1-4162-8D33-A5ECB91F118B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6DEB54-1478-4157-92DD-DD6E9F2BA8D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484C69A-9DAD-41DB-8849-7855C24BCF59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B5681-F84C-4EBC-A73A-5D74C793B95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147277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0CFF83-D718-4249-B63C-DF9E146F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Bang-bang control (thermostat) hybrid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52DA1-F24B-4A8A-9225-2B96E670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751E49B-2226-495C-B256-03ACB5DC737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917DAE-390F-4798-A756-F7AA6636D758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E4CC59-2698-4314-9D26-3E360A40E7FF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58E711-5185-48D4-B389-5158ADC985CB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C6680-DDD1-4403-9330-D90EFFBA79C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732540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 state : (</a:t>
                </a:r>
                <a:r>
                  <a:rPr lang="en-US" b="1" dirty="0"/>
                  <a:t>off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∈[70,75]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thermostat enters mode </a:t>
                </a:r>
                <a:r>
                  <a:rPr lang="en-US" b="1" dirty="0"/>
                  <a:t>off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&lt;70</m:t>
                    </m:r>
                  </m:oMath>
                </a14:m>
                <a:r>
                  <a:rPr lang="en-US" dirty="0"/>
                  <a:t>, i.e. at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mode </a:t>
                </a:r>
                <a:r>
                  <a:rPr lang="en-US" b="1" dirty="0"/>
                  <a:t>on</a:t>
                </a:r>
                <a:r>
                  <a:rPr lang="en-US" dirty="0"/>
                  <a:t>, it heats the room according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−70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&gt;75</m:t>
                    </m:r>
                  </m:oMath>
                </a14:m>
                <a:r>
                  <a:rPr lang="en-US" dirty="0"/>
                  <a:t>, i.e.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  <a:blipFill>
                <a:blip r:embed="rId2"/>
                <a:stretch>
                  <a:fillRect l="-96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F6FE9F0-56DE-45ED-B88B-308AAD73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48B66-800B-4EF2-8549-7624B651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EA5F37-A83C-4E26-8726-110889453929}"/>
              </a:ext>
            </a:extLst>
          </p:cNvPr>
          <p:cNvGrpSpPr/>
          <p:nvPr/>
        </p:nvGrpSpPr>
        <p:grpSpPr>
          <a:xfrm>
            <a:off x="8272600" y="1236520"/>
            <a:ext cx="3752719" cy="4543704"/>
            <a:chOff x="8103025" y="1219674"/>
            <a:chExt cx="3752719" cy="4543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/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≥70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/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≤75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996C8-6B3C-49F8-B052-055EC4F435BB}"/>
                </a:ext>
              </a:extLst>
            </p:cNvPr>
            <p:cNvSpPr/>
            <p:nvPr/>
          </p:nvSpPr>
          <p:spPr>
            <a:xfrm rot="16200000">
              <a:off x="7504064" y="373516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/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≤70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1628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/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≥75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A956F2-083A-4393-A816-E59987858D40}"/>
                </a:ext>
              </a:extLst>
            </p:cNvPr>
            <p:cNvCxnSpPr>
              <a:cxnSpLocks/>
              <a:stCxn id="12" idx="2"/>
              <a:endCxn id="6" idx="0"/>
            </p:cNvCxnSpPr>
            <p:nvPr/>
          </p:nvCxnSpPr>
          <p:spPr>
            <a:xfrm>
              <a:off x="9729067" y="1742894"/>
              <a:ext cx="283133" cy="4609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/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70≤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init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≤75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4DF4FF-46F9-41AF-A3E5-D9D30BD919EE}"/>
                </a:ext>
              </a:extLst>
            </p:cNvPr>
            <p:cNvSpPr txBox="1"/>
            <p:nvPr/>
          </p:nvSpPr>
          <p:spPr>
            <a:xfrm>
              <a:off x="11242406" y="1711767"/>
              <a:ext cx="5883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off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EDD211-6304-46F3-94A1-4AB608AE84B6}"/>
                </a:ext>
              </a:extLst>
            </p:cNvPr>
            <p:cNvSpPr txBox="1"/>
            <p:nvPr/>
          </p:nvSpPr>
          <p:spPr>
            <a:xfrm>
              <a:off x="11292769" y="5240158"/>
              <a:ext cx="56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on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41EA1D-283E-47B2-92C5-4ABC6C316EC9}"/>
                </a:ext>
              </a:extLst>
            </p:cNvPr>
            <p:cNvSpPr/>
            <p:nvPr/>
          </p:nvSpPr>
          <p:spPr>
            <a:xfrm rot="5610128">
              <a:off x="10745176" y="370082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722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4E84F4-9908-49ED-A0A4-93546B7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1700-2BA0-4D2D-A42B-7E4DE12B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D105E-5B89-4444-9B40-3770053C8E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63" t="36134" r="13478" b="32464"/>
          <a:stretch/>
        </p:blipFill>
        <p:spPr>
          <a:xfrm>
            <a:off x="484615" y="1853184"/>
            <a:ext cx="11425427" cy="3929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D78E3-0796-4165-98FB-11A589B70B06}"/>
              </a:ext>
            </a:extLst>
          </p:cNvPr>
          <p:cNvSpPr txBox="1"/>
          <p:nvPr/>
        </p:nvSpPr>
        <p:spPr>
          <a:xfrm>
            <a:off x="166680" y="1706039"/>
            <a:ext cx="137133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A5D15-1EAE-487F-BA18-04A7386E1371}"/>
              </a:ext>
            </a:extLst>
          </p:cNvPr>
          <p:cNvSpPr txBox="1"/>
          <p:nvPr/>
        </p:nvSpPr>
        <p:spPr>
          <a:xfrm>
            <a:off x="260231" y="3673021"/>
            <a:ext cx="728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48816-090A-4419-9DF5-B350D0F9DFDE}"/>
              </a:ext>
            </a:extLst>
          </p:cNvPr>
          <p:cNvSpPr txBox="1"/>
          <p:nvPr/>
        </p:nvSpPr>
        <p:spPr>
          <a:xfrm>
            <a:off x="11181958" y="5515074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FCA3E-12B7-4B70-BB7B-BC3578AB70DA}"/>
              </a:ext>
            </a:extLst>
          </p:cNvPr>
          <p:cNvSpPr txBox="1"/>
          <p:nvPr/>
        </p:nvSpPr>
        <p:spPr>
          <a:xfrm>
            <a:off x="11155698" y="3606760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66094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/>
          <p:nvPr/>
        </p:nvCxnSpPr>
        <p:spPr>
          <a:xfrm>
            <a:off x="1439268" y="2562922"/>
            <a:ext cx="0" cy="924911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186956" y="2545322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202726" y="2290433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3504591" y="1653991"/>
                <a:ext cx="4041605" cy="225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Mode: Vertical travel subject to gravity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591" y="1653991"/>
                <a:ext cx="4041605" cy="2252155"/>
              </a:xfrm>
              <a:prstGeom prst="rect">
                <a:avLst/>
              </a:prstGeom>
              <a:blipFill>
                <a:blip r:embed="rId5"/>
                <a:stretch>
                  <a:fillRect l="-1357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812FA4-DED0-F8D0-8D33-BE6D1F4C17F4}"/>
              </a:ext>
            </a:extLst>
          </p:cNvPr>
          <p:cNvCxnSpPr/>
          <p:nvPr/>
        </p:nvCxnSpPr>
        <p:spPr>
          <a:xfrm flipV="1">
            <a:off x="854119" y="2115671"/>
            <a:ext cx="0" cy="318154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/>
              <p:nvPr/>
            </p:nvSpPr>
            <p:spPr>
              <a:xfrm>
                <a:off x="7676643" y="1875605"/>
                <a:ext cx="4041605" cy="25078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noProof="0"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noProof="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noProof="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noProof="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noProof="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1800" dirty="0"/>
                  <a:t>Standard coordinate system</a:t>
                </a:r>
              </a:p>
              <a:p>
                <a:r>
                  <a:rPr lang="en-US" sz="1800" dirty="0"/>
                  <a:t>Down is negative, Up is positive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/>
                  <a:t> is negative because the velocity is becoming more negative (magnitude is increasing)</a:t>
                </a:r>
              </a:p>
              <a:p>
                <a:r>
                  <a:rPr lang="en-US" sz="1800" b="0" dirty="0"/>
                  <a:t>Sign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as the ball approaches ground is negative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643" y="1875605"/>
                <a:ext cx="4041605" cy="2507859"/>
              </a:xfrm>
              <a:prstGeom prst="rect">
                <a:avLst/>
              </a:prstGeom>
              <a:blipFill>
                <a:blip r:embed="rId6"/>
                <a:stretch>
                  <a:fillRect l="-302" t="-2433" r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330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21348" y="4767292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166680" y="4863954"/>
                <a:ext cx="653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4863954"/>
                <a:ext cx="653320" cy="369332"/>
              </a:xfrm>
              <a:prstGeom prst="rect">
                <a:avLst/>
              </a:prstGeom>
              <a:blipFill>
                <a:blip r:embed="rId3"/>
                <a:stretch>
                  <a:fillRect t="-10000" r="-64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4884976" y="1670925"/>
                <a:ext cx="6104008" cy="28623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When does vertical travel end?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Discrete transition! </a:t>
                </a:r>
              </a:p>
              <a:p>
                <a:pPr lvl="1"/>
                <a:r>
                  <a:rPr lang="en-US" sz="1800" dirty="0"/>
                  <a:t>Ball goes from vertical travel to impact and back to vertical travel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goes from downward to upward!</a:t>
                </a:r>
              </a:p>
              <a:p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lit/>
                      </m:rP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:=−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          0&lt;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restitution coefficient measures fraction of speed retained after bounce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76" y="1670925"/>
                <a:ext cx="6104008" cy="2862322"/>
              </a:xfrm>
              <a:prstGeom prst="rect">
                <a:avLst/>
              </a:prstGeom>
              <a:blipFill>
                <a:blip r:embed="rId4"/>
                <a:stretch>
                  <a:fillRect l="-200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35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>
            <a:cxnSpLocks/>
          </p:cNvCxnSpPr>
          <p:nvPr/>
        </p:nvCxnSpPr>
        <p:spPr>
          <a:xfrm flipV="1">
            <a:off x="1386718" y="3559461"/>
            <a:ext cx="0" cy="826074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234029" y="4385535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34859" y="4137635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0DDB15-29F6-4E28-8C7B-53A58501912A}"/>
              </a:ext>
            </a:extLst>
          </p:cNvPr>
          <p:cNvCxnSpPr>
            <a:cxnSpLocks/>
          </p:cNvCxnSpPr>
          <p:nvPr/>
        </p:nvCxnSpPr>
        <p:spPr>
          <a:xfrm>
            <a:off x="372373" y="4385535"/>
            <a:ext cx="0" cy="91167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Mode: Vertical travel subject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blipFill>
                <a:blip r:embed="rId4"/>
                <a:stretch>
                  <a:fillRect l="-1582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/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Vertical travel mode resumed</a:t>
                </a:r>
              </a:p>
              <a:p>
                <a:r>
                  <a:rPr lang="en-US" dirty="0"/>
                  <a:t>Initially some positive upward velocity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makes this velocity decrease</a:t>
                </a:r>
              </a:p>
              <a:p>
                <a:r>
                  <a:rPr lang="en-US" dirty="0"/>
                  <a:t>Eventually,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will be zero, and then negative</a:t>
                </a:r>
              </a:p>
              <a:p>
                <a:r>
                  <a:rPr lang="en-US" dirty="0"/>
                  <a:t>But it is still the same “mode” : vertical travel subject to gravity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  <a:blipFill>
                <a:blip r:embed="rId5"/>
                <a:stretch>
                  <a:fillRect l="-410" t="-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074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2254" y="1833562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79BBD3-F986-46C1-8F5D-7D97A86B667A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BF4621-9A86-4111-B633-ACBBFE20920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8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/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What happens 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blipFill>
                <a:blip r:embed="rId9"/>
                <a:stretch>
                  <a:fillRect l="-2963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/>
              <p:nvPr/>
            </p:nvSpPr>
            <p:spPr>
              <a:xfrm>
                <a:off x="8220173" y="1564849"/>
                <a:ext cx="3249054" cy="92333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is not a cartoon of a ball bouncing and traveling horizontally,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173" y="1564849"/>
                <a:ext cx="3249054" cy="923330"/>
              </a:xfrm>
              <a:prstGeom prst="rect">
                <a:avLst/>
              </a:prstGeom>
              <a:blipFill>
                <a:blip r:embed="rId10"/>
                <a:stretch>
                  <a:fillRect t="-3268" b="-9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861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861F2-774D-44E3-870F-9541B1BE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97" y="1332703"/>
            <a:ext cx="11699087" cy="1433549"/>
          </a:xfrm>
        </p:spPr>
        <p:txBody>
          <a:bodyPr>
            <a:normAutofit/>
          </a:bodyPr>
          <a:lstStyle/>
          <a:p>
            <a:r>
              <a:rPr lang="en-US" dirty="0"/>
              <a:t>Continuous action/transition: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A8E43C-9A30-4F6D-B9C5-0261BF35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E6CF0-A6DA-481D-BBEE-EDDA8F63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Discrete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 not change</a:t>
                </a:r>
                <a:endParaRPr lang="en-US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sub>
                    </m:sSub>
                  </m:oMath>
                </a14:m>
                <a:endParaRPr lang="ar-AE" b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en-US" dirty="0"/>
                  <a:t>satisfies the given dynamical equation for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At all times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state </a:t>
                </a:r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satisfies the invariant for mode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  <a:blipFill>
                <a:blip r:embed="rId2"/>
                <a:stretch>
                  <a:fillRect l="-629" t="-3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0EF45B0-3F3A-4385-87CB-8D0431F70F9B}"/>
              </a:ext>
            </a:extLst>
          </p:cNvPr>
          <p:cNvGrpSpPr/>
          <p:nvPr/>
        </p:nvGrpSpPr>
        <p:grpSpPr>
          <a:xfrm>
            <a:off x="5722646" y="1019255"/>
            <a:ext cx="5655449" cy="1030222"/>
            <a:chOff x="5263563" y="2281596"/>
            <a:chExt cx="5655449" cy="10302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25018D-8C29-462D-8AA8-46EE0C8E110B}"/>
                </a:ext>
              </a:extLst>
            </p:cNvPr>
            <p:cNvSpPr/>
            <p:nvPr/>
          </p:nvSpPr>
          <p:spPr>
            <a:xfrm>
              <a:off x="5263563" y="2297526"/>
              <a:ext cx="5655449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A7289D-3696-4025-AC51-2CE68E1EA9C1}"/>
                </a:ext>
              </a:extLst>
            </p:cNvPr>
            <p:cNvGrpSpPr/>
            <p:nvPr/>
          </p:nvGrpSpPr>
          <p:grpSpPr>
            <a:xfrm>
              <a:off x="5293833" y="2281596"/>
              <a:ext cx="5582474" cy="969311"/>
              <a:chOff x="2420004" y="2572681"/>
              <a:chExt cx="5582474" cy="9693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/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E19ACAF-0C0C-47B6-8EB1-EE608A87EF0F}"/>
                  </a:ext>
                </a:extLst>
              </p:cNvPr>
              <p:cNvSpPr/>
              <p:nvPr/>
            </p:nvSpPr>
            <p:spPr>
              <a:xfrm>
                <a:off x="3837507" y="3078095"/>
                <a:ext cx="1817941" cy="105364"/>
              </a:xfrm>
              <a:custGeom>
                <a:avLst/>
                <a:gdLst>
                  <a:gd name="connsiteX0" fmla="*/ 0 w 3749808"/>
                  <a:gd name="connsiteY0" fmla="*/ 691577 h 730014"/>
                  <a:gd name="connsiteX1" fmla="*/ 399570 w 3749808"/>
                  <a:gd name="connsiteY1" fmla="*/ 14 h 730014"/>
                  <a:gd name="connsiteX2" fmla="*/ 783771 w 3749808"/>
                  <a:gd name="connsiteY2" fmla="*/ 706945 h 730014"/>
                  <a:gd name="connsiteX3" fmla="*/ 1129553 w 3749808"/>
                  <a:gd name="connsiteY3" fmla="*/ 38435 h 730014"/>
                  <a:gd name="connsiteX4" fmla="*/ 1459966 w 3749808"/>
                  <a:gd name="connsiteY4" fmla="*/ 699261 h 730014"/>
                  <a:gd name="connsiteX5" fmla="*/ 1767328 w 3749808"/>
                  <a:gd name="connsiteY5" fmla="*/ 38435 h 730014"/>
                  <a:gd name="connsiteX6" fmla="*/ 2090057 w 3749808"/>
                  <a:gd name="connsiteY6" fmla="*/ 683893 h 730014"/>
                  <a:gd name="connsiteX7" fmla="*/ 2335946 w 3749808"/>
                  <a:gd name="connsiteY7" fmla="*/ 38435 h 730014"/>
                  <a:gd name="connsiteX8" fmla="*/ 2674044 w 3749808"/>
                  <a:gd name="connsiteY8" fmla="*/ 729998 h 730014"/>
                  <a:gd name="connsiteX9" fmla="*/ 2881512 w 3749808"/>
                  <a:gd name="connsiteY9" fmla="*/ 15382 h 730014"/>
                  <a:gd name="connsiteX10" fmla="*/ 3081297 w 3749808"/>
                  <a:gd name="connsiteY10" fmla="*/ 338112 h 730014"/>
                  <a:gd name="connsiteX11" fmla="*/ 3749808 w 3749808"/>
                  <a:gd name="connsiteY11" fmla="*/ 361164 h 730014"/>
                  <a:gd name="connsiteX0" fmla="*/ 0 w 3649916"/>
                  <a:gd name="connsiteY0" fmla="*/ 691577 h 730014"/>
                  <a:gd name="connsiteX1" fmla="*/ 299678 w 3649916"/>
                  <a:gd name="connsiteY1" fmla="*/ 14 h 730014"/>
                  <a:gd name="connsiteX2" fmla="*/ 683879 w 3649916"/>
                  <a:gd name="connsiteY2" fmla="*/ 706945 h 730014"/>
                  <a:gd name="connsiteX3" fmla="*/ 1029661 w 3649916"/>
                  <a:gd name="connsiteY3" fmla="*/ 38435 h 730014"/>
                  <a:gd name="connsiteX4" fmla="*/ 1360074 w 3649916"/>
                  <a:gd name="connsiteY4" fmla="*/ 699261 h 730014"/>
                  <a:gd name="connsiteX5" fmla="*/ 1667436 w 3649916"/>
                  <a:gd name="connsiteY5" fmla="*/ 38435 h 730014"/>
                  <a:gd name="connsiteX6" fmla="*/ 1990165 w 3649916"/>
                  <a:gd name="connsiteY6" fmla="*/ 683893 h 730014"/>
                  <a:gd name="connsiteX7" fmla="*/ 2236054 w 3649916"/>
                  <a:gd name="connsiteY7" fmla="*/ 38435 h 730014"/>
                  <a:gd name="connsiteX8" fmla="*/ 2574152 w 3649916"/>
                  <a:gd name="connsiteY8" fmla="*/ 729998 h 730014"/>
                  <a:gd name="connsiteX9" fmla="*/ 2781620 w 3649916"/>
                  <a:gd name="connsiteY9" fmla="*/ 15382 h 730014"/>
                  <a:gd name="connsiteX10" fmla="*/ 2981405 w 3649916"/>
                  <a:gd name="connsiteY10" fmla="*/ 338112 h 730014"/>
                  <a:gd name="connsiteX11" fmla="*/ 3649916 w 3649916"/>
                  <a:gd name="connsiteY11" fmla="*/ 361164 h 730014"/>
                  <a:gd name="connsiteX0" fmla="*/ 68246 w 3718162"/>
                  <a:gd name="connsiteY0" fmla="*/ 691582 h 736892"/>
                  <a:gd name="connsiteX1" fmla="*/ 14458 w 3718162"/>
                  <a:gd name="connsiteY1" fmla="*/ 683898 h 736892"/>
                  <a:gd name="connsiteX2" fmla="*/ 367924 w 3718162"/>
                  <a:gd name="connsiteY2" fmla="*/ 19 h 736892"/>
                  <a:gd name="connsiteX3" fmla="*/ 752125 w 3718162"/>
                  <a:gd name="connsiteY3" fmla="*/ 706950 h 736892"/>
                  <a:gd name="connsiteX4" fmla="*/ 1097907 w 3718162"/>
                  <a:gd name="connsiteY4" fmla="*/ 38440 h 736892"/>
                  <a:gd name="connsiteX5" fmla="*/ 1428320 w 3718162"/>
                  <a:gd name="connsiteY5" fmla="*/ 699266 h 736892"/>
                  <a:gd name="connsiteX6" fmla="*/ 1735682 w 3718162"/>
                  <a:gd name="connsiteY6" fmla="*/ 38440 h 736892"/>
                  <a:gd name="connsiteX7" fmla="*/ 2058411 w 3718162"/>
                  <a:gd name="connsiteY7" fmla="*/ 683898 h 736892"/>
                  <a:gd name="connsiteX8" fmla="*/ 2304300 w 3718162"/>
                  <a:gd name="connsiteY8" fmla="*/ 38440 h 736892"/>
                  <a:gd name="connsiteX9" fmla="*/ 2642398 w 3718162"/>
                  <a:gd name="connsiteY9" fmla="*/ 730003 h 736892"/>
                  <a:gd name="connsiteX10" fmla="*/ 2849866 w 3718162"/>
                  <a:gd name="connsiteY10" fmla="*/ 15387 h 736892"/>
                  <a:gd name="connsiteX11" fmla="*/ 3049651 w 3718162"/>
                  <a:gd name="connsiteY11" fmla="*/ 338117 h 736892"/>
                  <a:gd name="connsiteX12" fmla="*/ 3718162 w 3718162"/>
                  <a:gd name="connsiteY12" fmla="*/ 361169 h 736892"/>
                  <a:gd name="connsiteX0" fmla="*/ 472169 w 4122085"/>
                  <a:gd name="connsiteY0" fmla="*/ 703619 h 742056"/>
                  <a:gd name="connsiteX1" fmla="*/ 3443 w 4122085"/>
                  <a:gd name="connsiteY1" fmla="*/ 304049 h 742056"/>
                  <a:gd name="connsiteX2" fmla="*/ 771847 w 4122085"/>
                  <a:gd name="connsiteY2" fmla="*/ 12056 h 742056"/>
                  <a:gd name="connsiteX3" fmla="*/ 1156048 w 4122085"/>
                  <a:gd name="connsiteY3" fmla="*/ 718987 h 742056"/>
                  <a:gd name="connsiteX4" fmla="*/ 1501830 w 4122085"/>
                  <a:gd name="connsiteY4" fmla="*/ 50477 h 742056"/>
                  <a:gd name="connsiteX5" fmla="*/ 1832243 w 4122085"/>
                  <a:gd name="connsiteY5" fmla="*/ 711303 h 742056"/>
                  <a:gd name="connsiteX6" fmla="*/ 2139605 w 4122085"/>
                  <a:gd name="connsiteY6" fmla="*/ 50477 h 742056"/>
                  <a:gd name="connsiteX7" fmla="*/ 2462334 w 4122085"/>
                  <a:gd name="connsiteY7" fmla="*/ 695935 h 742056"/>
                  <a:gd name="connsiteX8" fmla="*/ 2708223 w 4122085"/>
                  <a:gd name="connsiteY8" fmla="*/ 50477 h 742056"/>
                  <a:gd name="connsiteX9" fmla="*/ 3046321 w 4122085"/>
                  <a:gd name="connsiteY9" fmla="*/ 742040 h 742056"/>
                  <a:gd name="connsiteX10" fmla="*/ 3253789 w 4122085"/>
                  <a:gd name="connsiteY10" fmla="*/ 27424 h 742056"/>
                  <a:gd name="connsiteX11" fmla="*/ 3453574 w 4122085"/>
                  <a:gd name="connsiteY11" fmla="*/ 350154 h 742056"/>
                  <a:gd name="connsiteX12" fmla="*/ 4122085 w 4122085"/>
                  <a:gd name="connsiteY12" fmla="*/ 373206 h 742056"/>
                  <a:gd name="connsiteX0" fmla="*/ 189 w 4472297"/>
                  <a:gd name="connsiteY0" fmla="*/ 588359 h 742056"/>
                  <a:gd name="connsiteX1" fmla="*/ 353655 w 4472297"/>
                  <a:gd name="connsiteY1" fmla="*/ 304049 h 742056"/>
                  <a:gd name="connsiteX2" fmla="*/ 1122059 w 4472297"/>
                  <a:gd name="connsiteY2" fmla="*/ 12056 h 742056"/>
                  <a:gd name="connsiteX3" fmla="*/ 1506260 w 4472297"/>
                  <a:gd name="connsiteY3" fmla="*/ 718987 h 742056"/>
                  <a:gd name="connsiteX4" fmla="*/ 1852042 w 4472297"/>
                  <a:gd name="connsiteY4" fmla="*/ 50477 h 742056"/>
                  <a:gd name="connsiteX5" fmla="*/ 2182455 w 4472297"/>
                  <a:gd name="connsiteY5" fmla="*/ 711303 h 742056"/>
                  <a:gd name="connsiteX6" fmla="*/ 2489817 w 4472297"/>
                  <a:gd name="connsiteY6" fmla="*/ 50477 h 742056"/>
                  <a:gd name="connsiteX7" fmla="*/ 2812546 w 4472297"/>
                  <a:gd name="connsiteY7" fmla="*/ 695935 h 742056"/>
                  <a:gd name="connsiteX8" fmla="*/ 3058435 w 4472297"/>
                  <a:gd name="connsiteY8" fmla="*/ 50477 h 742056"/>
                  <a:gd name="connsiteX9" fmla="*/ 3396533 w 4472297"/>
                  <a:gd name="connsiteY9" fmla="*/ 742040 h 742056"/>
                  <a:gd name="connsiteX10" fmla="*/ 3604001 w 4472297"/>
                  <a:gd name="connsiteY10" fmla="*/ 27424 h 742056"/>
                  <a:gd name="connsiteX11" fmla="*/ 3803786 w 4472297"/>
                  <a:gd name="connsiteY11" fmla="*/ 350154 h 742056"/>
                  <a:gd name="connsiteX12" fmla="*/ 4472297 w 4472297"/>
                  <a:gd name="connsiteY12" fmla="*/ 373206 h 742056"/>
                  <a:gd name="connsiteX0" fmla="*/ 74 w 4472182"/>
                  <a:gd name="connsiteY0" fmla="*/ 576383 h 730080"/>
                  <a:gd name="connsiteX1" fmla="*/ 860686 w 4472182"/>
                  <a:gd name="connsiteY1" fmla="*/ 660906 h 730080"/>
                  <a:gd name="connsiteX2" fmla="*/ 1121944 w 4472182"/>
                  <a:gd name="connsiteY2" fmla="*/ 80 h 730080"/>
                  <a:gd name="connsiteX3" fmla="*/ 1506145 w 4472182"/>
                  <a:gd name="connsiteY3" fmla="*/ 707011 h 730080"/>
                  <a:gd name="connsiteX4" fmla="*/ 1851927 w 4472182"/>
                  <a:gd name="connsiteY4" fmla="*/ 38501 h 730080"/>
                  <a:gd name="connsiteX5" fmla="*/ 2182340 w 4472182"/>
                  <a:gd name="connsiteY5" fmla="*/ 699327 h 730080"/>
                  <a:gd name="connsiteX6" fmla="*/ 2489702 w 4472182"/>
                  <a:gd name="connsiteY6" fmla="*/ 38501 h 730080"/>
                  <a:gd name="connsiteX7" fmla="*/ 2812431 w 4472182"/>
                  <a:gd name="connsiteY7" fmla="*/ 683959 h 730080"/>
                  <a:gd name="connsiteX8" fmla="*/ 3058320 w 4472182"/>
                  <a:gd name="connsiteY8" fmla="*/ 38501 h 730080"/>
                  <a:gd name="connsiteX9" fmla="*/ 3396418 w 4472182"/>
                  <a:gd name="connsiteY9" fmla="*/ 730064 h 730080"/>
                  <a:gd name="connsiteX10" fmla="*/ 3603886 w 4472182"/>
                  <a:gd name="connsiteY10" fmla="*/ 15448 h 730080"/>
                  <a:gd name="connsiteX11" fmla="*/ 3803671 w 4472182"/>
                  <a:gd name="connsiteY11" fmla="*/ 338178 h 730080"/>
                  <a:gd name="connsiteX12" fmla="*/ 4472182 w 4472182"/>
                  <a:gd name="connsiteY12" fmla="*/ 361230 h 730080"/>
                  <a:gd name="connsiteX0" fmla="*/ 267 w 3873020"/>
                  <a:gd name="connsiteY0" fmla="*/ 284390 h 730080"/>
                  <a:gd name="connsiteX1" fmla="*/ 261524 w 3873020"/>
                  <a:gd name="connsiteY1" fmla="*/ 660906 h 730080"/>
                  <a:gd name="connsiteX2" fmla="*/ 522782 w 3873020"/>
                  <a:gd name="connsiteY2" fmla="*/ 80 h 730080"/>
                  <a:gd name="connsiteX3" fmla="*/ 906983 w 3873020"/>
                  <a:gd name="connsiteY3" fmla="*/ 707011 h 730080"/>
                  <a:gd name="connsiteX4" fmla="*/ 1252765 w 3873020"/>
                  <a:gd name="connsiteY4" fmla="*/ 38501 h 730080"/>
                  <a:gd name="connsiteX5" fmla="*/ 1583178 w 3873020"/>
                  <a:gd name="connsiteY5" fmla="*/ 699327 h 730080"/>
                  <a:gd name="connsiteX6" fmla="*/ 1890540 w 3873020"/>
                  <a:gd name="connsiteY6" fmla="*/ 38501 h 730080"/>
                  <a:gd name="connsiteX7" fmla="*/ 2213269 w 3873020"/>
                  <a:gd name="connsiteY7" fmla="*/ 683959 h 730080"/>
                  <a:gd name="connsiteX8" fmla="*/ 2459158 w 3873020"/>
                  <a:gd name="connsiteY8" fmla="*/ 38501 h 730080"/>
                  <a:gd name="connsiteX9" fmla="*/ 2797256 w 3873020"/>
                  <a:gd name="connsiteY9" fmla="*/ 730064 h 730080"/>
                  <a:gd name="connsiteX10" fmla="*/ 3004724 w 3873020"/>
                  <a:gd name="connsiteY10" fmla="*/ 15448 h 730080"/>
                  <a:gd name="connsiteX11" fmla="*/ 3204509 w 3873020"/>
                  <a:gd name="connsiteY11" fmla="*/ 338178 h 730080"/>
                  <a:gd name="connsiteX12" fmla="*/ 3873020 w 3873020"/>
                  <a:gd name="connsiteY12" fmla="*/ 361230 h 730080"/>
                  <a:gd name="connsiteX0" fmla="*/ 13545 w 3886298"/>
                  <a:gd name="connsiteY0" fmla="*/ 284381 h 730071"/>
                  <a:gd name="connsiteX1" fmla="*/ 21229 w 3886298"/>
                  <a:gd name="connsiteY1" fmla="*/ 253645 h 730071"/>
                  <a:gd name="connsiteX2" fmla="*/ 274802 w 3886298"/>
                  <a:gd name="connsiteY2" fmla="*/ 660897 h 730071"/>
                  <a:gd name="connsiteX3" fmla="*/ 536060 w 3886298"/>
                  <a:gd name="connsiteY3" fmla="*/ 71 h 730071"/>
                  <a:gd name="connsiteX4" fmla="*/ 920261 w 3886298"/>
                  <a:gd name="connsiteY4" fmla="*/ 707002 h 730071"/>
                  <a:gd name="connsiteX5" fmla="*/ 1266043 w 3886298"/>
                  <a:gd name="connsiteY5" fmla="*/ 38492 h 730071"/>
                  <a:gd name="connsiteX6" fmla="*/ 1596456 w 3886298"/>
                  <a:gd name="connsiteY6" fmla="*/ 699318 h 730071"/>
                  <a:gd name="connsiteX7" fmla="*/ 1903818 w 3886298"/>
                  <a:gd name="connsiteY7" fmla="*/ 38492 h 730071"/>
                  <a:gd name="connsiteX8" fmla="*/ 2226547 w 3886298"/>
                  <a:gd name="connsiteY8" fmla="*/ 683950 h 730071"/>
                  <a:gd name="connsiteX9" fmla="*/ 2472436 w 3886298"/>
                  <a:gd name="connsiteY9" fmla="*/ 38492 h 730071"/>
                  <a:gd name="connsiteX10" fmla="*/ 2810534 w 3886298"/>
                  <a:gd name="connsiteY10" fmla="*/ 730055 h 730071"/>
                  <a:gd name="connsiteX11" fmla="*/ 3018002 w 3886298"/>
                  <a:gd name="connsiteY11" fmla="*/ 15439 h 730071"/>
                  <a:gd name="connsiteX12" fmla="*/ 3217787 w 3886298"/>
                  <a:gd name="connsiteY12" fmla="*/ 338169 h 730071"/>
                  <a:gd name="connsiteX13" fmla="*/ 3886298 w 3886298"/>
                  <a:gd name="connsiteY13" fmla="*/ 361221 h 730071"/>
                  <a:gd name="connsiteX0" fmla="*/ 295878 w 4168631"/>
                  <a:gd name="connsiteY0" fmla="*/ 284381 h 730071"/>
                  <a:gd name="connsiteX1" fmla="*/ 3885 w 4168631"/>
                  <a:gd name="connsiteY1" fmla="*/ 307434 h 730071"/>
                  <a:gd name="connsiteX2" fmla="*/ 557135 w 4168631"/>
                  <a:gd name="connsiteY2" fmla="*/ 660897 h 730071"/>
                  <a:gd name="connsiteX3" fmla="*/ 818393 w 4168631"/>
                  <a:gd name="connsiteY3" fmla="*/ 71 h 730071"/>
                  <a:gd name="connsiteX4" fmla="*/ 1202594 w 4168631"/>
                  <a:gd name="connsiteY4" fmla="*/ 707002 h 730071"/>
                  <a:gd name="connsiteX5" fmla="*/ 1548376 w 4168631"/>
                  <a:gd name="connsiteY5" fmla="*/ 38492 h 730071"/>
                  <a:gd name="connsiteX6" fmla="*/ 1878789 w 4168631"/>
                  <a:gd name="connsiteY6" fmla="*/ 699318 h 730071"/>
                  <a:gd name="connsiteX7" fmla="*/ 2186151 w 4168631"/>
                  <a:gd name="connsiteY7" fmla="*/ 38492 h 730071"/>
                  <a:gd name="connsiteX8" fmla="*/ 2508880 w 4168631"/>
                  <a:gd name="connsiteY8" fmla="*/ 683950 h 730071"/>
                  <a:gd name="connsiteX9" fmla="*/ 2754769 w 4168631"/>
                  <a:gd name="connsiteY9" fmla="*/ 38492 h 730071"/>
                  <a:gd name="connsiteX10" fmla="*/ 3092867 w 4168631"/>
                  <a:gd name="connsiteY10" fmla="*/ 730055 h 730071"/>
                  <a:gd name="connsiteX11" fmla="*/ 3300335 w 4168631"/>
                  <a:gd name="connsiteY11" fmla="*/ 15439 h 730071"/>
                  <a:gd name="connsiteX12" fmla="*/ 3500120 w 4168631"/>
                  <a:gd name="connsiteY12" fmla="*/ 338169 h 730071"/>
                  <a:gd name="connsiteX13" fmla="*/ 4168631 w 4168631"/>
                  <a:gd name="connsiteY13" fmla="*/ 361221 h 730071"/>
                  <a:gd name="connsiteX0" fmla="*/ 0 w 4579684"/>
                  <a:gd name="connsiteY0" fmla="*/ 353538 h 730071"/>
                  <a:gd name="connsiteX1" fmla="*/ 414938 w 4579684"/>
                  <a:gd name="connsiteY1" fmla="*/ 307434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579684"/>
                  <a:gd name="connsiteY0" fmla="*/ 353538 h 730071"/>
                  <a:gd name="connsiteX1" fmla="*/ 845244 w 4579684"/>
                  <a:gd name="connsiteY1" fmla="*/ 353538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22802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318427"/>
                  <a:gd name="connsiteY0" fmla="*/ 330486 h 730071"/>
                  <a:gd name="connsiteX1" fmla="*/ 583987 w 4318427"/>
                  <a:gd name="connsiteY1" fmla="*/ 353538 h 730071"/>
                  <a:gd name="connsiteX2" fmla="*/ 706931 w 4318427"/>
                  <a:gd name="connsiteY2" fmla="*/ 660897 h 730071"/>
                  <a:gd name="connsiteX3" fmla="*/ 968189 w 4318427"/>
                  <a:gd name="connsiteY3" fmla="*/ 71 h 730071"/>
                  <a:gd name="connsiteX4" fmla="*/ 1352390 w 4318427"/>
                  <a:gd name="connsiteY4" fmla="*/ 707002 h 730071"/>
                  <a:gd name="connsiteX5" fmla="*/ 1698172 w 4318427"/>
                  <a:gd name="connsiteY5" fmla="*/ 38492 h 730071"/>
                  <a:gd name="connsiteX6" fmla="*/ 2028585 w 4318427"/>
                  <a:gd name="connsiteY6" fmla="*/ 699318 h 730071"/>
                  <a:gd name="connsiteX7" fmla="*/ 2335947 w 4318427"/>
                  <a:gd name="connsiteY7" fmla="*/ 38492 h 730071"/>
                  <a:gd name="connsiteX8" fmla="*/ 2658676 w 4318427"/>
                  <a:gd name="connsiteY8" fmla="*/ 683950 h 730071"/>
                  <a:gd name="connsiteX9" fmla="*/ 2904565 w 4318427"/>
                  <a:gd name="connsiteY9" fmla="*/ 38492 h 730071"/>
                  <a:gd name="connsiteX10" fmla="*/ 3242663 w 4318427"/>
                  <a:gd name="connsiteY10" fmla="*/ 730055 h 730071"/>
                  <a:gd name="connsiteX11" fmla="*/ 3450131 w 4318427"/>
                  <a:gd name="connsiteY11" fmla="*/ 15439 h 730071"/>
                  <a:gd name="connsiteX12" fmla="*/ 3649916 w 4318427"/>
                  <a:gd name="connsiteY12" fmla="*/ 338169 h 730071"/>
                  <a:gd name="connsiteX13" fmla="*/ 4318427 w 4318427"/>
                  <a:gd name="connsiteY13" fmla="*/ 361221 h 730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18427" h="730071">
                    <a:moveTo>
                      <a:pt x="0" y="330486"/>
                    </a:moveTo>
                    <a:cubicBezTo>
                      <a:pt x="1281" y="325363"/>
                      <a:pt x="466165" y="298470"/>
                      <a:pt x="583987" y="353538"/>
                    </a:cubicBezTo>
                    <a:cubicBezTo>
                      <a:pt x="701809" y="408607"/>
                      <a:pt x="621126" y="703159"/>
                      <a:pt x="706931" y="660897"/>
                    </a:cubicBezTo>
                    <a:cubicBezTo>
                      <a:pt x="792736" y="618635"/>
                      <a:pt x="860613" y="-7613"/>
                      <a:pt x="968189" y="71"/>
                    </a:cubicBezTo>
                    <a:cubicBezTo>
                      <a:pt x="1075766" y="7755"/>
                      <a:pt x="1230726" y="700599"/>
                      <a:pt x="1352390" y="707002"/>
                    </a:cubicBezTo>
                    <a:cubicBezTo>
                      <a:pt x="1474054" y="713405"/>
                      <a:pt x="1585473" y="39773"/>
                      <a:pt x="1698172" y="38492"/>
                    </a:cubicBezTo>
                    <a:cubicBezTo>
                      <a:pt x="1810871" y="37211"/>
                      <a:pt x="1922289" y="699318"/>
                      <a:pt x="2028585" y="699318"/>
                    </a:cubicBezTo>
                    <a:cubicBezTo>
                      <a:pt x="2134881" y="699318"/>
                      <a:pt x="2230932" y="41053"/>
                      <a:pt x="2335947" y="38492"/>
                    </a:cubicBezTo>
                    <a:cubicBezTo>
                      <a:pt x="2440962" y="35931"/>
                      <a:pt x="2563906" y="683950"/>
                      <a:pt x="2658676" y="683950"/>
                    </a:cubicBezTo>
                    <a:cubicBezTo>
                      <a:pt x="2753446" y="683950"/>
                      <a:pt x="2807234" y="30808"/>
                      <a:pt x="2904565" y="38492"/>
                    </a:cubicBezTo>
                    <a:cubicBezTo>
                      <a:pt x="3001896" y="46176"/>
                      <a:pt x="3151736" y="733897"/>
                      <a:pt x="3242663" y="730055"/>
                    </a:cubicBezTo>
                    <a:cubicBezTo>
                      <a:pt x="3333590" y="726213"/>
                      <a:pt x="3382256" y="80753"/>
                      <a:pt x="3450131" y="15439"/>
                    </a:cubicBezTo>
                    <a:cubicBezTo>
                      <a:pt x="3518006" y="-49875"/>
                      <a:pt x="3505200" y="280539"/>
                      <a:pt x="3649916" y="338169"/>
                    </a:cubicBezTo>
                    <a:cubicBezTo>
                      <a:pt x="3794632" y="395799"/>
                      <a:pt x="4056529" y="378510"/>
                      <a:pt x="4318427" y="36122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/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/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/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7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59290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Discrete action/transition:</a:t>
                </a:r>
              </a:p>
              <a:p>
                <a:pPr lvl="1"/>
                <a:r>
                  <a:rPr lang="en-US" dirty="0"/>
                  <a:t>Happens instantaneously</a:t>
                </a:r>
              </a:p>
              <a:p>
                <a:pPr lvl="1"/>
                <a:r>
                  <a:rPr lang="en-US" dirty="0"/>
                  <a:t>Changes discrete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execute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evaluates to true</a:t>
                </a:r>
              </a:p>
              <a:p>
                <a:pPr lvl="1"/>
                <a:r>
                  <a:rPr lang="en-US" dirty="0"/>
                  <a:t>Changes state variable value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should satisfy mode invariant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  <a:blipFill>
                <a:blip r:embed="rId2"/>
                <a:stretch>
                  <a:fillRect l="-649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E0FDA17-AFBB-4E27-8216-2C475E5E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6CB0-B82D-4DC0-98C8-DE0E9F85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793790-03B6-40EE-9A06-EB3D36B2FED9}"/>
              </a:ext>
            </a:extLst>
          </p:cNvPr>
          <p:cNvGrpSpPr/>
          <p:nvPr/>
        </p:nvGrpSpPr>
        <p:grpSpPr>
          <a:xfrm>
            <a:off x="5800262" y="1134914"/>
            <a:ext cx="5920723" cy="1014292"/>
            <a:chOff x="5301143" y="1271231"/>
            <a:chExt cx="5920723" cy="10142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76A78E-6A36-4D54-A835-8EB705583D32}"/>
                </a:ext>
              </a:extLst>
            </p:cNvPr>
            <p:cNvSpPr/>
            <p:nvPr/>
          </p:nvSpPr>
          <p:spPr>
            <a:xfrm>
              <a:off x="5301143" y="1271231"/>
              <a:ext cx="5920723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/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m:rPr>
                                <m:lit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/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′,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/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/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65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3ACE555-0C11-4234-BEBF-698225CD6179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6718647" y="1840350"/>
              <a:ext cx="255467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7787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89967095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543" r="-2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543" r="-1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543" r="-1036" b="-2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100543" r="-2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100543" r="-1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100543" r="-1036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200543" r="-2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200543" r="-1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200543" r="-1036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6336D4-BD33-414C-BF65-9CA19A2F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a 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3D72-F83B-4B19-8B84-FF014B56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D2D5C20-7CFE-409D-B3B2-CCABDFD10CFA}"/>
              </a:ext>
            </a:extLst>
          </p:cNvPr>
          <p:cNvSpPr txBox="1">
            <a:spLocks/>
          </p:cNvSpPr>
          <p:nvPr/>
        </p:nvSpPr>
        <p:spPr>
          <a:xfrm>
            <a:off x="166680" y="1624696"/>
            <a:ext cx="7079364" cy="347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ar-A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At each cell boundary, assume that the guard is the equation of the boundary, and the reset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Invariant for each cell/mode is the open set enclosed by its boundaries</a:t>
                </a:r>
              </a:p>
              <a:p>
                <a:r>
                  <a:rPr lang="en-US" dirty="0"/>
                  <a:t>Suppose initial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(0,0.9)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  <a:blipFill>
                <a:blip r:embed="rId3"/>
                <a:stretch>
                  <a:fillRect l="-826" t="-542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0C592C8-A98F-47F1-AE5B-0FC5D9EF23CF}"/>
              </a:ext>
            </a:extLst>
          </p:cNvPr>
          <p:cNvSpPr txBox="1"/>
          <p:nvPr/>
        </p:nvSpPr>
        <p:spPr>
          <a:xfrm>
            <a:off x="7796540" y="4625539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96BD5-096E-49C5-B120-BA84A5DC7D13}"/>
              </a:ext>
            </a:extLst>
          </p:cNvPr>
          <p:cNvSpPr txBox="1"/>
          <p:nvPr/>
        </p:nvSpPr>
        <p:spPr>
          <a:xfrm>
            <a:off x="7781172" y="3429000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6FDDD-2E24-4C3B-BB29-A61F778AEFA0}"/>
              </a:ext>
            </a:extLst>
          </p:cNvPr>
          <p:cNvSpPr txBox="1"/>
          <p:nvPr/>
        </p:nvSpPr>
        <p:spPr>
          <a:xfrm>
            <a:off x="7796540" y="223791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80E93-359F-4535-8F90-50A7903816AB}"/>
              </a:ext>
            </a:extLst>
          </p:cNvPr>
          <p:cNvSpPr txBox="1"/>
          <p:nvPr/>
        </p:nvSpPr>
        <p:spPr>
          <a:xfrm>
            <a:off x="7796539" y="1232283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FC0C0-5147-4BF6-B98F-A77C57219B05}"/>
              </a:ext>
            </a:extLst>
          </p:cNvPr>
          <p:cNvSpPr txBox="1"/>
          <p:nvPr/>
        </p:nvSpPr>
        <p:spPr>
          <a:xfrm>
            <a:off x="9235838" y="4733365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1E7D-81E3-4894-9D5F-CD6D21765D9C}"/>
              </a:ext>
            </a:extLst>
          </p:cNvPr>
          <p:cNvSpPr txBox="1"/>
          <p:nvPr/>
        </p:nvSpPr>
        <p:spPr>
          <a:xfrm>
            <a:off x="10470792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C8B5E6-B7EF-49CF-8D42-85B700E6B13F}"/>
              </a:ext>
            </a:extLst>
          </p:cNvPr>
          <p:cNvSpPr txBox="1"/>
          <p:nvPr/>
        </p:nvSpPr>
        <p:spPr>
          <a:xfrm>
            <a:off x="11574523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30AF24-6C47-4D76-BC7C-4F28FAD45A46}"/>
              </a:ext>
            </a:extLst>
          </p:cNvPr>
          <p:cNvSpPr/>
          <p:nvPr/>
        </p:nvSpPr>
        <p:spPr>
          <a:xfrm>
            <a:off x="8339698" y="3743258"/>
            <a:ext cx="148638" cy="1596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/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,0,0.9)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C3D8D12-004A-46A4-A4DF-31C8834643EB}"/>
              </a:ext>
            </a:extLst>
          </p:cNvPr>
          <p:cNvSpPr/>
          <p:nvPr/>
        </p:nvSpPr>
        <p:spPr>
          <a:xfrm>
            <a:off x="1551219" y="4406781"/>
            <a:ext cx="796208" cy="105364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/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/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blipFill>
                <a:blip r:embed="rId6"/>
                <a:stretch>
                  <a:fillRect r="-8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/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/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/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/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/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/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/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/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/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/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11,1.01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3CEABA-1A0F-4411-A7F4-F8F904983D40}"/>
              </a:ext>
            </a:extLst>
          </p:cNvPr>
          <p:cNvCxnSpPr>
            <a:cxnSpLocks/>
          </p:cNvCxnSpPr>
          <p:nvPr/>
        </p:nvCxnSpPr>
        <p:spPr>
          <a:xfrm flipV="1">
            <a:off x="3558666" y="4493817"/>
            <a:ext cx="1054495" cy="2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/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=1?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blipFill>
                <a:blip r:embed="rId1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8038ED-F3B0-4CC2-9292-C1AF288A84EB}"/>
              </a:ext>
            </a:extLst>
          </p:cNvPr>
          <p:cNvCxnSpPr>
            <a:cxnSpLocks/>
          </p:cNvCxnSpPr>
          <p:nvPr/>
        </p:nvCxnSpPr>
        <p:spPr>
          <a:xfrm flipV="1">
            <a:off x="8450992" y="3619343"/>
            <a:ext cx="140773" cy="13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69677A-B807-42EB-93DC-DEA8B883CE9D}"/>
              </a:ext>
            </a:extLst>
          </p:cNvPr>
          <p:cNvCxnSpPr>
            <a:cxnSpLocks/>
          </p:cNvCxnSpPr>
          <p:nvPr/>
        </p:nvCxnSpPr>
        <p:spPr>
          <a:xfrm flipV="1">
            <a:off x="8591765" y="2514361"/>
            <a:ext cx="0" cy="102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43AAB8-AC91-4E46-9C64-B40198E33912}"/>
              </a:ext>
            </a:extLst>
          </p:cNvPr>
          <p:cNvCxnSpPr>
            <a:cxnSpLocks/>
          </p:cNvCxnSpPr>
          <p:nvPr/>
        </p:nvCxnSpPr>
        <p:spPr>
          <a:xfrm flipV="1">
            <a:off x="8644966" y="2151878"/>
            <a:ext cx="937024" cy="27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D093F47-7B66-436B-9720-F4E8A8E4D2C5}"/>
              </a:ext>
            </a:extLst>
          </p:cNvPr>
          <p:cNvCxnSpPr>
            <a:cxnSpLocks/>
          </p:cNvCxnSpPr>
          <p:nvPr/>
        </p:nvCxnSpPr>
        <p:spPr>
          <a:xfrm>
            <a:off x="9656309" y="2163597"/>
            <a:ext cx="340504" cy="30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B67BE1-2F7E-4BA7-AB1F-01750AA951F0}"/>
              </a:ext>
            </a:extLst>
          </p:cNvPr>
          <p:cNvCxnSpPr>
            <a:cxnSpLocks/>
          </p:cNvCxnSpPr>
          <p:nvPr/>
        </p:nvCxnSpPr>
        <p:spPr>
          <a:xfrm flipH="1">
            <a:off x="9581990" y="2513862"/>
            <a:ext cx="407911" cy="4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0203415-D4C7-4617-8A42-80E8FC0C3875}"/>
              </a:ext>
            </a:extLst>
          </p:cNvPr>
          <p:cNvSpPr/>
          <p:nvPr/>
        </p:nvSpPr>
        <p:spPr>
          <a:xfrm rot="5400000">
            <a:off x="5094114" y="4839383"/>
            <a:ext cx="537995" cy="78709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/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blipFill>
                <a:blip r:embed="rId1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/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11,2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E1C617-FDBB-4485-B88A-9B2A46511E5F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3510420" y="5372216"/>
            <a:ext cx="1121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/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=2?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blipFill>
                <a:blip r:embed="rId20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/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12,2.01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032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Greek philosopher Zeno’s race between Achilles and a tortoise</a:t>
                </a:r>
              </a:p>
              <a:p>
                <a:pPr lvl="1"/>
                <a:r>
                  <a:rPr lang="en-US" dirty="0"/>
                  <a:t>Tortoise has a head start over Achilles, but is much slower</a:t>
                </a:r>
              </a:p>
              <a:p>
                <a:pPr lvl="1"/>
                <a:r>
                  <a:rPr lang="en-US" dirty="0"/>
                  <a:t>If Achilles is d meters behind at the beginning of a round</a:t>
                </a:r>
              </a:p>
              <a:p>
                <a:pPr marL="411480" lvl="1" indent="0">
                  <a:buNone/>
                </a:pPr>
                <a:r>
                  <a:rPr lang="en-US" dirty="0"/>
                  <a:t>	and during the round, suppose Achilles runs d meters</a:t>
                </a:r>
              </a:p>
              <a:p>
                <a:pPr marL="411480" lvl="1" indent="0">
                  <a:buNone/>
                </a:pPr>
                <a:r>
                  <a:rPr lang="en-US" dirty="0"/>
                  <a:t>	but by then, tortoise has moved a little bit further</a:t>
                </a:r>
              </a:p>
              <a:p>
                <a:pPr lvl="1"/>
                <a:r>
                  <a:rPr lang="en-US" dirty="0"/>
                  <a:t>At the beginning of the next round, Achilles is still behind,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meters [0&lt;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&lt;1]</a:t>
                </a:r>
              </a:p>
              <a:p>
                <a:r>
                  <a:rPr lang="en-US" dirty="0"/>
                  <a:t>By induction, if we repeat this for infinitely many rounds, Achilles will never catch up!</a:t>
                </a:r>
              </a:p>
              <a:p>
                <a:r>
                  <a:rPr lang="en-US" dirty="0"/>
                  <a:t>What is the mistake made by Zeno?</a:t>
                </a:r>
              </a:p>
              <a:p>
                <a:r>
                  <a:rPr lang="en-US" dirty="0"/>
                  <a:t>If sum of durations between successive discrete actions converges to constant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then an execution with infinitely many discrete actions describes behavior only up to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(and does not tell us the state of the system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beyond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  <a:blipFill>
                <a:blip r:embed="rId2"/>
                <a:stretch>
                  <a:fillRect l="-357" t="-134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57B714A-4C8F-4E11-B2B7-92C6CD8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045A-758B-4AB8-8D49-8778B4F7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5886D93A-270B-B9D5-9560-6ACC4F463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584" y="856315"/>
            <a:ext cx="3300049" cy="3300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169D1E-269A-3F05-9A37-3AB002BEC545}"/>
              </a:ext>
            </a:extLst>
          </p:cNvPr>
          <p:cNvSpPr txBox="1"/>
          <p:nvPr/>
        </p:nvSpPr>
        <p:spPr>
          <a:xfrm>
            <a:off x="8946035" y="4461874"/>
            <a:ext cx="269761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Zeno assumes that if there are infinitely many points Achilles must “check off,” then it must take infinite time. But in fact, the times shrink and form a convergent series.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3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414" y="1359339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5848A7-636A-4817-9A97-8D272B775590}"/>
              </a:ext>
            </a:extLst>
          </p:cNvPr>
          <p:cNvSpPr txBox="1"/>
          <p:nvPr/>
        </p:nvSpPr>
        <p:spPr>
          <a:xfrm>
            <a:off x="1315520" y="4700351"/>
            <a:ext cx="9188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the ball approaches the ground, the number of discrete transitions occurring in any time interval tends to infinity: in the limit, there will be only discrete transitions and time will stop!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234CE2-4DC1-4B1D-883E-66BB0CCCCFC2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A88C1F-8D6C-4059-B205-2D14271B659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8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085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A1E4B-02F6-4B80-9BD2-AD3EFE18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infinite execution is called Zeno if infinite sum of all the durations is bounded by a constant, and non-Zeno if the sum diverges</a:t>
            </a:r>
          </a:p>
          <a:p>
            <a:r>
              <a:rPr lang="en-US" dirty="0"/>
              <a:t>Any state in a hybrid process is called Zeno if:</a:t>
            </a:r>
          </a:p>
          <a:p>
            <a:pPr lvl="1"/>
            <a:r>
              <a:rPr lang="en-US" dirty="0"/>
              <a:t>If every execution starting in state is Zeno</a:t>
            </a:r>
          </a:p>
          <a:p>
            <a:pPr lvl="1"/>
            <a:r>
              <a:rPr lang="en-US" dirty="0"/>
              <a:t>Non-Zeno if there exists some non-Zeno starting in that state</a:t>
            </a:r>
          </a:p>
          <a:p>
            <a:r>
              <a:rPr lang="en-US" dirty="0"/>
              <a:t>Hybrid process is non-Zeno if any state that you can reach from the initial state is non-Zeno</a:t>
            </a:r>
          </a:p>
          <a:p>
            <a:r>
              <a:rPr lang="en-US" dirty="0"/>
              <a:t>Thermostat: non-Zeno, Bouncing ball: Zeno</a:t>
            </a:r>
          </a:p>
          <a:p>
            <a:r>
              <a:rPr lang="en-US" dirty="0"/>
              <a:t>Dealing with Zeno: remove Zeno-ness through better modeling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7CE07-E358-4608-8A28-705B6C83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deal with Zeno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ED51-BA77-4DF5-88DA-E9937D26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21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14691-4937-4B89-BE53-2EC839AF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Non-Zeno hybrid process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ADFF-72B8-4592-9166-8837F249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/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3E3E5F7-FEB7-4ACC-BCB1-26530A74D69C}"/>
              </a:ext>
            </a:extLst>
          </p:cNvPr>
          <p:cNvSpPr/>
          <p:nvPr/>
        </p:nvSpPr>
        <p:spPr>
          <a:xfrm>
            <a:off x="6118048" y="115046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/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0AE354-43F4-4D56-8EC5-6A069336868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83285" y="2262958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/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/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3B7094-B863-4829-A889-108D06E14B5E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5062753" y="2873829"/>
            <a:ext cx="1" cy="14907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/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𝑠𝑝𝑙𝑎𝑡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A498311-D16D-4CB7-B333-3070FF21B583}"/>
              </a:ext>
            </a:extLst>
          </p:cNvPr>
          <p:cNvSpPr txBox="1"/>
          <p:nvPr/>
        </p:nvSpPr>
        <p:spPr>
          <a:xfrm>
            <a:off x="6096000" y="4829577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65CB5-5D01-43A6-9BF9-7B668A92AE6F}"/>
              </a:ext>
            </a:extLst>
          </p:cNvPr>
          <p:cNvSpPr txBox="1"/>
          <p:nvPr/>
        </p:nvSpPr>
        <p:spPr>
          <a:xfrm>
            <a:off x="6094402" y="1913184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bounce</a:t>
            </a:r>
          </a:p>
        </p:txBody>
      </p:sp>
    </p:spTree>
    <p:extLst>
      <p:ext uri="{BB962C8B-B14F-4D97-AF65-F5344CB8AC3E}">
        <p14:creationId xmlns:p14="http://schemas.microsoft.com/office/powerpoint/2010/main" val="38728262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F9CDB8-04A0-4E84-B71F-9226DB787588}"/>
              </a:ext>
            </a:extLst>
          </p:cNvPr>
          <p:cNvSpPr/>
          <p:nvPr/>
        </p:nvSpPr>
        <p:spPr>
          <a:xfrm>
            <a:off x="8398411" y="3115994"/>
            <a:ext cx="707401" cy="1616872"/>
          </a:xfrm>
          <a:custGeom>
            <a:avLst/>
            <a:gdLst>
              <a:gd name="connsiteX0" fmla="*/ 0 w 372794"/>
              <a:gd name="connsiteY0" fmla="*/ 1026941 h 1026941"/>
              <a:gd name="connsiteX1" fmla="*/ 372794 w 372794"/>
              <a:gd name="connsiteY1" fmla="*/ 710418 h 1026941"/>
              <a:gd name="connsiteX2" fmla="*/ 365760 w 372794"/>
              <a:gd name="connsiteY2" fmla="*/ 267286 h 1026941"/>
              <a:gd name="connsiteX3" fmla="*/ 0 w 372794"/>
              <a:gd name="connsiteY3" fmla="*/ 0 h 1026941"/>
              <a:gd name="connsiteX4" fmla="*/ 0 w 372794"/>
              <a:gd name="connsiteY4" fmla="*/ 1026941 h 102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794" h="1026941">
                <a:moveTo>
                  <a:pt x="0" y="1026941"/>
                </a:moveTo>
                <a:lnTo>
                  <a:pt x="372794" y="710418"/>
                </a:lnTo>
                <a:lnTo>
                  <a:pt x="365760" y="267286"/>
                </a:lnTo>
                <a:lnTo>
                  <a:pt x="0" y="0"/>
                </a:lnTo>
                <a:lnTo>
                  <a:pt x="0" y="1026941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Content Placeholder 4">
                <a:extLst>
                  <a:ext uri="{FF2B5EF4-FFF2-40B4-BE49-F238E27FC236}">
                    <a16:creationId xmlns:a16="http://schemas.microsoft.com/office/drawing/2014/main" id="{EF2D7FB8-B9B1-4741-B93A-E57DDC8D65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>
                        <a:solidFill>
                          <a:srgbClr val="FFC9C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Content Placeholder 4">
                <a:extLst>
                  <a:ext uri="{FF2B5EF4-FFF2-40B4-BE49-F238E27FC236}">
                    <a16:creationId xmlns:a16="http://schemas.microsoft.com/office/drawing/2014/main" id="{EF2D7FB8-B9B1-4741-B93A-E57DDC8D655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1495586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543" r="-2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543" r="-1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543" r="-1036" b="-2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100543" r="-2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100543" r="-1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100543" r="-1036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200543" r="-2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200543" r="-1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200543" r="-1036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01FD17-6ED9-45F0-A05A-22BC9C25A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7182793" cy="4351338"/>
          </a:xfrm>
        </p:spPr>
        <p:txBody>
          <a:bodyPr/>
          <a:lstStyle/>
          <a:p>
            <a:r>
              <a:rPr lang="en-US" dirty="0"/>
              <a:t>Suppose the grid world represents the configuration space of a robot</a:t>
            </a:r>
          </a:p>
          <a:p>
            <a:r>
              <a:rPr lang="en-US" dirty="0"/>
              <a:t>How do we analyze: Does the robot reach the error cell?</a:t>
            </a:r>
          </a:p>
          <a:p>
            <a:pPr lvl="1"/>
            <a:r>
              <a:rPr lang="en-US" dirty="0"/>
              <a:t>Easy if we have only one initial state: just simulate!</a:t>
            </a:r>
          </a:p>
          <a:p>
            <a:r>
              <a:rPr lang="en-US" dirty="0"/>
              <a:t>What if the initial position of the robot is not certain (could be a set)?</a:t>
            </a:r>
          </a:p>
          <a:p>
            <a:r>
              <a:rPr lang="en-US" dirty="0"/>
              <a:t>What if the dynamics are not certain?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4F9168-940B-4E89-BD0C-7D7B133C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199D6-841B-40E5-9FB0-6CE185BA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1F37E-0E88-4E1D-B95D-FB096FD225F4}"/>
              </a:ext>
            </a:extLst>
          </p:cNvPr>
          <p:cNvSpPr txBox="1"/>
          <p:nvPr/>
        </p:nvSpPr>
        <p:spPr>
          <a:xfrm>
            <a:off x="7796540" y="4625539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BBBE4-9C6B-40BE-BC07-3B0EF58F53FB}"/>
              </a:ext>
            </a:extLst>
          </p:cNvPr>
          <p:cNvSpPr txBox="1"/>
          <p:nvPr/>
        </p:nvSpPr>
        <p:spPr>
          <a:xfrm>
            <a:off x="7781172" y="3429000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1760-33BA-4D92-B63B-2A44AA4BA5D0}"/>
              </a:ext>
            </a:extLst>
          </p:cNvPr>
          <p:cNvSpPr txBox="1"/>
          <p:nvPr/>
        </p:nvSpPr>
        <p:spPr>
          <a:xfrm>
            <a:off x="7796540" y="223791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7F702-0D52-4F50-8EDB-D4E0E718063E}"/>
              </a:ext>
            </a:extLst>
          </p:cNvPr>
          <p:cNvSpPr txBox="1"/>
          <p:nvPr/>
        </p:nvSpPr>
        <p:spPr>
          <a:xfrm>
            <a:off x="7796539" y="1232283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9D4C6-3B6E-4659-9836-49913BE32D4C}"/>
              </a:ext>
            </a:extLst>
          </p:cNvPr>
          <p:cNvSpPr txBox="1"/>
          <p:nvPr/>
        </p:nvSpPr>
        <p:spPr>
          <a:xfrm>
            <a:off x="9235838" y="4733365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52A43-BB2C-4A70-8AAD-D028C84D18A0}"/>
              </a:ext>
            </a:extLst>
          </p:cNvPr>
          <p:cNvSpPr txBox="1"/>
          <p:nvPr/>
        </p:nvSpPr>
        <p:spPr>
          <a:xfrm>
            <a:off x="10470792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A889A-14CA-41D5-8321-BD66EF790BD5}"/>
              </a:ext>
            </a:extLst>
          </p:cNvPr>
          <p:cNvSpPr txBox="1"/>
          <p:nvPr/>
        </p:nvSpPr>
        <p:spPr>
          <a:xfrm>
            <a:off x="11574523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B3D573-C17F-4C90-8080-2A476F278466}"/>
              </a:ext>
            </a:extLst>
          </p:cNvPr>
          <p:cNvSpPr/>
          <p:nvPr/>
        </p:nvSpPr>
        <p:spPr>
          <a:xfrm>
            <a:off x="8339698" y="3743258"/>
            <a:ext cx="148638" cy="1596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E7738-62FA-4920-B623-F816F05FF516}"/>
                  </a:ext>
                </a:extLst>
              </p:cNvPr>
              <p:cNvSpPr txBox="1"/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E7738-62FA-4920-B623-F816F05F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2F510E-B756-4588-853C-D090C4B3B382}"/>
                  </a:ext>
                </a:extLst>
              </p:cNvPr>
              <p:cNvSpPr txBox="1"/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2F510E-B756-4588-853C-D090C4B3B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25D4A9-5E9D-4487-B531-5ADB704EDAB0}"/>
                  </a:ext>
                </a:extLst>
              </p:cNvPr>
              <p:cNvSpPr txBox="1"/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25D4A9-5E9D-4487-B531-5ADB704ED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BCBD1-1C88-401F-8F06-3EF82B1F8003}"/>
                  </a:ext>
                </a:extLst>
              </p:cNvPr>
              <p:cNvSpPr txBox="1"/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BCBD1-1C88-401F-8F06-3EF82B1F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108C22-6388-4A65-8FB4-A15A18FEBA19}"/>
                  </a:ext>
                </a:extLst>
              </p:cNvPr>
              <p:cNvSpPr txBox="1"/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108C22-6388-4A65-8FB4-A15A18FEB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896E30-D30D-4985-AA72-C43F1AFF6C0D}"/>
                  </a:ext>
                </a:extLst>
              </p:cNvPr>
              <p:cNvSpPr txBox="1"/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896E30-D30D-4985-AA72-C43F1AFF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79F13E-0213-4EA4-B3D6-6E8BBFCD4134}"/>
                  </a:ext>
                </a:extLst>
              </p:cNvPr>
              <p:cNvSpPr txBox="1"/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79F13E-0213-4EA4-B3D6-6E8BBFCD4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5170E7-1AED-4D93-A9B2-9111E38DA7F9}"/>
                  </a:ext>
                </a:extLst>
              </p:cNvPr>
              <p:cNvSpPr txBox="1"/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5170E7-1AED-4D93-A9B2-9111E38DA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B11722-B134-4616-82C8-D93477EF1E6A}"/>
                  </a:ext>
                </a:extLst>
              </p:cNvPr>
              <p:cNvSpPr txBox="1"/>
              <p:nvPr/>
            </p:nvSpPr>
            <p:spPr>
              <a:xfrm>
                <a:off x="11245008" y="130493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B11722-B134-4616-82C8-D93477EF1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5008" y="1304935"/>
                <a:ext cx="617477" cy="369332"/>
              </a:xfrm>
              <a:prstGeom prst="rect">
                <a:avLst/>
              </a:prstGeom>
              <a:blipFill>
                <a:blip r:embed="rId11"/>
                <a:stretch>
                  <a:fillRect r="-16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20BCA7-13D1-46AD-976A-B9235195CEBC}"/>
              </a:ext>
            </a:extLst>
          </p:cNvPr>
          <p:cNvCxnSpPr>
            <a:cxnSpLocks/>
          </p:cNvCxnSpPr>
          <p:nvPr/>
        </p:nvCxnSpPr>
        <p:spPr>
          <a:xfrm flipV="1">
            <a:off x="8450992" y="3619343"/>
            <a:ext cx="140773" cy="13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C34B47-B6ED-4287-91D5-D27C990F44BF}"/>
              </a:ext>
            </a:extLst>
          </p:cNvPr>
          <p:cNvCxnSpPr>
            <a:cxnSpLocks/>
          </p:cNvCxnSpPr>
          <p:nvPr/>
        </p:nvCxnSpPr>
        <p:spPr>
          <a:xfrm flipV="1">
            <a:off x="8591765" y="2514361"/>
            <a:ext cx="0" cy="102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2CBFA-81FA-4D26-9B1A-623D0EA9DE31}"/>
              </a:ext>
            </a:extLst>
          </p:cNvPr>
          <p:cNvCxnSpPr>
            <a:cxnSpLocks/>
          </p:cNvCxnSpPr>
          <p:nvPr/>
        </p:nvCxnSpPr>
        <p:spPr>
          <a:xfrm flipV="1">
            <a:off x="8644966" y="2151878"/>
            <a:ext cx="937024" cy="27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11394B-330F-49E1-B26A-7F7ABB1BF36E}"/>
              </a:ext>
            </a:extLst>
          </p:cNvPr>
          <p:cNvCxnSpPr>
            <a:cxnSpLocks/>
          </p:cNvCxnSpPr>
          <p:nvPr/>
        </p:nvCxnSpPr>
        <p:spPr>
          <a:xfrm>
            <a:off x="9656309" y="2163597"/>
            <a:ext cx="340504" cy="30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213CC6-72C3-4DD7-8570-B16BA074CB62}"/>
              </a:ext>
            </a:extLst>
          </p:cNvPr>
          <p:cNvCxnSpPr>
            <a:cxnSpLocks/>
          </p:cNvCxnSpPr>
          <p:nvPr/>
        </p:nvCxnSpPr>
        <p:spPr>
          <a:xfrm flipH="1">
            <a:off x="9581990" y="2513862"/>
            <a:ext cx="407911" cy="4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DF03F05D-4687-444D-B902-203818D4952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10" y="3620714"/>
            <a:ext cx="425564" cy="4124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B1B6965-3137-4D78-83D2-D395C52E7CBE}"/>
              </a:ext>
            </a:extLst>
          </p:cNvPr>
          <p:cNvSpPr/>
          <p:nvPr/>
        </p:nvSpPr>
        <p:spPr>
          <a:xfrm>
            <a:off x="9223334" y="5256454"/>
            <a:ext cx="481462" cy="3651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7D8F-1D78-4C8A-9527-A4BCCE753407}"/>
              </a:ext>
            </a:extLst>
          </p:cNvPr>
          <p:cNvSpPr txBox="1"/>
          <p:nvPr/>
        </p:nvSpPr>
        <p:spPr>
          <a:xfrm>
            <a:off x="9746779" y="5251008"/>
            <a:ext cx="1312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states</a:t>
            </a:r>
          </a:p>
        </p:txBody>
      </p:sp>
    </p:spTree>
    <p:extLst>
      <p:ext uri="{BB962C8B-B14F-4D97-AF65-F5344CB8AC3E}">
        <p14:creationId xmlns:p14="http://schemas.microsoft.com/office/powerpoint/2010/main" val="1584132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D9B7AF-B2F1-4B99-8496-21F1C6EB2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Fundamental problem for dynamical systems</a:t>
                </a:r>
              </a:p>
              <a:p>
                <a:r>
                  <a:rPr lang="en-US" dirty="0"/>
                  <a:t>Simulation:</a:t>
                </a:r>
              </a:p>
              <a:p>
                <a:pPr lvl="1"/>
                <a:r>
                  <a:rPr lang="en-US" dirty="0"/>
                  <a:t>Given an initial condition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compute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Time-bounded Reachability:</a:t>
                </a:r>
              </a:p>
              <a:p>
                <a:pPr lvl="1"/>
                <a:r>
                  <a:rPr lang="en-US" dirty="0"/>
                  <a:t>Given a </a:t>
                </a:r>
                <a:r>
                  <a:rPr lang="en-US" b="1" i="1" dirty="0"/>
                  <a:t>set of initial conditions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and a time T, compute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useless (but correct) answer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 we find a “tight” reachable set?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D9B7AF-B2F1-4B99-8496-21F1C6EB2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b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60D5C86-EF5D-4D57-98C6-32F982FA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Time-bounded Reachability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B1AAA-F213-4E65-B466-4FEC641E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61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682D3B-252D-4CA6-B3D2-A02897859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Main idea: compute successor states</a:t>
                </a:r>
              </a:p>
              <a:p>
                <a:pPr lvl="1"/>
                <a:r>
                  <a:rPr lang="en-US" b="0" dirty="0"/>
                  <a:t>For a given set of states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,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𝑝𝑜𝑠𝑡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type m:val="li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2"/>
                                    </m:rP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den>
                              </m:f>
                            </m:e>
                          </m:groupCh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a given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|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0" smtClean="0"/>
                                <m:t>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a given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Use a recurrence relation to do fixpoint computation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682D3B-252D-4CA6-B3D2-A02897859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3CA252E-E144-4AD7-870E-366FD42C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Reachable Sets</a:t>
            </a:r>
            <a:r>
              <a:rPr lang="en-US" baseline="30000" dirty="0"/>
              <a:t>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6674C-5BBE-4785-950E-1A1FF65F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915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AB782F-D340-428D-9498-3A7054A4B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53331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Computation:</a:t>
                </a:r>
              </a:p>
              <a:p>
                <a:pPr lvl="1"/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(initial set of states)</a:t>
                </a:r>
              </a:p>
              <a:p>
                <a:pPr lvl="1"/>
                <a:r>
                  <a:rPr lang="en-US" dirty="0"/>
                  <a:t>Recur: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Terminate if: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sz="2600" dirty="0"/>
                  <a:t>Time-bounded: when the sum of time elapsed on all continuous transitions is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600" dirty="0"/>
              </a:p>
              <a:p>
                <a:r>
                  <a:rPr lang="en-US" dirty="0"/>
                  <a:t>Problems:</a:t>
                </a:r>
              </a:p>
              <a:p>
                <a:pPr lvl="1"/>
                <a:r>
                  <a:rPr lang="en-US" dirty="0"/>
                  <a:t>Termination not guaranteed for general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not easy to compute in general</a:t>
                </a:r>
              </a:p>
              <a:p>
                <a:pPr lvl="1"/>
                <a:r>
                  <a:rPr lang="en-US" dirty="0"/>
                  <a:t>Error in computing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can blow-up leading to answers that are too conservative</a:t>
                </a:r>
              </a:p>
              <a:p>
                <a:r>
                  <a:rPr lang="en-US" dirty="0"/>
                  <a:t>Many Tools: </a:t>
                </a:r>
                <a:r>
                  <a:rPr lang="en-US" dirty="0" err="1"/>
                  <a:t>SpaceEx</a:t>
                </a:r>
                <a:r>
                  <a:rPr lang="en-US" dirty="0"/>
                  <a:t>, Flow*, C2E2, </a:t>
                </a:r>
                <a:r>
                  <a:rPr lang="en-US" dirty="0" err="1"/>
                  <a:t>dReach</a:t>
                </a:r>
                <a:r>
                  <a:rPr lang="en-US" dirty="0"/>
                  <a:t>, CORA (and a few others)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AB782F-D340-428D-9498-3A7054A4B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53331"/>
                <a:ext cx="11699087" cy="4351338"/>
              </a:xfrm>
              <a:blipFill>
                <a:blip r:embed="rId2"/>
                <a:stretch>
                  <a:fillRect l="-208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877196-2C86-47E7-B5B0-442008C2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Fixpoint computation of reachable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F6A77-F6F3-4346-85C5-5F7FA46F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08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E5A37-D77D-4DDB-BD2F-AA145360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systems can have surprising results with respect to stability</a:t>
            </a:r>
          </a:p>
          <a:p>
            <a:r>
              <a:rPr lang="en-US" dirty="0"/>
              <a:t>No uniform method like Lyapunov analysis for analyzing all hybrid systems</a:t>
            </a:r>
          </a:p>
          <a:p>
            <a:endParaRPr lang="en-US" dirty="0"/>
          </a:p>
          <a:p>
            <a:r>
              <a:rPr lang="en-US" dirty="0"/>
              <a:t>Example: Piecewise Linear (PWL) Dynamical System</a:t>
            </a:r>
          </a:p>
          <a:p>
            <a:pPr lvl="1"/>
            <a:r>
              <a:rPr lang="en-US" dirty="0"/>
              <a:t>Special class of hybrid system, in which each mode has linear dynamics, guards, resets are all linear/affine</a:t>
            </a:r>
          </a:p>
          <a:p>
            <a:pPr lvl="1"/>
            <a:r>
              <a:rPr lang="en-US" dirty="0"/>
              <a:t>Each mode in the PWL system can have stable dynamics (by doing eigen-value analysis), but resulting hybrid system may be unstable!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6B58B0-A7EB-4C46-A2E9-7CE5BD74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BE16-4000-4813-BACD-15865455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53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5CC31-1FA1-4E75-9047-E6053152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B2F1C-2231-42FA-88DB-D4A2E9A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/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/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F2AFEC-6E66-4985-A561-A6EC601D6ECC}"/>
              </a:ext>
            </a:extLst>
          </p:cNvPr>
          <p:cNvSpPr/>
          <p:nvPr/>
        </p:nvSpPr>
        <p:spPr>
          <a:xfrm>
            <a:off x="3872753" y="1844168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8D269E-64E8-4D46-9B0D-2470B6360C07}"/>
              </a:ext>
            </a:extLst>
          </p:cNvPr>
          <p:cNvSpPr/>
          <p:nvPr/>
        </p:nvSpPr>
        <p:spPr>
          <a:xfrm rot="10800000">
            <a:off x="3710107" y="3580759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/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/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DE85A-9BB0-494A-8276-4CD084178385}"/>
              </a:ext>
            </a:extLst>
          </p:cNvPr>
          <p:cNvCxnSpPr/>
          <p:nvPr/>
        </p:nvCxnSpPr>
        <p:spPr>
          <a:xfrm>
            <a:off x="1429230" y="1844168"/>
            <a:ext cx="767123" cy="537882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70A834-21AB-4E6A-BF43-A4A6A3B360F4}"/>
              </a:ext>
            </a:extLst>
          </p:cNvPr>
          <p:cNvSpPr txBox="1"/>
          <p:nvPr/>
        </p:nvSpPr>
        <p:spPr>
          <a:xfrm>
            <a:off x="2994758" y="4793572"/>
            <a:ext cx="526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Dynamics in each mode are stable!</a:t>
            </a:r>
          </a:p>
        </p:txBody>
      </p:sp>
    </p:spTree>
    <p:extLst>
      <p:ext uri="{BB962C8B-B14F-4D97-AF65-F5344CB8AC3E}">
        <p14:creationId xmlns:p14="http://schemas.microsoft.com/office/powerpoint/2010/main" val="442916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2A6E4-9CBF-451A-8A93-DB6DA4B1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3D41-FAA0-4E09-9FC0-F1CB7CA1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DA91D7-0A7A-4589-98AC-5903FB0AB4BC}"/>
              </a:ext>
            </a:extLst>
          </p:cNvPr>
          <p:cNvGrpSpPr/>
          <p:nvPr/>
        </p:nvGrpSpPr>
        <p:grpSpPr>
          <a:xfrm>
            <a:off x="2658675" y="1496465"/>
            <a:ext cx="5148303" cy="3865069"/>
            <a:chOff x="2658675" y="1496465"/>
            <a:chExt cx="5148303" cy="38650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4D5698E-7980-4FB5-88B7-77D77240A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571" t="6052" r="9167" b="8349"/>
            <a:stretch/>
          </p:blipFill>
          <p:spPr>
            <a:xfrm>
              <a:off x="2658675" y="1496465"/>
              <a:ext cx="5148303" cy="3865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/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/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AD1435-CC46-4B2E-940C-3A4C0D3E872B}"/>
              </a:ext>
            </a:extLst>
          </p:cNvPr>
          <p:cNvSpPr txBox="1"/>
          <p:nvPr/>
        </p:nvSpPr>
        <p:spPr>
          <a:xfrm>
            <a:off x="7221711" y="4416257"/>
            <a:ext cx="145996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rIns="9144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Initial State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F3303-A855-4AA2-B3C6-65F3F2CACF0E}"/>
              </a:ext>
            </a:extLst>
          </p:cNvPr>
          <p:cNvCxnSpPr>
            <a:cxnSpLocks/>
          </p:cNvCxnSpPr>
          <p:nvPr/>
        </p:nvCxnSpPr>
        <p:spPr>
          <a:xfrm flipH="1">
            <a:off x="6639005" y="4653210"/>
            <a:ext cx="582706" cy="16315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/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/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811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main approaches</a:t>
                </a:r>
                <a:r>
                  <a:rPr lang="en-US" baseline="30000" dirty="0"/>
                  <a:t>1,2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Find a common Lyapunov function that works for all modes</a:t>
                </a:r>
              </a:p>
              <a:p>
                <a:pPr lvl="2"/>
                <a:r>
                  <a:rPr lang="en-US" dirty="0"/>
                  <a:t>I.e. for each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dynamics are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such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Usually hard to find a “one-size-fits-all” Lyapunov function</a:t>
                </a:r>
              </a:p>
              <a:p>
                <a:pPr lvl="1"/>
                <a:r>
                  <a:rPr lang="en-US" dirty="0"/>
                  <a:t>Find multiple Lyapunov functions, one for each mode</a:t>
                </a:r>
              </a:p>
              <a:p>
                <a:pPr lvl="2"/>
                <a:r>
                  <a:rPr lang="en-US" dirty="0"/>
                  <a:t>In each mode its Lyapunov function value decreases, and at the switching instant the destination mode’s Lyapunov function value does not increase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 decreases every time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entered</a:t>
                </a:r>
              </a:p>
              <a:p>
                <a:pPr lvl="2"/>
                <a:r>
                  <a:rPr lang="en-US" dirty="0"/>
                  <a:t>Finding Lyapunov functions satisfying these conditions is again hard 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8" t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CBCAC0-C1A2-487B-8854-0E654998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for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1FBC-97A8-4098-9313-8A2FA369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34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Objective: Steer vehicle to follow a given track</a:t>
                </a:r>
              </a:p>
              <a:p>
                <a:r>
                  <a:rPr lang="en-US" dirty="0"/>
                  <a:t>Control inputs: linear vehicle speed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vehicle angular velocity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start/stop </a:t>
                </a:r>
              </a:p>
              <a:p>
                <a:r>
                  <a:rPr lang="en-US" dirty="0"/>
                  <a:t>Constraints on control inputs: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/2,0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Designer choice: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5E6B9B1-6C0C-4DB9-8F8C-797B58A6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Application: Autonomous Guided Vehicle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27F4-26B7-4FA4-B7A7-4CDF6196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87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D181A5-C213-4D18-8F2B-8BE31DDA5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3553">
            <a:off x="8634622" y="1771342"/>
            <a:ext cx="804863" cy="37459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49F6E1F-3F62-423B-AF40-C4E0E43F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7" y="337331"/>
            <a:ext cx="10920419" cy="778828"/>
          </a:xfrm>
        </p:spPr>
        <p:txBody>
          <a:bodyPr/>
          <a:lstStyle/>
          <a:p>
            <a:r>
              <a:rPr lang="en-US" dirty="0"/>
              <a:t>On/Off control for Path following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78CE-1776-4744-A573-FEF1AC74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D5FE64-7F9E-449E-922C-765FCE6007B7}"/>
              </a:ext>
            </a:extLst>
          </p:cNvPr>
          <p:cNvSpPr/>
          <p:nvPr/>
        </p:nvSpPr>
        <p:spPr>
          <a:xfrm>
            <a:off x="8493760" y="1564640"/>
            <a:ext cx="2418080" cy="1679787"/>
          </a:xfrm>
          <a:custGeom>
            <a:avLst/>
            <a:gdLst>
              <a:gd name="connsiteX0" fmla="*/ 0 w 2418080"/>
              <a:gd name="connsiteY0" fmla="*/ 1679787 h 1679787"/>
              <a:gd name="connsiteX1" fmla="*/ 724747 w 2418080"/>
              <a:gd name="connsiteY1" fmla="*/ 860213 h 1679787"/>
              <a:gd name="connsiteX2" fmla="*/ 1794933 w 2418080"/>
              <a:gd name="connsiteY2" fmla="*/ 751840 h 1679787"/>
              <a:gd name="connsiteX3" fmla="*/ 2418080 w 2418080"/>
              <a:gd name="connsiteY3" fmla="*/ 0 h 167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080" h="1679787">
                <a:moveTo>
                  <a:pt x="0" y="1679787"/>
                </a:moveTo>
                <a:cubicBezTo>
                  <a:pt x="212796" y="1347329"/>
                  <a:pt x="425592" y="1014871"/>
                  <a:pt x="724747" y="860213"/>
                </a:cubicBezTo>
                <a:cubicBezTo>
                  <a:pt x="1023902" y="705555"/>
                  <a:pt x="1512711" y="895209"/>
                  <a:pt x="1794933" y="751840"/>
                </a:cubicBezTo>
                <a:cubicBezTo>
                  <a:pt x="2077155" y="608471"/>
                  <a:pt x="2247617" y="304235"/>
                  <a:pt x="2418080" y="0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B012A8-049B-4AF6-ABC5-04862860E723}"/>
              </a:ext>
            </a:extLst>
          </p:cNvPr>
          <p:cNvCxnSpPr>
            <a:cxnSpLocks/>
          </p:cNvCxnSpPr>
          <p:nvPr/>
        </p:nvCxnSpPr>
        <p:spPr>
          <a:xfrm flipV="1">
            <a:off x="9000674" y="1549351"/>
            <a:ext cx="1073015" cy="419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7792A5-7853-4DAD-BCC5-43A96EFF781A}"/>
              </a:ext>
            </a:extLst>
          </p:cNvPr>
          <p:cNvCxnSpPr>
            <a:cxnSpLocks/>
          </p:cNvCxnSpPr>
          <p:nvPr/>
        </p:nvCxnSpPr>
        <p:spPr>
          <a:xfrm>
            <a:off x="9000674" y="1968580"/>
            <a:ext cx="10730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ADFE5A-CCB0-4EAC-8086-AA74276581B7}"/>
              </a:ext>
            </a:extLst>
          </p:cNvPr>
          <p:cNvCxnSpPr>
            <a:cxnSpLocks/>
          </p:cNvCxnSpPr>
          <p:nvPr/>
        </p:nvCxnSpPr>
        <p:spPr>
          <a:xfrm flipV="1">
            <a:off x="9000674" y="1211968"/>
            <a:ext cx="0" cy="756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846917B-51DC-4712-AC4F-04925DFF657C}"/>
              </a:ext>
            </a:extLst>
          </p:cNvPr>
          <p:cNvSpPr/>
          <p:nvPr/>
        </p:nvSpPr>
        <p:spPr>
          <a:xfrm>
            <a:off x="9665494" y="1721643"/>
            <a:ext cx="57150" cy="242888"/>
          </a:xfrm>
          <a:custGeom>
            <a:avLst/>
            <a:gdLst>
              <a:gd name="connsiteX0" fmla="*/ 57150 w 57150"/>
              <a:gd name="connsiteY0" fmla="*/ 242888 h 242888"/>
              <a:gd name="connsiteX1" fmla="*/ 42862 w 57150"/>
              <a:gd name="connsiteY1" fmla="*/ 107157 h 242888"/>
              <a:gd name="connsiteX2" fmla="*/ 0 w 57150"/>
              <a:gd name="connsiteY2" fmla="*/ 0 h 24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42888">
                <a:moveTo>
                  <a:pt x="57150" y="242888"/>
                </a:moveTo>
                <a:cubicBezTo>
                  <a:pt x="54768" y="195263"/>
                  <a:pt x="52387" y="147638"/>
                  <a:pt x="42862" y="107157"/>
                </a:cubicBezTo>
                <a:cubicBezTo>
                  <a:pt x="33337" y="66676"/>
                  <a:pt x="16668" y="33338"/>
                  <a:pt x="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/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/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/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D2A1D6-9900-41B8-B73F-5C43B7CC8AF3}"/>
              </a:ext>
            </a:extLst>
          </p:cNvPr>
          <p:cNvCxnSpPr>
            <a:cxnSpLocks/>
          </p:cNvCxnSpPr>
          <p:nvPr/>
        </p:nvCxnSpPr>
        <p:spPr>
          <a:xfrm>
            <a:off x="9000674" y="1981920"/>
            <a:ext cx="217834" cy="4270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93F15E-E40F-4ABE-8C5B-F091C74DEAD9}"/>
              </a:ext>
            </a:extLst>
          </p:cNvPr>
          <p:cNvCxnSpPr>
            <a:cxnSpLocks/>
          </p:cNvCxnSpPr>
          <p:nvPr/>
        </p:nvCxnSpPr>
        <p:spPr>
          <a:xfrm flipV="1">
            <a:off x="8583978" y="2195465"/>
            <a:ext cx="1116784" cy="492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1A71F6-946A-440B-BABC-EA300EA4CAC9}"/>
              </a:ext>
            </a:extLst>
          </p:cNvPr>
          <p:cNvCxnSpPr>
            <a:cxnSpLocks/>
          </p:cNvCxnSpPr>
          <p:nvPr/>
        </p:nvCxnSpPr>
        <p:spPr>
          <a:xfrm flipV="1">
            <a:off x="9135677" y="2212385"/>
            <a:ext cx="129843" cy="56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5E7D9A-3C71-48BC-9394-B349C385D91B}"/>
              </a:ext>
            </a:extLst>
          </p:cNvPr>
          <p:cNvCxnSpPr>
            <a:cxnSpLocks/>
          </p:cNvCxnSpPr>
          <p:nvPr/>
        </p:nvCxnSpPr>
        <p:spPr>
          <a:xfrm flipH="1" flipV="1">
            <a:off x="9265520" y="2207337"/>
            <a:ext cx="66012" cy="140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/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F543D00-F8C5-4571-A2A0-7ED5C9837106}"/>
              </a:ext>
            </a:extLst>
          </p:cNvPr>
          <p:cNvSpPr txBox="1"/>
          <p:nvPr/>
        </p:nvSpPr>
        <p:spPr>
          <a:xfrm>
            <a:off x="8577285" y="2962810"/>
            <a:ext cx="66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latin typeface="+mj-lt"/>
              </a:rPr>
              <a:t>Track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/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9144" rIns="9144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/2)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/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/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/2)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/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EA9F7F4-BF0F-4735-8985-C308FD3EB3B8}"/>
              </a:ext>
            </a:extLst>
          </p:cNvPr>
          <p:cNvCxnSpPr/>
          <p:nvPr/>
        </p:nvCxnSpPr>
        <p:spPr>
          <a:xfrm>
            <a:off x="2853307" y="1843087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60C08B-233A-4B0F-9A11-5D0B41192306}"/>
              </a:ext>
            </a:extLst>
          </p:cNvPr>
          <p:cNvCxnSpPr>
            <a:cxnSpLocks/>
          </p:cNvCxnSpPr>
          <p:nvPr/>
        </p:nvCxnSpPr>
        <p:spPr>
          <a:xfrm flipH="1">
            <a:off x="2844597" y="2104659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528E0F3-EE7E-4DBD-8438-6E1C743D3EA2}"/>
              </a:ext>
            </a:extLst>
          </p:cNvPr>
          <p:cNvCxnSpPr>
            <a:cxnSpLocks/>
          </p:cNvCxnSpPr>
          <p:nvPr/>
        </p:nvCxnSpPr>
        <p:spPr>
          <a:xfrm flipH="1">
            <a:off x="2628900" y="2404533"/>
            <a:ext cx="1944645" cy="136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82C7B9-66B7-4775-8F02-1481B86C720C}"/>
              </a:ext>
            </a:extLst>
          </p:cNvPr>
          <p:cNvCxnSpPr>
            <a:cxnSpLocks/>
          </p:cNvCxnSpPr>
          <p:nvPr/>
        </p:nvCxnSpPr>
        <p:spPr>
          <a:xfrm flipV="1">
            <a:off x="2844597" y="2586473"/>
            <a:ext cx="2006009" cy="145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F62D5F-5ACC-4283-9FD9-61963239AA94}"/>
              </a:ext>
            </a:extLst>
          </p:cNvPr>
          <p:cNvCxnSpPr>
            <a:cxnSpLocks/>
          </p:cNvCxnSpPr>
          <p:nvPr/>
        </p:nvCxnSpPr>
        <p:spPr>
          <a:xfrm>
            <a:off x="2189753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0D4E94D-D6F1-4C8D-9348-206F079DC682}"/>
              </a:ext>
            </a:extLst>
          </p:cNvPr>
          <p:cNvCxnSpPr>
            <a:cxnSpLocks/>
          </p:cNvCxnSpPr>
          <p:nvPr/>
        </p:nvCxnSpPr>
        <p:spPr>
          <a:xfrm flipH="1" flipV="1">
            <a:off x="1785938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8A9376A-AE8A-4CEF-BF46-B1226A16956C}"/>
              </a:ext>
            </a:extLst>
          </p:cNvPr>
          <p:cNvCxnSpPr/>
          <p:nvPr/>
        </p:nvCxnSpPr>
        <p:spPr>
          <a:xfrm>
            <a:off x="2853307" y="4605932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AD11F1F-199E-4D0B-91E7-1A7D8A717056}"/>
              </a:ext>
            </a:extLst>
          </p:cNvPr>
          <p:cNvCxnSpPr>
            <a:cxnSpLocks/>
          </p:cNvCxnSpPr>
          <p:nvPr/>
        </p:nvCxnSpPr>
        <p:spPr>
          <a:xfrm flipH="1">
            <a:off x="2816865" y="4278740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EE41A0E-4659-482D-ACB0-993D4F6427BA}"/>
              </a:ext>
            </a:extLst>
          </p:cNvPr>
          <p:cNvCxnSpPr>
            <a:cxnSpLocks/>
          </p:cNvCxnSpPr>
          <p:nvPr/>
        </p:nvCxnSpPr>
        <p:spPr>
          <a:xfrm>
            <a:off x="5575175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77C8F28-78EE-4BD0-935B-4F1B674A509B}"/>
              </a:ext>
            </a:extLst>
          </p:cNvPr>
          <p:cNvCxnSpPr>
            <a:cxnSpLocks/>
          </p:cNvCxnSpPr>
          <p:nvPr/>
        </p:nvCxnSpPr>
        <p:spPr>
          <a:xfrm flipH="1" flipV="1">
            <a:off x="5171360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/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/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/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/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/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/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blipFill>
                <a:blip r:embed="rId1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/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/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/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blipFill>
                <a:blip r:embed="rId2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/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2000" dirty="0"/>
                  <a:t>, controller decides that vehicle goes straight, otherwise executes a turn command to bring error back in the interval</a:t>
                </a:r>
              </a:p>
              <a:p>
                <a:endParaRPr lang="ar-AE" sz="2000" dirty="0"/>
              </a:p>
            </p:txBody>
          </p:sp>
        </mc:Choice>
        <mc:Fallback xmlns="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  <a:blipFill>
                <a:blip r:embed="rId22"/>
                <a:stretch>
                  <a:fillRect l="-511" t="-3819" r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10EAAD39-E1F2-4510-A4AF-D4E8088F9F74}"/>
              </a:ext>
            </a:extLst>
          </p:cNvPr>
          <p:cNvSpPr txBox="1"/>
          <p:nvPr/>
        </p:nvSpPr>
        <p:spPr>
          <a:xfrm>
            <a:off x="1465886" y="1102932"/>
            <a:ext cx="1097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right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9FAAAF-314F-4D8B-823D-15017527A9CF}"/>
              </a:ext>
            </a:extLst>
          </p:cNvPr>
          <p:cNvSpPr txBox="1"/>
          <p:nvPr/>
        </p:nvSpPr>
        <p:spPr>
          <a:xfrm>
            <a:off x="4873181" y="4842902"/>
            <a:ext cx="97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left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335CA8-13E8-4BC9-ACFA-C233C3393753}"/>
              </a:ext>
            </a:extLst>
          </p:cNvPr>
          <p:cNvSpPr txBox="1"/>
          <p:nvPr/>
        </p:nvSpPr>
        <p:spPr>
          <a:xfrm>
            <a:off x="4918384" y="1091310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 straight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B6D9A7-D5E1-4B12-A347-E01BBCFF8EF9}"/>
              </a:ext>
            </a:extLst>
          </p:cNvPr>
          <p:cNvSpPr txBox="1"/>
          <p:nvPr/>
        </p:nvSpPr>
        <p:spPr>
          <a:xfrm>
            <a:off x="1510865" y="4884801"/>
            <a:ext cx="114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Stationary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F3F95D4-24D6-4051-A5C4-7F5D767D3C08}"/>
              </a:ext>
            </a:extLst>
          </p:cNvPr>
          <p:cNvCxnSpPr>
            <a:endCxn id="63" idx="1"/>
          </p:cNvCxnSpPr>
          <p:nvPr/>
        </p:nvCxnSpPr>
        <p:spPr>
          <a:xfrm>
            <a:off x="407194" y="4343326"/>
            <a:ext cx="8095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/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7936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864F33-8302-4A45-A2E0-B96ECA69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Autonomous mobile robots in a room, goal for each robot:</a:t>
            </a:r>
          </a:p>
          <a:p>
            <a:pPr lvl="1"/>
            <a:r>
              <a:rPr lang="en-US" sz="2400" dirty="0"/>
              <a:t>Reach a target at a known location</a:t>
            </a:r>
          </a:p>
          <a:p>
            <a:pPr lvl="1"/>
            <a:r>
              <a:rPr lang="en-US" sz="2400" dirty="0"/>
              <a:t>Avoid obstacles (positions not known in advance)</a:t>
            </a:r>
          </a:p>
          <a:p>
            <a:pPr lvl="1"/>
            <a:r>
              <a:rPr lang="en-US" sz="2400" dirty="0"/>
              <a:t>Minimize distance travelled</a:t>
            </a:r>
          </a:p>
          <a:p>
            <a:r>
              <a:rPr lang="en-US" dirty="0"/>
              <a:t>Design Problems:</a:t>
            </a:r>
          </a:p>
          <a:p>
            <a:pPr lvl="1"/>
            <a:r>
              <a:rPr lang="en-US" sz="2400" dirty="0"/>
              <a:t>Cameras/vision systems can provide estimates of obstacle positions</a:t>
            </a:r>
          </a:p>
          <a:p>
            <a:pPr lvl="2"/>
            <a:r>
              <a:rPr lang="en-US" sz="2400" dirty="0"/>
              <a:t>When should a robot update its estimate of the obstacle position?</a:t>
            </a:r>
          </a:p>
          <a:p>
            <a:pPr lvl="1"/>
            <a:r>
              <a:rPr lang="en-US" sz="2400" dirty="0"/>
              <a:t>Robots can communicate with each other</a:t>
            </a:r>
          </a:p>
          <a:p>
            <a:pPr lvl="2"/>
            <a:r>
              <a:rPr lang="en-US" sz="2400" dirty="0"/>
              <a:t>How often and what information can they communicate?</a:t>
            </a:r>
          </a:p>
          <a:p>
            <a:pPr lvl="1"/>
            <a:r>
              <a:rPr lang="en-US" sz="2400" dirty="0"/>
              <a:t>High-level motion planning</a:t>
            </a:r>
          </a:p>
          <a:p>
            <a:pPr lvl="2"/>
            <a:r>
              <a:rPr lang="en-US" sz="2400" dirty="0"/>
              <a:t>What path in the speed/direction-space should the robots traverse?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356778-DA11-4650-9CDA-C9976E10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Application: Robot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2415-9729-4585-A4FB-9B472665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3753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CFFF4C-F390-42F9-BA00-D92181BC9115}"/>
              </a:ext>
            </a:extLst>
          </p:cNvPr>
          <p:cNvCxnSpPr/>
          <p:nvPr/>
        </p:nvCxnSpPr>
        <p:spPr>
          <a:xfrm flipV="1">
            <a:off x="1344708" y="1967686"/>
            <a:ext cx="680511" cy="188041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C35A9C-D396-448A-B4AB-1C62E4C42DF5}"/>
              </a:ext>
            </a:extLst>
          </p:cNvPr>
          <p:cNvCxnSpPr>
            <a:cxnSpLocks/>
          </p:cNvCxnSpPr>
          <p:nvPr/>
        </p:nvCxnSpPr>
        <p:spPr>
          <a:xfrm>
            <a:off x="1344709" y="4030059"/>
            <a:ext cx="736453" cy="19455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6B0F6D7B-5B1B-4AE8-B60F-198DA2FD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 with obstacle avoidance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EF13D-4ED7-499A-9582-CD9ED330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60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9340D0-7F73-4F3C-8BF5-A4942DD58B28}"/>
              </a:ext>
            </a:extLst>
          </p:cNvPr>
          <p:cNvCxnSpPr/>
          <p:nvPr/>
        </p:nvCxnSpPr>
        <p:spPr>
          <a:xfrm flipV="1">
            <a:off x="814508" y="1375442"/>
            <a:ext cx="0" cy="391885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8D450A-8006-4E3E-A13E-9FDD95553FE8}"/>
              </a:ext>
            </a:extLst>
          </p:cNvPr>
          <p:cNvCxnSpPr>
            <a:cxnSpLocks/>
          </p:cNvCxnSpPr>
          <p:nvPr/>
        </p:nvCxnSpPr>
        <p:spPr>
          <a:xfrm flipV="1">
            <a:off x="460900" y="4790841"/>
            <a:ext cx="5430621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1A6FEC3-FA55-4989-9016-56988EE1C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3762949"/>
            <a:ext cx="551150" cy="534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914CAC-BFCF-4B52-B258-E5F89695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1874640"/>
            <a:ext cx="551150" cy="53421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2A08D9F-869D-4F33-BDE1-0DF5AD64008F}"/>
              </a:ext>
            </a:extLst>
          </p:cNvPr>
          <p:cNvSpPr/>
          <p:nvPr/>
        </p:nvSpPr>
        <p:spPr>
          <a:xfrm>
            <a:off x="4633950" y="2794503"/>
            <a:ext cx="919778" cy="54786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/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/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/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/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/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/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/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blipFill>
                <a:blip r:embed="rId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Assumptions:</a:t>
                </a:r>
              </a:p>
              <a:p>
                <a:pPr lvl="1"/>
                <a:r>
                  <a:rPr lang="en-US" sz="2400" dirty="0"/>
                  <a:t>Two-dimensional world </a:t>
                </a:r>
              </a:p>
              <a:p>
                <a:pPr lvl="1"/>
                <a:r>
                  <a:rPr lang="en-US" sz="2400" dirty="0"/>
                  <a:t>Robots are just points</a:t>
                </a:r>
              </a:p>
              <a:p>
                <a:pPr lvl="1"/>
                <a:r>
                  <a:rPr lang="en-US" sz="2400" dirty="0"/>
                  <a:t>Each robot travels with a fixed speed</a:t>
                </a:r>
              </a:p>
              <a:p>
                <a:r>
                  <a:rPr lang="en-US" sz="2400" dirty="0"/>
                  <a:t>Dynamics for 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Design objectives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2400" dirty="0"/>
                  <a:t>Eventually reach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2400" dirty="0"/>
                  <a:t>Always avoid Obstacle1 and Obstacle 2</a:t>
                </a:r>
              </a:p>
              <a:p>
                <a:pPr lvl="1"/>
                <a:r>
                  <a:rPr lang="en-US" sz="2400" dirty="0"/>
                  <a:t>Minimize distance travelled</a:t>
                </a:r>
              </a:p>
            </p:txBody>
          </p:sp>
        </mc:Choice>
        <mc:Fallback xmlns="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  <a:blipFill>
                <a:blip r:embed="rId10"/>
                <a:stretch>
                  <a:fillRect l="-81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/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/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ED802DE-0A7D-47CC-9074-C8EC520E357B}"/>
              </a:ext>
            </a:extLst>
          </p:cNvPr>
          <p:cNvGrpSpPr/>
          <p:nvPr/>
        </p:nvGrpSpPr>
        <p:grpSpPr>
          <a:xfrm>
            <a:off x="2870267" y="3173696"/>
            <a:ext cx="2338270" cy="988238"/>
            <a:chOff x="2325874" y="3124641"/>
            <a:chExt cx="2338270" cy="98823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87A9D5-E75D-47D3-AFBA-48749E8C780D}"/>
                </a:ext>
              </a:extLst>
            </p:cNvPr>
            <p:cNvSpPr/>
            <p:nvPr/>
          </p:nvSpPr>
          <p:spPr>
            <a:xfrm>
              <a:off x="2766253" y="3429000"/>
              <a:ext cx="468726" cy="683879"/>
            </a:xfrm>
            <a:custGeom>
              <a:avLst/>
              <a:gdLst>
                <a:gd name="connsiteX0" fmla="*/ 222837 w 468726"/>
                <a:gd name="connsiteY0" fmla="*/ 107577 h 683879"/>
                <a:gd name="connsiteX1" fmla="*/ 184417 w 468726"/>
                <a:gd name="connsiteY1" fmla="*/ 76841 h 683879"/>
                <a:gd name="connsiteX2" fmla="*/ 138313 w 468726"/>
                <a:gd name="connsiteY2" fmla="*/ 46105 h 683879"/>
                <a:gd name="connsiteX3" fmla="*/ 122945 w 468726"/>
                <a:gd name="connsiteY3" fmla="*/ 30736 h 683879"/>
                <a:gd name="connsiteX4" fmla="*/ 99893 w 468726"/>
                <a:gd name="connsiteY4" fmla="*/ 23052 h 683879"/>
                <a:gd name="connsiteX5" fmla="*/ 53789 w 468726"/>
                <a:gd name="connsiteY5" fmla="*/ 0 h 683879"/>
                <a:gd name="connsiteX6" fmla="*/ 15368 w 468726"/>
                <a:gd name="connsiteY6" fmla="*/ 15368 h 683879"/>
                <a:gd name="connsiteX7" fmla="*/ 7684 w 468726"/>
                <a:gd name="connsiteY7" fmla="*/ 46105 h 683879"/>
                <a:gd name="connsiteX8" fmla="*/ 0 w 468726"/>
                <a:gd name="connsiteY8" fmla="*/ 84525 h 683879"/>
                <a:gd name="connsiteX9" fmla="*/ 7684 w 468726"/>
                <a:gd name="connsiteY9" fmla="*/ 199785 h 683879"/>
                <a:gd name="connsiteX10" fmla="*/ 30736 w 468726"/>
                <a:gd name="connsiteY10" fmla="*/ 245889 h 683879"/>
                <a:gd name="connsiteX11" fmla="*/ 53789 w 468726"/>
                <a:gd name="connsiteY11" fmla="*/ 291994 h 683879"/>
                <a:gd name="connsiteX12" fmla="*/ 69157 w 468726"/>
                <a:gd name="connsiteY12" fmla="*/ 338098 h 683879"/>
                <a:gd name="connsiteX13" fmla="*/ 76841 w 468726"/>
                <a:gd name="connsiteY13" fmla="*/ 361150 h 683879"/>
                <a:gd name="connsiteX14" fmla="*/ 61473 w 468726"/>
                <a:gd name="connsiteY14" fmla="*/ 437990 h 683879"/>
                <a:gd name="connsiteX15" fmla="*/ 46105 w 468726"/>
                <a:gd name="connsiteY15" fmla="*/ 461042 h 683879"/>
                <a:gd name="connsiteX16" fmla="*/ 53789 w 468726"/>
                <a:gd name="connsiteY16" fmla="*/ 568619 h 683879"/>
                <a:gd name="connsiteX17" fmla="*/ 69157 w 468726"/>
                <a:gd name="connsiteY17" fmla="*/ 591671 h 683879"/>
                <a:gd name="connsiteX18" fmla="*/ 115261 w 468726"/>
                <a:gd name="connsiteY18" fmla="*/ 637775 h 683879"/>
                <a:gd name="connsiteX19" fmla="*/ 169049 w 468726"/>
                <a:gd name="connsiteY19" fmla="*/ 683879 h 683879"/>
                <a:gd name="connsiteX20" fmla="*/ 253573 w 468726"/>
                <a:gd name="connsiteY20" fmla="*/ 653143 h 683879"/>
                <a:gd name="connsiteX21" fmla="*/ 261257 w 468726"/>
                <a:gd name="connsiteY21" fmla="*/ 630091 h 683879"/>
                <a:gd name="connsiteX22" fmla="*/ 276626 w 468726"/>
                <a:gd name="connsiteY22" fmla="*/ 499463 h 683879"/>
                <a:gd name="connsiteX23" fmla="*/ 291994 w 468726"/>
                <a:gd name="connsiteY23" fmla="*/ 476410 h 683879"/>
                <a:gd name="connsiteX24" fmla="*/ 361150 w 468726"/>
                <a:gd name="connsiteY24" fmla="*/ 484094 h 683879"/>
                <a:gd name="connsiteX25" fmla="*/ 414938 w 468726"/>
                <a:gd name="connsiteY25" fmla="*/ 476410 h 683879"/>
                <a:gd name="connsiteX26" fmla="*/ 437990 w 468726"/>
                <a:gd name="connsiteY26" fmla="*/ 453358 h 683879"/>
                <a:gd name="connsiteX27" fmla="*/ 468726 w 468726"/>
                <a:gd name="connsiteY27" fmla="*/ 399570 h 683879"/>
                <a:gd name="connsiteX28" fmla="*/ 461042 w 468726"/>
                <a:gd name="connsiteY28" fmla="*/ 330414 h 683879"/>
                <a:gd name="connsiteX29" fmla="*/ 437990 w 468726"/>
                <a:gd name="connsiteY29" fmla="*/ 307362 h 683879"/>
                <a:gd name="connsiteX30" fmla="*/ 376518 w 468726"/>
                <a:gd name="connsiteY30" fmla="*/ 253573 h 683879"/>
                <a:gd name="connsiteX31" fmla="*/ 330414 w 468726"/>
                <a:gd name="connsiteY31" fmla="*/ 222837 h 683879"/>
                <a:gd name="connsiteX32" fmla="*/ 307362 w 468726"/>
                <a:gd name="connsiteY32" fmla="*/ 207469 h 683879"/>
                <a:gd name="connsiteX33" fmla="*/ 261257 w 468726"/>
                <a:gd name="connsiteY33" fmla="*/ 184417 h 683879"/>
                <a:gd name="connsiteX34" fmla="*/ 238205 w 468726"/>
                <a:gd name="connsiteY34" fmla="*/ 130629 h 683879"/>
                <a:gd name="connsiteX35" fmla="*/ 222837 w 468726"/>
                <a:gd name="connsiteY35" fmla="*/ 107577 h 6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8726" h="683879">
                  <a:moveTo>
                    <a:pt x="222837" y="107577"/>
                  </a:moveTo>
                  <a:cubicBezTo>
                    <a:pt x="213872" y="98612"/>
                    <a:pt x="197681" y="86487"/>
                    <a:pt x="184417" y="76841"/>
                  </a:cubicBezTo>
                  <a:cubicBezTo>
                    <a:pt x="169480" y="65977"/>
                    <a:pt x="151373" y="59166"/>
                    <a:pt x="138313" y="46105"/>
                  </a:cubicBezTo>
                  <a:cubicBezTo>
                    <a:pt x="133190" y="40982"/>
                    <a:pt x="129157" y="34464"/>
                    <a:pt x="122945" y="30736"/>
                  </a:cubicBezTo>
                  <a:cubicBezTo>
                    <a:pt x="116000" y="26569"/>
                    <a:pt x="107138" y="26674"/>
                    <a:pt x="99893" y="23052"/>
                  </a:cubicBezTo>
                  <a:cubicBezTo>
                    <a:pt x="40310" y="-6739"/>
                    <a:pt x="111731" y="19314"/>
                    <a:pt x="53789" y="0"/>
                  </a:cubicBezTo>
                  <a:cubicBezTo>
                    <a:pt x="40982" y="5123"/>
                    <a:pt x="25121" y="5615"/>
                    <a:pt x="15368" y="15368"/>
                  </a:cubicBezTo>
                  <a:cubicBezTo>
                    <a:pt x="7900" y="22836"/>
                    <a:pt x="9975" y="35796"/>
                    <a:pt x="7684" y="46105"/>
                  </a:cubicBezTo>
                  <a:cubicBezTo>
                    <a:pt x="4851" y="58854"/>
                    <a:pt x="2561" y="71718"/>
                    <a:pt x="0" y="84525"/>
                  </a:cubicBezTo>
                  <a:cubicBezTo>
                    <a:pt x="2561" y="122945"/>
                    <a:pt x="3432" y="161515"/>
                    <a:pt x="7684" y="199785"/>
                  </a:cubicBezTo>
                  <a:cubicBezTo>
                    <a:pt x="10443" y="224617"/>
                    <a:pt x="19820" y="224057"/>
                    <a:pt x="30736" y="245889"/>
                  </a:cubicBezTo>
                  <a:cubicBezTo>
                    <a:pt x="62548" y="309513"/>
                    <a:pt x="9745" y="225930"/>
                    <a:pt x="53789" y="291994"/>
                  </a:cubicBezTo>
                  <a:lnTo>
                    <a:pt x="69157" y="338098"/>
                  </a:lnTo>
                  <a:lnTo>
                    <a:pt x="76841" y="361150"/>
                  </a:lnTo>
                  <a:cubicBezTo>
                    <a:pt x="74009" y="380972"/>
                    <a:pt x="72202" y="416532"/>
                    <a:pt x="61473" y="437990"/>
                  </a:cubicBezTo>
                  <a:cubicBezTo>
                    <a:pt x="57343" y="446250"/>
                    <a:pt x="51228" y="453358"/>
                    <a:pt x="46105" y="461042"/>
                  </a:cubicBezTo>
                  <a:cubicBezTo>
                    <a:pt x="48666" y="496901"/>
                    <a:pt x="47541" y="533216"/>
                    <a:pt x="53789" y="568619"/>
                  </a:cubicBezTo>
                  <a:cubicBezTo>
                    <a:pt x="55394" y="577713"/>
                    <a:pt x="63022" y="584769"/>
                    <a:pt x="69157" y="591671"/>
                  </a:cubicBezTo>
                  <a:cubicBezTo>
                    <a:pt x="83596" y="607915"/>
                    <a:pt x="99893" y="622407"/>
                    <a:pt x="115261" y="637775"/>
                  </a:cubicBezTo>
                  <a:cubicBezTo>
                    <a:pt x="152527" y="675041"/>
                    <a:pt x="133941" y="660474"/>
                    <a:pt x="169049" y="683879"/>
                  </a:cubicBezTo>
                  <a:cubicBezTo>
                    <a:pt x="215285" y="678100"/>
                    <a:pt x="229611" y="689085"/>
                    <a:pt x="253573" y="653143"/>
                  </a:cubicBezTo>
                  <a:cubicBezTo>
                    <a:pt x="258066" y="646404"/>
                    <a:pt x="258696" y="637775"/>
                    <a:pt x="261257" y="630091"/>
                  </a:cubicBezTo>
                  <a:cubicBezTo>
                    <a:pt x="266380" y="586548"/>
                    <a:pt x="268027" y="542455"/>
                    <a:pt x="276626" y="499463"/>
                  </a:cubicBezTo>
                  <a:cubicBezTo>
                    <a:pt x="278437" y="490407"/>
                    <a:pt x="282908" y="478062"/>
                    <a:pt x="291994" y="476410"/>
                  </a:cubicBezTo>
                  <a:cubicBezTo>
                    <a:pt x="314814" y="472261"/>
                    <a:pt x="338098" y="481533"/>
                    <a:pt x="361150" y="484094"/>
                  </a:cubicBezTo>
                  <a:cubicBezTo>
                    <a:pt x="379079" y="481533"/>
                    <a:pt x="398122" y="483136"/>
                    <a:pt x="414938" y="476410"/>
                  </a:cubicBezTo>
                  <a:cubicBezTo>
                    <a:pt x="425028" y="472374"/>
                    <a:pt x="431033" y="461706"/>
                    <a:pt x="437990" y="453358"/>
                  </a:cubicBezTo>
                  <a:cubicBezTo>
                    <a:pt x="451566" y="437067"/>
                    <a:pt x="459331" y="418359"/>
                    <a:pt x="468726" y="399570"/>
                  </a:cubicBezTo>
                  <a:cubicBezTo>
                    <a:pt x="466165" y="376518"/>
                    <a:pt x="468377" y="352418"/>
                    <a:pt x="461042" y="330414"/>
                  </a:cubicBezTo>
                  <a:cubicBezTo>
                    <a:pt x="457606" y="320105"/>
                    <a:pt x="444662" y="315940"/>
                    <a:pt x="437990" y="307362"/>
                  </a:cubicBezTo>
                  <a:cubicBezTo>
                    <a:pt x="393825" y="250577"/>
                    <a:pt x="429502" y="266819"/>
                    <a:pt x="376518" y="253573"/>
                  </a:cubicBezTo>
                  <a:lnTo>
                    <a:pt x="330414" y="222837"/>
                  </a:lnTo>
                  <a:cubicBezTo>
                    <a:pt x="322730" y="217714"/>
                    <a:pt x="316123" y="210389"/>
                    <a:pt x="307362" y="207469"/>
                  </a:cubicBezTo>
                  <a:cubicBezTo>
                    <a:pt x="275549" y="196865"/>
                    <a:pt x="291049" y="204278"/>
                    <a:pt x="261257" y="184417"/>
                  </a:cubicBezTo>
                  <a:cubicBezTo>
                    <a:pt x="254259" y="170421"/>
                    <a:pt x="241032" y="147588"/>
                    <a:pt x="238205" y="130629"/>
                  </a:cubicBezTo>
                  <a:cubicBezTo>
                    <a:pt x="234392" y="107751"/>
                    <a:pt x="231802" y="116542"/>
                    <a:pt x="222837" y="107577"/>
                  </a:cubicBezTo>
                  <a:close/>
                </a:path>
              </a:pathLst>
            </a:custGeom>
            <a:solidFill>
              <a:srgbClr val="FFAFB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92ABD7-7F16-4EDD-8F3A-925518A7F3BD}"/>
                </a:ext>
              </a:extLst>
            </p:cNvPr>
            <p:cNvSpPr txBox="1"/>
            <p:nvPr/>
          </p:nvSpPr>
          <p:spPr>
            <a:xfrm>
              <a:off x="2325874" y="3124641"/>
              <a:ext cx="1165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Obstacle 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8C0F50-B4B4-4540-BDC1-926661D3AD9E}"/>
                </a:ext>
              </a:extLst>
            </p:cNvPr>
            <p:cNvSpPr/>
            <p:nvPr/>
          </p:nvSpPr>
          <p:spPr>
            <a:xfrm>
              <a:off x="2908661" y="3723251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/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169311-6CA0-4C17-A62E-0E606506996A}"/>
              </a:ext>
            </a:extLst>
          </p:cNvPr>
          <p:cNvGrpSpPr/>
          <p:nvPr/>
        </p:nvGrpSpPr>
        <p:grpSpPr>
          <a:xfrm>
            <a:off x="3148267" y="1952700"/>
            <a:ext cx="1866979" cy="1118819"/>
            <a:chOff x="4059220" y="1486130"/>
            <a:chExt cx="1866979" cy="11188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E2A94B-0BE8-4DCB-A313-D8CE60C64029}"/>
                </a:ext>
              </a:extLst>
            </p:cNvPr>
            <p:cNvGrpSpPr/>
            <p:nvPr/>
          </p:nvGrpSpPr>
          <p:grpSpPr>
            <a:xfrm>
              <a:off x="4059220" y="1486130"/>
              <a:ext cx="1193518" cy="1118819"/>
              <a:chOff x="4059220" y="1486130"/>
              <a:chExt cx="1193518" cy="111881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9B671C4-86E6-4F6B-8CB2-901FFE5DACCC}"/>
                  </a:ext>
                </a:extLst>
              </p:cNvPr>
              <p:cNvSpPr/>
              <p:nvPr/>
            </p:nvSpPr>
            <p:spPr>
              <a:xfrm>
                <a:off x="4059220" y="2033252"/>
                <a:ext cx="801448" cy="571697"/>
              </a:xfrm>
              <a:custGeom>
                <a:avLst/>
                <a:gdLst>
                  <a:gd name="connsiteX0" fmla="*/ 192101 w 716949"/>
                  <a:gd name="connsiteY0" fmla="*/ 30737 h 814508"/>
                  <a:gd name="connsiteX1" fmla="*/ 161364 w 716949"/>
                  <a:gd name="connsiteY1" fmla="*/ 99893 h 814508"/>
                  <a:gd name="connsiteX2" fmla="*/ 138312 w 716949"/>
                  <a:gd name="connsiteY2" fmla="*/ 122945 h 814508"/>
                  <a:gd name="connsiteX3" fmla="*/ 122944 w 716949"/>
                  <a:gd name="connsiteY3" fmla="*/ 145997 h 814508"/>
                  <a:gd name="connsiteX4" fmla="*/ 99892 w 716949"/>
                  <a:gd name="connsiteY4" fmla="*/ 253574 h 814508"/>
                  <a:gd name="connsiteX5" fmla="*/ 107576 w 716949"/>
                  <a:gd name="connsiteY5" fmla="*/ 391886 h 814508"/>
                  <a:gd name="connsiteX6" fmla="*/ 107576 w 716949"/>
                  <a:gd name="connsiteY6" fmla="*/ 499463 h 814508"/>
                  <a:gd name="connsiteX7" fmla="*/ 84524 w 716949"/>
                  <a:gd name="connsiteY7" fmla="*/ 530199 h 814508"/>
                  <a:gd name="connsiteX8" fmla="*/ 30736 w 716949"/>
                  <a:gd name="connsiteY8" fmla="*/ 576303 h 814508"/>
                  <a:gd name="connsiteX9" fmla="*/ 7684 w 716949"/>
                  <a:gd name="connsiteY9" fmla="*/ 622407 h 814508"/>
                  <a:gd name="connsiteX10" fmla="*/ 0 w 716949"/>
                  <a:gd name="connsiteY10" fmla="*/ 653143 h 814508"/>
                  <a:gd name="connsiteX11" fmla="*/ 7684 w 716949"/>
                  <a:gd name="connsiteY11" fmla="*/ 699247 h 814508"/>
                  <a:gd name="connsiteX12" fmla="*/ 46104 w 716949"/>
                  <a:gd name="connsiteY12" fmla="*/ 737668 h 814508"/>
                  <a:gd name="connsiteX13" fmla="*/ 69156 w 716949"/>
                  <a:gd name="connsiteY13" fmla="*/ 760720 h 814508"/>
                  <a:gd name="connsiteX14" fmla="*/ 99892 w 716949"/>
                  <a:gd name="connsiteY14" fmla="*/ 776088 h 814508"/>
                  <a:gd name="connsiteX15" fmla="*/ 122944 w 716949"/>
                  <a:gd name="connsiteY15" fmla="*/ 791456 h 814508"/>
                  <a:gd name="connsiteX16" fmla="*/ 153680 w 716949"/>
                  <a:gd name="connsiteY16" fmla="*/ 799140 h 814508"/>
                  <a:gd name="connsiteX17" fmla="*/ 192101 w 716949"/>
                  <a:gd name="connsiteY17" fmla="*/ 814508 h 814508"/>
                  <a:gd name="connsiteX18" fmla="*/ 284309 w 716949"/>
                  <a:gd name="connsiteY18" fmla="*/ 806824 h 814508"/>
                  <a:gd name="connsiteX19" fmla="*/ 299677 w 716949"/>
                  <a:gd name="connsiteY19" fmla="*/ 783772 h 814508"/>
                  <a:gd name="connsiteX20" fmla="*/ 307361 w 716949"/>
                  <a:gd name="connsiteY20" fmla="*/ 760720 h 814508"/>
                  <a:gd name="connsiteX21" fmla="*/ 330413 w 716949"/>
                  <a:gd name="connsiteY21" fmla="*/ 714616 h 814508"/>
                  <a:gd name="connsiteX22" fmla="*/ 361149 w 716949"/>
                  <a:gd name="connsiteY22" fmla="*/ 583987 h 814508"/>
                  <a:gd name="connsiteX23" fmla="*/ 430306 w 716949"/>
                  <a:gd name="connsiteY23" fmla="*/ 591671 h 814508"/>
                  <a:gd name="connsiteX24" fmla="*/ 468726 w 716949"/>
                  <a:gd name="connsiteY24" fmla="*/ 614723 h 814508"/>
                  <a:gd name="connsiteX25" fmla="*/ 491778 w 716949"/>
                  <a:gd name="connsiteY25" fmla="*/ 630091 h 814508"/>
                  <a:gd name="connsiteX26" fmla="*/ 522514 w 716949"/>
                  <a:gd name="connsiteY26" fmla="*/ 637775 h 814508"/>
                  <a:gd name="connsiteX27" fmla="*/ 576302 w 716949"/>
                  <a:gd name="connsiteY27" fmla="*/ 653143 h 814508"/>
                  <a:gd name="connsiteX28" fmla="*/ 653143 w 716949"/>
                  <a:gd name="connsiteY28" fmla="*/ 630091 h 814508"/>
                  <a:gd name="connsiteX29" fmla="*/ 660827 w 716949"/>
                  <a:gd name="connsiteY29" fmla="*/ 599355 h 814508"/>
                  <a:gd name="connsiteX30" fmla="*/ 653143 w 716949"/>
                  <a:gd name="connsiteY30" fmla="*/ 537883 h 814508"/>
                  <a:gd name="connsiteX31" fmla="*/ 630090 w 716949"/>
                  <a:gd name="connsiteY31" fmla="*/ 522515 h 814508"/>
                  <a:gd name="connsiteX32" fmla="*/ 622406 w 716949"/>
                  <a:gd name="connsiteY32" fmla="*/ 499463 h 814508"/>
                  <a:gd name="connsiteX33" fmla="*/ 591670 w 716949"/>
                  <a:gd name="connsiteY33" fmla="*/ 461042 h 814508"/>
                  <a:gd name="connsiteX34" fmla="*/ 560934 w 716949"/>
                  <a:gd name="connsiteY34" fmla="*/ 414938 h 814508"/>
                  <a:gd name="connsiteX35" fmla="*/ 553250 w 716949"/>
                  <a:gd name="connsiteY35" fmla="*/ 384202 h 814508"/>
                  <a:gd name="connsiteX36" fmla="*/ 560934 w 716949"/>
                  <a:gd name="connsiteY36" fmla="*/ 315046 h 814508"/>
                  <a:gd name="connsiteX37" fmla="*/ 637774 w 716949"/>
                  <a:gd name="connsiteY37" fmla="*/ 268942 h 814508"/>
                  <a:gd name="connsiteX38" fmla="*/ 653143 w 716949"/>
                  <a:gd name="connsiteY38" fmla="*/ 253574 h 814508"/>
                  <a:gd name="connsiteX39" fmla="*/ 676195 w 716949"/>
                  <a:gd name="connsiteY39" fmla="*/ 238205 h 814508"/>
                  <a:gd name="connsiteX40" fmla="*/ 691563 w 716949"/>
                  <a:gd name="connsiteY40" fmla="*/ 192101 h 814508"/>
                  <a:gd name="connsiteX41" fmla="*/ 714615 w 716949"/>
                  <a:gd name="connsiteY41" fmla="*/ 145997 h 814508"/>
                  <a:gd name="connsiteX42" fmla="*/ 676195 w 716949"/>
                  <a:gd name="connsiteY42" fmla="*/ 15368 h 814508"/>
                  <a:gd name="connsiteX43" fmla="*/ 622406 w 716949"/>
                  <a:gd name="connsiteY43" fmla="*/ 23053 h 814508"/>
                  <a:gd name="connsiteX44" fmla="*/ 568618 w 716949"/>
                  <a:gd name="connsiteY44" fmla="*/ 69157 h 814508"/>
                  <a:gd name="connsiteX45" fmla="*/ 522514 w 716949"/>
                  <a:gd name="connsiteY45" fmla="*/ 115261 h 814508"/>
                  <a:gd name="connsiteX46" fmla="*/ 514830 w 716949"/>
                  <a:gd name="connsiteY46" fmla="*/ 138313 h 814508"/>
                  <a:gd name="connsiteX47" fmla="*/ 430306 w 716949"/>
                  <a:gd name="connsiteY47" fmla="*/ 145997 h 814508"/>
                  <a:gd name="connsiteX48" fmla="*/ 391885 w 716949"/>
                  <a:gd name="connsiteY48" fmla="*/ 107577 h 814508"/>
                  <a:gd name="connsiteX49" fmla="*/ 345781 w 716949"/>
                  <a:gd name="connsiteY49" fmla="*/ 61473 h 814508"/>
                  <a:gd name="connsiteX50" fmla="*/ 322729 w 716949"/>
                  <a:gd name="connsiteY50" fmla="*/ 38421 h 814508"/>
                  <a:gd name="connsiteX51" fmla="*/ 307361 w 716949"/>
                  <a:gd name="connsiteY51" fmla="*/ 15368 h 814508"/>
                  <a:gd name="connsiteX52" fmla="*/ 284309 w 716949"/>
                  <a:gd name="connsiteY52" fmla="*/ 0 h 814508"/>
                  <a:gd name="connsiteX53" fmla="*/ 261257 w 716949"/>
                  <a:gd name="connsiteY53" fmla="*/ 15368 h 814508"/>
                  <a:gd name="connsiteX54" fmla="*/ 215153 w 716949"/>
                  <a:gd name="connsiteY54" fmla="*/ 30737 h 814508"/>
                  <a:gd name="connsiteX55" fmla="*/ 192101 w 716949"/>
                  <a:gd name="connsiteY55" fmla="*/ 30737 h 8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16949" h="814508">
                    <a:moveTo>
                      <a:pt x="192101" y="30737"/>
                    </a:moveTo>
                    <a:cubicBezTo>
                      <a:pt x="183136" y="42263"/>
                      <a:pt x="171152" y="86190"/>
                      <a:pt x="161364" y="99893"/>
                    </a:cubicBezTo>
                    <a:cubicBezTo>
                      <a:pt x="155048" y="108736"/>
                      <a:pt x="145269" y="114597"/>
                      <a:pt x="138312" y="122945"/>
                    </a:cubicBezTo>
                    <a:cubicBezTo>
                      <a:pt x="132400" y="130040"/>
                      <a:pt x="128067" y="138313"/>
                      <a:pt x="122944" y="145997"/>
                    </a:cubicBezTo>
                    <a:cubicBezTo>
                      <a:pt x="103797" y="222584"/>
                      <a:pt x="111048" y="186635"/>
                      <a:pt x="99892" y="253574"/>
                    </a:cubicBezTo>
                    <a:cubicBezTo>
                      <a:pt x="102453" y="299678"/>
                      <a:pt x="103396" y="345901"/>
                      <a:pt x="107576" y="391886"/>
                    </a:cubicBezTo>
                    <a:cubicBezTo>
                      <a:pt x="113173" y="453456"/>
                      <a:pt x="136615" y="397826"/>
                      <a:pt x="107576" y="499463"/>
                    </a:cubicBezTo>
                    <a:cubicBezTo>
                      <a:pt x="104058" y="511777"/>
                      <a:pt x="92858" y="520475"/>
                      <a:pt x="84524" y="530199"/>
                    </a:cubicBezTo>
                    <a:cubicBezTo>
                      <a:pt x="34338" y="588749"/>
                      <a:pt x="91470" y="515569"/>
                      <a:pt x="30736" y="576303"/>
                    </a:cubicBezTo>
                    <a:cubicBezTo>
                      <a:pt x="17265" y="589774"/>
                      <a:pt x="12684" y="604908"/>
                      <a:pt x="7684" y="622407"/>
                    </a:cubicBezTo>
                    <a:cubicBezTo>
                      <a:pt x="4783" y="632561"/>
                      <a:pt x="2561" y="642898"/>
                      <a:pt x="0" y="653143"/>
                    </a:cubicBezTo>
                    <a:cubicBezTo>
                      <a:pt x="2561" y="668511"/>
                      <a:pt x="2757" y="684467"/>
                      <a:pt x="7684" y="699247"/>
                    </a:cubicBezTo>
                    <a:cubicBezTo>
                      <a:pt x="16354" y="725256"/>
                      <a:pt x="27188" y="721905"/>
                      <a:pt x="46104" y="737668"/>
                    </a:cubicBezTo>
                    <a:cubicBezTo>
                      <a:pt x="54452" y="744625"/>
                      <a:pt x="60313" y="754404"/>
                      <a:pt x="69156" y="760720"/>
                    </a:cubicBezTo>
                    <a:cubicBezTo>
                      <a:pt x="78477" y="767378"/>
                      <a:pt x="89947" y="770405"/>
                      <a:pt x="99892" y="776088"/>
                    </a:cubicBezTo>
                    <a:cubicBezTo>
                      <a:pt x="107910" y="780670"/>
                      <a:pt x="114456" y="787818"/>
                      <a:pt x="122944" y="791456"/>
                    </a:cubicBezTo>
                    <a:cubicBezTo>
                      <a:pt x="132651" y="795616"/>
                      <a:pt x="143661" y="795800"/>
                      <a:pt x="153680" y="799140"/>
                    </a:cubicBezTo>
                    <a:cubicBezTo>
                      <a:pt x="166766" y="803502"/>
                      <a:pt x="179294" y="809385"/>
                      <a:pt x="192101" y="814508"/>
                    </a:cubicBezTo>
                    <a:cubicBezTo>
                      <a:pt x="222837" y="811947"/>
                      <a:pt x="254653" y="815297"/>
                      <a:pt x="284309" y="806824"/>
                    </a:cubicBezTo>
                    <a:cubicBezTo>
                      <a:pt x="293189" y="804287"/>
                      <a:pt x="295547" y="792032"/>
                      <a:pt x="299677" y="783772"/>
                    </a:cubicBezTo>
                    <a:cubicBezTo>
                      <a:pt x="303299" y="776527"/>
                      <a:pt x="303739" y="767965"/>
                      <a:pt x="307361" y="760720"/>
                    </a:cubicBezTo>
                    <a:cubicBezTo>
                      <a:pt x="337152" y="701137"/>
                      <a:pt x="311099" y="772558"/>
                      <a:pt x="330413" y="714616"/>
                    </a:cubicBezTo>
                    <a:cubicBezTo>
                      <a:pt x="332053" y="688369"/>
                      <a:pt x="300434" y="583987"/>
                      <a:pt x="361149" y="583987"/>
                    </a:cubicBezTo>
                    <a:cubicBezTo>
                      <a:pt x="384343" y="583987"/>
                      <a:pt x="407254" y="589110"/>
                      <a:pt x="430306" y="591671"/>
                    </a:cubicBezTo>
                    <a:cubicBezTo>
                      <a:pt x="443113" y="599355"/>
                      <a:pt x="456061" y="606807"/>
                      <a:pt x="468726" y="614723"/>
                    </a:cubicBezTo>
                    <a:cubicBezTo>
                      <a:pt x="476557" y="619618"/>
                      <a:pt x="483290" y="626453"/>
                      <a:pt x="491778" y="630091"/>
                    </a:cubicBezTo>
                    <a:cubicBezTo>
                      <a:pt x="501485" y="634251"/>
                      <a:pt x="512360" y="634874"/>
                      <a:pt x="522514" y="637775"/>
                    </a:cubicBezTo>
                    <a:cubicBezTo>
                      <a:pt x="599679" y="659822"/>
                      <a:pt x="480216" y="629122"/>
                      <a:pt x="576302" y="653143"/>
                    </a:cubicBezTo>
                    <a:cubicBezTo>
                      <a:pt x="593325" y="650711"/>
                      <a:pt x="638429" y="652161"/>
                      <a:pt x="653143" y="630091"/>
                    </a:cubicBezTo>
                    <a:cubicBezTo>
                      <a:pt x="659001" y="621304"/>
                      <a:pt x="658266" y="609600"/>
                      <a:pt x="660827" y="599355"/>
                    </a:cubicBezTo>
                    <a:cubicBezTo>
                      <a:pt x="658266" y="578864"/>
                      <a:pt x="660812" y="557056"/>
                      <a:pt x="653143" y="537883"/>
                    </a:cubicBezTo>
                    <a:cubicBezTo>
                      <a:pt x="649713" y="529308"/>
                      <a:pt x="635859" y="529726"/>
                      <a:pt x="630090" y="522515"/>
                    </a:cubicBezTo>
                    <a:cubicBezTo>
                      <a:pt x="625030" y="516190"/>
                      <a:pt x="626028" y="506708"/>
                      <a:pt x="622406" y="499463"/>
                    </a:cubicBezTo>
                    <a:cubicBezTo>
                      <a:pt x="612713" y="480078"/>
                      <a:pt x="605963" y="475336"/>
                      <a:pt x="591670" y="461042"/>
                    </a:cubicBezTo>
                    <a:cubicBezTo>
                      <a:pt x="569610" y="372801"/>
                      <a:pt x="603386" y="478616"/>
                      <a:pt x="560934" y="414938"/>
                    </a:cubicBezTo>
                    <a:cubicBezTo>
                      <a:pt x="555076" y="406151"/>
                      <a:pt x="555811" y="394447"/>
                      <a:pt x="553250" y="384202"/>
                    </a:cubicBezTo>
                    <a:cubicBezTo>
                      <a:pt x="555811" y="361150"/>
                      <a:pt x="549938" y="335468"/>
                      <a:pt x="560934" y="315046"/>
                    </a:cubicBezTo>
                    <a:cubicBezTo>
                      <a:pt x="571601" y="295235"/>
                      <a:pt x="618406" y="281854"/>
                      <a:pt x="637774" y="268942"/>
                    </a:cubicBezTo>
                    <a:cubicBezTo>
                      <a:pt x="643802" y="264923"/>
                      <a:pt x="647486" y="258100"/>
                      <a:pt x="653143" y="253574"/>
                    </a:cubicBezTo>
                    <a:cubicBezTo>
                      <a:pt x="660354" y="247805"/>
                      <a:pt x="668511" y="243328"/>
                      <a:pt x="676195" y="238205"/>
                    </a:cubicBezTo>
                    <a:cubicBezTo>
                      <a:pt x="681318" y="222837"/>
                      <a:pt x="682577" y="205580"/>
                      <a:pt x="691563" y="192101"/>
                    </a:cubicBezTo>
                    <a:cubicBezTo>
                      <a:pt x="711424" y="162310"/>
                      <a:pt x="704011" y="177810"/>
                      <a:pt x="714615" y="145997"/>
                    </a:cubicBezTo>
                    <a:cubicBezTo>
                      <a:pt x="711466" y="120803"/>
                      <a:pt x="735834" y="15368"/>
                      <a:pt x="676195" y="15368"/>
                    </a:cubicBezTo>
                    <a:cubicBezTo>
                      <a:pt x="658083" y="15368"/>
                      <a:pt x="640336" y="20491"/>
                      <a:pt x="622406" y="23053"/>
                    </a:cubicBezTo>
                    <a:cubicBezTo>
                      <a:pt x="570482" y="49015"/>
                      <a:pt x="609425" y="23816"/>
                      <a:pt x="568618" y="69157"/>
                    </a:cubicBezTo>
                    <a:cubicBezTo>
                      <a:pt x="554079" y="85311"/>
                      <a:pt x="522514" y="115261"/>
                      <a:pt x="522514" y="115261"/>
                    </a:cubicBezTo>
                    <a:cubicBezTo>
                      <a:pt x="519953" y="122945"/>
                      <a:pt x="519890" y="131988"/>
                      <a:pt x="514830" y="138313"/>
                    </a:cubicBezTo>
                    <a:cubicBezTo>
                      <a:pt x="491665" y="167269"/>
                      <a:pt x="462774" y="150056"/>
                      <a:pt x="430306" y="145997"/>
                    </a:cubicBezTo>
                    <a:cubicBezTo>
                      <a:pt x="398638" y="98495"/>
                      <a:pt x="433800" y="144834"/>
                      <a:pt x="391885" y="107577"/>
                    </a:cubicBezTo>
                    <a:cubicBezTo>
                      <a:pt x="375641" y="93138"/>
                      <a:pt x="361149" y="76841"/>
                      <a:pt x="345781" y="61473"/>
                    </a:cubicBezTo>
                    <a:cubicBezTo>
                      <a:pt x="338097" y="53789"/>
                      <a:pt x="328757" y="47463"/>
                      <a:pt x="322729" y="38421"/>
                    </a:cubicBezTo>
                    <a:cubicBezTo>
                      <a:pt x="317606" y="30737"/>
                      <a:pt x="313891" y="21898"/>
                      <a:pt x="307361" y="15368"/>
                    </a:cubicBezTo>
                    <a:cubicBezTo>
                      <a:pt x="300831" y="8838"/>
                      <a:pt x="291993" y="5123"/>
                      <a:pt x="284309" y="0"/>
                    </a:cubicBezTo>
                    <a:cubicBezTo>
                      <a:pt x="276625" y="5123"/>
                      <a:pt x="269696" y="11617"/>
                      <a:pt x="261257" y="15368"/>
                    </a:cubicBezTo>
                    <a:cubicBezTo>
                      <a:pt x="246454" y="21947"/>
                      <a:pt x="215153" y="30737"/>
                      <a:pt x="215153" y="30737"/>
                    </a:cubicBezTo>
                    <a:cubicBezTo>
                      <a:pt x="198364" y="55920"/>
                      <a:pt x="201066" y="19211"/>
                      <a:pt x="192101" y="30737"/>
                    </a:cubicBezTo>
                    <a:close/>
                  </a:path>
                </a:pathLst>
              </a:custGeom>
              <a:solidFill>
                <a:srgbClr val="FFAFB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728049-20FD-4314-8405-DEC3C4ECE072}"/>
                  </a:ext>
                </a:extLst>
              </p:cNvPr>
              <p:cNvSpPr txBox="1"/>
              <p:nvPr/>
            </p:nvSpPr>
            <p:spPr>
              <a:xfrm>
                <a:off x="4087163" y="1486130"/>
                <a:ext cx="1165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Obstacle 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00AB2D-6494-410A-B9E4-FDEDBFED668B}"/>
                  </a:ext>
                </a:extLst>
              </p:cNvPr>
              <p:cNvSpPr/>
              <p:nvPr/>
            </p:nvSpPr>
            <p:spPr>
              <a:xfrm>
                <a:off x="4378523" y="2248382"/>
                <a:ext cx="115128" cy="10241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/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58618448-5524-4599-966A-C803D776C7A0}"/>
              </a:ext>
            </a:extLst>
          </p:cNvPr>
          <p:cNvSpPr/>
          <p:nvPr/>
        </p:nvSpPr>
        <p:spPr>
          <a:xfrm>
            <a:off x="5054474" y="289058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19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ADEE8-87C8-4839-AA52-0A207013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Computer vision tasks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Actual path planning task</a:t>
            </a:r>
          </a:p>
          <a:p>
            <a:r>
              <a:rPr lang="en-US" dirty="0"/>
              <a:t>Assume: vision algorithm identifies obstacles, and labels them with some easy-to-represent geometric shape (such as a bounding boxes)</a:t>
            </a:r>
          </a:p>
          <a:p>
            <a:pPr lvl="1"/>
            <a:r>
              <a:rPr lang="en-US" dirty="0"/>
              <a:t>In this example, assume a sonar-based sensor, so we will use circles</a:t>
            </a:r>
          </a:p>
          <a:p>
            <a:r>
              <a:rPr lang="en-US" dirty="0"/>
              <a:t>Assuming the vision algorithm is correct, do path planning based on the estimated shapes of obstacles</a:t>
            </a:r>
          </a:p>
          <a:p>
            <a:r>
              <a:rPr lang="en-US" dirty="0"/>
              <a:t>Design challenge: </a:t>
            </a:r>
          </a:p>
          <a:p>
            <a:pPr lvl="1"/>
            <a:r>
              <a:rPr lang="en-US" dirty="0"/>
              <a:t>obstacle shape estimate not the smallest shape containing the obstacle</a:t>
            </a:r>
          </a:p>
          <a:p>
            <a:pPr lvl="1"/>
            <a:r>
              <a:rPr lang="en-US" dirty="0"/>
              <a:t>estimate varies based on distance from obstacle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497B7-6143-4B69-A373-BD07785B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path/motion planning into two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AA790-862F-4F3D-A3BB-0943A0DB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79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maintains radii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that are estimates of obstacle sizes</a:t>
                </a:r>
              </a:p>
              <a:p>
                <a:r>
                  <a:rPr lang="en-US" sz="2400" dirty="0"/>
                  <a:t>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executes following update to get estimates of shapes of each obstacle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lvl="1"/>
                <a:r>
                  <a:rPr lang="en-US" sz="1800" dirty="0"/>
                  <a:t>We don’t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 but we are guaranteed that we get a radius of an estimated shape of the obstacle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 that is exactly: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is actual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is actual (unknown)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2000" b="0" dirty="0"/>
                  <a:t>Computation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/>
                  <a:t> is symmetric</a:t>
                </a:r>
                <a:br>
                  <a:rPr lang="en-US" sz="2000" b="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/>
                      <m:t>	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b="0" dirty="0"/>
              </a:p>
              <a:p>
                <a:endParaRPr lang="en-US" sz="20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  <a:blipFill>
                <a:blip r:embed="rId2"/>
                <a:stretch>
                  <a:fillRect l="-683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767E64-362D-490C-8210-F797A87C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A5F3-E473-4F0F-9CE6-5B23DBC7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494E702-8EB7-4850-A99C-E49F198AB8D7}"/>
              </a:ext>
            </a:extLst>
          </p:cNvPr>
          <p:cNvGrpSpPr/>
          <p:nvPr/>
        </p:nvGrpSpPr>
        <p:grpSpPr>
          <a:xfrm>
            <a:off x="326232" y="1741648"/>
            <a:ext cx="3980786" cy="2168664"/>
            <a:chOff x="1969293" y="1750874"/>
            <a:chExt cx="3980786" cy="2168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ABF41F-12E6-48E8-B046-ED26F34B06F7}"/>
                </a:ext>
              </a:extLst>
            </p:cNvPr>
            <p:cNvSpPr/>
            <p:nvPr/>
          </p:nvSpPr>
          <p:spPr>
            <a:xfrm>
              <a:off x="2171700" y="2178844"/>
              <a:ext cx="1550193" cy="15430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1E2ACD0-AB9C-41E9-9D03-E24493A37CAD}"/>
                </a:ext>
              </a:extLst>
            </p:cNvPr>
            <p:cNvSpPr/>
            <p:nvPr/>
          </p:nvSpPr>
          <p:spPr>
            <a:xfrm>
              <a:off x="2527286" y="2650430"/>
              <a:ext cx="801448" cy="571697"/>
            </a:xfrm>
            <a:custGeom>
              <a:avLst/>
              <a:gdLst>
                <a:gd name="connsiteX0" fmla="*/ 192101 w 716949"/>
                <a:gd name="connsiteY0" fmla="*/ 30737 h 814508"/>
                <a:gd name="connsiteX1" fmla="*/ 161364 w 716949"/>
                <a:gd name="connsiteY1" fmla="*/ 99893 h 814508"/>
                <a:gd name="connsiteX2" fmla="*/ 138312 w 716949"/>
                <a:gd name="connsiteY2" fmla="*/ 122945 h 814508"/>
                <a:gd name="connsiteX3" fmla="*/ 122944 w 716949"/>
                <a:gd name="connsiteY3" fmla="*/ 145997 h 814508"/>
                <a:gd name="connsiteX4" fmla="*/ 99892 w 716949"/>
                <a:gd name="connsiteY4" fmla="*/ 253574 h 814508"/>
                <a:gd name="connsiteX5" fmla="*/ 107576 w 716949"/>
                <a:gd name="connsiteY5" fmla="*/ 391886 h 814508"/>
                <a:gd name="connsiteX6" fmla="*/ 107576 w 716949"/>
                <a:gd name="connsiteY6" fmla="*/ 499463 h 814508"/>
                <a:gd name="connsiteX7" fmla="*/ 84524 w 716949"/>
                <a:gd name="connsiteY7" fmla="*/ 530199 h 814508"/>
                <a:gd name="connsiteX8" fmla="*/ 30736 w 716949"/>
                <a:gd name="connsiteY8" fmla="*/ 576303 h 814508"/>
                <a:gd name="connsiteX9" fmla="*/ 7684 w 716949"/>
                <a:gd name="connsiteY9" fmla="*/ 622407 h 814508"/>
                <a:gd name="connsiteX10" fmla="*/ 0 w 716949"/>
                <a:gd name="connsiteY10" fmla="*/ 653143 h 814508"/>
                <a:gd name="connsiteX11" fmla="*/ 7684 w 716949"/>
                <a:gd name="connsiteY11" fmla="*/ 699247 h 814508"/>
                <a:gd name="connsiteX12" fmla="*/ 46104 w 716949"/>
                <a:gd name="connsiteY12" fmla="*/ 737668 h 814508"/>
                <a:gd name="connsiteX13" fmla="*/ 69156 w 716949"/>
                <a:gd name="connsiteY13" fmla="*/ 760720 h 814508"/>
                <a:gd name="connsiteX14" fmla="*/ 99892 w 716949"/>
                <a:gd name="connsiteY14" fmla="*/ 776088 h 814508"/>
                <a:gd name="connsiteX15" fmla="*/ 122944 w 716949"/>
                <a:gd name="connsiteY15" fmla="*/ 791456 h 814508"/>
                <a:gd name="connsiteX16" fmla="*/ 153680 w 716949"/>
                <a:gd name="connsiteY16" fmla="*/ 799140 h 814508"/>
                <a:gd name="connsiteX17" fmla="*/ 192101 w 716949"/>
                <a:gd name="connsiteY17" fmla="*/ 814508 h 814508"/>
                <a:gd name="connsiteX18" fmla="*/ 284309 w 716949"/>
                <a:gd name="connsiteY18" fmla="*/ 806824 h 814508"/>
                <a:gd name="connsiteX19" fmla="*/ 299677 w 716949"/>
                <a:gd name="connsiteY19" fmla="*/ 783772 h 814508"/>
                <a:gd name="connsiteX20" fmla="*/ 307361 w 716949"/>
                <a:gd name="connsiteY20" fmla="*/ 760720 h 814508"/>
                <a:gd name="connsiteX21" fmla="*/ 330413 w 716949"/>
                <a:gd name="connsiteY21" fmla="*/ 714616 h 814508"/>
                <a:gd name="connsiteX22" fmla="*/ 361149 w 716949"/>
                <a:gd name="connsiteY22" fmla="*/ 583987 h 814508"/>
                <a:gd name="connsiteX23" fmla="*/ 430306 w 716949"/>
                <a:gd name="connsiteY23" fmla="*/ 591671 h 814508"/>
                <a:gd name="connsiteX24" fmla="*/ 468726 w 716949"/>
                <a:gd name="connsiteY24" fmla="*/ 614723 h 814508"/>
                <a:gd name="connsiteX25" fmla="*/ 491778 w 716949"/>
                <a:gd name="connsiteY25" fmla="*/ 630091 h 814508"/>
                <a:gd name="connsiteX26" fmla="*/ 522514 w 716949"/>
                <a:gd name="connsiteY26" fmla="*/ 637775 h 814508"/>
                <a:gd name="connsiteX27" fmla="*/ 576302 w 716949"/>
                <a:gd name="connsiteY27" fmla="*/ 653143 h 814508"/>
                <a:gd name="connsiteX28" fmla="*/ 653143 w 716949"/>
                <a:gd name="connsiteY28" fmla="*/ 630091 h 814508"/>
                <a:gd name="connsiteX29" fmla="*/ 660827 w 716949"/>
                <a:gd name="connsiteY29" fmla="*/ 599355 h 814508"/>
                <a:gd name="connsiteX30" fmla="*/ 653143 w 716949"/>
                <a:gd name="connsiteY30" fmla="*/ 537883 h 814508"/>
                <a:gd name="connsiteX31" fmla="*/ 630090 w 716949"/>
                <a:gd name="connsiteY31" fmla="*/ 522515 h 814508"/>
                <a:gd name="connsiteX32" fmla="*/ 622406 w 716949"/>
                <a:gd name="connsiteY32" fmla="*/ 499463 h 814508"/>
                <a:gd name="connsiteX33" fmla="*/ 591670 w 716949"/>
                <a:gd name="connsiteY33" fmla="*/ 461042 h 814508"/>
                <a:gd name="connsiteX34" fmla="*/ 560934 w 716949"/>
                <a:gd name="connsiteY34" fmla="*/ 414938 h 814508"/>
                <a:gd name="connsiteX35" fmla="*/ 553250 w 716949"/>
                <a:gd name="connsiteY35" fmla="*/ 384202 h 814508"/>
                <a:gd name="connsiteX36" fmla="*/ 560934 w 716949"/>
                <a:gd name="connsiteY36" fmla="*/ 315046 h 814508"/>
                <a:gd name="connsiteX37" fmla="*/ 637774 w 716949"/>
                <a:gd name="connsiteY37" fmla="*/ 268942 h 814508"/>
                <a:gd name="connsiteX38" fmla="*/ 653143 w 716949"/>
                <a:gd name="connsiteY38" fmla="*/ 253574 h 814508"/>
                <a:gd name="connsiteX39" fmla="*/ 676195 w 716949"/>
                <a:gd name="connsiteY39" fmla="*/ 238205 h 814508"/>
                <a:gd name="connsiteX40" fmla="*/ 691563 w 716949"/>
                <a:gd name="connsiteY40" fmla="*/ 192101 h 814508"/>
                <a:gd name="connsiteX41" fmla="*/ 714615 w 716949"/>
                <a:gd name="connsiteY41" fmla="*/ 145997 h 814508"/>
                <a:gd name="connsiteX42" fmla="*/ 676195 w 716949"/>
                <a:gd name="connsiteY42" fmla="*/ 15368 h 814508"/>
                <a:gd name="connsiteX43" fmla="*/ 622406 w 716949"/>
                <a:gd name="connsiteY43" fmla="*/ 23053 h 814508"/>
                <a:gd name="connsiteX44" fmla="*/ 568618 w 716949"/>
                <a:gd name="connsiteY44" fmla="*/ 69157 h 814508"/>
                <a:gd name="connsiteX45" fmla="*/ 522514 w 716949"/>
                <a:gd name="connsiteY45" fmla="*/ 115261 h 814508"/>
                <a:gd name="connsiteX46" fmla="*/ 514830 w 716949"/>
                <a:gd name="connsiteY46" fmla="*/ 138313 h 814508"/>
                <a:gd name="connsiteX47" fmla="*/ 430306 w 716949"/>
                <a:gd name="connsiteY47" fmla="*/ 145997 h 814508"/>
                <a:gd name="connsiteX48" fmla="*/ 391885 w 716949"/>
                <a:gd name="connsiteY48" fmla="*/ 107577 h 814508"/>
                <a:gd name="connsiteX49" fmla="*/ 345781 w 716949"/>
                <a:gd name="connsiteY49" fmla="*/ 61473 h 814508"/>
                <a:gd name="connsiteX50" fmla="*/ 322729 w 716949"/>
                <a:gd name="connsiteY50" fmla="*/ 38421 h 814508"/>
                <a:gd name="connsiteX51" fmla="*/ 307361 w 716949"/>
                <a:gd name="connsiteY51" fmla="*/ 15368 h 814508"/>
                <a:gd name="connsiteX52" fmla="*/ 284309 w 716949"/>
                <a:gd name="connsiteY52" fmla="*/ 0 h 814508"/>
                <a:gd name="connsiteX53" fmla="*/ 261257 w 716949"/>
                <a:gd name="connsiteY53" fmla="*/ 15368 h 814508"/>
                <a:gd name="connsiteX54" fmla="*/ 215153 w 716949"/>
                <a:gd name="connsiteY54" fmla="*/ 30737 h 814508"/>
                <a:gd name="connsiteX55" fmla="*/ 192101 w 716949"/>
                <a:gd name="connsiteY55" fmla="*/ 30737 h 81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716949" h="814508">
                  <a:moveTo>
                    <a:pt x="192101" y="30737"/>
                  </a:moveTo>
                  <a:cubicBezTo>
                    <a:pt x="183136" y="42263"/>
                    <a:pt x="171152" y="86190"/>
                    <a:pt x="161364" y="99893"/>
                  </a:cubicBezTo>
                  <a:cubicBezTo>
                    <a:pt x="155048" y="108736"/>
                    <a:pt x="145269" y="114597"/>
                    <a:pt x="138312" y="122945"/>
                  </a:cubicBezTo>
                  <a:cubicBezTo>
                    <a:pt x="132400" y="130040"/>
                    <a:pt x="128067" y="138313"/>
                    <a:pt x="122944" y="145997"/>
                  </a:cubicBezTo>
                  <a:cubicBezTo>
                    <a:pt x="103797" y="222584"/>
                    <a:pt x="111048" y="186635"/>
                    <a:pt x="99892" y="253574"/>
                  </a:cubicBezTo>
                  <a:cubicBezTo>
                    <a:pt x="102453" y="299678"/>
                    <a:pt x="103396" y="345901"/>
                    <a:pt x="107576" y="391886"/>
                  </a:cubicBezTo>
                  <a:cubicBezTo>
                    <a:pt x="113173" y="453456"/>
                    <a:pt x="136615" y="397826"/>
                    <a:pt x="107576" y="499463"/>
                  </a:cubicBezTo>
                  <a:cubicBezTo>
                    <a:pt x="104058" y="511777"/>
                    <a:pt x="92858" y="520475"/>
                    <a:pt x="84524" y="530199"/>
                  </a:cubicBezTo>
                  <a:cubicBezTo>
                    <a:pt x="34338" y="588749"/>
                    <a:pt x="91470" y="515569"/>
                    <a:pt x="30736" y="576303"/>
                  </a:cubicBezTo>
                  <a:cubicBezTo>
                    <a:pt x="17265" y="589774"/>
                    <a:pt x="12684" y="604908"/>
                    <a:pt x="7684" y="622407"/>
                  </a:cubicBezTo>
                  <a:cubicBezTo>
                    <a:pt x="4783" y="632561"/>
                    <a:pt x="2561" y="642898"/>
                    <a:pt x="0" y="653143"/>
                  </a:cubicBezTo>
                  <a:cubicBezTo>
                    <a:pt x="2561" y="668511"/>
                    <a:pt x="2757" y="684467"/>
                    <a:pt x="7684" y="699247"/>
                  </a:cubicBezTo>
                  <a:cubicBezTo>
                    <a:pt x="16354" y="725256"/>
                    <a:pt x="27188" y="721905"/>
                    <a:pt x="46104" y="737668"/>
                  </a:cubicBezTo>
                  <a:cubicBezTo>
                    <a:pt x="54452" y="744625"/>
                    <a:pt x="60313" y="754404"/>
                    <a:pt x="69156" y="760720"/>
                  </a:cubicBezTo>
                  <a:cubicBezTo>
                    <a:pt x="78477" y="767378"/>
                    <a:pt x="89947" y="770405"/>
                    <a:pt x="99892" y="776088"/>
                  </a:cubicBezTo>
                  <a:cubicBezTo>
                    <a:pt x="107910" y="780670"/>
                    <a:pt x="114456" y="787818"/>
                    <a:pt x="122944" y="791456"/>
                  </a:cubicBezTo>
                  <a:cubicBezTo>
                    <a:pt x="132651" y="795616"/>
                    <a:pt x="143661" y="795800"/>
                    <a:pt x="153680" y="799140"/>
                  </a:cubicBezTo>
                  <a:cubicBezTo>
                    <a:pt x="166766" y="803502"/>
                    <a:pt x="179294" y="809385"/>
                    <a:pt x="192101" y="814508"/>
                  </a:cubicBezTo>
                  <a:cubicBezTo>
                    <a:pt x="222837" y="811947"/>
                    <a:pt x="254653" y="815297"/>
                    <a:pt x="284309" y="806824"/>
                  </a:cubicBezTo>
                  <a:cubicBezTo>
                    <a:pt x="293189" y="804287"/>
                    <a:pt x="295547" y="792032"/>
                    <a:pt x="299677" y="783772"/>
                  </a:cubicBezTo>
                  <a:cubicBezTo>
                    <a:pt x="303299" y="776527"/>
                    <a:pt x="303739" y="767965"/>
                    <a:pt x="307361" y="760720"/>
                  </a:cubicBezTo>
                  <a:cubicBezTo>
                    <a:pt x="337152" y="701137"/>
                    <a:pt x="311099" y="772558"/>
                    <a:pt x="330413" y="714616"/>
                  </a:cubicBezTo>
                  <a:cubicBezTo>
                    <a:pt x="332053" y="688369"/>
                    <a:pt x="300434" y="583987"/>
                    <a:pt x="361149" y="583987"/>
                  </a:cubicBezTo>
                  <a:cubicBezTo>
                    <a:pt x="384343" y="583987"/>
                    <a:pt x="407254" y="589110"/>
                    <a:pt x="430306" y="591671"/>
                  </a:cubicBezTo>
                  <a:cubicBezTo>
                    <a:pt x="443113" y="599355"/>
                    <a:pt x="456061" y="606807"/>
                    <a:pt x="468726" y="614723"/>
                  </a:cubicBezTo>
                  <a:cubicBezTo>
                    <a:pt x="476557" y="619618"/>
                    <a:pt x="483290" y="626453"/>
                    <a:pt x="491778" y="630091"/>
                  </a:cubicBezTo>
                  <a:cubicBezTo>
                    <a:pt x="501485" y="634251"/>
                    <a:pt x="512360" y="634874"/>
                    <a:pt x="522514" y="637775"/>
                  </a:cubicBezTo>
                  <a:cubicBezTo>
                    <a:pt x="599679" y="659822"/>
                    <a:pt x="480216" y="629122"/>
                    <a:pt x="576302" y="653143"/>
                  </a:cubicBezTo>
                  <a:cubicBezTo>
                    <a:pt x="593325" y="650711"/>
                    <a:pt x="638429" y="652161"/>
                    <a:pt x="653143" y="630091"/>
                  </a:cubicBezTo>
                  <a:cubicBezTo>
                    <a:pt x="659001" y="621304"/>
                    <a:pt x="658266" y="609600"/>
                    <a:pt x="660827" y="599355"/>
                  </a:cubicBezTo>
                  <a:cubicBezTo>
                    <a:pt x="658266" y="578864"/>
                    <a:pt x="660812" y="557056"/>
                    <a:pt x="653143" y="537883"/>
                  </a:cubicBezTo>
                  <a:cubicBezTo>
                    <a:pt x="649713" y="529308"/>
                    <a:pt x="635859" y="529726"/>
                    <a:pt x="630090" y="522515"/>
                  </a:cubicBezTo>
                  <a:cubicBezTo>
                    <a:pt x="625030" y="516190"/>
                    <a:pt x="626028" y="506708"/>
                    <a:pt x="622406" y="499463"/>
                  </a:cubicBezTo>
                  <a:cubicBezTo>
                    <a:pt x="612713" y="480078"/>
                    <a:pt x="605963" y="475336"/>
                    <a:pt x="591670" y="461042"/>
                  </a:cubicBezTo>
                  <a:cubicBezTo>
                    <a:pt x="569610" y="372801"/>
                    <a:pt x="603386" y="478616"/>
                    <a:pt x="560934" y="414938"/>
                  </a:cubicBezTo>
                  <a:cubicBezTo>
                    <a:pt x="555076" y="406151"/>
                    <a:pt x="555811" y="394447"/>
                    <a:pt x="553250" y="384202"/>
                  </a:cubicBezTo>
                  <a:cubicBezTo>
                    <a:pt x="555811" y="361150"/>
                    <a:pt x="549938" y="335468"/>
                    <a:pt x="560934" y="315046"/>
                  </a:cubicBezTo>
                  <a:cubicBezTo>
                    <a:pt x="571601" y="295235"/>
                    <a:pt x="618406" y="281854"/>
                    <a:pt x="637774" y="268942"/>
                  </a:cubicBezTo>
                  <a:cubicBezTo>
                    <a:pt x="643802" y="264923"/>
                    <a:pt x="647486" y="258100"/>
                    <a:pt x="653143" y="253574"/>
                  </a:cubicBezTo>
                  <a:cubicBezTo>
                    <a:pt x="660354" y="247805"/>
                    <a:pt x="668511" y="243328"/>
                    <a:pt x="676195" y="238205"/>
                  </a:cubicBezTo>
                  <a:cubicBezTo>
                    <a:pt x="681318" y="222837"/>
                    <a:pt x="682577" y="205580"/>
                    <a:pt x="691563" y="192101"/>
                  </a:cubicBezTo>
                  <a:cubicBezTo>
                    <a:pt x="711424" y="162310"/>
                    <a:pt x="704011" y="177810"/>
                    <a:pt x="714615" y="145997"/>
                  </a:cubicBezTo>
                  <a:cubicBezTo>
                    <a:pt x="711466" y="120803"/>
                    <a:pt x="735834" y="15368"/>
                    <a:pt x="676195" y="15368"/>
                  </a:cubicBezTo>
                  <a:cubicBezTo>
                    <a:pt x="658083" y="15368"/>
                    <a:pt x="640336" y="20491"/>
                    <a:pt x="622406" y="23053"/>
                  </a:cubicBezTo>
                  <a:cubicBezTo>
                    <a:pt x="570482" y="49015"/>
                    <a:pt x="609425" y="23816"/>
                    <a:pt x="568618" y="69157"/>
                  </a:cubicBezTo>
                  <a:cubicBezTo>
                    <a:pt x="554079" y="85311"/>
                    <a:pt x="522514" y="115261"/>
                    <a:pt x="522514" y="115261"/>
                  </a:cubicBezTo>
                  <a:cubicBezTo>
                    <a:pt x="519953" y="122945"/>
                    <a:pt x="519890" y="131988"/>
                    <a:pt x="514830" y="138313"/>
                  </a:cubicBezTo>
                  <a:cubicBezTo>
                    <a:pt x="491665" y="167269"/>
                    <a:pt x="462774" y="150056"/>
                    <a:pt x="430306" y="145997"/>
                  </a:cubicBezTo>
                  <a:cubicBezTo>
                    <a:pt x="398638" y="98495"/>
                    <a:pt x="433800" y="144834"/>
                    <a:pt x="391885" y="107577"/>
                  </a:cubicBezTo>
                  <a:cubicBezTo>
                    <a:pt x="375641" y="93138"/>
                    <a:pt x="361149" y="76841"/>
                    <a:pt x="345781" y="61473"/>
                  </a:cubicBezTo>
                  <a:cubicBezTo>
                    <a:pt x="338097" y="53789"/>
                    <a:pt x="328757" y="47463"/>
                    <a:pt x="322729" y="38421"/>
                  </a:cubicBezTo>
                  <a:cubicBezTo>
                    <a:pt x="317606" y="30737"/>
                    <a:pt x="313891" y="21898"/>
                    <a:pt x="307361" y="15368"/>
                  </a:cubicBezTo>
                  <a:cubicBezTo>
                    <a:pt x="300831" y="8838"/>
                    <a:pt x="291993" y="5123"/>
                    <a:pt x="284309" y="0"/>
                  </a:cubicBezTo>
                  <a:cubicBezTo>
                    <a:pt x="276625" y="5123"/>
                    <a:pt x="269696" y="11617"/>
                    <a:pt x="261257" y="15368"/>
                  </a:cubicBezTo>
                  <a:cubicBezTo>
                    <a:pt x="246454" y="21947"/>
                    <a:pt x="215153" y="30737"/>
                    <a:pt x="215153" y="30737"/>
                  </a:cubicBezTo>
                  <a:cubicBezTo>
                    <a:pt x="198364" y="55920"/>
                    <a:pt x="201066" y="19211"/>
                    <a:pt x="192101" y="30737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EBD74-06F5-4DE1-BBF9-DEF0034BA1FE}"/>
                </a:ext>
              </a:extLst>
            </p:cNvPr>
            <p:cNvSpPr/>
            <p:nvPr/>
          </p:nvSpPr>
          <p:spPr>
            <a:xfrm>
              <a:off x="2478881" y="2471738"/>
              <a:ext cx="935832" cy="9572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F4F8A99-1D68-4B2C-9464-DEAFA5325555}"/>
                </a:ext>
              </a:extLst>
            </p:cNvPr>
            <p:cNvSpPr/>
            <p:nvPr/>
          </p:nvSpPr>
          <p:spPr>
            <a:xfrm>
              <a:off x="1969293" y="1981200"/>
              <a:ext cx="1955006" cy="19383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7D8E60B-7DF1-48E4-B484-FA5F6B112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222" y="2274094"/>
              <a:ext cx="652989" cy="340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7C0C56-6147-4D22-8709-004FAFDDE568}"/>
                </a:ext>
              </a:extLst>
            </p:cNvPr>
            <p:cNvCxnSpPr>
              <a:cxnSpLocks/>
              <a:endCxn id="6" idx="6"/>
            </p:cNvCxnSpPr>
            <p:nvPr/>
          </p:nvCxnSpPr>
          <p:spPr>
            <a:xfrm flipH="1">
              <a:off x="3721893" y="2922581"/>
              <a:ext cx="774260" cy="27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799606-196F-4755-B5F3-497FC26E3470}"/>
                </a:ext>
              </a:extLst>
            </p:cNvPr>
            <p:cNvCxnSpPr>
              <a:cxnSpLocks/>
              <a:stCxn id="45" idx="1"/>
              <a:endCxn id="35" idx="0"/>
            </p:cNvCxnSpPr>
            <p:nvPr/>
          </p:nvCxnSpPr>
          <p:spPr>
            <a:xfrm flipH="1" flipV="1">
              <a:off x="3299382" y="3202593"/>
              <a:ext cx="1168970" cy="3561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DBF2A87-AE97-41FC-A3DF-FFBF39957AC1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>
              <a:off x="2946796" y="2936278"/>
              <a:ext cx="0" cy="983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11C83FF-48D8-4818-9CE8-C9B249037115}"/>
                </a:ext>
              </a:extLst>
            </p:cNvPr>
            <p:cNvCxnSpPr>
              <a:cxnSpLocks/>
            </p:cNvCxnSpPr>
            <p:nvPr/>
          </p:nvCxnSpPr>
          <p:spPr>
            <a:xfrm>
              <a:off x="2946796" y="2936278"/>
              <a:ext cx="348728" cy="69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920FE6-78E1-4364-9F97-E59025FCF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795" y="2507505"/>
              <a:ext cx="202409" cy="4287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/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/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/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/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77" t="-2299" b="-9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/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282" t="-2299" r="-427"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13E1AA-AEE7-4CE5-847A-3FFFEDAAF254}"/>
                </a:ext>
              </a:extLst>
            </p:cNvPr>
            <p:cNvSpPr txBox="1"/>
            <p:nvPr/>
          </p:nvSpPr>
          <p:spPr>
            <a:xfrm>
              <a:off x="4468352" y="3327875"/>
              <a:ext cx="1481727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Smallest shape </a:t>
              </a:r>
            </a:p>
            <a:p>
              <a:r>
                <a:rPr lang="en-US" sz="1200" dirty="0"/>
                <a:t>bounding obstacle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/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Estimated radius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a constant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blipFill>
                <a:blip r:embed="rId8"/>
                <a:stretch>
                  <a:fillRect l="-1536" t="-4717" r="-51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>
            <a:extLst>
              <a:ext uri="{FF2B5EF4-FFF2-40B4-BE49-F238E27FC236}">
                <a16:creationId xmlns:a16="http://schemas.microsoft.com/office/drawing/2014/main" id="{C1A2D62A-272B-4ECD-97CD-70D030600F91}"/>
              </a:ext>
            </a:extLst>
          </p:cNvPr>
          <p:cNvSpPr/>
          <p:nvPr/>
        </p:nvSpPr>
        <p:spPr>
          <a:xfrm>
            <a:off x="1288673" y="2844403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/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B9EB686-26F4-485D-83C0-1C3E9D8DDD7A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744620" y="1741648"/>
            <a:ext cx="560913" cy="11177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0214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52566C-E4FF-49E9-8D62-5A8D2E456B72}"/>
              </a:ext>
            </a:extLst>
          </p:cNvPr>
          <p:cNvCxnSpPr>
            <a:cxnSpLocks/>
            <a:endCxn id="12" idx="7"/>
          </p:cNvCxnSpPr>
          <p:nvPr/>
        </p:nvCxnSpPr>
        <p:spPr>
          <a:xfrm flipV="1">
            <a:off x="2293046" y="3341582"/>
            <a:ext cx="1512414" cy="145206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</p:spPr>
            <p:txBody>
              <a:bodyPr/>
              <a:lstStyle/>
              <a:p>
                <a:r>
                  <a:rPr lang="en-US" dirty="0"/>
                  <a:t>Choose shortest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to target (to minimize time)</a:t>
                </a:r>
              </a:p>
              <a:p>
                <a:r>
                  <a:rPr lang="en-US" dirty="0"/>
                  <a:t>If estimate of obstacle 1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calculate two paths that are tangent to obstacle 1 estimate</a:t>
                </a:r>
              </a:p>
              <a:p>
                <a:r>
                  <a:rPr lang="en-US" dirty="0"/>
                  <a:t>If estimate of obstacle 2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or obstacle 1, calculate tangent paths</a:t>
                </a:r>
              </a:p>
              <a:p>
                <a:r>
                  <a:rPr lang="en-US" dirty="0"/>
                  <a:t>Plausible paths: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Calculate shorter one as the planned path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  <a:blipFill>
                <a:blip r:embed="rId2"/>
                <a:stretch>
                  <a:fillRect l="-102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2E1E80-D5F3-4281-A921-78F7C9F7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4FF80-EC6D-4C0F-B715-FE49309D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63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728D3-D288-44E4-8D0B-D2B7C88DC9C2}"/>
              </a:ext>
            </a:extLst>
          </p:cNvPr>
          <p:cNvCxnSpPr/>
          <p:nvPr/>
        </p:nvCxnSpPr>
        <p:spPr>
          <a:xfrm flipV="1">
            <a:off x="614363" y="1543050"/>
            <a:ext cx="0" cy="3421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F6DCA-54CB-4A7E-8E17-02FC717D1019}"/>
              </a:ext>
            </a:extLst>
          </p:cNvPr>
          <p:cNvCxnSpPr>
            <a:cxnSpLocks/>
          </p:cNvCxnSpPr>
          <p:nvPr/>
        </p:nvCxnSpPr>
        <p:spPr>
          <a:xfrm>
            <a:off x="238125" y="4481513"/>
            <a:ext cx="37909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CF1A38B-82AA-4457-BEC9-8F9921CB2919}"/>
              </a:ext>
            </a:extLst>
          </p:cNvPr>
          <p:cNvSpPr/>
          <p:nvPr/>
        </p:nvSpPr>
        <p:spPr>
          <a:xfrm>
            <a:off x="1882522" y="3498849"/>
            <a:ext cx="677916" cy="63561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A8ABD-119F-4DB5-A2AA-62548DC11E48}"/>
              </a:ext>
            </a:extLst>
          </p:cNvPr>
          <p:cNvSpPr/>
          <p:nvPr/>
        </p:nvSpPr>
        <p:spPr>
          <a:xfrm>
            <a:off x="1800600" y="2749247"/>
            <a:ext cx="841760" cy="77882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EFC2191-A05B-4DC3-85E7-E3A90524DFF1}"/>
              </a:ext>
            </a:extLst>
          </p:cNvPr>
          <p:cNvSpPr/>
          <p:nvPr/>
        </p:nvSpPr>
        <p:spPr>
          <a:xfrm rot="17834114">
            <a:off x="1770033" y="2715854"/>
            <a:ext cx="929229" cy="945868"/>
          </a:xfrm>
          <a:prstGeom prst="arc">
            <a:avLst>
              <a:gd name="adj1" fmla="val 16957677"/>
              <a:gd name="adj2" fmla="val 21363548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7690C1-94E5-4B96-8298-CF550830E57F}"/>
              </a:ext>
            </a:extLst>
          </p:cNvPr>
          <p:cNvCxnSpPr>
            <a:cxnSpLocks/>
            <a:stCxn id="11" idx="0"/>
            <a:endCxn id="20" idx="0"/>
          </p:cNvCxnSpPr>
          <p:nvPr/>
        </p:nvCxnSpPr>
        <p:spPr>
          <a:xfrm flipV="1">
            <a:off x="973363" y="2885919"/>
            <a:ext cx="898584" cy="103602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F8195B-DED4-409D-B0BC-A6A3C7EE3F8B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>
            <a:off x="2418397" y="2762011"/>
            <a:ext cx="1305655" cy="579571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ADFF54ED-0A3C-41A5-BD8E-E8602EEE2F4E}"/>
              </a:ext>
            </a:extLst>
          </p:cNvPr>
          <p:cNvSpPr/>
          <p:nvPr/>
        </p:nvSpPr>
        <p:spPr>
          <a:xfrm rot="7951604">
            <a:off x="1809250" y="3351196"/>
            <a:ext cx="771005" cy="827709"/>
          </a:xfrm>
          <a:prstGeom prst="arc">
            <a:avLst>
              <a:gd name="adj1" fmla="val 17000245"/>
              <a:gd name="adj2" fmla="val 1983877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FC0DE3-10A5-4653-B699-632FB2B0969E}"/>
              </a:ext>
            </a:extLst>
          </p:cNvPr>
          <p:cNvCxnSpPr>
            <a:cxnSpLocks/>
            <a:stCxn id="11" idx="0"/>
            <a:endCxn id="30" idx="2"/>
          </p:cNvCxnSpPr>
          <p:nvPr/>
        </p:nvCxnSpPr>
        <p:spPr>
          <a:xfrm>
            <a:off x="973363" y="3921942"/>
            <a:ext cx="1132106" cy="2245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9151CC-383A-4248-B361-1D72AB7A7859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2418397" y="3429000"/>
            <a:ext cx="1346359" cy="675386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2109872-7739-462A-8C68-4332A805D50B}"/>
              </a:ext>
            </a:extLst>
          </p:cNvPr>
          <p:cNvSpPr/>
          <p:nvPr/>
        </p:nvSpPr>
        <p:spPr>
          <a:xfrm>
            <a:off x="3707192" y="3326583"/>
            <a:ext cx="115128" cy="1024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4C33DF-F2C2-40C1-B2F4-7FF7BD30439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973363" y="3377792"/>
            <a:ext cx="2733829" cy="544150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/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/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/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D6E85C-FFE3-492D-88C8-68F67F43BD7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3363" y="3508372"/>
            <a:ext cx="1132106" cy="413570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7916C6-FEBD-4659-8E2A-E7469FDEBB3E}"/>
              </a:ext>
            </a:extLst>
          </p:cNvPr>
          <p:cNvCxnSpPr>
            <a:cxnSpLocks/>
          </p:cNvCxnSpPr>
          <p:nvPr/>
        </p:nvCxnSpPr>
        <p:spPr>
          <a:xfrm flipV="1">
            <a:off x="2084247" y="3474953"/>
            <a:ext cx="194966" cy="30976"/>
          </a:xfrm>
          <a:prstGeom prst="line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/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/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/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E3B989-B0B4-474B-B805-5282321DBD08}"/>
              </a:ext>
            </a:extLst>
          </p:cNvPr>
          <p:cNvSpPr/>
          <p:nvPr/>
        </p:nvSpPr>
        <p:spPr>
          <a:xfrm>
            <a:off x="915799" y="3921942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/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/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/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4FC22978-BCEE-446D-B4D2-947A24AB3AFE}"/>
              </a:ext>
            </a:extLst>
          </p:cNvPr>
          <p:cNvSpPr/>
          <p:nvPr/>
        </p:nvSpPr>
        <p:spPr>
          <a:xfrm>
            <a:off x="2131438" y="3081486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706652-6DA5-46CF-893E-9FD5C434F165}"/>
              </a:ext>
            </a:extLst>
          </p:cNvPr>
          <p:cNvSpPr/>
          <p:nvPr/>
        </p:nvSpPr>
        <p:spPr>
          <a:xfrm>
            <a:off x="2162899" y="376236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/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blipFill>
                <a:blip r:embed="rId12"/>
                <a:stretch>
                  <a:fillRect r="-7246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5610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 planning inputs:</a:t>
                </a:r>
              </a:p>
              <a:p>
                <a:pPr lvl="1"/>
                <a:r>
                  <a:rPr lang="en-US" dirty="0"/>
                  <a:t>Current position of robot</a:t>
                </a:r>
              </a:p>
              <a:p>
                <a:pPr lvl="1"/>
                <a:r>
                  <a:rPr lang="en-US" dirty="0"/>
                  <a:t>Target position</a:t>
                </a:r>
              </a:p>
              <a:p>
                <a:pPr lvl="1"/>
                <a:r>
                  <a:rPr lang="en-US" dirty="0"/>
                  <a:t>Position of obstacles and estimates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Direction for motion assuming obstacle estimates are correct</a:t>
                </a:r>
              </a:p>
              <a:p>
                <a:r>
                  <a:rPr lang="en-US" dirty="0"/>
                  <a:t>May be useful to execute planning algorithm again as robot moves!</a:t>
                </a:r>
              </a:p>
              <a:p>
                <a:pPr lvl="1"/>
                <a:r>
                  <a:rPr lang="en-US" dirty="0"/>
                  <a:t>Because estimates will improve closer to the obstacles</a:t>
                </a:r>
              </a:p>
              <a:p>
                <a:pPr lvl="1"/>
                <a:r>
                  <a:rPr lang="en-US" dirty="0"/>
                  <a:t>Invoke planning algorithm every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37BDED2-2387-4BAA-AEAE-7D3BFB7F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FF3A-D8F8-45E8-9E40-9588BB5E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393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</p:spPr>
            <p:txBody>
              <a:bodyPr/>
              <a:lstStyle/>
              <a:p>
                <a:r>
                  <a:rPr lang="en-US" dirty="0"/>
                  <a:t>Every robot has its own estimate of the obstacle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’s estimate of obstacle might be better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’s</a:t>
                </a:r>
              </a:p>
              <a:p>
                <a:r>
                  <a:rPr lang="en-US" dirty="0"/>
                  <a:t>Strategy: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seconds, send estimates to other robot, and receive estimates</a:t>
                </a:r>
              </a:p>
              <a:p>
                <a:r>
                  <a:rPr lang="en-US" dirty="0"/>
                  <a:t>For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use final estimate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𝑟𝑒𝑐𝑣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Re-run path planner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  <a:blipFill>
                <a:blip r:embed="rId2"/>
                <a:stretch>
                  <a:fillRect l="-625" t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ECAC3F-3B10-4278-B9AF-D99CF7FF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improves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320EC-233B-4988-B291-51EDF90E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135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2AAE28-6D70-4C2C-B663-ACC82795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Improved path planning through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B8E3-0426-455C-9043-5AF44A18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66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82E51C-F397-4147-B4A4-618F2B018622}"/>
              </a:ext>
            </a:extLst>
          </p:cNvPr>
          <p:cNvGrpSpPr/>
          <p:nvPr/>
        </p:nvGrpSpPr>
        <p:grpSpPr>
          <a:xfrm>
            <a:off x="742870" y="1114424"/>
            <a:ext cx="4793538" cy="4443412"/>
            <a:chOff x="1357231" y="1617345"/>
            <a:chExt cx="3800557" cy="353329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B2A899E-E43A-43A5-960E-D864C102907B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 flipV="1">
              <a:off x="3421759" y="3527319"/>
              <a:ext cx="1512414" cy="145206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20B889E-4985-423D-BF00-5CA6C7084457}"/>
                </a:ext>
              </a:extLst>
            </p:cNvPr>
            <p:cNvCxnSpPr/>
            <p:nvPr/>
          </p:nvCxnSpPr>
          <p:spPr>
            <a:xfrm flipV="1">
              <a:off x="1743076" y="1728787"/>
              <a:ext cx="0" cy="34218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45A6404-9C19-4123-A085-B870074AD9F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838" y="4667250"/>
              <a:ext cx="37909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1C6290-AD36-4807-B3DC-643A4D155475}"/>
                </a:ext>
              </a:extLst>
            </p:cNvPr>
            <p:cNvSpPr/>
            <p:nvPr/>
          </p:nvSpPr>
          <p:spPr>
            <a:xfrm>
              <a:off x="3011235" y="3684586"/>
              <a:ext cx="677916" cy="635613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007224D-013F-4752-87F9-D26E9BB3FE9D}"/>
                </a:ext>
              </a:extLst>
            </p:cNvPr>
            <p:cNvSpPr/>
            <p:nvPr/>
          </p:nvSpPr>
          <p:spPr>
            <a:xfrm>
              <a:off x="2929313" y="2934984"/>
              <a:ext cx="841760" cy="778828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EE3F6AA1-6975-44FF-8028-86AA1FA25C68}"/>
                </a:ext>
              </a:extLst>
            </p:cNvPr>
            <p:cNvSpPr/>
            <p:nvPr/>
          </p:nvSpPr>
          <p:spPr>
            <a:xfrm rot="17834114">
              <a:off x="2898746" y="2901591"/>
              <a:ext cx="929229" cy="945868"/>
            </a:xfrm>
            <a:prstGeom prst="arc">
              <a:avLst>
                <a:gd name="adj1" fmla="val 16957677"/>
                <a:gd name="adj2" fmla="val 21363548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02BE8D-5BCC-458E-9A16-9956250976E8}"/>
                </a:ext>
              </a:extLst>
            </p:cNvPr>
            <p:cNvCxnSpPr>
              <a:cxnSpLocks/>
              <a:stCxn id="26" idx="0"/>
              <a:endCxn id="10" idx="0"/>
            </p:cNvCxnSpPr>
            <p:nvPr/>
          </p:nvCxnSpPr>
          <p:spPr>
            <a:xfrm flipV="1">
              <a:off x="2102076" y="3071656"/>
              <a:ext cx="898584" cy="1036023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6772B1-2624-405C-AC79-D392B8C3340A}"/>
                </a:ext>
              </a:extLst>
            </p:cNvPr>
            <p:cNvCxnSpPr>
              <a:cxnSpLocks/>
              <a:stCxn id="10" idx="2"/>
              <a:endCxn id="16" idx="1"/>
            </p:cNvCxnSpPr>
            <p:nvPr/>
          </p:nvCxnSpPr>
          <p:spPr>
            <a:xfrm>
              <a:off x="3547110" y="2947748"/>
              <a:ext cx="1305655" cy="579571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755F40F-8E6B-46DC-93AA-79CC4313E068}"/>
                </a:ext>
              </a:extLst>
            </p:cNvPr>
            <p:cNvSpPr/>
            <p:nvPr/>
          </p:nvSpPr>
          <p:spPr>
            <a:xfrm rot="7951604">
              <a:off x="2937963" y="3536933"/>
              <a:ext cx="771005" cy="827709"/>
            </a:xfrm>
            <a:prstGeom prst="arc">
              <a:avLst>
                <a:gd name="adj1" fmla="val 17000245"/>
                <a:gd name="adj2" fmla="val 1983877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23B034-448D-4201-9541-64BBB4A6BBAB}"/>
                </a:ext>
              </a:extLst>
            </p:cNvPr>
            <p:cNvCxnSpPr>
              <a:cxnSpLocks/>
              <a:stCxn id="26" idx="0"/>
              <a:endCxn id="13" idx="2"/>
            </p:cNvCxnSpPr>
            <p:nvPr/>
          </p:nvCxnSpPr>
          <p:spPr>
            <a:xfrm>
              <a:off x="2102076" y="4107679"/>
              <a:ext cx="1132106" cy="22458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446007-A988-4917-8674-7AB66242A8AA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V="1">
              <a:off x="3547110" y="3614737"/>
              <a:ext cx="1346359" cy="675386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9EB54F-3752-42D7-9723-6F914890C32E}"/>
                </a:ext>
              </a:extLst>
            </p:cNvPr>
            <p:cNvSpPr/>
            <p:nvPr/>
          </p:nvSpPr>
          <p:spPr>
            <a:xfrm>
              <a:off x="4835905" y="3512320"/>
              <a:ext cx="115128" cy="1024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9A3E0E-3A0C-4FBD-B7BF-0A8669B6B39B}"/>
                </a:ext>
              </a:extLst>
            </p:cNvPr>
            <p:cNvCxnSpPr>
              <a:cxnSpLocks/>
              <a:stCxn id="26" idx="0"/>
              <a:endCxn id="16" idx="2"/>
            </p:cNvCxnSpPr>
            <p:nvPr/>
          </p:nvCxnSpPr>
          <p:spPr>
            <a:xfrm flipV="1">
              <a:off x="2102076" y="3563529"/>
              <a:ext cx="2733829" cy="544150"/>
            </a:xfrm>
            <a:prstGeom prst="straightConnector1">
              <a:avLst/>
            </a:prstGeom>
            <a:ln>
              <a:prstDash val="sysDot"/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/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/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/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7E8028-7020-4847-8BCD-1087DB106153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2102076" y="3694109"/>
              <a:ext cx="1132106" cy="413570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A57F48-FD29-4AF5-B575-58B0550E0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960" y="3660690"/>
              <a:ext cx="194966" cy="30976"/>
            </a:xfrm>
            <a:prstGeom prst="line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/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/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/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11490C2-CCED-447B-A74E-248F3FF3D2A2}"/>
                </a:ext>
              </a:extLst>
            </p:cNvPr>
            <p:cNvSpPr/>
            <p:nvPr/>
          </p:nvSpPr>
          <p:spPr>
            <a:xfrm>
              <a:off x="2044512" y="4107679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/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/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/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295F6E-3D9C-4417-B728-0220E9AFB309}"/>
                </a:ext>
              </a:extLst>
            </p:cNvPr>
            <p:cNvSpPr/>
            <p:nvPr/>
          </p:nvSpPr>
          <p:spPr>
            <a:xfrm>
              <a:off x="3260151" y="3267223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BA6FAC-8991-46B8-9869-C277213FDF3F}"/>
                </a:ext>
              </a:extLst>
            </p:cNvPr>
            <p:cNvSpPr/>
            <p:nvPr/>
          </p:nvSpPr>
          <p:spPr>
            <a:xfrm>
              <a:off x="3291612" y="3948098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/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blipFill>
                  <a:blip r:embed="rId11"/>
                  <a:stretch>
                    <a:fillRect r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348366-7627-4B52-8E11-8A0EF25376A8}"/>
              </a:ext>
            </a:extLst>
          </p:cNvPr>
          <p:cNvCxnSpPr/>
          <p:nvPr/>
        </p:nvCxnSpPr>
        <p:spPr>
          <a:xfrm flipV="1">
            <a:off x="6520234" y="1236520"/>
            <a:ext cx="0" cy="4303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5C849E-1DB9-414C-A213-8DE22E8BF02B}"/>
              </a:ext>
            </a:extLst>
          </p:cNvPr>
          <p:cNvCxnSpPr>
            <a:cxnSpLocks/>
          </p:cNvCxnSpPr>
          <p:nvPr/>
        </p:nvCxnSpPr>
        <p:spPr>
          <a:xfrm>
            <a:off x="6045695" y="4931879"/>
            <a:ext cx="47814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9DE770E-D9D6-4AE0-92AB-8113B04EC431}"/>
              </a:ext>
            </a:extLst>
          </p:cNvPr>
          <p:cNvSpPr/>
          <p:nvPr/>
        </p:nvSpPr>
        <p:spPr>
          <a:xfrm>
            <a:off x="8119728" y="3696098"/>
            <a:ext cx="855037" cy="79933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CEE814A-AF0C-427D-BA3C-22515A0C9F23}"/>
              </a:ext>
            </a:extLst>
          </p:cNvPr>
          <p:cNvSpPr/>
          <p:nvPr/>
        </p:nvSpPr>
        <p:spPr>
          <a:xfrm>
            <a:off x="8016402" y="2753412"/>
            <a:ext cx="1061689" cy="97944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34343E9-B90A-4DC7-8C58-0E42796165E0}"/>
              </a:ext>
            </a:extLst>
          </p:cNvPr>
          <p:cNvSpPr/>
          <p:nvPr/>
        </p:nvSpPr>
        <p:spPr>
          <a:xfrm rot="7951604">
            <a:off x="8028734" y="3508885"/>
            <a:ext cx="969602" cy="1043967"/>
          </a:xfrm>
          <a:prstGeom prst="arc">
            <a:avLst>
              <a:gd name="adj1" fmla="val 17000245"/>
              <a:gd name="adj2" fmla="val 1983877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D7361C-80DC-4EE1-A243-EA9F82BAA0CC}"/>
              </a:ext>
            </a:extLst>
          </p:cNvPr>
          <p:cNvCxnSpPr>
            <a:cxnSpLocks/>
            <a:stCxn id="56" idx="0"/>
            <a:endCxn id="43" idx="2"/>
          </p:cNvCxnSpPr>
          <p:nvPr/>
        </p:nvCxnSpPr>
        <p:spPr>
          <a:xfrm>
            <a:off x="6954440" y="4050996"/>
            <a:ext cx="1446744" cy="4599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C9E273-4B20-4347-BAC2-A65B020F4D58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8795612" y="3608257"/>
            <a:ext cx="1698126" cy="8493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F504333B-FE4D-4885-A29F-6DF9834A9C9D}"/>
              </a:ext>
            </a:extLst>
          </p:cNvPr>
          <p:cNvSpPr/>
          <p:nvPr/>
        </p:nvSpPr>
        <p:spPr>
          <a:xfrm>
            <a:off x="10421134" y="3479459"/>
            <a:ext cx="145208" cy="12879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627B3C-76C9-40D0-8245-44D64F179392}"/>
              </a:ext>
            </a:extLst>
          </p:cNvPr>
          <p:cNvCxnSpPr>
            <a:cxnSpLocks/>
            <a:stCxn id="56" idx="0"/>
            <a:endCxn id="46" idx="2"/>
          </p:cNvCxnSpPr>
          <p:nvPr/>
        </p:nvCxnSpPr>
        <p:spPr>
          <a:xfrm flipV="1">
            <a:off x="6954440" y="3543858"/>
            <a:ext cx="3466694" cy="507138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/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/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/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/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/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/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4B68B2A8-548F-4B25-A537-526BF0D5EB3C}"/>
              </a:ext>
            </a:extLst>
          </p:cNvPr>
          <p:cNvSpPr/>
          <p:nvPr/>
        </p:nvSpPr>
        <p:spPr>
          <a:xfrm>
            <a:off x="6881836" y="4050996"/>
            <a:ext cx="145208" cy="12879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/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blipFill>
                <a:blip r:embed="rId18"/>
                <a:stretch>
                  <a:fillRect r="-24138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/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/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0C0A8E17-9F78-42F9-8CCB-44639ECD324A}"/>
              </a:ext>
            </a:extLst>
          </p:cNvPr>
          <p:cNvSpPr/>
          <p:nvPr/>
        </p:nvSpPr>
        <p:spPr>
          <a:xfrm>
            <a:off x="8481517" y="3206060"/>
            <a:ext cx="88175" cy="8810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C746E53-EAAF-4C9E-AAFB-60EA5E627536}"/>
              </a:ext>
            </a:extLst>
          </p:cNvPr>
          <p:cNvSpPr/>
          <p:nvPr/>
        </p:nvSpPr>
        <p:spPr>
          <a:xfrm>
            <a:off x="8473360" y="4027486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/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blipFill>
                <a:blip r:embed="rId19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 69">
            <a:extLst>
              <a:ext uri="{FF2B5EF4-FFF2-40B4-BE49-F238E27FC236}">
                <a16:creationId xmlns:a16="http://schemas.microsoft.com/office/drawing/2014/main" id="{4BE97B71-2B5B-4E7F-B00A-9824CD96CEBB}"/>
              </a:ext>
            </a:extLst>
          </p:cNvPr>
          <p:cNvSpPr/>
          <p:nvPr/>
        </p:nvSpPr>
        <p:spPr>
          <a:xfrm>
            <a:off x="8241572" y="2962865"/>
            <a:ext cx="582851" cy="5903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E709CA-28F0-4209-B971-FB468396E78F}"/>
              </a:ext>
            </a:extLst>
          </p:cNvPr>
          <p:cNvCxnSpPr>
            <a:cxnSpLocks/>
          </p:cNvCxnSpPr>
          <p:nvPr/>
        </p:nvCxnSpPr>
        <p:spPr>
          <a:xfrm flipV="1">
            <a:off x="8637509" y="3559749"/>
            <a:ext cx="1670922" cy="111335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0CD046C-491A-4759-A3C4-ACAB75DF9B40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7203761" y="3698228"/>
            <a:ext cx="1197163" cy="406922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4E988F3-E506-4FFF-8BB6-08E51462555F}"/>
              </a:ext>
            </a:extLst>
          </p:cNvPr>
          <p:cNvCxnSpPr>
            <a:cxnSpLocks/>
          </p:cNvCxnSpPr>
          <p:nvPr/>
        </p:nvCxnSpPr>
        <p:spPr>
          <a:xfrm flipV="1">
            <a:off x="8374157" y="3656201"/>
            <a:ext cx="245905" cy="38955"/>
          </a:xfrm>
          <a:prstGeom prst="line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/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blipFill>
                <a:blip r:embed="rId20"/>
                <a:stretch>
                  <a:fillRect r="-21839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11A7FD20-13A7-4DAB-BA2A-FDABB35B645C}"/>
              </a:ext>
            </a:extLst>
          </p:cNvPr>
          <p:cNvSpPr/>
          <p:nvPr/>
        </p:nvSpPr>
        <p:spPr>
          <a:xfrm>
            <a:off x="7131157" y="4105150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6B907-F31A-4B35-8AE7-57281FD62C7A}"/>
              </a:ext>
            </a:extLst>
          </p:cNvPr>
          <p:cNvSpPr txBox="1"/>
          <p:nvPr/>
        </p:nvSpPr>
        <p:spPr>
          <a:xfrm>
            <a:off x="8969557" y="4259386"/>
            <a:ext cx="814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Old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/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New path available</a:t>
                </a: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because estimate of obstacle 1 improved after receiving estimate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blipFill>
                <a:blip r:embed="rId21"/>
                <a:stretch>
                  <a:fillRect l="-898" t="-1047" b="-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B5B211-7B57-4BBA-8594-C925CC3FF33D}"/>
              </a:ext>
            </a:extLst>
          </p:cNvPr>
          <p:cNvCxnSpPr>
            <a:cxnSpLocks/>
          </p:cNvCxnSpPr>
          <p:nvPr/>
        </p:nvCxnSpPr>
        <p:spPr>
          <a:xfrm flipH="1">
            <a:off x="9555544" y="2165465"/>
            <a:ext cx="410311" cy="143222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21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DDEB75-BDF4-4FE5-861F-14B45A24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State Machine for Communicating 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108E-65A1-43E3-8E98-EDDAA9B7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AAC87-D1D2-475A-BF3E-82307B68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85887"/>
            <a:ext cx="114681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674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1EA95-91D6-470D-A10C-B2489CAE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01952"/>
            <a:ext cx="11699087" cy="3938016"/>
          </a:xfrm>
        </p:spPr>
        <p:txBody>
          <a:bodyPr>
            <a:normAutofit/>
          </a:bodyPr>
          <a:lstStyle/>
          <a:p>
            <a:r>
              <a:rPr lang="en-US" dirty="0"/>
              <a:t>Hybrid models combine computation, communication and control</a:t>
            </a:r>
          </a:p>
          <a:p>
            <a:r>
              <a:rPr lang="en-US" dirty="0"/>
              <a:t>Most real-world controllers are digital/discrete-time controllers: hybrid process/automata models describe underlying mathematical model for most CPS applications!</a:t>
            </a:r>
          </a:p>
          <a:p>
            <a:r>
              <a:rPr lang="en-US" dirty="0"/>
              <a:t>We can perform design-space exploration through simulations and check safety/correctness (later in the course)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132E53-AD64-4A9A-B206-C6FD69B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using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D0B8-9100-4DAC-B437-02FEAABE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496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C0BA69-5030-4437-A7EE-BE5CD9C7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400" dirty="0"/>
              <a:t>H. Lin and P. J. </a:t>
            </a:r>
            <a:r>
              <a:rPr lang="en-US" sz="1400" dirty="0" err="1"/>
              <a:t>Antsaklis</a:t>
            </a:r>
            <a:r>
              <a:rPr lang="en-US" sz="1400" dirty="0"/>
              <a:t>, "Stability and </a:t>
            </a:r>
            <a:r>
              <a:rPr lang="en-US" sz="1400" dirty="0" err="1"/>
              <a:t>Stabilizability</a:t>
            </a:r>
            <a:r>
              <a:rPr lang="en-US" sz="1400" dirty="0"/>
              <a:t> of Switched Linear Systems: A Survey of Recent Results," in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, vol. 54, no. 2, pp. 308-322, Feb.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Branicky</a:t>
            </a:r>
            <a:r>
              <a:rPr lang="en-US" sz="1400" dirty="0"/>
              <a:t>, Michael S. "Multiple Lyapunov functions and other analysis tools for switched and hybrid systems."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 43.4 (1998): 475-482.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Talk by Goran Frehse, pdf of slides here: </a:t>
            </a:r>
            <a:r>
              <a:rPr lang="en-US" sz="1400" dirty="0">
                <a:hlinkClick r:id="rId2"/>
              </a:rPr>
              <a:t>http://qmc.cs.aau.dk/slides/slides-frehse.pdf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SpaceEx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http://spaceex.imag.fr/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Flow*: </a:t>
            </a:r>
            <a:r>
              <a:rPr lang="en-US" sz="1400" dirty="0">
                <a:hlinkClick r:id="rId4"/>
              </a:rPr>
              <a:t>https://flowstar.org/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dReach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http://dreal.github.io/dReach/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CORA: </a:t>
            </a:r>
            <a:r>
              <a:rPr lang="en-US" sz="1400" dirty="0">
                <a:hlinkClick r:id="rId6"/>
              </a:rPr>
              <a:t>http://www.i6.in.tum.de/Main/SoftwareCORA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0CB10-5D7F-4BB5-91BF-878DA1BF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4A52E-16A4-48F9-B612-F15E221B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12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RvpcQDSyMdAu7jQVKp7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gC9msUFZCvT65nnQ0ig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k7WJrAi4kIOJEQL815xk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23923</TotalTime>
  <Words>6026</Words>
  <Application>Microsoft Office PowerPoint</Application>
  <PresentationFormat>Widescreen</PresentationFormat>
  <Paragraphs>1013</Paragraphs>
  <Slides>69</Slides>
  <Notes>2</Notes>
  <HiddenSlides>13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Calibri</vt:lpstr>
      <vt:lpstr>Calibri Light</vt:lpstr>
      <vt:lpstr>Cambria</vt:lpstr>
      <vt:lpstr>Cambria Math</vt:lpstr>
      <vt:lpstr>Garamond</vt:lpstr>
      <vt:lpstr>Lucida Calligraphy</vt:lpstr>
      <vt:lpstr>Times New Roman</vt:lpstr>
      <vt:lpstr>Wingdings</vt:lpstr>
      <vt:lpstr>Wingdings 3</vt:lpstr>
      <vt:lpstr>Office Theme</vt:lpstr>
      <vt:lpstr>Autonomous Cyber-Physical Systems:  Timed &amp; Hybrid Dynamical Systems</vt:lpstr>
      <vt:lpstr>Models of Computation</vt:lpstr>
      <vt:lpstr>Timed ESMs</vt:lpstr>
      <vt:lpstr>Transitions of a timed ESM</vt:lpstr>
      <vt:lpstr>Transitions of a timed ESM</vt:lpstr>
      <vt:lpstr>Timed Processes: explicit clock variables</vt:lpstr>
      <vt:lpstr>Timed Process Execution</vt:lpstr>
      <vt:lpstr>Timed Process Execution</vt:lpstr>
      <vt:lpstr>Timed Buffer</vt:lpstr>
      <vt:lpstr>Timed State Machine representation</vt:lpstr>
      <vt:lpstr>Clock invariants</vt:lpstr>
      <vt:lpstr>Clock invariants</vt:lpstr>
      <vt:lpstr>Why model using invariants and guards?</vt:lpstr>
      <vt:lpstr>Example with two clocks</vt:lpstr>
      <vt:lpstr>Formal recap of a timed process</vt:lpstr>
      <vt:lpstr>Composing Timed Processes</vt:lpstr>
      <vt:lpstr>Composing Timed Processes</vt:lpstr>
      <vt:lpstr>Semi-synchrony</vt:lpstr>
      <vt:lpstr>Semi-synchrony</vt:lpstr>
      <vt:lpstr>Pacemaker Modeling as a Timed Process</vt:lpstr>
      <vt:lpstr>How does a healthy heart work?</vt:lpstr>
      <vt:lpstr>What do pacemakers do?</vt:lpstr>
      <vt:lpstr>Implantable Pacemaker modeling</vt:lpstr>
      <vt:lpstr>How dual-chamber pacemakers work</vt:lpstr>
      <vt:lpstr>The LRI mode of operation explained</vt:lpstr>
      <vt:lpstr>PowerPoint Presentation</vt:lpstr>
      <vt:lpstr>Finite state automata</vt:lpstr>
      <vt:lpstr>How does a finite state automaton work?</vt:lpstr>
      <vt:lpstr>Language of a finite state automaton</vt:lpstr>
      <vt:lpstr>Timed Automata</vt:lpstr>
      <vt:lpstr>Timing Analysis</vt:lpstr>
      <vt:lpstr>How is such analysis done?</vt:lpstr>
      <vt:lpstr>PowerPoint Presentation</vt:lpstr>
      <vt:lpstr>Hybrid Process</vt:lpstr>
      <vt:lpstr>Bang-bang control (thermostat) hybrid automaton</vt:lpstr>
      <vt:lpstr>Executions of Thermostat</vt:lpstr>
      <vt:lpstr>Behavior of thermostat</vt:lpstr>
      <vt:lpstr>Hybrid Automata: State machines for hybrid processes</vt:lpstr>
      <vt:lpstr>Hybrid Automata: State machines for hybrid processes</vt:lpstr>
      <vt:lpstr>Hybrid Automata: State machines for hybrid processes</vt:lpstr>
      <vt:lpstr>Hybrid automaton for bouncing ball</vt:lpstr>
      <vt:lpstr>Hybrid Process</vt:lpstr>
      <vt:lpstr>Hybrid Process</vt:lpstr>
      <vt:lpstr>Executions of a hybrid process</vt:lpstr>
      <vt:lpstr>Zeno’s Paradox</vt:lpstr>
      <vt:lpstr>Hybrid automaton for bouncing ball</vt:lpstr>
      <vt:lpstr>How to deal with Zeno behavior</vt:lpstr>
      <vt:lpstr>Non-Zeno hybrid process for bouncing ball</vt:lpstr>
      <vt:lpstr>Reachability analysis</vt:lpstr>
      <vt:lpstr>Time-bounded Reachability Analysis</vt:lpstr>
      <vt:lpstr>Computing Reachable Sets3</vt:lpstr>
      <vt:lpstr>Fixpoint computation of reachable states</vt:lpstr>
      <vt:lpstr>Stability of hybrid systems</vt:lpstr>
      <vt:lpstr>Example</vt:lpstr>
      <vt:lpstr>Simulation results</vt:lpstr>
      <vt:lpstr>Stability analysis for hybrid systems</vt:lpstr>
      <vt:lpstr>Design Application: Autonomous Guided Vehicle</vt:lpstr>
      <vt:lpstr>On/Off control for Path following</vt:lpstr>
      <vt:lpstr>Design Application: Robot Coordination</vt:lpstr>
      <vt:lpstr>Path planning with obstacle avoidance</vt:lpstr>
      <vt:lpstr>Divide path/motion planning into two parts</vt:lpstr>
      <vt:lpstr>Estimation error</vt:lpstr>
      <vt:lpstr>Path planning</vt:lpstr>
      <vt:lpstr>Dynamic path planning</vt:lpstr>
      <vt:lpstr>Communication improves planning</vt:lpstr>
      <vt:lpstr>Improved path planning through communication</vt:lpstr>
      <vt:lpstr>Hybrid State Machine for Communicating Robot</vt:lpstr>
      <vt:lpstr>Advantage of using hybrid processes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229</cp:revision>
  <dcterms:created xsi:type="dcterms:W3CDTF">2018-01-04T23:14:16Z</dcterms:created>
  <dcterms:modified xsi:type="dcterms:W3CDTF">2026-08-25T21:58:58Z</dcterms:modified>
</cp:coreProperties>
</file>