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63" r:id="rId3"/>
    <p:sldId id="264" r:id="rId4"/>
    <p:sldId id="352" r:id="rId5"/>
    <p:sldId id="354" r:id="rId6"/>
    <p:sldId id="353" r:id="rId7"/>
    <p:sldId id="355" r:id="rId8"/>
    <p:sldId id="356" r:id="rId9"/>
    <p:sldId id="357" r:id="rId10"/>
    <p:sldId id="358" r:id="rId11"/>
    <p:sldId id="359" r:id="rId12"/>
    <p:sldId id="360" r:id="rId13"/>
    <p:sldId id="362" r:id="rId14"/>
    <p:sldId id="363" r:id="rId15"/>
    <p:sldId id="361" r:id="rId16"/>
    <p:sldId id="365" r:id="rId17"/>
    <p:sldId id="366" r:id="rId18"/>
    <p:sldId id="364" r:id="rId19"/>
    <p:sldId id="367" r:id="rId20"/>
    <p:sldId id="368" r:id="rId21"/>
    <p:sldId id="372" r:id="rId22"/>
    <p:sldId id="370" r:id="rId23"/>
    <p:sldId id="369" r:id="rId24"/>
    <p:sldId id="373" r:id="rId25"/>
    <p:sldId id="371" r:id="rId26"/>
    <p:sldId id="374" r:id="rId27"/>
    <p:sldId id="375" r:id="rId28"/>
    <p:sldId id="376" r:id="rId29"/>
    <p:sldId id="378" r:id="rId30"/>
    <p:sldId id="379" r:id="rId31"/>
    <p:sldId id="377" r:id="rId32"/>
    <p:sldId id="380" r:id="rId33"/>
    <p:sldId id="383" r:id="rId34"/>
    <p:sldId id="384" r:id="rId35"/>
    <p:sldId id="381" r:id="rId36"/>
    <p:sldId id="382" r:id="rId37"/>
    <p:sldId id="351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13" autoAdjust="0"/>
    <p:restoredTop sz="94660"/>
  </p:normalViewPr>
  <p:slideViewPr>
    <p:cSldViewPr snapToGrid="0">
      <p:cViewPr varScale="1">
        <p:scale>
          <a:sx n="93" d="100"/>
          <a:sy n="93" d="100"/>
        </p:scale>
        <p:origin x="270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0C23F-98B7-41D4-A9FA-15A275A5148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6B107-AA8F-4C65-A94C-468C6EEC3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B7E2-702A-452F-97D4-1A328EF1E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C4EA2-83F7-4E6C-AB21-9BB929BCB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43AA60-7EC1-4F18-B7BD-3F73A74324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742" y="6186948"/>
            <a:ext cx="1849645" cy="6311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FE9FEA-C466-4570-B6F3-EF90A69320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60098" y="6110216"/>
            <a:ext cx="658160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19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012751-8584-4D78-8A04-57CCF30333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6681" y="988141"/>
            <a:ext cx="11699087" cy="4695899"/>
          </a:xfrm>
        </p:spPr>
        <p:txBody>
          <a:bodyPr/>
          <a:lstStyle>
            <a:lvl1pPr marL="457200" indent="-457200"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defRPr sz="26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685800" indent="-274320">
              <a:buClr>
                <a:srgbClr val="FFA3A3"/>
              </a:buClr>
              <a:buSzPct val="80000"/>
              <a:buFont typeface="Wingdings 3" panose="05040102010807070707" pitchFamily="18" charset="2"/>
              <a:buChar char="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 marL="1143000" indent="-228600">
              <a:buClr>
                <a:srgbClr val="FF9797"/>
              </a:buClr>
              <a:buSzPct val="75000"/>
              <a:buFont typeface="Wingdings 3" panose="05040102010807070707" pitchFamily="18" charset="2"/>
              <a:buChar char="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287621-CCBF-4807-907B-7CA77EC1CF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742" y="6186948"/>
            <a:ext cx="1849645" cy="6311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1EDAC8-15FA-40A1-9618-040ED67C0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60098" y="6110216"/>
            <a:ext cx="658160" cy="707923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EFACE60-EAFC-4BD3-B6DE-E4B904E89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Automata Theory, Logic and Formal Verification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8DBC613-0A47-477A-800A-5F90A6B59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68612" y="6356350"/>
            <a:ext cx="1085187" cy="365125"/>
          </a:xfrm>
        </p:spPr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AA6AABC-6542-4F02-B461-D45960993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73907"/>
            <a:ext cx="11699087" cy="840494"/>
          </a:xfrm>
        </p:spPr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53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D2EA5-422A-467D-930A-41ED577F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7593A-9F1B-49A8-8A0B-64E38BAE7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094C-DBE7-48F0-9120-878375E982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F6C25-968D-4498-A3AE-ACB04AF9B7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Automata Theory, Logic and Formal Verification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9A7D7-077E-40D7-B42D-CE08C3184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AD378-655A-49C6-813C-9FD132EF7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0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45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42.png"/><Relationship Id="rId9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47.png"/><Relationship Id="rId7" Type="http://schemas.openxmlformats.org/officeDocument/2006/relationships/image" Target="../media/image5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32.png"/><Relationship Id="rId10" Type="http://schemas.openxmlformats.org/officeDocument/2006/relationships/image" Target="../media/image52.png"/><Relationship Id="rId4" Type="http://schemas.openxmlformats.org/officeDocument/2006/relationships/image" Target="../media/image48.png"/><Relationship Id="rId9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sv.fr/Publis/PAPERS/PDF/bouyer-etr05.pdf" TargetMode="External"/><Relationship Id="rId2" Type="http://schemas.openxmlformats.org/officeDocument/2006/relationships/hyperlink" Target="http://www.ru.is/kennarar/luca/IMT-TA/SLIDES/timed-automata-slides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lsv.fr/~bouyer/files/movep14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9A87-9CBD-463B-9EB7-CB6895911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85" y="1122363"/>
            <a:ext cx="11818044" cy="2387600"/>
          </a:xfrm>
        </p:spPr>
        <p:txBody>
          <a:bodyPr anchor="ctr" anchorCtr="0">
            <a:norm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Automata Theory, Logic and Formal Verification</a:t>
            </a: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Timed Automata, Metric Temporal Logic &amp; Signal Temporal Logic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CF91D-4F26-4DEE-BD5B-2AD08F8DC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0042" y="4118516"/>
            <a:ext cx="10222706" cy="1124415"/>
          </a:xfrm>
        </p:spPr>
        <p:txBody>
          <a:bodyPr>
            <a:normAutofit/>
          </a:bodyPr>
          <a:lstStyle/>
          <a:p>
            <a:r>
              <a:rPr lang="en-US" dirty="0"/>
              <a:t>Spring 2026: CSCI 624</a:t>
            </a:r>
          </a:p>
          <a:p>
            <a:r>
              <a:rPr lang="en-US" dirty="0"/>
              <a:t>Instructor: Jyo Deshmukh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9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4A4C36-0900-463C-ABB2-CD2D3B7E4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Timed Automata</a:t>
            </a:r>
          </a:p>
          <a:p>
            <a:r>
              <a:rPr lang="en-US" dirty="0"/>
              <a:t>Time Divergence, </a:t>
            </a:r>
            <a:r>
              <a:rPr lang="en-US" dirty="0" err="1"/>
              <a:t>Zenoness</a:t>
            </a:r>
            <a:endParaRPr lang="en-US" dirty="0"/>
          </a:p>
          <a:p>
            <a:r>
              <a:rPr lang="en-US" dirty="0"/>
              <a:t>Timed automata decision problems</a:t>
            </a:r>
          </a:p>
          <a:p>
            <a:pPr lvl="1"/>
            <a:r>
              <a:rPr lang="en-US" dirty="0"/>
              <a:t>Reachability/Emptiness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67A8BC-83B4-446D-872F-376AAD280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0D78-5AC5-439B-B3E0-54D836BD9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BAA3724-17CA-4775-9A1D-E05D4452D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499231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4A4C36-0900-463C-ABB2-CD2D3B7E4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2597150"/>
            <a:ext cx="10356387" cy="308689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67A8BC-83B4-446D-872F-376AAD280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0D78-5AC5-439B-B3E0-54D836BD9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BAA3724-17CA-4775-9A1D-E05D4452D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Automata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C3E7E1-3E63-478F-98EC-A26954D1B205}"/>
              </a:ext>
            </a:extLst>
          </p:cNvPr>
          <p:cNvSpPr txBox="1"/>
          <p:nvPr/>
        </p:nvSpPr>
        <p:spPr>
          <a:xfrm>
            <a:off x="7020607" y="896141"/>
            <a:ext cx="300973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2016 Church Award winners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(L to R)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Rajeev Alur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David Dill</a:t>
            </a:r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B7DA949A-24DB-469F-AF30-9507260812D3}"/>
              </a:ext>
            </a:extLst>
          </p:cNvPr>
          <p:cNvSpPr txBox="1">
            <a:spLocks/>
          </p:cNvSpPr>
          <p:nvPr/>
        </p:nvSpPr>
        <p:spPr>
          <a:xfrm>
            <a:off x="166681" y="3365500"/>
            <a:ext cx="11699087" cy="23185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defRPr sz="26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1pPr>
            <a:lvl2pPr marL="685800" indent="-27432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A3A3"/>
              </a:buClr>
              <a:buSzPct val="80000"/>
              <a:buFont typeface="Wingdings 3" panose="05040102010807070707" pitchFamily="18" charset="2"/>
              <a:buChar char="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9797"/>
              </a:buClr>
              <a:buSzPct val="75000"/>
              <a:buFont typeface="Wingdings 3" panose="05040102010807070707" pitchFamily="18" charset="2"/>
              <a:buChar char=""/>
              <a:defRPr sz="20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56C1EB-0867-43CA-85FF-4C30899495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32695" b="34568"/>
          <a:stretch/>
        </p:blipFill>
        <p:spPr>
          <a:xfrm>
            <a:off x="326234" y="896141"/>
            <a:ext cx="1616562" cy="15715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82FDAF-DA0F-496E-B4A4-3E0C1607A4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206" t="4881" r="11653"/>
          <a:stretch/>
        </p:blipFill>
        <p:spPr>
          <a:xfrm>
            <a:off x="2182770" y="914401"/>
            <a:ext cx="1276071" cy="155331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F6DBC44-71CE-4852-9C15-2EE80CCDA370}"/>
              </a:ext>
            </a:extLst>
          </p:cNvPr>
          <p:cNvSpPr txBox="1"/>
          <p:nvPr/>
        </p:nvSpPr>
        <p:spPr>
          <a:xfrm>
            <a:off x="744148" y="3900485"/>
            <a:ext cx="98453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Timed Systems: 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First look at systems with variables that are real-valued and continuous</a:t>
            </a:r>
          </a:p>
        </p:txBody>
      </p:sp>
    </p:spTree>
    <p:extLst>
      <p:ext uri="{BB962C8B-B14F-4D97-AF65-F5344CB8AC3E}">
        <p14:creationId xmlns:p14="http://schemas.microsoft.com/office/powerpoint/2010/main" val="3446775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278C4A5-2083-4414-93E3-C211276B4F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Time sequence: infinite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dirty="0"/>
                  <a:t> of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</m:oMath>
                </a14:m>
                <a:r>
                  <a:rPr lang="en-US" dirty="0"/>
                  <a:t> satisfying:</a:t>
                </a:r>
              </a:p>
              <a:p>
                <a:pPr lvl="1"/>
                <a:r>
                  <a:rPr lang="en-US" dirty="0"/>
                  <a:t>Monotonicity: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≥1: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Progress: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Timed word over alphabet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pair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⋯∈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is a timed sequence</a:t>
                </a:r>
              </a:p>
              <a:p>
                <a:r>
                  <a:rPr lang="en-US" dirty="0"/>
                  <a:t>Timed language = set of timed words</a:t>
                </a:r>
              </a:p>
              <a:p>
                <a:endParaRPr lang="en-US" dirty="0"/>
              </a:p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lang="en-US" dirty="0"/>
                  <a:t> is presented as an input to an automaton, it presents symbol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to the automaton at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278C4A5-2083-4414-93E3-C211276B4F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857" r="-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D28B0C-3EFA-4711-A38F-0265EB96E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543CE-FB60-408D-9B8B-EA587A96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CC99B46-1E3A-4615-BE67-2DD9E6EF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Languages</a:t>
            </a:r>
          </a:p>
        </p:txBody>
      </p:sp>
    </p:spTree>
    <p:extLst>
      <p:ext uri="{BB962C8B-B14F-4D97-AF65-F5344CB8AC3E}">
        <p14:creationId xmlns:p14="http://schemas.microsoft.com/office/powerpoint/2010/main" val="403039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3CF8FE0-34B9-449F-8385-86CAE456D9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∣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⇒∃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After every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, there is another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at least one second after </a:t>
                </a:r>
              </a:p>
              <a:p>
                <a:r>
                  <a:rPr lang="en-US" dirty="0"/>
                  <a:t>Infinitely often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’s separated by at least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second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∣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𝑎𝑏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Infinite sequence of alternating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’s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’s, </a:t>
                </a:r>
                <a:r>
                  <a:rPr lang="en-US" dirty="0" err="1"/>
                  <a:t>s.t.</a:t>
                </a:r>
                <a:r>
                  <a:rPr lang="en-US" dirty="0"/>
                  <a:t>, distance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keeps increasing</a:t>
                </a:r>
              </a:p>
              <a:p>
                <a:endParaRPr lang="en-US" dirty="0"/>
              </a:p>
              <a:p>
                <a:r>
                  <a:rPr lang="en-US" dirty="0"/>
                  <a:t>What kind of machines accept timed languages?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3CF8FE0-34B9-449F-8385-86CAE456D9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F2D809-3ED1-49F2-A9A0-76F63DDFC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29B13-D43D-499A-B02A-27C34A71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BF4428-2C43-49ED-A89A-F3B52FC2C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Timed Languages</a:t>
            </a:r>
          </a:p>
        </p:txBody>
      </p:sp>
    </p:spTree>
    <p:extLst>
      <p:ext uri="{BB962C8B-B14F-4D97-AF65-F5344CB8AC3E}">
        <p14:creationId xmlns:p14="http://schemas.microsoft.com/office/powerpoint/2010/main" val="3982489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1B8513B-4D38-4129-8D9D-17791ED5FA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Tuple: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/>
                  <a:t> : finite alphabet of input symbols/actions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: finite set of locations or discrete states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: finite set of clock variables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: finite set of transitions (to be defined later)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: initial set of locations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: final set of states</a:t>
                </a:r>
              </a:p>
              <a:p>
                <a:endParaRPr lang="en-US" dirty="0"/>
              </a:p>
              <a:p>
                <a:r>
                  <a:rPr lang="en-US" dirty="0"/>
                  <a:t>To define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, we first define clock constraints and operations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1B8513B-4D38-4129-8D9D-17791ED5FA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A0EC51-A129-404E-BCD7-C00348871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9B52D-979C-4E6F-9A43-6800747A7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E1C592-54E9-4B65-A74B-693A73976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automaton</a:t>
            </a:r>
          </a:p>
        </p:txBody>
      </p:sp>
    </p:spTree>
    <p:extLst>
      <p:ext uri="{BB962C8B-B14F-4D97-AF65-F5344CB8AC3E}">
        <p14:creationId xmlns:p14="http://schemas.microsoft.com/office/powerpoint/2010/main" val="2515747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81802E1-B5DC-4DA7-81B1-EC67127E10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Clock valuation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Maps each clock variable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to a non-negative real value </a:t>
                </a:r>
              </a:p>
              <a:p>
                <a:r>
                  <a:rPr lang="en-US" dirty="0"/>
                  <a:t>Set of all clock valuations: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Notation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p>
                    </m:sSup>
                  </m:oMath>
                </a14:m>
                <a:r>
                  <a:rPr lang="en-US" dirty="0"/>
                  <a:t>: set of all functions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Some important valuation transformations:</a:t>
                </a:r>
              </a:p>
              <a:p>
                <a:pPr lvl="1"/>
                <a:r>
                  <a:rPr lang="en-US" b="0" dirty="0"/>
                  <a:t>For every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b="0" dirty="0"/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is a function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For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b="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←0]</m:t>
                        </m:r>
                      </m:sub>
                    </m:sSub>
                  </m:oMath>
                </a14:m>
                <a:r>
                  <a:rPr lang="en-US" dirty="0"/>
                  <a:t> is a function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←0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   0,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∉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r>
                  <a:rPr lang="en-US" b="0" dirty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↦2,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↦3,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+7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↦9,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↦10,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←0]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↦0,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↦3,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↦0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81802E1-B5DC-4DA7-81B1-EC67127E10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A6C20C-0471-473E-BC8D-89C39571C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CAF4C-7BA6-4C5C-814D-55A2A0BF7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93A5626-5AC4-4042-8C3B-833A8F5B4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valuations, operations</a:t>
            </a:r>
          </a:p>
        </p:txBody>
      </p:sp>
    </p:spTree>
    <p:extLst>
      <p:ext uri="{BB962C8B-B14F-4D97-AF65-F5344CB8AC3E}">
        <p14:creationId xmlns:p14="http://schemas.microsoft.com/office/powerpoint/2010/main" val="3022996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9BED917-3C3F-468D-9422-D2B4393730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Cambria Math" panose="02040503050406030204" pitchFamily="18" charset="0"/>
                  </a:rPr>
                  <a:t>Set of clock constraints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denoted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∷=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⋈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Here,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⋈ ∈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&lt;,≤,=,≥,&gt;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𝕋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Clock constraint of the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is called a diagonal constraint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Diagonal-free clock constraints: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∷=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endParaRPr lang="en-US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9BED917-3C3F-468D-9422-D2B4393730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54272-2E63-45C9-9FF7-159C301AC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3E156-0F12-4D4F-80D3-FE59C0E50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B3A225B-14D2-42E5-AEEF-870A4C269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constraints</a:t>
            </a:r>
          </a:p>
        </p:txBody>
      </p:sp>
    </p:spTree>
    <p:extLst>
      <p:ext uri="{BB962C8B-B14F-4D97-AF65-F5344CB8AC3E}">
        <p14:creationId xmlns:p14="http://schemas.microsoft.com/office/powerpoint/2010/main" val="2838202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C010BA6-DFBA-4818-A80C-0A3300959C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𝒢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Example transitions: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2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m:rPr>
                                    <m:brk m:alnAt="2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brk m:alnAt="2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&lt;2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groupCh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2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m:rPr>
                                    <m:brk m:alnAt="2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&lt;3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,{} </m:t>
                        </m:r>
                      </m:e>
                    </m:groupCh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C010BA6-DFBA-4818-A80C-0A3300959C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857A46-58E6-47AA-994B-BDC8ACA07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ED31E-6C71-4E42-AEBA-E91CB5391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C48232-7545-44A8-862C-EC8FAF9AE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automata transitions</a:t>
            </a:r>
          </a:p>
        </p:txBody>
      </p:sp>
    </p:spTree>
    <p:extLst>
      <p:ext uri="{BB962C8B-B14F-4D97-AF65-F5344CB8AC3E}">
        <p14:creationId xmlns:p14="http://schemas.microsoft.com/office/powerpoint/2010/main" val="3949871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0927660-6AEE-4809-83FA-A66FB8C5C5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>
                    <a:latin typeface="Cambria Math" panose="02040503050406030204" pitchFamily="18" charset="0"/>
                  </a:rPr>
                  <a:t>Path in a timed automaton is a sequence of transitions:</a:t>
                </a:r>
                <a:endParaRPr lang="en-US" b="0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⋯→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groupCh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Path is accepting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Run of a timed automaton along a path is a sequence: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groupChr>
                        <m:groupChrPr>
                          <m:chr m:val="→"/>
                          <m:vertJc m:val="bot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m:rPr>
                                  <m:brk m:alnAt="2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brk m:alnAt="2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brk m:alnAt="2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brk m:alnAt="2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brk m:alnAt="2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brk m:alnAt="2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groupCh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⋯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m:rPr>
                                  <m:brk m:alnAt="2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brk m:alnAt="2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brk m:alnAt="2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brk m:alnAt="2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brk m:alnAt="2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groupCh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is a timed sequence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are clock valuations satisfying: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≥1: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←0]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0927660-6AEE-4809-83FA-A66FB8C5C5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9" t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3D3A45-9B0C-4F3E-B747-6624859A5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F8EF6-EDD5-4C55-AB81-DD12EEE4D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E75FC99-58B3-41BA-8917-1E8D805AE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of a timed automaton</a:t>
            </a:r>
          </a:p>
        </p:txBody>
      </p:sp>
    </p:spTree>
    <p:extLst>
      <p:ext uri="{BB962C8B-B14F-4D97-AF65-F5344CB8AC3E}">
        <p14:creationId xmlns:p14="http://schemas.microsoft.com/office/powerpoint/2010/main" val="3136786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8632D06-EC24-426E-9624-36A089AFFD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64122" y="988141"/>
                <a:ext cx="4901646" cy="4695899"/>
              </a:xfrm>
            </p:spPr>
            <p:txBody>
              <a:bodyPr>
                <a:normAutofit/>
              </a:bodyPr>
              <a:lstStyle/>
              <a:p>
                <a:r>
                  <a:rPr lang="en-US" sz="1800" dirty="0"/>
                  <a:t>Are the following timed words accepted by the automaton?</a:t>
                </a: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,4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 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,5)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,3.5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,3.8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,6</m:t>
                        </m:r>
                      </m:e>
                    </m:d>
                  </m:oMath>
                </a14:m>
                <a:endParaRPr lang="en-US" sz="1800" b="0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,0.5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,0.9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,2.5)</m:t>
                    </m:r>
                  </m:oMath>
                </a14:m>
                <a:endParaRPr lang="en-US" sz="1800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,4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,6.5)</m:t>
                    </m:r>
                  </m:oMath>
                </a14:m>
                <a:endParaRPr lang="en-US" sz="18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sz="1800" dirty="0"/>
              </a:p>
              <a:p>
                <a:r>
                  <a:rPr lang="en-US" sz="1800" dirty="0"/>
                  <a:t>What’s an example of a timed word accepted along when the state sequence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/>
                  <a:t> is visited?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8632D06-EC24-426E-9624-36A089AFFD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4122" y="988141"/>
                <a:ext cx="4901646" cy="4695899"/>
              </a:xfrm>
              <a:blipFill>
                <a:blip r:embed="rId2"/>
                <a:stretch>
                  <a:fillRect l="-373" t="-1299" r="-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F9DBBA-4EEB-47EA-8962-6D5726E61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3726C-25A2-4DB4-8118-2A13E4A38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E552D34-4D3A-4B13-901E-70052A505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automaton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7999AE0-BBD3-4CE0-A2F6-E1928DCB37C1}"/>
                  </a:ext>
                </a:extLst>
              </p:cNvPr>
              <p:cNvSpPr/>
              <p:nvPr/>
            </p:nvSpPr>
            <p:spPr>
              <a:xfrm>
                <a:off x="2555391" y="2209784"/>
                <a:ext cx="736618" cy="743832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7999AE0-BBD3-4CE0-A2F6-E1928DCB37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391" y="2209784"/>
                <a:ext cx="736618" cy="743832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A61B458-0F95-489F-A286-EBFFA4D89818}"/>
                  </a:ext>
                </a:extLst>
              </p:cNvPr>
              <p:cNvSpPr/>
              <p:nvPr/>
            </p:nvSpPr>
            <p:spPr>
              <a:xfrm>
                <a:off x="2555391" y="3936647"/>
                <a:ext cx="736618" cy="743832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A61B458-0F95-489F-A286-EBFFA4D898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391" y="3936647"/>
                <a:ext cx="736618" cy="743832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81E9A5A-EE9F-4F42-93DF-AD091A22DA58}"/>
              </a:ext>
            </a:extLst>
          </p:cNvPr>
          <p:cNvCxnSpPr>
            <a:cxnSpLocks/>
            <a:stCxn id="6" idx="5"/>
            <a:endCxn id="7" idx="7"/>
          </p:cNvCxnSpPr>
          <p:nvPr/>
        </p:nvCxnSpPr>
        <p:spPr>
          <a:xfrm>
            <a:off x="3184134" y="2844684"/>
            <a:ext cx="0" cy="1200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BDA14DA-44B5-4C3C-95DA-6E8C3D44009F}"/>
              </a:ext>
            </a:extLst>
          </p:cNvPr>
          <p:cNvCxnSpPr>
            <a:cxnSpLocks/>
            <a:stCxn id="7" idx="6"/>
            <a:endCxn id="15" idx="2"/>
          </p:cNvCxnSpPr>
          <p:nvPr/>
        </p:nvCxnSpPr>
        <p:spPr>
          <a:xfrm flipV="1">
            <a:off x="3292009" y="4295856"/>
            <a:ext cx="1824558" cy="127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E1D9BF1-4A2D-4991-8A27-7D5B1C66DD4D}"/>
                  </a:ext>
                </a:extLst>
              </p:cNvPr>
              <p:cNvSpPr/>
              <p:nvPr/>
            </p:nvSpPr>
            <p:spPr>
              <a:xfrm>
                <a:off x="5116567" y="3923940"/>
                <a:ext cx="736618" cy="743832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E1D9BF1-4A2D-4991-8A27-7D5B1C66DD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567" y="3923940"/>
                <a:ext cx="736618" cy="743832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06083935-5406-49E6-BE5E-414C5878D0E8}"/>
              </a:ext>
            </a:extLst>
          </p:cNvPr>
          <p:cNvSpPr/>
          <p:nvPr/>
        </p:nvSpPr>
        <p:spPr>
          <a:xfrm>
            <a:off x="2555391" y="5372292"/>
            <a:ext cx="736618" cy="7438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11453AC-8764-4EF5-91D7-888ACAA7A713}"/>
              </a:ext>
            </a:extLst>
          </p:cNvPr>
          <p:cNvCxnSpPr>
            <a:cxnSpLocks/>
            <a:stCxn id="15" idx="3"/>
            <a:endCxn id="18" idx="6"/>
          </p:cNvCxnSpPr>
          <p:nvPr/>
        </p:nvCxnSpPr>
        <p:spPr>
          <a:xfrm flipH="1">
            <a:off x="3292009" y="4558840"/>
            <a:ext cx="1932433" cy="1185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077E48B-C944-4112-A380-89F8B79D2A24}"/>
              </a:ext>
            </a:extLst>
          </p:cNvPr>
          <p:cNvCxnSpPr>
            <a:cxnSpLocks/>
            <a:stCxn id="7" idx="2"/>
            <a:endCxn id="23" idx="6"/>
          </p:cNvCxnSpPr>
          <p:nvPr/>
        </p:nvCxnSpPr>
        <p:spPr>
          <a:xfrm flipH="1">
            <a:off x="1653253" y="4308563"/>
            <a:ext cx="9021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B79FBE3-F257-40CE-9702-0B186648DC05}"/>
                  </a:ext>
                </a:extLst>
              </p:cNvPr>
              <p:cNvSpPr/>
              <p:nvPr/>
            </p:nvSpPr>
            <p:spPr>
              <a:xfrm>
                <a:off x="916635" y="3936647"/>
                <a:ext cx="736618" cy="743832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B79FBE3-F257-40CE-9702-0B186648DC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635" y="3936647"/>
                <a:ext cx="736618" cy="743832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25F8321-2841-4042-AA7C-67B7F6817E19}"/>
              </a:ext>
            </a:extLst>
          </p:cNvPr>
          <p:cNvCxnSpPr>
            <a:cxnSpLocks/>
            <a:stCxn id="7" idx="4"/>
            <a:endCxn id="18" idx="0"/>
          </p:cNvCxnSpPr>
          <p:nvPr/>
        </p:nvCxnSpPr>
        <p:spPr>
          <a:xfrm>
            <a:off x="2923700" y="4680479"/>
            <a:ext cx="0" cy="691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769C8AA-AE22-4B7E-B81B-9AE51E19987A}"/>
              </a:ext>
            </a:extLst>
          </p:cNvPr>
          <p:cNvCxnSpPr>
            <a:cxnSpLocks/>
            <a:stCxn id="23" idx="5"/>
            <a:endCxn id="18" idx="2"/>
          </p:cNvCxnSpPr>
          <p:nvPr/>
        </p:nvCxnSpPr>
        <p:spPr>
          <a:xfrm>
            <a:off x="1545378" y="4571547"/>
            <a:ext cx="1010013" cy="1172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3E2ECA2-E5A8-4591-A27D-D95CB4927460}"/>
              </a:ext>
            </a:extLst>
          </p:cNvPr>
          <p:cNvCxnSpPr>
            <a:cxnSpLocks/>
            <a:stCxn id="6" idx="3"/>
            <a:endCxn id="23" idx="0"/>
          </p:cNvCxnSpPr>
          <p:nvPr/>
        </p:nvCxnSpPr>
        <p:spPr>
          <a:xfrm flipH="1">
            <a:off x="1284944" y="2844684"/>
            <a:ext cx="1378322" cy="1091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11C20E24-778E-496A-96A1-282248D2AE2B}"/>
                  </a:ext>
                </a:extLst>
              </p:cNvPr>
              <p:cNvSpPr/>
              <p:nvPr/>
            </p:nvSpPr>
            <p:spPr>
              <a:xfrm>
                <a:off x="2603659" y="5424025"/>
                <a:ext cx="640080" cy="64008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11C20E24-778E-496A-96A1-282248D2AE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659" y="5424025"/>
                <a:ext cx="640080" cy="64008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E626BFF-7C5A-42FA-A7EF-37F4CCB584FB}"/>
                  </a:ext>
                </a:extLst>
              </p:cNvPr>
              <p:cNvSpPr txBox="1"/>
              <p:nvPr/>
            </p:nvSpPr>
            <p:spPr>
              <a:xfrm>
                <a:off x="1208705" y="2806291"/>
                <a:ext cx="95564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&gt;3</m:t>
                    </m:r>
                  </m:oMath>
                </a14:m>
                <a:r>
                  <a:rPr lang="en-US" sz="1400" b="0" dirty="0"/>
                  <a:t> /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≔0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E626BFF-7C5A-42FA-A7EF-37F4CCB58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705" y="2806291"/>
                <a:ext cx="955646" cy="523220"/>
              </a:xfrm>
              <a:prstGeom prst="rect">
                <a:avLst/>
              </a:prstGeom>
              <a:blipFill>
                <a:blip r:embed="rId8"/>
                <a:stretch>
                  <a:fillRect t="-1163" r="-1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3FD0BD7-1FB3-44ED-A4A1-1532CF3417CA}"/>
                  </a:ext>
                </a:extLst>
              </p:cNvPr>
              <p:cNvSpPr txBox="1"/>
              <p:nvPr/>
            </p:nvSpPr>
            <p:spPr>
              <a:xfrm>
                <a:off x="3097233" y="2967086"/>
                <a:ext cx="101136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&lt;2 /</m:t>
                      </m:r>
                    </m:oMath>
                  </m:oMathPara>
                </a14:m>
                <a:endParaRPr lang="en-US" sz="1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≔0</m:t>
                      </m:r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3FD0BD7-1FB3-44ED-A4A1-1532CF341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7233" y="2967086"/>
                <a:ext cx="101136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A41D4C1-C565-42E1-ACA5-57BF37C78AAB}"/>
                  </a:ext>
                </a:extLst>
              </p:cNvPr>
              <p:cNvSpPr txBox="1"/>
              <p:nvPr/>
            </p:nvSpPr>
            <p:spPr>
              <a:xfrm>
                <a:off x="1623757" y="4257413"/>
                <a:ext cx="88671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A41D4C1-C565-42E1-ACA5-57BF37C78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3757" y="4257413"/>
                <a:ext cx="886717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36368FA-25F7-4014-896E-F5D99F8A6642}"/>
                  </a:ext>
                </a:extLst>
              </p:cNvPr>
              <p:cNvSpPr txBox="1"/>
              <p:nvPr/>
            </p:nvSpPr>
            <p:spPr>
              <a:xfrm>
                <a:off x="1014536" y="5163851"/>
                <a:ext cx="8872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&lt;2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36368FA-25F7-4014-896E-F5D99F8A6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536" y="5163851"/>
                <a:ext cx="887294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5B8A698-A8A2-4BD9-A1BB-005744E41007}"/>
                  </a:ext>
                </a:extLst>
              </p:cNvPr>
              <p:cNvSpPr txBox="1"/>
              <p:nvPr/>
            </p:nvSpPr>
            <p:spPr>
              <a:xfrm>
                <a:off x="2830256" y="4728316"/>
                <a:ext cx="109235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5B8A698-A8A2-4BD9-A1BB-005744E41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256" y="4728316"/>
                <a:ext cx="1092350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3C888F5-208E-491A-9CC8-72ABEC8649E5}"/>
                  </a:ext>
                </a:extLst>
              </p:cNvPr>
              <p:cNvSpPr txBox="1"/>
              <p:nvPr/>
            </p:nvSpPr>
            <p:spPr>
              <a:xfrm>
                <a:off x="3698653" y="3774938"/>
                <a:ext cx="100816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&lt;3 /</m:t>
                      </m:r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≔0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3C888F5-208E-491A-9CC8-72ABEC864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8653" y="3774938"/>
                <a:ext cx="1008160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876A9E8-CEC7-4619-AF79-10F724F19F0C}"/>
                  </a:ext>
                </a:extLst>
              </p:cNvPr>
              <p:cNvSpPr txBox="1"/>
              <p:nvPr/>
            </p:nvSpPr>
            <p:spPr>
              <a:xfrm>
                <a:off x="4456861" y="5003988"/>
                <a:ext cx="88671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876A9E8-CEC7-4619-AF79-10F724F19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861" y="5003988"/>
                <a:ext cx="886717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Connector: Curved 52">
            <a:extLst>
              <a:ext uri="{FF2B5EF4-FFF2-40B4-BE49-F238E27FC236}">
                <a16:creationId xmlns:a16="http://schemas.microsoft.com/office/drawing/2014/main" id="{3623916D-F64C-4763-86A1-7353DBA2325B}"/>
              </a:ext>
            </a:extLst>
          </p:cNvPr>
          <p:cNvCxnSpPr>
            <a:stCxn id="15" idx="7"/>
            <a:endCxn id="15" idx="5"/>
          </p:cNvCxnSpPr>
          <p:nvPr/>
        </p:nvCxnSpPr>
        <p:spPr>
          <a:xfrm rot="16200000" flipH="1">
            <a:off x="5482326" y="4295856"/>
            <a:ext cx="525968" cy="12700"/>
          </a:xfrm>
          <a:prstGeom prst="curvedConnector5">
            <a:avLst>
              <a:gd name="adj1" fmla="val -43463"/>
              <a:gd name="adj2" fmla="val 6750732"/>
              <a:gd name="adj3" fmla="val 14346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5087FB9-EABC-43E8-8E80-107B0E27CDE1}"/>
                  </a:ext>
                </a:extLst>
              </p:cNvPr>
              <p:cNvSpPr txBox="1"/>
              <p:nvPr/>
            </p:nvSpPr>
            <p:spPr>
              <a:xfrm>
                <a:off x="5758697" y="4788545"/>
                <a:ext cx="101553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&lt;1 /</m:t>
                      </m:r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≔0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5087FB9-EABC-43E8-8E80-107B0E27C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8697" y="4788545"/>
                <a:ext cx="1015534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5C2C7FC-D95F-4DB4-A7B5-4B38EC639B5B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2923700" y="1956451"/>
            <a:ext cx="89761" cy="253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Connector: Curved 58">
            <a:extLst>
              <a:ext uri="{FF2B5EF4-FFF2-40B4-BE49-F238E27FC236}">
                <a16:creationId xmlns:a16="http://schemas.microsoft.com/office/drawing/2014/main" id="{0A87ADC5-E391-4CD2-9553-B1824D5F8ECA}"/>
              </a:ext>
            </a:extLst>
          </p:cNvPr>
          <p:cNvCxnSpPr>
            <a:cxnSpLocks/>
            <a:stCxn id="7" idx="1"/>
            <a:endCxn id="7" idx="2"/>
          </p:cNvCxnSpPr>
          <p:nvPr/>
        </p:nvCxnSpPr>
        <p:spPr>
          <a:xfrm rot="16200000" flipH="1" flipV="1">
            <a:off x="2477837" y="4123133"/>
            <a:ext cx="262984" cy="107875"/>
          </a:xfrm>
          <a:prstGeom prst="curvedConnector4">
            <a:avLst>
              <a:gd name="adj1" fmla="val -63310"/>
              <a:gd name="adj2" fmla="val 33020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24550AB9-E11F-4FBD-966D-F664B4FE30D9}"/>
                  </a:ext>
                </a:extLst>
              </p:cNvPr>
              <p:cNvSpPr txBox="1"/>
              <p:nvPr/>
            </p:nvSpPr>
            <p:spPr>
              <a:xfrm>
                <a:off x="1979345" y="3438062"/>
                <a:ext cx="97546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&lt;3/</m:t>
                      </m:r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≔0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24550AB9-E11F-4FBD-966D-F664B4FE3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345" y="3438062"/>
                <a:ext cx="975460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nector: Curved 69">
            <a:extLst>
              <a:ext uri="{FF2B5EF4-FFF2-40B4-BE49-F238E27FC236}">
                <a16:creationId xmlns:a16="http://schemas.microsoft.com/office/drawing/2014/main" id="{1DCCE9A0-A6AB-4651-9EEE-8E0F1A893B49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841484" y="4068612"/>
            <a:ext cx="262984" cy="107875"/>
          </a:xfrm>
          <a:prstGeom prst="curvedConnector4">
            <a:avLst>
              <a:gd name="adj1" fmla="val -63310"/>
              <a:gd name="adj2" fmla="val 33020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8C7CF5A-8391-4496-BFBF-2BD661E97E18}"/>
                  </a:ext>
                </a:extLst>
              </p:cNvPr>
              <p:cNvSpPr txBox="1"/>
              <p:nvPr/>
            </p:nvSpPr>
            <p:spPr>
              <a:xfrm>
                <a:off x="536869" y="3309587"/>
                <a:ext cx="111434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&lt;10 /</m:t>
                      </m:r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≔0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8C7CF5A-8391-4496-BFBF-2BD661E97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869" y="3309587"/>
                <a:ext cx="1114344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8079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70229C6-FC6C-4584-AE34-080536D6A3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2"/>
                <a:ext cx="11699087" cy="1893206"/>
              </a:xfrm>
            </p:spPr>
            <p:txBody>
              <a:bodyPr/>
              <a:lstStyle/>
              <a:p>
                <a:r>
                  <a:rPr lang="en-US" dirty="0"/>
                  <a:t>Everything else remains the same, the acceptance condition changes</a:t>
                </a:r>
              </a:p>
              <a:p>
                <a:r>
                  <a:rPr lang="en-US" dirty="0"/>
                  <a:t>Instead of final states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, we define an acceptance condition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Timed automata with Büchi, Muller, Rabin, Streett, Parity conditions can be defined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70229C6-FC6C-4584-AE34-080536D6A3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2"/>
                <a:ext cx="11699087" cy="1893206"/>
              </a:xfrm>
              <a:blipFill>
                <a:blip r:embed="rId2"/>
                <a:stretch>
                  <a:fillRect l="-521" t="-5145" b="-1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50AA8-A910-42F1-9146-9588E2474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2F83D-FFB0-4139-B103-BC77805FA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2C1A30-5E1A-4164-B0DD-83601394F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automata over infinite words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295904B1-338D-4F97-9DCE-76FC356CCD20}"/>
                  </a:ext>
                </a:extLst>
              </p:cNvPr>
              <p:cNvSpPr/>
              <p:nvPr/>
            </p:nvSpPr>
            <p:spPr>
              <a:xfrm>
                <a:off x="3015880" y="3949804"/>
                <a:ext cx="736618" cy="743832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295904B1-338D-4F97-9DCE-76FC356CCD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5880" y="3949804"/>
                <a:ext cx="736618" cy="743832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3E9DFE3E-F63A-426B-A4A8-83083B0FEA8D}"/>
              </a:ext>
            </a:extLst>
          </p:cNvPr>
          <p:cNvSpPr/>
          <p:nvPr/>
        </p:nvSpPr>
        <p:spPr>
          <a:xfrm>
            <a:off x="4989405" y="3949804"/>
            <a:ext cx="736618" cy="7438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360F62-47D7-4F4B-8EBB-3B27C92883AD}"/>
                  </a:ext>
                </a:extLst>
              </p:cNvPr>
              <p:cNvSpPr/>
              <p:nvPr/>
            </p:nvSpPr>
            <p:spPr>
              <a:xfrm>
                <a:off x="5037673" y="4001537"/>
                <a:ext cx="640080" cy="64008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360F62-47D7-4F4B-8EBB-3B27C92883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673" y="4001537"/>
                <a:ext cx="640080" cy="64008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270140CF-88FF-4557-A62D-9A5BEDDF3905}"/>
              </a:ext>
            </a:extLst>
          </p:cNvPr>
          <p:cNvCxnSpPr>
            <a:cxnSpLocks/>
            <a:stCxn id="6" idx="0"/>
            <a:endCxn id="7" idx="0"/>
          </p:cNvCxnSpPr>
          <p:nvPr/>
        </p:nvCxnSpPr>
        <p:spPr>
          <a:xfrm rot="5400000" flipH="1" flipV="1">
            <a:off x="4370951" y="2963042"/>
            <a:ext cx="12700" cy="1973525"/>
          </a:xfrm>
          <a:prstGeom prst="curvedConnector3">
            <a:avLst>
              <a:gd name="adj1" fmla="val 537410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A18F310E-CD71-49C8-B13B-3A91A346CA08}"/>
              </a:ext>
            </a:extLst>
          </p:cNvPr>
          <p:cNvCxnSpPr>
            <a:cxnSpLocks/>
            <a:stCxn id="7" idx="4"/>
            <a:endCxn id="6" idx="4"/>
          </p:cNvCxnSpPr>
          <p:nvPr/>
        </p:nvCxnSpPr>
        <p:spPr>
          <a:xfrm rot="5400000">
            <a:off x="4370952" y="3706874"/>
            <a:ext cx="12700" cy="1973525"/>
          </a:xfrm>
          <a:prstGeom prst="curvedConnector3">
            <a:avLst>
              <a:gd name="adj1" fmla="val 330218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A81F68F7-E889-4435-90CE-54963EC09181}"/>
              </a:ext>
            </a:extLst>
          </p:cNvPr>
          <p:cNvCxnSpPr>
            <a:cxnSpLocks/>
            <a:stCxn id="7" idx="7"/>
            <a:endCxn id="7" idx="5"/>
          </p:cNvCxnSpPr>
          <p:nvPr/>
        </p:nvCxnSpPr>
        <p:spPr>
          <a:xfrm rot="16200000" flipH="1">
            <a:off x="5355164" y="4321720"/>
            <a:ext cx="525968" cy="12700"/>
          </a:xfrm>
          <a:prstGeom prst="curvedConnector5">
            <a:avLst>
              <a:gd name="adj1" fmla="val -43463"/>
              <a:gd name="adj2" fmla="val 6750732"/>
              <a:gd name="adj3" fmla="val 14346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A000A5A-5164-44FE-8019-96DACF41402A}"/>
                  </a:ext>
                </a:extLst>
              </p:cNvPr>
              <p:cNvSpPr txBox="1"/>
              <p:nvPr/>
            </p:nvSpPr>
            <p:spPr>
              <a:xfrm>
                <a:off x="3794206" y="2769313"/>
                <a:ext cx="121956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𝑔𝑟𝑒𝑒𝑛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US" sz="1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≔0</m:t>
                      </m:r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A000A5A-5164-44FE-8019-96DACF414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206" y="2769313"/>
                <a:ext cx="121956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826A711-E28F-4127-98A0-D4B1C85C26CC}"/>
                  </a:ext>
                </a:extLst>
              </p:cNvPr>
              <p:cNvSpPr txBox="1"/>
              <p:nvPr/>
            </p:nvSpPr>
            <p:spPr>
              <a:xfrm>
                <a:off x="6413512" y="4052757"/>
                <a:ext cx="121956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𝑔𝑟𝑒𝑒𝑛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US" sz="1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≔0</m:t>
                      </m:r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826A711-E28F-4127-98A0-D4B1C85C2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12" y="4052757"/>
                <a:ext cx="121956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CD68535-B4C4-48F2-A1DC-2AC558C66D15}"/>
                  </a:ext>
                </a:extLst>
              </p:cNvPr>
              <p:cNvSpPr txBox="1"/>
              <p:nvPr/>
            </p:nvSpPr>
            <p:spPr>
              <a:xfrm>
                <a:off x="4122616" y="4757838"/>
                <a:ext cx="5093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𝑟𝑒𝑑</m:t>
                      </m:r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CD68535-B4C4-48F2-A1DC-2AC558C66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2616" y="4757838"/>
                <a:ext cx="509370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BC69149C-06B6-4CCF-BC81-B77C9511F211}"/>
              </a:ext>
            </a:extLst>
          </p:cNvPr>
          <p:cNvCxnSpPr>
            <a:cxnSpLocks/>
            <a:stCxn id="7" idx="4"/>
            <a:endCxn id="6" idx="4"/>
          </p:cNvCxnSpPr>
          <p:nvPr/>
        </p:nvCxnSpPr>
        <p:spPr>
          <a:xfrm rot="5400000">
            <a:off x="4370952" y="3706874"/>
            <a:ext cx="12700" cy="1973525"/>
          </a:xfrm>
          <a:prstGeom prst="curvedConnector3">
            <a:avLst>
              <a:gd name="adj1" fmla="val 744605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FC777B7-D87A-43F0-AF82-02EA5B82AB7C}"/>
                  </a:ext>
                </a:extLst>
              </p:cNvPr>
              <p:cNvSpPr txBox="1"/>
              <p:nvPr/>
            </p:nvSpPr>
            <p:spPr>
              <a:xfrm>
                <a:off x="3693259" y="5599562"/>
                <a:ext cx="139709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𝑔𝑟𝑒𝑒𝑛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FC777B7-D87A-43F0-AF82-02EA5B82A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3259" y="5599562"/>
                <a:ext cx="1397091" cy="307777"/>
              </a:xfrm>
              <a:prstGeom prst="rect">
                <a:avLst/>
              </a:prstGeom>
              <a:blipFill>
                <a:blip r:embed="rId8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247CBBC9-DD27-41E9-ACF6-0DCF77B9B26E}"/>
              </a:ext>
            </a:extLst>
          </p:cNvPr>
          <p:cNvCxnSpPr>
            <a:cxnSpLocks/>
            <a:stCxn id="6" idx="2"/>
            <a:endCxn id="6" idx="3"/>
          </p:cNvCxnSpPr>
          <p:nvPr/>
        </p:nvCxnSpPr>
        <p:spPr>
          <a:xfrm rot="10800000" flipH="1" flipV="1">
            <a:off x="3015879" y="4321720"/>
            <a:ext cx="107875" cy="262984"/>
          </a:xfrm>
          <a:prstGeom prst="curvedConnector4">
            <a:avLst>
              <a:gd name="adj1" fmla="val -211912"/>
              <a:gd name="adj2" fmla="val 14079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64F7C35-9212-4015-92C0-7CA435127CA3}"/>
                  </a:ext>
                </a:extLst>
              </p:cNvPr>
              <p:cNvSpPr txBox="1"/>
              <p:nvPr/>
            </p:nvSpPr>
            <p:spPr>
              <a:xfrm>
                <a:off x="2458240" y="4641617"/>
                <a:ext cx="5093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𝑟𝑒𝑑</m:t>
                      </m:r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64F7C35-9212-4015-92C0-7CA435127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240" y="4641617"/>
                <a:ext cx="509370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FFBBFC7E-D8DF-45DA-8806-B62E010FAE31}"/>
              </a:ext>
            </a:extLst>
          </p:cNvPr>
          <p:cNvCxnSpPr>
            <a:cxnSpLocks/>
            <a:stCxn id="6" idx="2"/>
            <a:endCxn id="6" idx="1"/>
          </p:cNvCxnSpPr>
          <p:nvPr/>
        </p:nvCxnSpPr>
        <p:spPr>
          <a:xfrm rot="10800000" flipH="1">
            <a:off x="3015879" y="4058736"/>
            <a:ext cx="107875" cy="262984"/>
          </a:xfrm>
          <a:prstGeom prst="curvedConnector4">
            <a:avLst>
              <a:gd name="adj1" fmla="val -211912"/>
              <a:gd name="adj2" fmla="val 16581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B07419D-6529-4CF0-86D3-3697A671E640}"/>
                  </a:ext>
                </a:extLst>
              </p:cNvPr>
              <p:cNvSpPr txBox="1"/>
              <p:nvPr/>
            </p:nvSpPr>
            <p:spPr>
              <a:xfrm>
                <a:off x="2188990" y="3593591"/>
                <a:ext cx="11951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𝑔𝑟𝑒𝑒𝑛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B07419D-6529-4CF0-86D3-3697A671E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8990" y="3593591"/>
                <a:ext cx="1195199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7284B953-9D82-4B25-BB09-CDAF4825E858}"/>
              </a:ext>
            </a:extLst>
          </p:cNvPr>
          <p:cNvSpPr txBox="1"/>
          <p:nvPr/>
        </p:nvSpPr>
        <p:spPr>
          <a:xfrm>
            <a:off x="7821739" y="3129427"/>
            <a:ext cx="3091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What’s the language of this automaton assuming Büchi acceptance?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FAE68FB-D879-4747-876A-32E1232545D7}"/>
                  </a:ext>
                </a:extLst>
              </p:cNvPr>
              <p:cNvSpPr txBox="1"/>
              <p:nvPr/>
            </p:nvSpPr>
            <p:spPr>
              <a:xfrm>
                <a:off x="7920414" y="4434810"/>
                <a:ext cx="3367767" cy="1148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0" lvl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tabLst/>
                  <a:defRPr/>
                </a:pPr>
                <a:r>
                  <a:rPr kumimoji="0" lang="en-US" sz="16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There is an infinite (sub)sequence of 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" panose="02040503050406030204" pitchFamily="18" charset="0"/>
                        <a:cs typeface="+mn-cs"/>
                      </a:rPr>
                      <m:t>𝑔𝑟𝑒𝑒𝑛</m:t>
                    </m:r>
                  </m:oMath>
                </a14:m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s where consecutive</a:t>
                </a:r>
                <a:r>
                  <a:rPr kumimoji="0" lang="en-US" sz="16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" panose="02040503050406030204" pitchFamily="18" charset="0"/>
                        <a:cs typeface="+mn-cs"/>
                      </a:rPr>
                      <m:t>𝑔𝑟𝑒𝑒𝑛</m:t>
                    </m:r>
                  </m:oMath>
                </a14:m>
                <a:r>
                  <a:rPr kumimoji="0" lang="en-US" sz="16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s in the (sub)sequence 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by at least one second.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1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FAE68FB-D879-4747-876A-32E123254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414" y="4434810"/>
                <a:ext cx="3367767" cy="1148007"/>
              </a:xfrm>
              <a:prstGeom prst="rect">
                <a:avLst/>
              </a:prstGeom>
              <a:blipFill>
                <a:blip r:embed="rId10"/>
                <a:stretch>
                  <a:fillRect l="-904" t="-4233" r="-2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80444C5-9092-44E0-9997-E32F03C7AAA6}"/>
                  </a:ext>
                </a:extLst>
              </p:cNvPr>
              <p:cNvSpPr txBox="1"/>
              <p:nvPr/>
            </p:nvSpPr>
            <p:spPr>
              <a:xfrm>
                <a:off x="5108446" y="3419127"/>
                <a:ext cx="130506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𝑔𝑟𝑒𝑒𝑛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80444C5-9092-44E0-9997-E32F03C7A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8446" y="3419127"/>
                <a:ext cx="1305066" cy="307777"/>
              </a:xfrm>
              <a:prstGeom prst="rect">
                <a:avLst/>
              </a:prstGeom>
              <a:blipFill>
                <a:blip r:embed="rId11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680E16B-574E-44F4-A3A8-04D441D4B314}"/>
              </a:ext>
            </a:extLst>
          </p:cNvPr>
          <p:cNvCxnSpPr/>
          <p:nvPr/>
        </p:nvCxnSpPr>
        <p:spPr>
          <a:xfrm>
            <a:off x="5467682" y="3449153"/>
            <a:ext cx="0" cy="507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FE1B9BC-EE4D-49CB-8905-4D41BF36C161}"/>
              </a:ext>
            </a:extLst>
          </p:cNvPr>
          <p:cNvCxnSpPr/>
          <p:nvPr/>
        </p:nvCxnSpPr>
        <p:spPr>
          <a:xfrm>
            <a:off x="3299963" y="3442803"/>
            <a:ext cx="0" cy="507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ADE762C-A1AC-4DA1-B1A9-562A05E554C0}"/>
                  </a:ext>
                </a:extLst>
              </p:cNvPr>
              <p:cNvSpPr txBox="1"/>
              <p:nvPr/>
            </p:nvSpPr>
            <p:spPr>
              <a:xfrm>
                <a:off x="2902322" y="3104248"/>
                <a:ext cx="87516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𝑟𝑒𝑑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ADE762C-A1AC-4DA1-B1A9-562A05E55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322" y="3104248"/>
                <a:ext cx="875162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8429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C7D5B04-8F64-4368-9BBC-17DDB7727F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Transitions in timed automata are </a:t>
                </a:r>
                <a:r>
                  <a:rPr lang="en-US" dirty="0" err="1"/>
                  <a:t>nondeterminstic</a:t>
                </a:r>
                <a:r>
                  <a:rPr lang="en-US" dirty="0"/>
                  <a:t> and not “forcing”</a:t>
                </a:r>
              </a:p>
              <a:p>
                <a:r>
                  <a:rPr lang="en-US" dirty="0"/>
                  <a:t>A transition does not </a:t>
                </a:r>
                <a:r>
                  <a:rPr lang="en-US" i="1" dirty="0"/>
                  <a:t>have to be taken</a:t>
                </a:r>
                <a:r>
                  <a:rPr lang="en-US" dirty="0"/>
                  <a:t> when the outgoing guard of a location/state is true</a:t>
                </a:r>
              </a:p>
              <a:p>
                <a:r>
                  <a:rPr lang="en-US" dirty="0"/>
                  <a:t>Mechanism to push automaton out of a state : “clock invariants”</a:t>
                </a:r>
              </a:p>
              <a:p>
                <a:r>
                  <a:rPr lang="en-US" dirty="0"/>
                  <a:t>Clock invariant: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𝐼𝑛𝑣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Automaton has to exit state when clock invariant is false</a:t>
                </a:r>
              </a:p>
              <a:p>
                <a:r>
                  <a:rPr lang="en-US" dirty="0"/>
                  <a:t>If no outgoing transition guard is true when clock invariant is false, automaton “deadlocks/halts”  (e.g. goes to a terminal bad state)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C7D5B04-8F64-4368-9BBC-17DDB7727F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 r="-8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F704A5-AAA4-4177-B406-5AABAC77A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23E45-D5E7-4ACF-BABF-DFFF8C53E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E5704A8-64C8-4D82-879A-CA4707792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about transition semantics</a:t>
            </a:r>
          </a:p>
        </p:txBody>
      </p:sp>
    </p:spTree>
    <p:extLst>
      <p:ext uri="{BB962C8B-B14F-4D97-AF65-F5344CB8AC3E}">
        <p14:creationId xmlns:p14="http://schemas.microsoft.com/office/powerpoint/2010/main" val="1149275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AEEF47-BF79-4CD8-8117-227552E92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F9911-C512-4930-8CB0-9AB236F57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F811CEA-77A1-4951-A233-C654D4598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Automaton example with clock invariants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10D2A89-7559-4093-8D2F-A3CD0ABA1FC9}"/>
                  </a:ext>
                </a:extLst>
              </p:cNvPr>
              <p:cNvSpPr/>
              <p:nvPr/>
            </p:nvSpPr>
            <p:spPr>
              <a:xfrm>
                <a:off x="1876292" y="2723633"/>
                <a:ext cx="736618" cy="743832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≤2 </m:t>
                      </m:r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10D2A89-7559-4093-8D2F-A3CD0ABA1F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6292" y="2723633"/>
                <a:ext cx="736618" cy="743832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A650C26C-CACC-4C9D-9A70-D5390774196A}"/>
              </a:ext>
            </a:extLst>
          </p:cNvPr>
          <p:cNvSpPr/>
          <p:nvPr/>
        </p:nvSpPr>
        <p:spPr>
          <a:xfrm>
            <a:off x="3849817" y="2723633"/>
            <a:ext cx="736618" cy="7438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3573E1B-8906-4C3D-937D-32212AB75321}"/>
                  </a:ext>
                </a:extLst>
              </p:cNvPr>
              <p:cNvSpPr/>
              <p:nvPr/>
            </p:nvSpPr>
            <p:spPr>
              <a:xfrm>
                <a:off x="3898085" y="2775366"/>
                <a:ext cx="640080" cy="64008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14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≤2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3573E1B-8906-4C3D-937D-32212AB753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085" y="2775366"/>
                <a:ext cx="640080" cy="64008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82440AE8-0786-4168-BACC-3AF9FB7112F2}"/>
              </a:ext>
            </a:extLst>
          </p:cNvPr>
          <p:cNvCxnSpPr>
            <a:cxnSpLocks/>
            <a:stCxn id="6" idx="0"/>
            <a:endCxn id="7" idx="0"/>
          </p:cNvCxnSpPr>
          <p:nvPr/>
        </p:nvCxnSpPr>
        <p:spPr>
          <a:xfrm rot="5400000" flipH="1" flipV="1">
            <a:off x="3231363" y="1736871"/>
            <a:ext cx="12700" cy="1973525"/>
          </a:xfrm>
          <a:prstGeom prst="curvedConnector3">
            <a:avLst>
              <a:gd name="adj1" fmla="val 537410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F6C4E2C7-4E64-49B5-A41D-AB0A6F72EA3A}"/>
              </a:ext>
            </a:extLst>
          </p:cNvPr>
          <p:cNvCxnSpPr>
            <a:cxnSpLocks/>
            <a:stCxn id="7" idx="4"/>
            <a:endCxn id="6" idx="4"/>
          </p:cNvCxnSpPr>
          <p:nvPr/>
        </p:nvCxnSpPr>
        <p:spPr>
          <a:xfrm rot="5400000">
            <a:off x="3231364" y="2480703"/>
            <a:ext cx="12700" cy="1973525"/>
          </a:xfrm>
          <a:prstGeom prst="curvedConnector3">
            <a:avLst>
              <a:gd name="adj1" fmla="val 330218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6C5D1DD3-D7AB-4F18-A66C-F09725623B21}"/>
              </a:ext>
            </a:extLst>
          </p:cNvPr>
          <p:cNvCxnSpPr>
            <a:cxnSpLocks/>
            <a:stCxn id="7" idx="7"/>
            <a:endCxn id="7" idx="5"/>
          </p:cNvCxnSpPr>
          <p:nvPr/>
        </p:nvCxnSpPr>
        <p:spPr>
          <a:xfrm rot="16200000" flipH="1">
            <a:off x="4215576" y="3095549"/>
            <a:ext cx="525968" cy="12700"/>
          </a:xfrm>
          <a:prstGeom prst="curvedConnector5">
            <a:avLst>
              <a:gd name="adj1" fmla="val -43463"/>
              <a:gd name="adj2" fmla="val 6750732"/>
              <a:gd name="adj3" fmla="val 14346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F243DA8-42FD-4288-9176-DA60E700BEA8}"/>
                  </a:ext>
                </a:extLst>
              </p:cNvPr>
              <p:cNvSpPr txBox="1"/>
              <p:nvPr/>
            </p:nvSpPr>
            <p:spPr>
              <a:xfrm>
                <a:off x="2654618" y="1543142"/>
                <a:ext cx="121956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𝑔𝑟𝑒𝑒𝑛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US" sz="1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≔0</m:t>
                      </m:r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F243DA8-42FD-4288-9176-DA60E700B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618" y="1543142"/>
                <a:ext cx="121956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DF19426-37A7-46E6-9594-74B70BB1566B}"/>
                  </a:ext>
                </a:extLst>
              </p:cNvPr>
              <p:cNvSpPr txBox="1"/>
              <p:nvPr/>
            </p:nvSpPr>
            <p:spPr>
              <a:xfrm>
                <a:off x="5273924" y="2826586"/>
                <a:ext cx="121956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𝑔𝑟𝑒𝑒𝑛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US" sz="1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≔0</m:t>
                      </m:r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DF19426-37A7-46E6-9594-74B70BB15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24" y="2826586"/>
                <a:ext cx="121956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6E0409-7847-4A45-988E-2158E9BD5B08}"/>
                  </a:ext>
                </a:extLst>
              </p:cNvPr>
              <p:cNvSpPr txBox="1"/>
              <p:nvPr/>
            </p:nvSpPr>
            <p:spPr>
              <a:xfrm>
                <a:off x="2983028" y="3531667"/>
                <a:ext cx="5093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𝑟𝑒𝑑</m:t>
                      </m:r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6E0409-7847-4A45-988E-2158E9BD5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028" y="3531667"/>
                <a:ext cx="509370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3F8865C0-2E44-497C-98CE-F29454FD0286}"/>
              </a:ext>
            </a:extLst>
          </p:cNvPr>
          <p:cNvCxnSpPr>
            <a:cxnSpLocks/>
            <a:stCxn id="7" idx="4"/>
            <a:endCxn id="6" idx="4"/>
          </p:cNvCxnSpPr>
          <p:nvPr/>
        </p:nvCxnSpPr>
        <p:spPr>
          <a:xfrm rot="5400000">
            <a:off x="3231364" y="2480703"/>
            <a:ext cx="12700" cy="1973525"/>
          </a:xfrm>
          <a:prstGeom prst="curvedConnector3">
            <a:avLst>
              <a:gd name="adj1" fmla="val 744605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0EEA71F-9B87-4C4F-B5ED-B4B83132F206}"/>
                  </a:ext>
                </a:extLst>
              </p:cNvPr>
              <p:cNvSpPr txBox="1"/>
              <p:nvPr/>
            </p:nvSpPr>
            <p:spPr>
              <a:xfrm>
                <a:off x="2553671" y="4373391"/>
                <a:ext cx="139709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𝑔𝑟𝑒𝑒𝑛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0EEA71F-9B87-4C4F-B5ED-B4B83132F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3671" y="4373391"/>
                <a:ext cx="1397091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F0641F07-D046-41FE-B769-B124655608C4}"/>
              </a:ext>
            </a:extLst>
          </p:cNvPr>
          <p:cNvCxnSpPr>
            <a:cxnSpLocks/>
            <a:stCxn id="6" idx="2"/>
            <a:endCxn id="6" idx="3"/>
          </p:cNvCxnSpPr>
          <p:nvPr/>
        </p:nvCxnSpPr>
        <p:spPr>
          <a:xfrm rot="10800000" flipH="1" flipV="1">
            <a:off x="1876291" y="3095549"/>
            <a:ext cx="107875" cy="262984"/>
          </a:xfrm>
          <a:prstGeom prst="curvedConnector4">
            <a:avLst>
              <a:gd name="adj1" fmla="val -211912"/>
              <a:gd name="adj2" fmla="val 14079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B86046-ED77-48CE-A43B-FF3F7E37414A}"/>
                  </a:ext>
                </a:extLst>
              </p:cNvPr>
              <p:cNvSpPr txBox="1"/>
              <p:nvPr/>
            </p:nvSpPr>
            <p:spPr>
              <a:xfrm>
                <a:off x="1318652" y="3415446"/>
                <a:ext cx="5093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𝑟𝑒𝑑</m:t>
                      </m:r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B86046-ED77-48CE-A43B-FF3F7E374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652" y="3415446"/>
                <a:ext cx="509370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64BE2ACF-B0D6-4C9B-A815-68D3006C418B}"/>
              </a:ext>
            </a:extLst>
          </p:cNvPr>
          <p:cNvCxnSpPr>
            <a:cxnSpLocks/>
            <a:stCxn id="6" idx="2"/>
            <a:endCxn id="6" idx="1"/>
          </p:cNvCxnSpPr>
          <p:nvPr/>
        </p:nvCxnSpPr>
        <p:spPr>
          <a:xfrm rot="10800000" flipH="1">
            <a:off x="1876291" y="2832565"/>
            <a:ext cx="107875" cy="262984"/>
          </a:xfrm>
          <a:prstGeom prst="curvedConnector4">
            <a:avLst>
              <a:gd name="adj1" fmla="val -211912"/>
              <a:gd name="adj2" fmla="val 16581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CF6B4A2-7649-4F15-A2AF-5E52E1AE0F95}"/>
                  </a:ext>
                </a:extLst>
              </p:cNvPr>
              <p:cNvSpPr txBox="1"/>
              <p:nvPr/>
            </p:nvSpPr>
            <p:spPr>
              <a:xfrm>
                <a:off x="1049402" y="2367420"/>
                <a:ext cx="11951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𝑔𝑟𝑒𝑒𝑛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CF6B4A2-7649-4F15-A2AF-5E52E1AE0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402" y="2367420"/>
                <a:ext cx="1195199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1">
                <a:extLst>
                  <a:ext uri="{FF2B5EF4-FFF2-40B4-BE49-F238E27FC236}">
                    <a16:creationId xmlns:a16="http://schemas.microsoft.com/office/drawing/2014/main" id="{A87CD2F9-3781-4206-9386-9B4EC9C52E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72725" y="1367797"/>
                <a:ext cx="4901646" cy="468593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What is the language of this automaton?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r>
                  <a:rPr lang="en-US" sz="1800" dirty="0"/>
                  <a:t>Once the automaton receives input, the next input symbol must appear within 2 seconds.</a:t>
                </a:r>
              </a:p>
              <a:p>
                <a:r>
                  <a:rPr lang="en-US" sz="1800" dirty="0"/>
                  <a:t>Whenever you receive a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𝑔𝑟𝑒𝑒𝑛</m:t>
                    </m:r>
                  </m:oMath>
                </a14:m>
                <a:r>
                  <a:rPr lang="en-US" sz="1800" dirty="0"/>
                  <a:t>, there must be a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𝑔𝑟𝑒𝑒𝑛</m:t>
                    </m:r>
                  </m:oMath>
                </a14:m>
                <a:r>
                  <a:rPr lang="en-US" sz="1800" dirty="0"/>
                  <a:t> at least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800" dirty="0"/>
                  <a:t> second later and at most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800" dirty="0"/>
                  <a:t> seconds later.</a:t>
                </a:r>
              </a:p>
              <a:p>
                <a:endParaRPr lang="en-US" sz="1800" dirty="0"/>
              </a:p>
              <a:p>
                <a:r>
                  <a:rPr lang="en-US" sz="1800" dirty="0"/>
                  <a:t>Valid run: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,2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,… </m:t>
                    </m:r>
                  </m:oMath>
                </a14:m>
                <a:endParaRPr lang="en-US" sz="1800" b="0" dirty="0"/>
              </a:p>
              <a:p>
                <a:r>
                  <a:rPr lang="en-US" sz="1800" b="0" dirty="0"/>
                  <a:t>Not valid run: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,3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,6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US" sz="1800" b="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21" name="Content Placeholder 1">
                <a:extLst>
                  <a:ext uri="{FF2B5EF4-FFF2-40B4-BE49-F238E27FC236}">
                    <a16:creationId xmlns:a16="http://schemas.microsoft.com/office/drawing/2014/main" id="{A87CD2F9-3781-4206-9386-9B4EC9C52E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72725" y="1367797"/>
                <a:ext cx="4901646" cy="4685934"/>
              </a:xfrm>
              <a:blipFill>
                <a:blip r:embed="rId9"/>
                <a:stretch>
                  <a:fillRect l="-1119" t="-13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C38AB3F-386B-4B28-8466-352F88CF07C2}"/>
                  </a:ext>
                </a:extLst>
              </p:cNvPr>
              <p:cNvSpPr txBox="1"/>
              <p:nvPr/>
            </p:nvSpPr>
            <p:spPr>
              <a:xfrm>
                <a:off x="3985580" y="2198795"/>
                <a:ext cx="130506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𝑔𝑟𝑒𝑒𝑛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C38AB3F-386B-4B28-8466-352F88CF0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5580" y="2198795"/>
                <a:ext cx="1305066" cy="307777"/>
              </a:xfrm>
              <a:prstGeom prst="rect">
                <a:avLst/>
              </a:prstGeom>
              <a:blipFill>
                <a:blip r:embed="rId10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617C073-3792-4AED-A063-0A9C79A0CB90}"/>
              </a:ext>
            </a:extLst>
          </p:cNvPr>
          <p:cNvCxnSpPr/>
          <p:nvPr/>
        </p:nvCxnSpPr>
        <p:spPr>
          <a:xfrm>
            <a:off x="4344816" y="2228821"/>
            <a:ext cx="0" cy="507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570BE62-072A-49FD-A24E-4B27F3A7124C}"/>
              </a:ext>
            </a:extLst>
          </p:cNvPr>
          <p:cNvCxnSpPr/>
          <p:nvPr/>
        </p:nvCxnSpPr>
        <p:spPr>
          <a:xfrm>
            <a:off x="2177097" y="2222471"/>
            <a:ext cx="0" cy="507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8156194-58BC-468F-BD2C-64A8B9E85B5B}"/>
                  </a:ext>
                </a:extLst>
              </p:cNvPr>
              <p:cNvSpPr txBox="1"/>
              <p:nvPr/>
            </p:nvSpPr>
            <p:spPr>
              <a:xfrm>
                <a:off x="1779456" y="1883916"/>
                <a:ext cx="87516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𝑟𝑒𝑑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8156194-58BC-468F-BD2C-64A8B9E85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456" y="1883916"/>
                <a:ext cx="875162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8491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E74B358-7D51-4300-BD7B-7634A98BFE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1"/>
                <a:ext cx="11358853" cy="2596151"/>
              </a:xfrm>
            </p:spPr>
            <p:txBody>
              <a:bodyPr/>
              <a:lstStyle/>
              <a:p>
                <a:r>
                  <a:rPr lang="en-US" dirty="0"/>
                  <a:t>Consider a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for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, for some fixed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𝕋</m:t>
                    </m:r>
                  </m:oMath>
                </a14:m>
                <a:r>
                  <a:rPr lang="en-US" dirty="0"/>
                  <a:t>, clock valuation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𝐼𝑛𝑣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Possible execution fragment is: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⋯</m:t>
                    </m:r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d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+1 </m:t>
                            </m:r>
                          </m:sub>
                        </m:sSub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⋯ 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Suppose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E74B358-7D51-4300-BD7B-7634A98BFE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1"/>
                <a:ext cx="11358853" cy="2596151"/>
              </a:xfrm>
              <a:blipFill>
                <a:blip r:embed="rId2"/>
                <a:stretch>
                  <a:fillRect l="-536" t="-3756" r="-12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CC649D-B6DC-4746-A758-B95868223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22DF8-1262-4E55-8E33-58A26B976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0C91999-22F2-4444-8E73-B6ECBF8A1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divergence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70D595D-282A-4BB0-AAA5-C2F5BCB4A796}"/>
              </a:ext>
            </a:extLst>
          </p:cNvPr>
          <p:cNvGrpSpPr/>
          <p:nvPr/>
        </p:nvGrpSpPr>
        <p:grpSpPr>
          <a:xfrm>
            <a:off x="7477498" y="3400886"/>
            <a:ext cx="4241244" cy="3138026"/>
            <a:chOff x="1049402" y="1543142"/>
            <a:chExt cx="4241244" cy="31380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211CB0D9-1C58-43B2-96B4-193CF9857197}"/>
                    </a:ext>
                  </a:extLst>
                </p:cNvPr>
                <p:cNvSpPr/>
                <p:nvPr/>
              </p:nvSpPr>
              <p:spPr>
                <a:xfrm>
                  <a:off x="1876292" y="2723633"/>
                  <a:ext cx="736618" cy="743832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≤2 </m:t>
                        </m:r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211CB0D9-1C58-43B2-96B4-193CF98571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6292" y="2723633"/>
                  <a:ext cx="736618" cy="743832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BD1B6D2-3087-444F-BB7B-CD3B33E27ADD}"/>
                </a:ext>
              </a:extLst>
            </p:cNvPr>
            <p:cNvSpPr/>
            <p:nvPr/>
          </p:nvSpPr>
          <p:spPr>
            <a:xfrm>
              <a:off x="3849817" y="2723633"/>
              <a:ext cx="736618" cy="74383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2FA2B51F-8236-441E-BEE3-350040E4E20D}"/>
                    </a:ext>
                  </a:extLst>
                </p:cNvPr>
                <p:cNvSpPr/>
                <p:nvPr/>
              </p:nvSpPr>
              <p:spPr>
                <a:xfrm>
                  <a:off x="3898085" y="2775366"/>
                  <a:ext cx="640080" cy="64008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≤2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2FA2B51F-8236-441E-BEE3-350040E4E20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8085" y="2775366"/>
                  <a:ext cx="640080" cy="64008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Connector: Curved 8">
              <a:extLst>
                <a:ext uri="{FF2B5EF4-FFF2-40B4-BE49-F238E27FC236}">
                  <a16:creationId xmlns:a16="http://schemas.microsoft.com/office/drawing/2014/main" id="{E476CB9F-06B4-4426-9727-80C03D914ED9}"/>
                </a:ext>
              </a:extLst>
            </p:cNvPr>
            <p:cNvCxnSpPr>
              <a:cxnSpLocks/>
              <a:stCxn id="6" idx="0"/>
              <a:endCxn id="7" idx="0"/>
            </p:cNvCxnSpPr>
            <p:nvPr/>
          </p:nvCxnSpPr>
          <p:spPr>
            <a:xfrm rot="5400000" flipH="1" flipV="1">
              <a:off x="3231363" y="1736871"/>
              <a:ext cx="12700" cy="1973525"/>
            </a:xfrm>
            <a:prstGeom prst="curvedConnector3">
              <a:avLst>
                <a:gd name="adj1" fmla="val 5374102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Connector: Curved 9">
              <a:extLst>
                <a:ext uri="{FF2B5EF4-FFF2-40B4-BE49-F238E27FC236}">
                  <a16:creationId xmlns:a16="http://schemas.microsoft.com/office/drawing/2014/main" id="{52F43EDD-B121-4937-B719-D4105C53EC0C}"/>
                </a:ext>
              </a:extLst>
            </p:cNvPr>
            <p:cNvCxnSpPr>
              <a:cxnSpLocks/>
              <a:stCxn id="7" idx="4"/>
              <a:endCxn id="6" idx="4"/>
            </p:cNvCxnSpPr>
            <p:nvPr/>
          </p:nvCxnSpPr>
          <p:spPr>
            <a:xfrm rot="5400000">
              <a:off x="3231364" y="2480703"/>
              <a:ext cx="12700" cy="1973525"/>
            </a:xfrm>
            <a:prstGeom prst="curvedConnector3">
              <a:avLst>
                <a:gd name="adj1" fmla="val 3302189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Connector: Curved 10">
              <a:extLst>
                <a:ext uri="{FF2B5EF4-FFF2-40B4-BE49-F238E27FC236}">
                  <a16:creationId xmlns:a16="http://schemas.microsoft.com/office/drawing/2014/main" id="{64FD189F-D10B-4472-9DE1-1085A89CB006}"/>
                </a:ext>
              </a:extLst>
            </p:cNvPr>
            <p:cNvCxnSpPr>
              <a:cxnSpLocks/>
              <a:stCxn id="7" idx="7"/>
              <a:endCxn id="7" idx="5"/>
            </p:cNvCxnSpPr>
            <p:nvPr/>
          </p:nvCxnSpPr>
          <p:spPr>
            <a:xfrm rot="16200000" flipH="1">
              <a:off x="4215576" y="3095549"/>
              <a:ext cx="525968" cy="12700"/>
            </a:xfrm>
            <a:prstGeom prst="curvedConnector5">
              <a:avLst>
                <a:gd name="adj1" fmla="val -43463"/>
                <a:gd name="adj2" fmla="val 6750732"/>
                <a:gd name="adj3" fmla="val 143463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A6F12D8-9DAD-427C-90F5-944854ECAFBE}"/>
                    </a:ext>
                  </a:extLst>
                </p:cNvPr>
                <p:cNvSpPr txBox="1"/>
                <p:nvPr/>
              </p:nvSpPr>
              <p:spPr>
                <a:xfrm>
                  <a:off x="2654618" y="1543142"/>
                  <a:ext cx="121956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𝑔𝑟𝑒𝑒𝑛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≥1</m:t>
                        </m:r>
                      </m:oMath>
                    </m:oMathPara>
                  </a14:m>
                  <a:endParaRPr lang="en-US" sz="1400" b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≔0</m:t>
                        </m:r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A6F12D8-9DAD-427C-90F5-944854ECAF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4618" y="1543142"/>
                  <a:ext cx="1219565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64C42B8-81E4-4BE9-B60F-BDE68EC1AE76}"/>
                    </a:ext>
                  </a:extLst>
                </p:cNvPr>
                <p:cNvSpPr txBox="1"/>
                <p:nvPr/>
              </p:nvSpPr>
              <p:spPr>
                <a:xfrm>
                  <a:off x="2983028" y="3531667"/>
                  <a:ext cx="50937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𝑟𝑒𝑑</m:t>
                        </m:r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64C42B8-81E4-4BE9-B60F-BDE68EC1AE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3028" y="3531667"/>
                  <a:ext cx="509370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Connector: Curved 13">
              <a:extLst>
                <a:ext uri="{FF2B5EF4-FFF2-40B4-BE49-F238E27FC236}">
                  <a16:creationId xmlns:a16="http://schemas.microsoft.com/office/drawing/2014/main" id="{15E9868D-298E-43D5-B71E-02023EEAE213}"/>
                </a:ext>
              </a:extLst>
            </p:cNvPr>
            <p:cNvCxnSpPr>
              <a:cxnSpLocks/>
              <a:stCxn id="7" idx="4"/>
              <a:endCxn id="6" idx="4"/>
            </p:cNvCxnSpPr>
            <p:nvPr/>
          </p:nvCxnSpPr>
          <p:spPr>
            <a:xfrm rot="5400000">
              <a:off x="3231364" y="2480703"/>
              <a:ext cx="12700" cy="1973525"/>
            </a:xfrm>
            <a:prstGeom prst="curvedConnector3">
              <a:avLst>
                <a:gd name="adj1" fmla="val 744605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552AB70-CDD3-42A3-8EBC-438EC289EF2C}"/>
                    </a:ext>
                  </a:extLst>
                </p:cNvPr>
                <p:cNvSpPr txBox="1"/>
                <p:nvPr/>
              </p:nvSpPr>
              <p:spPr>
                <a:xfrm>
                  <a:off x="2553671" y="4373391"/>
                  <a:ext cx="139709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𝑔𝑟𝑒𝑒𝑛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&lt;1</m:t>
                        </m:r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552AB70-CDD3-42A3-8EBC-438EC289E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53671" y="4373391"/>
                  <a:ext cx="1397091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Connector: Curved 15">
              <a:extLst>
                <a:ext uri="{FF2B5EF4-FFF2-40B4-BE49-F238E27FC236}">
                  <a16:creationId xmlns:a16="http://schemas.microsoft.com/office/drawing/2014/main" id="{BDD77BD0-C402-477A-AFF3-DC100284FF2E}"/>
                </a:ext>
              </a:extLst>
            </p:cNvPr>
            <p:cNvCxnSpPr>
              <a:cxnSpLocks/>
              <a:stCxn id="6" idx="2"/>
              <a:endCxn id="6" idx="3"/>
            </p:cNvCxnSpPr>
            <p:nvPr/>
          </p:nvCxnSpPr>
          <p:spPr>
            <a:xfrm rot="10800000" flipH="1" flipV="1">
              <a:off x="1876291" y="3095549"/>
              <a:ext cx="107875" cy="262984"/>
            </a:xfrm>
            <a:prstGeom prst="curvedConnector4">
              <a:avLst>
                <a:gd name="adj1" fmla="val -211912"/>
                <a:gd name="adj2" fmla="val 140796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BCBBE8B-B9A5-4DEE-B0FC-8BDCB1C643BA}"/>
                    </a:ext>
                  </a:extLst>
                </p:cNvPr>
                <p:cNvSpPr txBox="1"/>
                <p:nvPr/>
              </p:nvSpPr>
              <p:spPr>
                <a:xfrm>
                  <a:off x="1318652" y="3415446"/>
                  <a:ext cx="50937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𝑟𝑒𝑑</m:t>
                        </m:r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BCBBE8B-B9A5-4DEE-B0FC-8BDCB1C643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652" y="3415446"/>
                  <a:ext cx="509370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4FDFB634-B009-491C-BF71-563C3A1B8D47}"/>
                </a:ext>
              </a:extLst>
            </p:cNvPr>
            <p:cNvCxnSpPr>
              <a:cxnSpLocks/>
              <a:stCxn id="6" idx="2"/>
              <a:endCxn id="6" idx="1"/>
            </p:cNvCxnSpPr>
            <p:nvPr/>
          </p:nvCxnSpPr>
          <p:spPr>
            <a:xfrm rot="10800000" flipH="1">
              <a:off x="1876291" y="2832565"/>
              <a:ext cx="107875" cy="262984"/>
            </a:xfrm>
            <a:prstGeom prst="curvedConnector4">
              <a:avLst>
                <a:gd name="adj1" fmla="val -211912"/>
                <a:gd name="adj2" fmla="val 165811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AFCB8CB-16B0-4682-AFD6-51CBD95F9E15}"/>
                    </a:ext>
                  </a:extLst>
                </p:cNvPr>
                <p:cNvSpPr txBox="1"/>
                <p:nvPr/>
              </p:nvSpPr>
              <p:spPr>
                <a:xfrm>
                  <a:off x="1049402" y="2367420"/>
                  <a:ext cx="119519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𝑔𝑟𝑒𝑒𝑛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&lt;1</m:t>
                        </m:r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AFCB8CB-16B0-4682-AFD6-51CBD95F9E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9402" y="2367420"/>
                  <a:ext cx="1195199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57141D5-EF00-41C4-BE4A-7C7571DA7909}"/>
                    </a:ext>
                  </a:extLst>
                </p:cNvPr>
                <p:cNvSpPr txBox="1"/>
                <p:nvPr/>
              </p:nvSpPr>
              <p:spPr>
                <a:xfrm>
                  <a:off x="3985580" y="2198795"/>
                  <a:ext cx="1305066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𝑔𝑟𝑒𝑒𝑛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57141D5-EF00-41C4-BE4A-7C7571DA79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5580" y="2198795"/>
                  <a:ext cx="1305066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7D712E1-700E-4713-800D-4DF17A57F5A7}"/>
                </a:ext>
              </a:extLst>
            </p:cNvPr>
            <p:cNvCxnSpPr/>
            <p:nvPr/>
          </p:nvCxnSpPr>
          <p:spPr>
            <a:xfrm>
              <a:off x="4344816" y="2228821"/>
              <a:ext cx="0" cy="5075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B029BD9-1FD1-428F-8EBE-CC43EA8B4928}"/>
                </a:ext>
              </a:extLst>
            </p:cNvPr>
            <p:cNvCxnSpPr/>
            <p:nvPr/>
          </p:nvCxnSpPr>
          <p:spPr>
            <a:xfrm>
              <a:off x="2177097" y="2222471"/>
              <a:ext cx="0" cy="5075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C7B2BBC-44CA-486C-A563-FDD503FCE181}"/>
                    </a:ext>
                  </a:extLst>
                </p:cNvPr>
                <p:cNvSpPr txBox="1"/>
                <p:nvPr/>
              </p:nvSpPr>
              <p:spPr>
                <a:xfrm>
                  <a:off x="1779456" y="1883916"/>
                  <a:ext cx="875162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𝑟𝑒𝑑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C7B2BBC-44CA-486C-A563-FDD503FCE1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9456" y="1883916"/>
                  <a:ext cx="875162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3560CDC-33A0-4769-A6EF-0AA4C8747D9A}"/>
                  </a:ext>
                </a:extLst>
              </p:cNvPr>
              <p:cNvSpPr txBox="1"/>
              <p:nvPr/>
            </p:nvSpPr>
            <p:spPr>
              <a:xfrm>
                <a:off x="117988" y="3429000"/>
                <a:ext cx="7575505" cy="214930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457200" indent="-457200">
                  <a:lnSpc>
                    <a:spcPct val="90000"/>
                  </a:lnSpc>
                  <a:spcBef>
                    <a:spcPts val="1000"/>
                  </a:spcBef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defRPr sz="2600">
                    <a:latin typeface="Cambria" panose="02040503050406030204" pitchFamily="18" charset="0"/>
                    <a:ea typeface="Cambria" panose="02040503050406030204" pitchFamily="18" charset="0"/>
                  </a:defRPr>
                </a:lvl1pPr>
                <a:lvl2pPr marL="685800" lvl="1" indent="-274320">
                  <a:lnSpc>
                    <a:spcPct val="90000"/>
                  </a:lnSpc>
                  <a:spcBef>
                    <a:spcPts val="500"/>
                  </a:spcBef>
                  <a:buClr>
                    <a:srgbClr val="FFA3A3"/>
                  </a:buClr>
                  <a:buSzPct val="80000"/>
                  <a:buFont typeface="Wingdings 3" panose="05040102010807070707" pitchFamily="18" charset="2"/>
                  <a:buChar char=""/>
                  <a:defRPr sz="2400" b="0" i="1">
                    <a:latin typeface="Cambria Math" panose="02040503050406030204" pitchFamily="18" charset="0"/>
                    <a:ea typeface="Cambria" panose="02040503050406030204" pitchFamily="18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Clr>
                    <a:srgbClr val="FF9797"/>
                  </a:buClr>
                  <a:buSzPct val="75000"/>
                  <a:buFont typeface="Wingdings 3" panose="05040102010807070707" pitchFamily="18" charset="2"/>
                  <a:buChar char=""/>
                  <a:defRPr sz="2000">
                    <a:latin typeface="Cambria" panose="02040503050406030204" pitchFamily="18" charset="0"/>
                    <a:ea typeface="Cambria" panose="02040503050406030204" pitchFamily="18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latin typeface="Cambria" panose="02040503050406030204" pitchFamily="18" charset="0"/>
                    <a:ea typeface="Cambria" panose="02040503050406030204" pitchFamily="18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latin typeface="Cambria" panose="02040503050406030204" pitchFamily="18" charset="0"/>
                    <a:ea typeface="Cambria" panose="02040503050406030204" pitchFamily="18" charset="0"/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sz="2400" dirty="0"/>
                  <a:t>Such infinite fragments are called time-convergent</a:t>
                </a:r>
              </a:p>
              <a:p>
                <a:r>
                  <a:rPr lang="en-US" sz="2400" dirty="0"/>
                  <a:t>Time-convergence not natural as time should progress!</a:t>
                </a:r>
              </a:p>
              <a:p>
                <a:r>
                  <a:rPr lang="en-US" sz="2400" dirty="0"/>
                  <a:t>Time convergent path in automaton: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𝑔𝑟𝑒𝑒𝑛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i="0" dirty="0"/>
                  <a:t>first appears at time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/>
                  <a:t>, </a:t>
                </a:r>
                <a:r>
                  <a:rPr lang="en-US" sz="2200" i="0" dirty="0"/>
                  <a:t>then 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,⋯</m:t>
                    </m:r>
                  </m:oMath>
                </a14:m>
                <a:r>
                  <a:rPr lang="en-US" sz="2200" dirty="0"/>
                  <a:t> 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3560CDC-33A0-4769-A6EF-0AA4C8747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88" y="3429000"/>
                <a:ext cx="7575505" cy="2149306"/>
              </a:xfrm>
              <a:prstGeom prst="rect">
                <a:avLst/>
              </a:prstGeom>
              <a:blipFill>
                <a:blip r:embed="rId11"/>
                <a:stretch>
                  <a:fillRect l="-644" t="-5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5971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DE6EAB3-BB35-4A6B-9A45-3261F2394D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1"/>
                <a:ext cx="11699087" cy="2696755"/>
              </a:xfrm>
            </p:spPr>
            <p:txBody>
              <a:bodyPr/>
              <a:lstStyle/>
              <a:p>
                <a:r>
                  <a:rPr lang="en-US" dirty="0"/>
                  <a:t>Infinite path fragment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𝑧𝑒𝑛𝑜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if it is time-convergent and infinitely many input symbols are processed by the automaton</a:t>
                </a:r>
              </a:p>
              <a:p>
                <a:r>
                  <a:rPr lang="en-US" dirty="0"/>
                  <a:t>In automaton below, you can keep processing symbols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in any order without time elapsing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DE6EAB3-BB35-4A6B-9A45-3261F2394D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1"/>
                <a:ext cx="11699087" cy="2696755"/>
              </a:xfrm>
              <a:blipFill>
                <a:blip r:embed="rId2"/>
                <a:stretch>
                  <a:fillRect l="-521" t="-3620" r="-1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941C98-15CA-4157-A1F0-71229BCCE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995B3-E945-41BA-8D43-371BDAE3F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30F6648-6E32-4000-8264-55B26A9AF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Zeno paths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23706A4-331E-4416-A236-3D471628EB4F}"/>
              </a:ext>
            </a:extLst>
          </p:cNvPr>
          <p:cNvGrpSpPr/>
          <p:nvPr/>
        </p:nvGrpSpPr>
        <p:grpSpPr>
          <a:xfrm>
            <a:off x="2693739" y="3980875"/>
            <a:ext cx="5025487" cy="1109739"/>
            <a:chOff x="2912104" y="3107418"/>
            <a:chExt cx="5025487" cy="11097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740A50CC-F808-4998-84F2-8A9C75147849}"/>
                    </a:ext>
                  </a:extLst>
                </p:cNvPr>
                <p:cNvSpPr/>
                <p:nvPr/>
              </p:nvSpPr>
              <p:spPr>
                <a:xfrm>
                  <a:off x="4844681" y="3107418"/>
                  <a:ext cx="1160334" cy="1109739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≤2 </m:t>
                        </m:r>
                      </m:oMath>
                    </m:oMathPara>
                  </a14:m>
                  <a:endParaRPr lang="en-US" sz="2000" b="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740A50CC-F808-4998-84F2-8A9C751478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4681" y="3107418"/>
                  <a:ext cx="1160334" cy="1109739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4C0DA366-DC76-4400-BB69-24245DA19EFC}"/>
                </a:ext>
              </a:extLst>
            </p:cNvPr>
            <p:cNvCxnSpPr>
              <a:stCxn id="6" idx="7"/>
              <a:endCxn id="6" idx="5"/>
            </p:cNvCxnSpPr>
            <p:nvPr/>
          </p:nvCxnSpPr>
          <p:spPr>
            <a:xfrm rot="16200000" flipH="1">
              <a:off x="5442736" y="3662287"/>
              <a:ext cx="784703" cy="12700"/>
            </a:xfrm>
            <a:prstGeom prst="curvedConnector5">
              <a:avLst>
                <a:gd name="adj1" fmla="val -29132"/>
                <a:gd name="adj2" fmla="val 9598480"/>
                <a:gd name="adj3" fmla="val 129132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B95AA98-B81D-4871-8D9E-32C83DBACD49}"/>
                    </a:ext>
                  </a:extLst>
                </p:cNvPr>
                <p:cNvSpPr txBox="1"/>
                <p:nvPr/>
              </p:nvSpPr>
              <p:spPr>
                <a:xfrm>
                  <a:off x="6989071" y="3266049"/>
                  <a:ext cx="948520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&gt;1 </m:t>
                        </m:r>
                      </m:oMath>
                    </m:oMathPara>
                  </a14:m>
                  <a:endParaRPr lang="en-US" sz="18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B95AA98-B81D-4871-8D9E-32C83DBACD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9071" y="3266049"/>
                  <a:ext cx="948520" cy="6463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Connector: Curved 10">
              <a:extLst>
                <a:ext uri="{FF2B5EF4-FFF2-40B4-BE49-F238E27FC236}">
                  <a16:creationId xmlns:a16="http://schemas.microsoft.com/office/drawing/2014/main" id="{B7D2001A-24FF-42F9-8461-B1ABB2DE7297}"/>
                </a:ext>
              </a:extLst>
            </p:cNvPr>
            <p:cNvCxnSpPr>
              <a:cxnSpLocks/>
              <a:stCxn id="6" idx="3"/>
              <a:endCxn id="6" idx="1"/>
            </p:cNvCxnSpPr>
            <p:nvPr/>
          </p:nvCxnSpPr>
          <p:spPr>
            <a:xfrm rot="5400000" flipH="1">
              <a:off x="4622256" y="3662288"/>
              <a:ext cx="784703" cy="12700"/>
            </a:xfrm>
            <a:prstGeom prst="curvedConnector5">
              <a:avLst>
                <a:gd name="adj1" fmla="val -29132"/>
                <a:gd name="adj2" fmla="val 9598480"/>
                <a:gd name="adj3" fmla="val 129132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5331F8B-0DC1-47F5-88CB-C30040877EF4}"/>
                    </a:ext>
                  </a:extLst>
                </p:cNvPr>
                <p:cNvSpPr txBox="1"/>
                <p:nvPr/>
              </p:nvSpPr>
              <p:spPr>
                <a:xfrm>
                  <a:off x="2912104" y="3339121"/>
                  <a:ext cx="948520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&gt;1 </m:t>
                        </m:r>
                      </m:oMath>
                    </m:oMathPara>
                  </a14:m>
                  <a:endParaRPr lang="en-US" sz="18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5331F8B-0DC1-47F5-88CB-C30040877E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2104" y="3339121"/>
                  <a:ext cx="948520" cy="6463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18202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EDFCDA-960C-40BD-920A-8512D1D42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2176818"/>
            <a:ext cx="11699087" cy="3507222"/>
          </a:xfrm>
        </p:spPr>
        <p:txBody>
          <a:bodyPr/>
          <a:lstStyle/>
          <a:p>
            <a:r>
              <a:rPr lang="en-US" dirty="0"/>
              <a:t>Assume that we only analyze time-divergent paths</a:t>
            </a:r>
          </a:p>
          <a:p>
            <a:r>
              <a:rPr lang="en-US" dirty="0"/>
              <a:t>Assume that no state is a “</a:t>
            </a:r>
            <a:r>
              <a:rPr lang="en-US" dirty="0" err="1"/>
              <a:t>timelock</a:t>
            </a:r>
            <a:r>
              <a:rPr lang="en-US" dirty="0"/>
              <a:t>” (i.e. only paths from the state are time-convergent)</a:t>
            </a:r>
          </a:p>
          <a:p>
            <a:r>
              <a:rPr lang="en-US" dirty="0"/>
              <a:t>Assume that all states are </a:t>
            </a:r>
            <a:r>
              <a:rPr lang="en-US" dirty="0" err="1"/>
              <a:t>nonzeno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F5CCC1-B71F-40C0-98F3-746BF7993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496C9-572B-4B46-9E88-22ED48DDF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36C9A9-83B8-475A-B70B-59362AA8A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automata model sanity checking</a:t>
            </a:r>
          </a:p>
        </p:txBody>
      </p:sp>
    </p:spTree>
    <p:extLst>
      <p:ext uri="{BB962C8B-B14F-4D97-AF65-F5344CB8AC3E}">
        <p14:creationId xmlns:p14="http://schemas.microsoft.com/office/powerpoint/2010/main" val="1121954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5EB572-8DD0-43A8-8F0F-2BCB38B02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Informally, paths where time elapses</a:t>
            </a:r>
          </a:p>
          <a:p>
            <a:r>
              <a:rPr lang="en-US" dirty="0"/>
              <a:t>Note: duration of discrete transitions is zero</a:t>
            </a:r>
          </a:p>
          <a:p>
            <a:endParaRPr lang="en-US" dirty="0"/>
          </a:p>
          <a:p>
            <a:r>
              <a:rPr lang="en-US" dirty="0"/>
              <a:t>Analysis of timed automata only considers time-divergent paths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7FFB9-7DCD-4E30-9C70-C111E6749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0A433-52A8-45B0-8E44-154A208C3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B78E57-250A-4418-8FD2-7CBD6EEE9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Time-divergent paths</a:t>
            </a:r>
          </a:p>
        </p:txBody>
      </p:sp>
    </p:spTree>
    <p:extLst>
      <p:ext uri="{BB962C8B-B14F-4D97-AF65-F5344CB8AC3E}">
        <p14:creationId xmlns:p14="http://schemas.microsoft.com/office/powerpoint/2010/main" val="87510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267103-F3E5-496F-A7E2-FE87D4B8A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Reachability/Emptiness </a:t>
            </a:r>
          </a:p>
          <a:p>
            <a:r>
              <a:rPr lang="en-US" dirty="0"/>
              <a:t>Universality: not decidable</a:t>
            </a:r>
          </a:p>
          <a:p>
            <a:r>
              <a:rPr lang="en-US" dirty="0"/>
              <a:t>Language inclusion: not decidable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63EA8-9E3C-41EA-A350-55D3A0FF1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340DF-1DEF-40E1-A784-533ED1369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B372736-CC9A-4043-A4BD-E08809A90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problems for timed automata</a:t>
            </a:r>
          </a:p>
        </p:txBody>
      </p:sp>
    </p:spTree>
    <p:extLst>
      <p:ext uri="{BB962C8B-B14F-4D97-AF65-F5344CB8AC3E}">
        <p14:creationId xmlns:p14="http://schemas.microsoft.com/office/powerpoint/2010/main" val="725442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F54535-1577-4B87-9118-F2FBC0296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that emptiness checking for automata can be generally solved by checking reachability of a certain state </a:t>
            </a:r>
          </a:p>
          <a:p>
            <a:pPr lvl="1"/>
            <a:r>
              <a:rPr lang="en-US" dirty="0"/>
              <a:t>final state for finite length timed-words</a:t>
            </a:r>
          </a:p>
          <a:p>
            <a:pPr lvl="1"/>
            <a:r>
              <a:rPr lang="en-US" dirty="0"/>
              <a:t>accepting cycle for infinite length timed-words, etc.</a:t>
            </a:r>
          </a:p>
          <a:p>
            <a:pPr lvl="1"/>
            <a:endParaRPr lang="en-US" dirty="0"/>
          </a:p>
          <a:p>
            <a:r>
              <a:rPr lang="en-US" dirty="0"/>
              <a:t>How do we solve reachability?</a:t>
            </a:r>
          </a:p>
          <a:p>
            <a:pPr lvl="1"/>
            <a:r>
              <a:rPr lang="en-US" dirty="0"/>
              <a:t>For finite-state LTS, we can solve it by computing least fixpoint of the “successor” relation</a:t>
            </a:r>
          </a:p>
          <a:p>
            <a:pPr lvl="1"/>
            <a:r>
              <a:rPr lang="en-US" dirty="0"/>
              <a:t>But timed automata configuration-space is </a:t>
            </a:r>
            <a:r>
              <a:rPr lang="en-US" b="1" dirty="0"/>
              <a:t>not finite!</a:t>
            </a:r>
          </a:p>
          <a:p>
            <a:pPr lvl="1"/>
            <a:endParaRPr lang="en-US" i="1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4165D5-9FAC-44E8-A157-2026DFB77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0FCDB-133A-4830-ACAB-7AB206578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40DA130-B0EB-498B-8824-7CE8B398A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Reachability</a:t>
            </a:r>
          </a:p>
        </p:txBody>
      </p:sp>
    </p:spTree>
    <p:extLst>
      <p:ext uri="{BB962C8B-B14F-4D97-AF65-F5344CB8AC3E}">
        <p14:creationId xmlns:p14="http://schemas.microsoft.com/office/powerpoint/2010/main" val="1495276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7B921F8-1045-4C37-A98C-E4AE8B3763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For any given 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ℚ</m:t>
                        </m:r>
                      </m:sub>
                    </m:sSub>
                  </m:oMath>
                </a14:m>
                <a:r>
                  <a:rPr lang="en-US" dirty="0"/>
                  <a:t>, you can always obtain a 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ℕ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 which all clock constraints are (non-negative) integer constants,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ℚ</m:t>
                        </m:r>
                      </m:sub>
                    </m:sSub>
                  </m:oMath>
                </a14:m>
                <a:r>
                  <a:rPr lang="en-US" dirty="0"/>
                  <a:t> is empty iff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ℕ</m:t>
                        </m:r>
                      </m:sub>
                    </m:sSub>
                  </m:oMath>
                </a14:m>
                <a:r>
                  <a:rPr lang="en-US" dirty="0"/>
                  <a:t> is empty</a:t>
                </a:r>
              </a:p>
              <a:p>
                <a:r>
                  <a:rPr lang="en-US" dirty="0"/>
                  <a:t>Main idea:  </a:t>
                </a:r>
              </a:p>
              <a:p>
                <a:pPr lvl="1"/>
                <a:r>
                  <a:rPr lang="en-US" dirty="0"/>
                  <a:t>Multiply all rational constants by suitable rational number to get integer constants</a:t>
                </a:r>
              </a:p>
              <a:p>
                <a:pPr lvl="1"/>
                <a:r>
                  <a:rPr lang="en-US" dirty="0"/>
                  <a:t>Show that there is path correspondence by induction </a:t>
                </a:r>
              </a:p>
              <a:p>
                <a:pPr lvl="1"/>
                <a:r>
                  <a:rPr lang="en-US" dirty="0"/>
                  <a:t>[An important assumption is that constants are encoded in binary]</a:t>
                </a:r>
              </a:p>
              <a:p>
                <a:endParaRPr lang="en-US" dirty="0"/>
              </a:p>
              <a:p>
                <a:r>
                  <a:rPr lang="en-US" dirty="0"/>
                  <a:t>Henceforth,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7B921F8-1045-4C37-A98C-E4AE8B3763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CE2A14-AC28-4F4C-A057-2AD720C38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8E55C-B594-4697-8CAA-D9E56CF99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83472C-393E-4D05-9928-8E3790D63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observation</a:t>
            </a:r>
          </a:p>
        </p:txBody>
      </p:sp>
    </p:spTree>
    <p:extLst>
      <p:ext uri="{BB962C8B-B14F-4D97-AF65-F5344CB8AC3E}">
        <p14:creationId xmlns:p14="http://schemas.microsoft.com/office/powerpoint/2010/main" val="4087539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687400-1392-4647-9FAD-4D280093A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3BAA5-973D-45A9-9277-A7243EEC4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04FD47A-34F0-4FF5-A33B-38B82E936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 graph construction/region automata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8CB048-F9FF-41C3-B287-AE62D0471E64}"/>
              </a:ext>
            </a:extLst>
          </p:cNvPr>
          <p:cNvCxnSpPr/>
          <p:nvPr/>
        </p:nvCxnSpPr>
        <p:spPr>
          <a:xfrm flipV="1">
            <a:off x="1753737" y="3179928"/>
            <a:ext cx="0" cy="2340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1">
                <a:extLst>
                  <a:ext uri="{FF2B5EF4-FFF2-40B4-BE49-F238E27FC236}">
                    <a16:creationId xmlns:a16="http://schemas.microsoft.com/office/drawing/2014/main" id="{FEAA54EF-47F7-4156-8B4D-F0FD819D2E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6680" y="988141"/>
                <a:ext cx="11699087" cy="219178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indent="-4572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defRPr sz="26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1pPr>
                <a:lvl2pPr marL="685800" indent="-27432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FFA3A3"/>
                  </a:buClr>
                  <a:buSzPct val="80000"/>
                  <a:buFont typeface="Wingdings 3" panose="05040102010807070707" pitchFamily="18" charset="2"/>
                  <a:buChar char=""/>
                  <a:defRPr sz="24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FF9797"/>
                  </a:buClr>
                  <a:buSzPct val="75000"/>
                  <a:buFont typeface="Wingdings 3" panose="05040102010807070707" pitchFamily="18" charset="2"/>
                  <a:buChar char=""/>
                  <a:defRPr sz="20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Main idea: Finitely abstract behaviors of a timed automata </a:t>
                </a:r>
                <a:r>
                  <a:rPr lang="en-US" dirty="0" err="1"/>
                  <a:t>s.t.</a:t>
                </a:r>
                <a:r>
                  <a:rPr lang="en-US" dirty="0"/>
                  <a:t> checking reachability of a state in the timed automaton reduces to checking reachability of a state in a finite state automaton</a:t>
                </a:r>
              </a:p>
              <a:p>
                <a:r>
                  <a:rPr lang="en-US" dirty="0"/>
                  <a:t>Define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dirty="0"/>
                  <a:t>, a partitioning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𝕋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dirty="0"/>
                  <a:t> and let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𝒞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𝒢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 a finite set of clock constraints </a:t>
                </a:r>
              </a:p>
            </p:txBody>
          </p:sp>
        </mc:Choice>
        <mc:Fallback xmlns="">
          <p:sp>
            <p:nvSpPr>
              <p:cNvPr id="27" name="Content Placeholder 1">
                <a:extLst>
                  <a:ext uri="{FF2B5EF4-FFF2-40B4-BE49-F238E27FC236}">
                    <a16:creationId xmlns:a16="http://schemas.microsoft.com/office/drawing/2014/main" id="{FEAA54EF-47F7-4156-8B4D-F0FD819D2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80" y="988141"/>
                <a:ext cx="11699087" cy="2191787"/>
              </a:xfrm>
              <a:prstGeom prst="rect">
                <a:avLst/>
              </a:prstGeom>
              <a:blipFill>
                <a:blip r:embed="rId2"/>
                <a:stretch>
                  <a:fillRect l="-521" t="-4444" r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E84129-8A74-4E02-88CD-532E214AFC41}"/>
              </a:ext>
            </a:extLst>
          </p:cNvPr>
          <p:cNvCxnSpPr>
            <a:cxnSpLocks/>
          </p:cNvCxnSpPr>
          <p:nvPr/>
        </p:nvCxnSpPr>
        <p:spPr>
          <a:xfrm flipV="1">
            <a:off x="1753736" y="5513696"/>
            <a:ext cx="32072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43755FE-5161-4C53-B8C9-E432759FE22F}"/>
              </a:ext>
            </a:extLst>
          </p:cNvPr>
          <p:cNvCxnSpPr>
            <a:cxnSpLocks/>
          </p:cNvCxnSpPr>
          <p:nvPr/>
        </p:nvCxnSpPr>
        <p:spPr>
          <a:xfrm flipV="1">
            <a:off x="1753736" y="5513696"/>
            <a:ext cx="3207225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4AC0C0E-17FE-4145-9095-691147196711}"/>
              </a:ext>
            </a:extLst>
          </p:cNvPr>
          <p:cNvCxnSpPr/>
          <p:nvPr/>
        </p:nvCxnSpPr>
        <p:spPr>
          <a:xfrm>
            <a:off x="1753736" y="4469642"/>
            <a:ext cx="3268640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8AA1338-BA65-4A0D-8F12-EE9D47038DD4}"/>
              </a:ext>
            </a:extLst>
          </p:cNvPr>
          <p:cNvCxnSpPr>
            <a:cxnSpLocks/>
          </p:cNvCxnSpPr>
          <p:nvPr/>
        </p:nvCxnSpPr>
        <p:spPr>
          <a:xfrm flipV="1">
            <a:off x="1753736" y="3328732"/>
            <a:ext cx="2436127" cy="2191787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EE91D19-8A39-4ED2-A3B7-13A4341FDAF2}"/>
                  </a:ext>
                </a:extLst>
              </p:cNvPr>
              <p:cNvSpPr txBox="1"/>
              <p:nvPr/>
            </p:nvSpPr>
            <p:spPr>
              <a:xfrm>
                <a:off x="4142095" y="5595032"/>
                <a:ext cx="4884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EE91D19-8A39-4ED2-A3B7-13A4341FD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095" y="5595032"/>
                <a:ext cx="48840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97A58AE-1411-4DE4-8B58-F5B67DE68B61}"/>
                  </a:ext>
                </a:extLst>
              </p:cNvPr>
              <p:cNvSpPr txBox="1"/>
              <p:nvPr/>
            </p:nvSpPr>
            <p:spPr>
              <a:xfrm>
                <a:off x="1810602" y="4543383"/>
                <a:ext cx="4884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97A58AE-1411-4DE4-8B58-F5B67DE68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602" y="4543383"/>
                <a:ext cx="48840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F195317-CD61-4719-BFA0-58A0499A0E87}"/>
                  </a:ext>
                </a:extLst>
              </p:cNvPr>
              <p:cNvSpPr txBox="1"/>
              <p:nvPr/>
            </p:nvSpPr>
            <p:spPr>
              <a:xfrm>
                <a:off x="3211772" y="4701292"/>
                <a:ext cx="4884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F195317-CD61-4719-BFA0-58A0499A0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772" y="4701292"/>
                <a:ext cx="48840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812B606-F34C-45DE-9656-3989E69D16C9}"/>
                  </a:ext>
                </a:extLst>
              </p:cNvPr>
              <p:cNvSpPr txBox="1"/>
              <p:nvPr/>
            </p:nvSpPr>
            <p:spPr>
              <a:xfrm>
                <a:off x="3970038" y="3780909"/>
                <a:ext cx="4884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812B606-F34C-45DE-9656-3989E69D1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038" y="3780909"/>
                <a:ext cx="48840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EC786CD-CEFF-4B74-A980-58734DB1B425}"/>
                  </a:ext>
                </a:extLst>
              </p:cNvPr>
              <p:cNvSpPr txBox="1"/>
              <p:nvPr/>
            </p:nvSpPr>
            <p:spPr>
              <a:xfrm>
                <a:off x="2054803" y="3549202"/>
                <a:ext cx="4884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EC786CD-CEFF-4B74-A980-58734DB1B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803" y="3549202"/>
                <a:ext cx="48840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3D4A233-E276-4FAD-B2E6-317B77A5F854}"/>
                  </a:ext>
                </a:extLst>
              </p:cNvPr>
              <p:cNvSpPr txBox="1"/>
              <p:nvPr/>
            </p:nvSpPr>
            <p:spPr>
              <a:xfrm>
                <a:off x="5083791" y="5520519"/>
                <a:ext cx="4397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3D4A233-E276-4FAD-B2E6-317B77A5F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791" y="5520519"/>
                <a:ext cx="43973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1DF9310-1947-4478-824F-550FE58B601F}"/>
                  </a:ext>
                </a:extLst>
              </p:cNvPr>
              <p:cNvSpPr txBox="1"/>
              <p:nvPr/>
            </p:nvSpPr>
            <p:spPr>
              <a:xfrm>
                <a:off x="1199907" y="2995262"/>
                <a:ext cx="4450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1DF9310-1947-4478-824F-550FE58B6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907" y="2995262"/>
                <a:ext cx="44505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E917565-8D33-494C-8F45-F070B06ADD03}"/>
                  </a:ext>
                </a:extLst>
              </p:cNvPr>
              <p:cNvSpPr txBox="1"/>
              <p:nvPr/>
            </p:nvSpPr>
            <p:spPr>
              <a:xfrm>
                <a:off x="2704289" y="5565690"/>
                <a:ext cx="3400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E917565-8D33-494C-8F45-F070B06AD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289" y="5565690"/>
                <a:ext cx="34001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C4A92DD-DA71-47A1-8114-2E935BF126D7}"/>
                  </a:ext>
                </a:extLst>
              </p:cNvPr>
              <p:cNvSpPr txBox="1"/>
              <p:nvPr/>
            </p:nvSpPr>
            <p:spPr>
              <a:xfrm>
                <a:off x="1197065" y="4239959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C4A92DD-DA71-47A1-8114-2E935BF12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065" y="4239959"/>
                <a:ext cx="36580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DBC8A32-DD1E-4014-A51C-52F52E79F63B}"/>
                  </a:ext>
                </a:extLst>
              </p:cNvPr>
              <p:cNvSpPr txBox="1"/>
              <p:nvPr/>
            </p:nvSpPr>
            <p:spPr>
              <a:xfrm>
                <a:off x="1240694" y="5528293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DBC8A32-DD1E-4014-A51C-52F52E79F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694" y="5528293"/>
                <a:ext cx="36580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46FA510-D804-4CF2-AF0F-8B8B6D143ABA}"/>
              </a:ext>
            </a:extLst>
          </p:cNvPr>
          <p:cNvCxnSpPr>
            <a:cxnSpLocks/>
          </p:cNvCxnSpPr>
          <p:nvPr/>
        </p:nvCxnSpPr>
        <p:spPr>
          <a:xfrm>
            <a:off x="2899052" y="4543383"/>
            <a:ext cx="0" cy="97031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1977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BF9390F-07AA-4585-A79C-096A6712CA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dirty="0"/>
                  <a:t>: partition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dirty="0"/>
                  <a:t> and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 a finite set of clock constraints </a:t>
                </a:r>
              </a:p>
              <a:p>
                <a:r>
                  <a:rPr lang="en-US" dirty="0"/>
                  <a:t>Partitioning </a:t>
                </a:r>
                <a:r>
                  <a:rPr lang="en-US" dirty="0" err="1"/>
                  <a:t>w.r.t.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defines an equivalence relation over the set of valuations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𝒫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iff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⇔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Compatibility conditions: </a:t>
                </a:r>
              </a:p>
              <a:p>
                <a:pPr marL="86868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dirty="0"/>
                  <a:t> is compatible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dirty="0"/>
                  <a:t>, either 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endParaRPr lang="en-US" b="0" dirty="0"/>
              </a:p>
              <a:p>
                <a:pPr marL="411480" lvl="1" indent="0">
                  <a:buNone/>
                </a:pPr>
                <a:r>
                  <a:rPr lang="en-US" sz="2000" dirty="0"/>
                  <a:t>	(valuations that are equivalent, belong to the same region)</a:t>
                </a:r>
                <a:endParaRPr lang="en-US" sz="2000" b="0" dirty="0"/>
              </a:p>
              <a:p>
                <a:pPr marL="868680" lvl="1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dirty="0"/>
                  <a:t> is compatible with elapsing of time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dirty="0"/>
                  <a:t>, if 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:(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⇒(∀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:∃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:r>
                  <a:rPr lang="en-US" b="0" dirty="0">
                    <a:latin typeface="Cambria Math" panose="02040503050406030204" pitchFamily="18" charset="0"/>
                  </a:rPr>
                  <a:t>(elapsing of time does not distinguish equivalent valuations)</a:t>
                </a:r>
              </a:p>
              <a:p>
                <a:pPr marL="868680" lvl="1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dirty="0"/>
                  <a:t> is compatible with resets if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1211580" lvl="2" indent="-34290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𝒫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if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←0</m:t>
                                </m:r>
                              </m:e>
                            </m:d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≠∅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then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←0</m:t>
                            </m:r>
                          </m:e>
                        </m:d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411480" lvl="1" indent="0">
                  <a:buNone/>
                </a:pPr>
                <a:r>
                  <a:rPr lang="en-US" sz="2000" dirty="0"/>
                  <a:t>	(resetting a clock does not distinguish equivalent valuations)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BF9390F-07AA-4585-A79C-096A6712CA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687400-1392-4647-9FAD-4D280093A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3BAA5-973D-45A9-9277-A7243EEC4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04FD47A-34F0-4FF5-A33B-38B82E936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 graph construction/region automata</a:t>
            </a:r>
          </a:p>
        </p:txBody>
      </p:sp>
    </p:spTree>
    <p:extLst>
      <p:ext uri="{BB962C8B-B14F-4D97-AF65-F5344CB8AC3E}">
        <p14:creationId xmlns:p14="http://schemas.microsoft.com/office/powerpoint/2010/main" val="9270761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FCF8AAE-7B6B-4F28-9AC9-8BAFDEB04E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651379"/>
                <a:ext cx="11699087" cy="4032661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dirty="0"/>
                  <a:t> = greatest integer less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Note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fract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𝑓𝑟𝑎𝑐𝑡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dirty="0"/>
                  <a:t> = fractional part 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2.3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.3=</m:t>
                    </m:r>
                    <m:d>
                      <m:dPr>
                        <m:begChr m:val="⌊"/>
                        <m:endChr m:val="⌋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2.3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+0.3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FCF8AAE-7B6B-4F28-9AC9-8BAFDEB04E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651379"/>
                <a:ext cx="11699087" cy="4032661"/>
              </a:xfrm>
              <a:blipFill>
                <a:blip r:embed="rId2"/>
                <a:stretch>
                  <a:fillRect l="-521" t="-2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B7CF62-A8AA-489C-B89A-7860E4C58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25C3B-A61C-47CE-9126-A120947C5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A7556F-17B1-45EB-BF87-996CF9475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</a:t>
            </a:r>
          </a:p>
        </p:txBody>
      </p:sp>
    </p:spTree>
    <p:extLst>
      <p:ext uri="{BB962C8B-B14F-4D97-AF65-F5344CB8AC3E}">
        <p14:creationId xmlns:p14="http://schemas.microsoft.com/office/powerpoint/2010/main" val="13054414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69FA616-F2E5-4B36-B17C-3EC7AFD958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Easy case: Diagonal-free constraints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 the largest integers appearing in clock constraints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≡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iff 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either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and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411480" lvl="1" indent="0">
                  <a:buNone/>
                </a:pPr>
                <a:r>
                  <a:rPr lang="en-US" b="0" i="1" dirty="0">
                    <a:latin typeface="Cambria Math" panose="02040503050406030204" pitchFamily="18" charset="0"/>
                  </a:rPr>
                  <a:t>			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𝑓𝑟𝑎𝑐𝑡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𝑓𝑟𝑎𝑐𝑡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𝑓𝑟𝑎𝑐𝑡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𝑓𝑟𝑎𝑐𝑡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411480" lvl="1" indent="0">
                  <a:buNone/>
                </a:pPr>
                <a:r>
                  <a:rPr lang="en-US" b="0" i="1" dirty="0">
                    <a:latin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𝑓𝑟𝑎𝑐𝑡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𝑓𝑟𝑎𝑐𝑡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69FA616-F2E5-4B36-B17C-3EC7AFD958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 r="-1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3EECE4-B953-46E9-B0B2-F4C86E938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C6F18-EB35-457B-9EA9-3D51C694E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97A339A-D1EB-45F4-AF7A-583123B3C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Constructing region (graph) automaton of a timed automaton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554177-1C4F-EC98-5442-7D0513DFC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3671" y="4509891"/>
            <a:ext cx="2528326" cy="151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8675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158E7FF-3B26-4837-89FE-EA7EBE84D0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1.3,2.3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≡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(1.4,2.4)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1.3,0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≡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1.9,0</m:t>
                        </m:r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5,6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≡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(8,3.2)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Not equivalent: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1.3,2.2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≢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(1.1,2.4)</m:t>
                    </m:r>
                  </m:oMath>
                </a14:m>
                <a:r>
                  <a:rPr lang="en-US" dirty="0"/>
                  <a:t> (these are not on the same side of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dirty="0"/>
                  <a:t> line)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158E7FF-3B26-4837-89FE-EA7EBE84D0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8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34F1C5-9437-4640-9933-E603FF0BB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1CD35-DEB6-487C-B383-C5C61A4D4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DCFB1F4-065C-4E84-8BC9-5A29CEA69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equivalent clock evaluations</a:t>
            </a:r>
          </a:p>
        </p:txBody>
      </p:sp>
    </p:spTree>
    <p:extLst>
      <p:ext uri="{BB962C8B-B14F-4D97-AF65-F5344CB8AC3E}">
        <p14:creationId xmlns:p14="http://schemas.microsoft.com/office/powerpoint/2010/main" val="1408521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CBE98D-814E-42B8-A17F-593890CF6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A53F2-61BD-4766-A6CA-1D4A16B65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AE5260-C9E4-4E7A-8548-97DCA5C13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region graph construction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1E2168-97E1-4486-834D-51CFD2927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637" y="1924050"/>
            <a:ext cx="5038725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054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0AACED4-18FA-463F-B8D4-50D68A8963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808328"/>
                <a:ext cx="11699087" cy="3875712"/>
              </a:xfrm>
            </p:spPr>
            <p:txBody>
              <a:bodyPr/>
              <a:lstStyle/>
              <a:p>
                <a:r>
                  <a:rPr lang="en-US" b="0" dirty="0">
                    <a:latin typeface="Cambria Math" panose="02040503050406030204" pitchFamily="18" charset="0"/>
                  </a:rPr>
                  <a:t>Region graph: automaton with regions as states, and </a:t>
                </a:r>
                <a:r>
                  <a:rPr lang="en-US" dirty="0">
                    <a:latin typeface="Cambria Math" panose="02040503050406030204" pitchFamily="18" charset="0"/>
                  </a:rPr>
                  <a:t>2 kinds of transitions: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:  reset transition, 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∉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0      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eqArr>
                      </m:e>
                    </m:d>
                  </m:oMath>
                </a14:m>
                <a:endParaRPr lang="en-US" b="0" dirty="0">
                  <a:latin typeface="Cambria Math" panose="02040503050406030204" pitchFamily="18" charset="0"/>
                </a:endParaRPr>
              </a:p>
              <a:p>
                <a:pPr lvl="1"/>
                <a:endParaRPr lang="en-US" b="0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 : time elapse: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0AACED4-18FA-463F-B8D4-50D68A8963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808328"/>
                <a:ext cx="11699087" cy="3875712"/>
              </a:xfrm>
              <a:blipFill>
                <a:blip r:embed="rId2"/>
                <a:stretch>
                  <a:fillRect l="-521" t="-2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9FCB8E-7505-44ED-857D-1A993C88F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79978-EDB0-4E91-B113-639A7931B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965EC-8F3B-4E75-B2F8-722002511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 graph</a:t>
            </a:r>
          </a:p>
        </p:txBody>
      </p:sp>
    </p:spTree>
    <p:extLst>
      <p:ext uri="{BB962C8B-B14F-4D97-AF65-F5344CB8AC3E}">
        <p14:creationId xmlns:p14="http://schemas.microsoft.com/office/powerpoint/2010/main" val="23563889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4309E1C-E4DA-4BE9-8485-1EFC767F62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Add transition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groupCh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 iff: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brk m:alnAt="2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e>
                    </m:groupCh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and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is a transition in the region graph</a:t>
                </a:r>
              </a:p>
              <a:p>
                <a:pPr lvl="1"/>
                <a:endParaRPr lang="en-US" dirty="0"/>
              </a:p>
              <a:p>
                <a:r>
                  <a:rPr lang="en-US" b="0" dirty="0"/>
                  <a:t>Add transition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groupCh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iff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is a transition in the region graph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Initial state of region automaton: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the region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]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4309E1C-E4DA-4BE9-8485-1EFC767F62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65E781-3643-45C9-842D-5D0DC56B1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F66FB-E426-4559-8A18-7D56466A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23C7DA-FFE3-462E-A8BF-D2E95DEEF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 automaton for a 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BC57E0-F53B-445F-5EC2-A21EEA9B4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042" y="749674"/>
            <a:ext cx="5038725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6667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86DD70-A19C-4E3E-902A-F172546C4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Untiming is an operation that erases time from timed-words</a:t>
            </a:r>
          </a:p>
          <a:p>
            <a:endParaRPr lang="en-US" dirty="0"/>
          </a:p>
          <a:p>
            <a:r>
              <a:rPr lang="en-US" dirty="0"/>
              <a:t>Lemma: For each timed word accepted by a TA, the untimed language accepted by the TA is the same as the language accepted by the region automaton</a:t>
            </a:r>
          </a:p>
          <a:p>
            <a:endParaRPr lang="en-US" dirty="0"/>
          </a:p>
          <a:p>
            <a:r>
              <a:rPr lang="en-US" dirty="0"/>
              <a:t>Reachability in TA reduces to reachability in region automaton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3B41A9-BAB7-4AE9-AAC4-0097CE457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47405-A5DE-4AA0-9333-B79C51323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0A699C9-E884-4B02-A977-01F1B399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Reachability</a:t>
            </a:r>
          </a:p>
        </p:txBody>
      </p:sp>
    </p:spTree>
    <p:extLst>
      <p:ext uri="{BB962C8B-B14F-4D97-AF65-F5344CB8AC3E}">
        <p14:creationId xmlns:p14="http://schemas.microsoft.com/office/powerpoint/2010/main" val="36804044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A8B773E-88DA-4D78-9FEC-BD698D66AD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For TA with diagonal constraints, similar construction works</a:t>
                </a:r>
              </a:p>
              <a:p>
                <a:endParaRPr lang="en-US" dirty="0"/>
              </a:p>
              <a:p>
                <a:r>
                  <a:rPr lang="en-US" dirty="0"/>
                  <a:t>Number of regions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!⋅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is the largest integer in clock constraints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Exponential number of regions!</a:t>
                </a:r>
              </a:p>
              <a:p>
                <a:r>
                  <a:rPr lang="en-US" dirty="0"/>
                  <a:t>Complexity of checking reachability in PSACE </a:t>
                </a:r>
              </a:p>
              <a:p>
                <a:r>
                  <a:rPr lang="en-US" dirty="0"/>
                  <a:t>Problem is PSPACE-hard, i.e. reachability in TA is PSPACE-complete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A8B773E-88DA-4D78-9FEC-BD698D66AD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D0A1FC-8FC6-4D75-8BFC-0FD1BF276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7364D-CB3C-47B6-ACEB-D6B9EFB42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19065BD-FA76-43AB-8C95-CA600D1D5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regions</a:t>
            </a:r>
          </a:p>
        </p:txBody>
      </p:sp>
    </p:spTree>
    <p:extLst>
      <p:ext uri="{BB962C8B-B14F-4D97-AF65-F5344CB8AC3E}">
        <p14:creationId xmlns:p14="http://schemas.microsoft.com/office/powerpoint/2010/main" val="40084272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DE102C-B3B0-4AB7-9885-04943AF02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many timed logics</a:t>
            </a:r>
          </a:p>
          <a:p>
            <a:pPr lvl="1"/>
            <a:r>
              <a:rPr lang="en-US" dirty="0"/>
              <a:t>MTL / MITL</a:t>
            </a:r>
          </a:p>
          <a:p>
            <a:pPr lvl="1"/>
            <a:r>
              <a:rPr lang="en-US" dirty="0"/>
              <a:t>Timed Regular Expressions</a:t>
            </a:r>
          </a:p>
          <a:p>
            <a:pPr lvl="1"/>
            <a:r>
              <a:rPr lang="en-US" dirty="0"/>
              <a:t>Timed Propositional Temporal Logic</a:t>
            </a:r>
          </a:p>
          <a:p>
            <a:pPr lvl="1"/>
            <a:r>
              <a:rPr lang="en-US" dirty="0"/>
              <a:t>Signal Temporal Logic</a:t>
            </a:r>
          </a:p>
          <a:p>
            <a:endParaRPr lang="en-US" dirty="0"/>
          </a:p>
          <a:p>
            <a:r>
              <a:rPr lang="en-US" dirty="0"/>
              <a:t>There is no straightforward correspondence between a logic and timed automata</a:t>
            </a:r>
          </a:p>
          <a:p>
            <a:r>
              <a:rPr lang="en-US" dirty="0"/>
              <a:t>Popular translations:</a:t>
            </a:r>
          </a:p>
          <a:p>
            <a:pPr lvl="1"/>
            <a:r>
              <a:rPr lang="en-US" dirty="0"/>
              <a:t>MITL to timed automata</a:t>
            </a:r>
          </a:p>
          <a:p>
            <a:pPr lvl="1"/>
            <a:r>
              <a:rPr lang="en-US" dirty="0"/>
              <a:t>Monitoring timed regular expressions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0E205E-AD26-4834-899A-B1C836062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CBCA4-280F-4D81-9403-02AA1E08F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88CF30B-8DFE-423B-8FA1-97CF70C28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Logics</a:t>
            </a:r>
          </a:p>
        </p:txBody>
      </p:sp>
    </p:spTree>
    <p:extLst>
      <p:ext uri="{BB962C8B-B14F-4D97-AF65-F5344CB8AC3E}">
        <p14:creationId xmlns:p14="http://schemas.microsoft.com/office/powerpoint/2010/main" val="26871585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1639FB-F580-8D22-274D-56D2BC5F9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4E260-EAEC-2CD8-F0D8-7C5766AA4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>
                <a:latin typeface="Calisto MT" panose="02040603050505030304" pitchFamily="18" charset="0"/>
                <a:ea typeface="Cambria" panose="02040503050406030204" pitchFamily="18" charset="0"/>
              </a:rPr>
              <a:pPr/>
              <a:t>33</a:t>
            </a:fld>
            <a:endParaRPr lang="en-US" dirty="0">
              <a:latin typeface="Calisto MT" panose="02040603050505030304" pitchFamily="18" charset="0"/>
              <a:ea typeface="Cambria" panose="020405030504060302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4F8FEE0-6A61-099C-A1C7-AAE44EE02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sto MT" panose="02040603050505030304" pitchFamily="18" charset="0"/>
              </a:rPr>
              <a:t>Metric Temporal Logic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ECD45A8-3B8A-4D94-95EE-1F01ED88CD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0691487"/>
                  </p:ext>
                </p:extLst>
              </p:nvPr>
            </p:nvGraphicFramePr>
            <p:xfrm>
              <a:off x="166680" y="1142205"/>
              <a:ext cx="11631510" cy="483175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03770">
                      <a:extLst>
                        <a:ext uri="{9D8B030D-6E8A-4147-A177-3AD203B41FA5}">
                          <a16:colId xmlns:a16="http://schemas.microsoft.com/office/drawing/2014/main" val="3801851289"/>
                        </a:ext>
                      </a:extLst>
                    </a:gridCol>
                    <a:gridCol w="2484254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776836">
                      <a:extLst>
                        <a:ext uri="{9D8B030D-6E8A-4147-A177-3AD203B41FA5}">
                          <a16:colId xmlns:a16="http://schemas.microsoft.com/office/drawing/2014/main" val="1035336446"/>
                        </a:ext>
                      </a:extLst>
                    </a:gridCol>
                    <a:gridCol w="7266650">
                      <a:extLst>
                        <a:ext uri="{9D8B030D-6E8A-4147-A177-3AD203B41FA5}">
                          <a16:colId xmlns:a16="http://schemas.microsoft.com/office/drawing/2014/main" val="2988198429"/>
                        </a:ext>
                      </a:extLst>
                    </a:gridCol>
                  </a:tblGrid>
                  <a:tr h="544174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Syntax of MTL</a:t>
                          </a:r>
                        </a:p>
                        <a:p>
                          <a:pPr algn="ctr"/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time interval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𝐼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∷ =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∣</m:t>
                              </m:r>
                              <m:d>
                                <m:dPr>
                                  <m:endChr m:val="]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∣</m:t>
                              </m:r>
                              <m:d>
                                <m:dPr>
                                  <m:begChr m:val="[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∣(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, </a:t>
                          </a:r>
                        </a:p>
                        <a:p>
                          <a:pPr algn="ctr"/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where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≥0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≥0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∪</m:t>
                              </m:r>
                              <m:r>
                                <m:rPr>
                                  <m:lit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{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∞}</m:t>
                              </m:r>
                            </m:oMath>
                          </a14:m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63091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∷=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Atomic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proposition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baseline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sz="2400" b="1" i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544174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2800" dirty="0"/>
                            <a:t> 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Negation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04773001"/>
                      </a:ext>
                    </a:extLst>
                  </a:tr>
                  <a:tr h="544174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2800" dirty="0"/>
                            <a:t> 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Conjunction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01267959"/>
                      </a:ext>
                    </a:extLst>
                  </a:tr>
                  <a:tr h="576385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  <m:t>𝐅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At some </a:t>
                          </a:r>
                          <a:r>
                            <a:rPr lang="en-US" sz="24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</a:t>
                          </a:r>
                          <a:r>
                            <a:rPr lang="en-US" sz="24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uture step in the interval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oMath>
                          </a14:m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64220537"/>
                      </a:ext>
                    </a:extLst>
                  </a:tr>
                  <a:tr h="576385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  <m:t>𝐆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G</a:t>
                          </a:r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lobally in all times in the interval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oMath>
                          </a14:m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  <a:tr h="588122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  <m:t>𝐔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In all steps </a:t>
                          </a:r>
                          <a:r>
                            <a:rPr lang="en-US" sz="24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U</a:t>
                          </a:r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ntil in interval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oMath>
                          </a14:m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818803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ECD45A8-3B8A-4D94-95EE-1F01ED88CD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0691487"/>
                  </p:ext>
                </p:extLst>
              </p:nvPr>
            </p:nvGraphicFramePr>
            <p:xfrm>
              <a:off x="166680" y="1142205"/>
              <a:ext cx="11631510" cy="483175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03770">
                      <a:extLst>
                        <a:ext uri="{9D8B030D-6E8A-4147-A177-3AD203B41FA5}">
                          <a16:colId xmlns:a16="http://schemas.microsoft.com/office/drawing/2014/main" val="3801851289"/>
                        </a:ext>
                      </a:extLst>
                    </a:gridCol>
                    <a:gridCol w="2484254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776836">
                      <a:extLst>
                        <a:ext uri="{9D8B030D-6E8A-4147-A177-3AD203B41FA5}">
                          <a16:colId xmlns:a16="http://schemas.microsoft.com/office/drawing/2014/main" val="1035336446"/>
                        </a:ext>
                      </a:extLst>
                    </a:gridCol>
                    <a:gridCol w="7266650">
                      <a:extLst>
                        <a:ext uri="{9D8B030D-6E8A-4147-A177-3AD203B41FA5}">
                          <a16:colId xmlns:a16="http://schemas.microsoft.com/office/drawing/2014/main" val="2988198429"/>
                        </a:ext>
                      </a:extLst>
                    </a:gridCol>
                  </a:tblGrid>
                  <a:tr h="137160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444" r="-52" b="-262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6309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25962" r="-955249" b="-4682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4363" t="-225962" r="-323775" b="-4682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017" t="-225962" r="-84" b="-4682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544174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4363" t="-380899" r="-323775" b="-4471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Negation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04773001"/>
                      </a:ext>
                    </a:extLst>
                  </a:tr>
                  <a:tr h="544174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4363" t="-480899" r="-323775" b="-3471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Conjunction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01267959"/>
                      </a:ext>
                    </a:extLst>
                  </a:tr>
                  <a:tr h="576385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4363" t="-544211" r="-323775" b="-22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017" t="-544211" r="-84" b="-225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220537"/>
                      </a:ext>
                    </a:extLst>
                  </a:tr>
                  <a:tr h="576385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4363" t="-651064" r="-323775" b="-1276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017" t="-651064" r="-84" b="-1276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  <a:tr h="588122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4363" t="-727835" r="-323775" b="-237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017" t="-727835" r="-84" b="-237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18803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846341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CA29212-0AAD-A92B-9929-143315403F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Intervals have to be non-singular</a:t>
                </a:r>
              </a:p>
              <a:p>
                <a:endParaRPr lang="en-US" dirty="0"/>
              </a:p>
              <a:p>
                <a:r>
                  <a:rPr lang="en-US" dirty="0"/>
                  <a:t>Singular interval: [5,5] (Exactly at time 5)</a:t>
                </a:r>
              </a:p>
              <a:p>
                <a:endParaRPr lang="en-US" dirty="0"/>
              </a:p>
              <a:p>
                <a:r>
                  <a:rPr lang="en-US" dirty="0"/>
                  <a:t>Non-singular interval: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MITL can always be converted to a timed automaton/transducer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CA29212-0AAD-A92B-9929-143315403F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EE3A9D-EBFC-7A67-C372-304374955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1BB7F-C201-F994-6D9E-A5E1D9C5B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DDBC901-0214-9731-88F5-4210A6C8E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 Interval Temporal Logic</a:t>
            </a:r>
          </a:p>
        </p:txBody>
      </p:sp>
    </p:spTree>
    <p:extLst>
      <p:ext uri="{BB962C8B-B14F-4D97-AF65-F5344CB8AC3E}">
        <p14:creationId xmlns:p14="http://schemas.microsoft.com/office/powerpoint/2010/main" val="6728740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8B81E1F-E6E3-CB07-3D9F-EC4F6F9EAE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Syntax:</a:t>
                </a: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∷=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∣¬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𝐔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dirty="0"/>
              </a:p>
              <a:p>
                <a:pPr lvl="1"/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an atomic proposition from some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𝐴𝑃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is a timed variable from some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𝒯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∼∈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&lt;,≤,≥,&gt;,=,≠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Semantics: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r>
                  <a:rPr lang="en-US" dirty="0"/>
                  <a:t> :  Function returning true/false based on whether :</a:t>
                </a:r>
              </a:p>
              <a:p>
                <a:pPr lvl="2"/>
                <a:r>
                  <a:rPr lang="en-US" dirty="0"/>
                  <a:t>the timed trace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when timed variables have values defined by valuation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satisfy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8B81E1F-E6E3-CB07-3D9F-EC4F6F9EAE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857"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F45428-E119-A20F-F2DF-510703786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66818-EAE6-A3E2-E431-E7F8B4C45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BEB2369-4F26-713E-5C2B-1D91E5349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Propositional Temporal Logic (or Timed LTL)</a:t>
            </a:r>
          </a:p>
        </p:txBody>
      </p:sp>
    </p:spTree>
    <p:extLst>
      <p:ext uri="{BB962C8B-B14F-4D97-AF65-F5344CB8AC3E}">
        <p14:creationId xmlns:p14="http://schemas.microsoft.com/office/powerpoint/2010/main" val="34647984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726526D-2079-B89A-31B9-F1476903DA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iff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Example: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0">
                          <a:latin typeface="Cambria Math" panose="02040503050406030204" pitchFamily="18" charset="0"/>
                        </a:rPr>
                        <m:t>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𝐅</m:t>
                              </m:r>
                              <m:d>
                                <m:d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. 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∧</m:t>
                                      </m:r>
                                      <m: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𝐅</m:t>
                                      </m:r>
                                      <m:d>
                                        <m:dPr>
                                          <m:ctrlP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b="1" i="0" smtClean="0">
                                              <a:latin typeface="Cambria Math" panose="02040503050406030204" pitchFamily="18" charset="0"/>
                                            </a:rPr>
                                            <m:t>.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∧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+10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Whenever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happens,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must happen,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must happen after that, but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must happen within 10 seconds after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726526D-2079-B89A-31B9-F1476903DA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8" b="-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805E8D-E78B-766D-B244-3EAF05930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AA54A-E7FD-010A-5C03-9104F8DF7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C58610-092B-DB56-1B66-BA36F4784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Semantics of TPTL</a:t>
            </a:r>
          </a:p>
        </p:txBody>
      </p:sp>
    </p:spTree>
    <p:extLst>
      <p:ext uri="{BB962C8B-B14F-4D97-AF65-F5344CB8AC3E}">
        <p14:creationId xmlns:p14="http://schemas.microsoft.com/office/powerpoint/2010/main" val="1226135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71CFE8-690E-4743-8761-59007D815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hlinkClick r:id="rId2"/>
              </a:rPr>
              <a:t>http://www.ru.is/kennarar/luca/IMT-TA/SLIDES/timed-automata-slides.pdf</a:t>
            </a:r>
            <a:endParaRPr lang="en-US" sz="2000" dirty="0"/>
          </a:p>
          <a:p>
            <a:r>
              <a:rPr lang="en-US" sz="2000" dirty="0">
                <a:hlinkClick r:id="rId3"/>
              </a:rPr>
              <a:t>http://www.lsv.fr/Publis/PAPERS/PDF/bouyer-etr05.pdf</a:t>
            </a:r>
            <a:endParaRPr lang="en-US" sz="2000" dirty="0"/>
          </a:p>
          <a:p>
            <a:r>
              <a:rPr lang="en-US" sz="2000" dirty="0">
                <a:hlinkClick r:id="rId4"/>
              </a:rPr>
              <a:t>http://www.lsv.fr/~bouyer/files/movep14.pdf</a:t>
            </a:r>
            <a:endParaRPr lang="en-US" sz="2000" dirty="0"/>
          </a:p>
          <a:p>
            <a:r>
              <a:rPr lang="en-US" sz="2000" dirty="0"/>
              <a:t>https://www.cis.upenn.edu/~alur/TCS94.pdf</a:t>
            </a:r>
          </a:p>
          <a:p>
            <a:endParaRPr lang="en-US" sz="20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DFD0F5-D625-4043-AFE1-1DDE23066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11430-9B2C-4E8D-83A2-F731262C6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85C8077-013E-4141-87FC-7C94289DD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Bibliography</a:t>
            </a:r>
          </a:p>
        </p:txBody>
      </p:sp>
    </p:spTree>
    <p:extLst>
      <p:ext uri="{BB962C8B-B14F-4D97-AF65-F5344CB8AC3E}">
        <p14:creationId xmlns:p14="http://schemas.microsoft.com/office/powerpoint/2010/main" val="2890939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49252</TotalTime>
  <Words>2832</Words>
  <Application>Microsoft Office PowerPoint</Application>
  <PresentationFormat>Widescreen</PresentationFormat>
  <Paragraphs>447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Arial</vt:lpstr>
      <vt:lpstr>Calibri</vt:lpstr>
      <vt:lpstr>Calibri Light</vt:lpstr>
      <vt:lpstr>Calisto MT</vt:lpstr>
      <vt:lpstr>Cambria</vt:lpstr>
      <vt:lpstr>Cambria Math</vt:lpstr>
      <vt:lpstr>Wingdings 3</vt:lpstr>
      <vt:lpstr>Office Theme</vt:lpstr>
      <vt:lpstr>Automata Theory, Logic and Formal Verification  Timed Automata, Metric Temporal Logic &amp; Signal Temporal Logic</vt:lpstr>
      <vt:lpstr>Outline</vt:lpstr>
      <vt:lpstr>Timed Automata</vt:lpstr>
      <vt:lpstr>Timed Languages</vt:lpstr>
      <vt:lpstr>Examples of Timed Languages</vt:lpstr>
      <vt:lpstr>Timed automaton</vt:lpstr>
      <vt:lpstr>Clock valuations, operations</vt:lpstr>
      <vt:lpstr>Clock constraints</vt:lpstr>
      <vt:lpstr>Timed automata transitions</vt:lpstr>
      <vt:lpstr>Run of a timed automaton</vt:lpstr>
      <vt:lpstr>Timed automaton example</vt:lpstr>
      <vt:lpstr>Timed automata over infinite words</vt:lpstr>
      <vt:lpstr>Note about transition semantics</vt:lpstr>
      <vt:lpstr>Timed Automaton example with clock invariants</vt:lpstr>
      <vt:lpstr>Time divergence</vt:lpstr>
      <vt:lpstr>Zeno paths</vt:lpstr>
      <vt:lpstr>Timed automata model sanity checking</vt:lpstr>
      <vt:lpstr>Time-divergent paths</vt:lpstr>
      <vt:lpstr>Decision problems for timed automata</vt:lpstr>
      <vt:lpstr>Reachability</vt:lpstr>
      <vt:lpstr>First observation</vt:lpstr>
      <vt:lpstr>Region graph construction/region automata</vt:lpstr>
      <vt:lpstr>Region graph construction/region automata</vt:lpstr>
      <vt:lpstr>Notation</vt:lpstr>
      <vt:lpstr>Constructing region (graph) automaton of a timed automaton</vt:lpstr>
      <vt:lpstr>Examples of equivalent clock evaluations</vt:lpstr>
      <vt:lpstr>Example of region graph construction</vt:lpstr>
      <vt:lpstr>Region graph</vt:lpstr>
      <vt:lpstr>Region automaton for a TA</vt:lpstr>
      <vt:lpstr>Reachability</vt:lpstr>
      <vt:lpstr>Number of regions</vt:lpstr>
      <vt:lpstr>Timed Logics</vt:lpstr>
      <vt:lpstr>Metric Temporal Logic</vt:lpstr>
      <vt:lpstr>Metric Interval Temporal Logic</vt:lpstr>
      <vt:lpstr>Timed Propositional Temporal Logic (or Timed LTL)</vt:lpstr>
      <vt:lpstr>Semantics of TPTL</vt:lpstr>
      <vt:lpstr>Bibliography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Cyber-Physical Systems</dc:title>
  <dc:creator>Jyo Deshmukh</dc:creator>
  <cp:lastModifiedBy>Jyotirmoy Vinay Deshmukh</cp:lastModifiedBy>
  <cp:revision>151</cp:revision>
  <dcterms:created xsi:type="dcterms:W3CDTF">2018-01-04T23:14:16Z</dcterms:created>
  <dcterms:modified xsi:type="dcterms:W3CDTF">2026-03-09T22:23:26Z</dcterms:modified>
</cp:coreProperties>
</file>