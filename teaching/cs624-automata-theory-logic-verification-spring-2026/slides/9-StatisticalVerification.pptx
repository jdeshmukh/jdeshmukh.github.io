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3" r:id="rId3"/>
    <p:sldId id="264" r:id="rId4"/>
    <p:sldId id="301" r:id="rId5"/>
    <p:sldId id="302" r:id="rId6"/>
    <p:sldId id="303" r:id="rId7"/>
    <p:sldId id="304" r:id="rId8"/>
    <p:sldId id="305" r:id="rId9"/>
    <p:sldId id="306" r:id="rId10"/>
    <p:sldId id="312" r:id="rId11"/>
    <p:sldId id="310" r:id="rId12"/>
    <p:sldId id="311" r:id="rId13"/>
    <p:sldId id="313" r:id="rId14"/>
    <p:sldId id="320" r:id="rId15"/>
    <p:sldId id="322" r:id="rId16"/>
    <p:sldId id="321" r:id="rId17"/>
    <p:sldId id="318" r:id="rId18"/>
    <p:sldId id="309" r:id="rId19"/>
    <p:sldId id="314" r:id="rId20"/>
    <p:sldId id="319" r:id="rId21"/>
    <p:sldId id="315" r:id="rId22"/>
    <p:sldId id="317" r:id="rId23"/>
    <p:sldId id="31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3" autoAdjust="0"/>
    <p:restoredTop sz="94660"/>
  </p:normalViewPr>
  <p:slideViewPr>
    <p:cSldViewPr snapToGrid="0">
      <p:cViewPr varScale="1">
        <p:scale>
          <a:sx n="93" d="100"/>
          <a:sy n="93" d="100"/>
        </p:scale>
        <p:origin x="270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43AA60-7EC1-4F18-B7BD-3F73A74324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FE9FEA-C466-4570-B6F3-EF90A69320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6681" y="988141"/>
            <a:ext cx="11699087" cy="4695899"/>
          </a:xfr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 sz="26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80000"/>
              <a:buFont typeface="Wingdings 3" panose="05040102010807070707" pitchFamily="18" charset="2"/>
              <a:buChar char="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5000"/>
              <a:buFont typeface="Wingdings 3" panose="05040102010807070707" pitchFamily="18" charset="2"/>
              <a:buChar char="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287621-CCBF-4807-907B-7CA77EC1C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1EDAC8-15FA-40A1-9618-040ED67C0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EFACE60-EAFC-4BD3-B6DE-E4B904E8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8DBC613-0A47-477A-800A-5F90A6B5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68612" y="6356350"/>
            <a:ext cx="1085187" cy="365125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AA6AABC-6542-4F02-B461-D45960993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73907"/>
            <a:ext cx="11699087" cy="840494"/>
          </a:xfrm>
        </p:spPr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094C-DBE7-48F0-9120-878375E98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F6C25-968D-4498-A3AE-ACB04AF9B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Automata Theory, Logic and Formal Verification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>
            <a:normAutofit/>
          </a:bodyPr>
          <a:lstStyle/>
          <a:p>
            <a:r>
              <a:rPr lang="en-US" sz="3200" dirty="0"/>
              <a:t>Automata Theory, Logic and Formal Verification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Statistical Verification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0042" y="4118516"/>
            <a:ext cx="10222706" cy="1124415"/>
          </a:xfrm>
        </p:spPr>
        <p:txBody>
          <a:bodyPr>
            <a:normAutofit/>
          </a:bodyPr>
          <a:lstStyle/>
          <a:p>
            <a:r>
              <a:rPr lang="en-US" dirty="0"/>
              <a:t>Spring 2026: CSCI 624</a:t>
            </a:r>
          </a:p>
          <a:p>
            <a:r>
              <a:rPr lang="en-US" dirty="0"/>
              <a:t>Instructor: Jyo Deshmukh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4A4C36-0900-463C-ABB2-CD2D3B7E4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Model Checking</a:t>
            </a:r>
          </a:p>
          <a:p>
            <a:r>
              <a:rPr lang="en-US" dirty="0"/>
              <a:t>Statistical Verification in general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7A8BC-83B4-446D-872F-376AAD28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AA3724-17CA-4775-9A1D-E05D4452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499231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BC663F-7EA8-4D64-8AF1-3C2730553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186962"/>
            <a:ext cx="11699087" cy="4497078"/>
          </a:xfrm>
        </p:spPr>
        <p:txBody>
          <a:bodyPr/>
          <a:lstStyle/>
          <a:p>
            <a:r>
              <a:rPr lang="en-US" dirty="0"/>
              <a:t>Sample potential executions of a stochastic system</a:t>
            </a:r>
          </a:p>
          <a:p>
            <a:endParaRPr lang="en-US" dirty="0"/>
          </a:p>
          <a:p>
            <a:r>
              <a:rPr lang="en-US" dirty="0"/>
              <a:t>Hypothesis Testing to determine which observations </a:t>
            </a:r>
            <a:r>
              <a:rPr lang="en-US" i="1" dirty="0"/>
              <a:t>conform </a:t>
            </a:r>
            <a:r>
              <a:rPr lang="en-US" dirty="0"/>
              <a:t>to a given spec</a:t>
            </a:r>
          </a:p>
          <a:p>
            <a:r>
              <a:rPr lang="en-US" dirty="0"/>
              <a:t>Estimate likely values of parameters assuming some distribution on data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38E4C6-04A8-4B22-A657-898ED4016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BDBD5D-296B-483F-9BD9-07467102F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SMC</a:t>
            </a:r>
          </a:p>
        </p:txBody>
      </p:sp>
    </p:spTree>
    <p:extLst>
      <p:ext uri="{BB962C8B-B14F-4D97-AF65-F5344CB8AC3E}">
        <p14:creationId xmlns:p14="http://schemas.microsoft.com/office/powerpoint/2010/main" val="3604109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657E37A-CADF-EBD2-96CE-4E4785FB99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Assume that the given property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does not hold</a:t>
                </a:r>
              </a:p>
              <a:p>
                <a:r>
                  <a:rPr lang="en-US" dirty="0"/>
                  <a:t>Sample system executions</a:t>
                </a:r>
              </a:p>
              <a:p>
                <a:pPr lvl="1"/>
                <a:r>
                  <a:rPr lang="en-US" sz="2000" dirty="0"/>
                  <a:t>Treat them as samples in a Bernoulli trial</a:t>
                </a:r>
              </a:p>
              <a:p>
                <a:pPr lvl="1"/>
                <a:r>
                  <a:rPr lang="en-US" sz="2000" dirty="0"/>
                  <a:t>Compute the probability of the observations just made under the assumption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000" dirty="0"/>
                  <a:t> does not hold</a:t>
                </a:r>
              </a:p>
              <a:p>
                <a:pPr lvl="1"/>
                <a:r>
                  <a:rPr lang="en-US" sz="2000" dirty="0"/>
                  <a:t>If observation is sufficiently improbable, then reject the conjecture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000" dirty="0"/>
                  <a:t> does not hold</a:t>
                </a:r>
              </a:p>
              <a:p>
                <a:endParaRPr lang="en-US" dirty="0"/>
              </a:p>
              <a:p>
                <a:r>
                  <a:rPr lang="en-US" dirty="0"/>
                  <a:t>Applicable to systems such as DTMCs, CTMCs, Generalized Semi Markov Processes, Generalized Stochastic Petri Nets, Stochastic Timed and Hybrid Systems, MDPs, etc.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657E37A-CADF-EBD2-96CE-4E4785FB99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98242E-215D-96DA-4572-4A1D3E567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639E78-B029-077A-E3C9-AEF404B14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SMC: main idea</a:t>
            </a:r>
          </a:p>
        </p:txBody>
      </p:sp>
    </p:spTree>
    <p:extLst>
      <p:ext uri="{BB962C8B-B14F-4D97-AF65-F5344CB8AC3E}">
        <p14:creationId xmlns:p14="http://schemas.microsoft.com/office/powerpoint/2010/main" val="3076771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6F3CDB9-9BA8-2759-0CD9-E4286FA1AE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PCTL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Let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be a </a:t>
                </a:r>
                <a:r>
                  <a:rPr lang="en-US" dirty="0" err="1"/>
                  <a:t>r.v.</a:t>
                </a:r>
                <a:r>
                  <a:rPr lang="en-US" dirty="0"/>
                  <a:t> 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holds on the sampled path, 0 otherwise. </a:t>
                </a:r>
              </a:p>
              <a:p>
                <a:endParaRPr lang="en-US" dirty="0"/>
              </a:p>
              <a:p>
                <a:r>
                  <a:rPr lang="en-US" dirty="0"/>
                  <a:t>Null Hypothesis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):</a:t>
                </a:r>
                <a:r>
                  <a:rPr lang="en-US" i="1" dirty="0"/>
                  <a:t> the hypothesis accepted unless proven otherwise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: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of satisfying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by a path from initial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is greater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𝑇𝑟𝑎𝑐𝑒𝑠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Alternative Hypothesis: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𝑇𝑟𝑎𝑐𝑒𝑠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⊨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6F3CDB9-9BA8-2759-0CD9-E4286FA1AE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11DA9-9550-57FF-1351-4D233C3E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46F03F-A8C4-BF42-F1CB-B650875F1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SMC based on Hypothesis Testing</a:t>
            </a:r>
          </a:p>
        </p:txBody>
      </p:sp>
    </p:spTree>
    <p:extLst>
      <p:ext uri="{BB962C8B-B14F-4D97-AF65-F5344CB8AC3E}">
        <p14:creationId xmlns:p14="http://schemas.microsoft.com/office/powerpoint/2010/main" val="910899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F68BEE5-6274-C9D1-7FFF-1202043498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Type I error: If we claim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is false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is true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: Probability of Type I error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dirty="0"/>
                  <a:t>: probability of observations 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true</a:t>
                </a:r>
              </a:p>
              <a:p>
                <a:endParaRPr lang="en-US" dirty="0"/>
              </a:p>
              <a:p>
                <a:r>
                  <a:rPr lang="en-US" dirty="0"/>
                  <a:t>Type II error: If we decide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true (i.e. we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true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: Probability of Type II error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F68BEE5-6274-C9D1-7FFF-120204349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57A40-E142-CC1B-A332-2855D4315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794895-C33F-9ABA-4AA6-6EF0C22CE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</a:t>
            </a:r>
          </a:p>
        </p:txBody>
      </p:sp>
    </p:spTree>
    <p:extLst>
      <p:ext uri="{BB962C8B-B14F-4D97-AF65-F5344CB8AC3E}">
        <p14:creationId xmlns:p14="http://schemas.microsoft.com/office/powerpoint/2010/main" val="1342915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FB010E-CBBA-EA43-9F12-312367342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FCB0FA-6270-29CB-6900-B199BD62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 and II errors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053B9B-183A-A6CE-C25F-9DFCAE48E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34" y="2279713"/>
            <a:ext cx="10627674" cy="229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3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05F18A6-BCEF-D1D3-41C3-46AC15FFF3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7092075" cy="469589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: probability of accepting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in a hypothesis test</a:t>
                </a:r>
              </a:p>
              <a:p>
                <a:r>
                  <a:rPr lang="en-US" dirty="0"/>
                  <a:t>Test must guarantee that </a:t>
                </a:r>
              </a:p>
              <a:p>
                <a:pPr lvl="1"/>
                <a:r>
                  <a:rPr lang="en-US" dirty="0"/>
                  <a:t>whenever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whenever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When actual probability is close enough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designing robust tests becomes hard!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05F18A6-BCEF-D1D3-41C3-46AC15FFF3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7092075" cy="4695899"/>
              </a:xfrm>
              <a:blipFill>
                <a:blip r:embed="rId2"/>
                <a:stretch>
                  <a:fillRect l="-859" t="-1948" r="-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3DA06B-2F5D-BD06-75BC-AB77F44B4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8166AD-8E5D-B8CF-1FBC-E318E492C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Indifference regions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751F38-5FDD-48CF-2504-1256796DD0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848"/>
          <a:stretch>
            <a:fillRect/>
          </a:stretch>
        </p:blipFill>
        <p:spPr>
          <a:xfrm>
            <a:off x="7551512" y="1264356"/>
            <a:ext cx="4153875" cy="401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47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60E507E-4C06-543C-7DAE-B00F3DB73E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7384831" cy="4695899"/>
              </a:xfrm>
            </p:spPr>
            <p:txBody>
              <a:bodyPr/>
              <a:lstStyle/>
              <a:p>
                <a:r>
                  <a:rPr lang="en-US" dirty="0"/>
                  <a:t>Add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region around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in this region, no guarantees!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𝑇𝑟𝑎𝑐𝑒𝑠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𝑇𝑟𝑎𝑐𝑒𝑠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⊨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60E507E-4C06-543C-7DAE-B00F3DB73E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7384831" cy="4695899"/>
              </a:xfrm>
              <a:blipFill>
                <a:blip r:embed="rId2"/>
                <a:stretch>
                  <a:fillRect l="-825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ECD886-6652-67D1-60DB-1E7AFCEC9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4FF63E-B26E-28E9-4AA3-948F34ACA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control for hypothesis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D71ED-ED71-91A6-9A74-4AF12DF21A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139" t="2252" r="3709" b="-2252"/>
          <a:stretch>
            <a:fillRect/>
          </a:stretch>
        </p:blipFill>
        <p:spPr>
          <a:xfrm>
            <a:off x="7630643" y="367461"/>
            <a:ext cx="4153875" cy="4013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7C079D-0FA0-2729-B7D6-4E86609B72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72" r="1556"/>
          <a:stretch>
            <a:fillRect/>
          </a:stretch>
        </p:blipFill>
        <p:spPr>
          <a:xfrm>
            <a:off x="633046" y="4016426"/>
            <a:ext cx="8558843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465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9A1B782-020C-4F7B-9C7D-0D61963938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2008598"/>
                <a:ext cx="11699087" cy="3675442"/>
              </a:xfrm>
            </p:spPr>
            <p:txBody>
              <a:bodyPr/>
              <a:lstStyle/>
              <a:p>
                <a:r>
                  <a:rPr lang="en-US" dirty="0"/>
                  <a:t>Parameters: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</a:t>
                </a:r>
                <a:endParaRPr lang="en-US" dirty="0"/>
              </a:p>
              <a:p>
                <a:r>
                  <a:rPr lang="en-US" b="0" dirty="0"/>
                  <a:t>Probability of getting exactly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successes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independent Bernoulli trials (each with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b="0" dirty="0"/>
                  <a:t>) is the </a:t>
                </a:r>
                <a:r>
                  <a:rPr lang="en-US" b="0" dirty="0" err="1"/>
                  <a:t>pmf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b="0" i="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b="0" i="0" dirty="0">
                    <a:latin typeface="+mj-lt"/>
                  </a:rPr>
                  <a:t> </a:t>
                </a:r>
                <a:endParaRPr lang="en-US" b="0" dirty="0"/>
              </a:p>
              <a:p>
                <a:endParaRPr lang="en-US" i="1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9A1B782-020C-4F7B-9C7D-0D61963938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2008598"/>
                <a:ext cx="11699087" cy="3675442"/>
              </a:xfrm>
              <a:blipFill>
                <a:blip r:embed="rId2"/>
                <a:stretch>
                  <a:fillRect l="-521" t="-2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74181B-75D1-1DA0-7205-4278E4D8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931FFF-38FC-072C-04D5-C9751435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974627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B79CEE1-423B-A5BC-6BD6-60CC87C7E9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PCTL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If Markov 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satisfies following conditions:	</a:t>
                </a:r>
              </a:p>
              <a:p>
                <a:pPr lvl="1"/>
                <a:r>
                  <a:rPr lang="en-US" dirty="0"/>
                  <a:t>For every </a:t>
                </a:r>
                <a:r>
                  <a:rPr lang="en-US" dirty="0" err="1"/>
                  <a:t>subformula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and every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𝑇𝑟𝑎𝑐𝑒𝑠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∉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For every </a:t>
                </a:r>
                <a:r>
                  <a:rPr lang="en-US" dirty="0" err="1"/>
                  <a:t>subformula</a:t>
                </a:r>
                <a:r>
                  <a:rPr lang="en-US" dirty="0"/>
                  <a:t> of the type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every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𝑇𝑟𝑎𝑐𝑒𝑠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𝐔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∉</m:t>
                      </m:r>
                      <m:d>
                        <m:dPr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Then: </a:t>
                </a:r>
                <a14:m/>
              </a:p>
              <a:p>
                <a:pPr marL="86868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86868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𝑓𝑎𝑙𝑠𝑒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/>
                          <m:t>⊨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pPr marL="86868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86868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B79CEE1-423B-A5BC-6BD6-60CC87C7E9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B8F8C-E90C-C5C5-22F6-67285941E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DDE67E-3F91-FC20-7D83-EF4B00D12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Fixed-size sample testing [Sen, Agha, Vishwanathan: CAV ’05]</a:t>
            </a:r>
          </a:p>
        </p:txBody>
      </p:sp>
    </p:spTree>
    <p:extLst>
      <p:ext uri="{BB962C8B-B14F-4D97-AF65-F5344CB8AC3E}">
        <p14:creationId xmlns:p14="http://schemas.microsoft.com/office/powerpoint/2010/main" val="1227467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C768761-AF54-9A04-4E4F-741D9FB879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check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, in a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we want to check:</a:t>
                </a:r>
              </a:p>
              <a:p>
                <a:pPr marL="0" indent="0">
                  <a:buNone/>
                </a:pPr>
                <a:r>
                  <a:rPr lang="en-US" dirty="0"/>
                  <a:t>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𝑃𝑟𝑜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𝑇𝑟𝑎𝑐𝑒𝑠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⊨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This can be done by setting up hypotheses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random samples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b="0" dirty="0"/>
                  <a:t> : Bernoulli dist. </a:t>
                </a:r>
                <a:r>
                  <a:rPr lang="en-US" dirty="0"/>
                  <a:t>w</a:t>
                </a:r>
                <a:r>
                  <a:rPr lang="en-US" b="0" dirty="0"/>
                  <a:t>ith unknown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Sum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b="0" dirty="0"/>
                  <a:t> has a binomial distribution with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Pick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b="0" dirty="0" err="1"/>
                  <a:t>s.t.</a:t>
                </a:r>
                <a:r>
                  <a:rPr lang="en-US" b="0" dirty="0"/>
                  <a:t>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sepChr m:val="∣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𝑎𝑐𝑐𝑒𝑝𝑡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h𝑜𝑙𝑑𝑠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sepChr m:val="∣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𝑎𝑐𝑐𝑒𝑝𝑡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h𝑜𝑙𝑑𝑠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endParaRPr lang="en-US" b="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C768761-AF54-9A04-4E4F-741D9FB879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E527E8-235D-E64E-B333-8240E07CD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436C39-881E-83EF-24F9-E7961A60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work?</a:t>
            </a:r>
          </a:p>
        </p:txBody>
      </p:sp>
    </p:spTree>
    <p:extLst>
      <p:ext uri="{BB962C8B-B14F-4D97-AF65-F5344CB8AC3E}">
        <p14:creationId xmlns:p14="http://schemas.microsoft.com/office/powerpoint/2010/main" val="2181327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5796572-0C5B-9820-BA2F-493A119B0D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p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  <a:p>
                <a:pPr lvl="1"/>
                <a:r>
                  <a:rPr lang="en-US" sz="2000" dirty="0"/>
                  <a:t>Recursive algorithm that returns </a:t>
                </a:r>
                <a:r>
                  <a:rPr lang="en-US" sz="2000" i="1" dirty="0"/>
                  <a:t>true </a:t>
                </a:r>
                <a:r>
                  <a:rPr lang="en-US" sz="2000" dirty="0"/>
                  <a:t>or </a:t>
                </a:r>
                <a:r>
                  <a:rPr lang="en-US" sz="2000" i="1" dirty="0"/>
                  <a:t>false </a:t>
                </a:r>
              </a:p>
              <a:p>
                <a:pPr lvl="1"/>
                <a:r>
                  <a:rPr lang="en-US" sz="2000" dirty="0"/>
                  <a:t>Probability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000" dirty="0"/>
                  <a:t> is wrong (type I or type II) given two slides back</a:t>
                </a:r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/>
                  <a:t> is of the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400" dirty="0"/>
                  <a:t> has nested probabilities:</a:t>
                </a:r>
              </a:p>
              <a:p>
                <a:pPr lvl="1"/>
                <a:r>
                  <a:rPr lang="en-US" sz="2000" dirty="0"/>
                  <a:t>Must look at samples of Bernoulli random variable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𝒜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sup>
                          </m:sSup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𝑡𝑟𝑢𝑒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lvl="1"/>
                <a:r>
                  <a:rPr lang="en-US" sz="2000" dirty="0"/>
                  <a:t>Hypothesis testing (HT) over this variable gives this range: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den>
                        </m:f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400" dirty="0"/>
                  <a:t>HT over Boolean and temporal operators also requires some manipulations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2400" dirty="0"/>
              </a:p>
              <a:p>
                <a:r>
                  <a:rPr lang="en-US" sz="2200" dirty="0"/>
                  <a:t>(Unbounded) until operators require reasoning about finite paths that don’t satisfy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/>
                  <a:t>; hence we use the stopping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sz="22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/>
                  <a:t> are the effective error rates after propagating HTs through various </a:t>
                </a:r>
                <a:r>
                  <a:rPr lang="en-US" sz="2200" dirty="0" err="1"/>
                  <a:t>subformulas</a:t>
                </a:r>
                <a:endParaRPr lang="en-US" sz="2200" dirty="0"/>
              </a:p>
              <a:p>
                <a:pPr lvl="1"/>
                <a:endParaRPr lang="en-US" sz="20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5796572-0C5B-9820-BA2F-493A119B0D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62B5E-8C8E-1CF4-D742-6ADDFCA1C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53D59C-5B6D-CE15-F9B8-8651BBCB5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Interesting aspects:</a:t>
            </a:r>
          </a:p>
        </p:txBody>
      </p:sp>
    </p:spTree>
    <p:extLst>
      <p:ext uri="{BB962C8B-B14F-4D97-AF65-F5344CB8AC3E}">
        <p14:creationId xmlns:p14="http://schemas.microsoft.com/office/powerpoint/2010/main" val="2938188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D2F42C0-15FF-0233-4F41-F7C43F72A5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Run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independent simulations, each producing a Bernoulli outcome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if trace satisfies property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otherwise</a:t>
                </a:r>
              </a:p>
              <a:p>
                <a:r>
                  <a:rPr lang="en-US" dirty="0"/>
                  <a:t>Observe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successes out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trials</a:t>
                </a:r>
              </a:p>
              <a:p>
                <a:r>
                  <a:rPr lang="en-US" dirty="0"/>
                  <a:t>Unknown true probability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Our estimator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How far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? How does this depend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D2F42C0-15FF-0233-4F41-F7C43F72A5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 r="-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CF24D8-6B3F-ACA9-B7F5-E5E915B2C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66E339-C9BE-8795-B315-7C5978605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estimation in SMC</a:t>
            </a:r>
          </a:p>
        </p:txBody>
      </p:sp>
    </p:spTree>
    <p:extLst>
      <p:ext uri="{BB962C8B-B14F-4D97-AF65-F5344CB8AC3E}">
        <p14:creationId xmlns:p14="http://schemas.microsoft.com/office/powerpoint/2010/main" val="3945166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AACE401-D178-F768-2B02-6787D49572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General method:</a:t>
                </a:r>
              </a:p>
              <a:p>
                <a:pPr lvl="1"/>
                <a:r>
                  <a:rPr lang="en-US" sz="1800" dirty="0"/>
                  <a:t>Markov inequality: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𝑡𝑋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𝑡𝑎</m:t>
                            </m:r>
                          </m:sup>
                        </m:sSup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𝑡𝑋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𝑡𝑎</m:t>
                            </m:r>
                          </m:sup>
                        </m:sSup>
                      </m:den>
                    </m:f>
                  </m:oMath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𝑡𝑋</m:t>
                        </m:r>
                      </m:sup>
                    </m:sSup>
                  </m:oMath>
                </a14:m>
                <a:r>
                  <a:rPr lang="en-US" sz="1800" dirty="0"/>
                  <a:t> : Moment generating function</a:t>
                </a:r>
              </a:p>
              <a:p>
                <a:pPr lvl="1"/>
                <a:r>
                  <a:rPr lang="en-US" sz="1800" dirty="0"/>
                  <a:t>Different methods use different information about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1800" dirty="0"/>
              </a:p>
              <a:p>
                <a:pPr lvl="1"/>
                <a:r>
                  <a:rPr lang="en-US" sz="1800" dirty="0"/>
                  <a:t>Choose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 to minimize RHS: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𝑡𝑎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𝑡𝑋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sz="2000" dirty="0"/>
                  <a:t>Chernoff bounds to sums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Bernoulli </a:t>
                </a:r>
                <a:r>
                  <a:rPr lang="en-US" sz="2000" dirty="0" err="1"/>
                  <a:t>r.v.s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𝑡𝑋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/>
                  <a:t> [Using independence of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Using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p>
                    </m:sSup>
                  </m:oMath>
                </a14:m>
                <a:r>
                  <a:rPr lang="en-US" sz="2000" dirty="0"/>
                  <a:t>, we get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𝑡𝑋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0" dirty="0"/>
                  <a:t>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Optimizing and rewriting terms + some approximation we get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1800" b="0" dirty="0"/>
                  <a:t> </a:t>
                </a:r>
              </a:p>
              <a:p>
                <a:pPr lvl="2"/>
                <a:r>
                  <a:rPr lang="en-US" sz="1600" dirty="0"/>
                  <a:t>Requires knowledge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b="0" dirty="0"/>
                  <a:t>: to compute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b="0" dirty="0"/>
                  <a:t> we need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b="0" dirty="0"/>
                  <a:t>, but we are running simulations to estimate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b="0" dirty="0"/>
                  <a:t> </a:t>
                </a:r>
                <a:r>
                  <a:rPr lang="en-US" sz="1600" b="0" dirty="0">
                    <a:sym typeface="Wingdings" panose="05000000000000000000" pitchFamily="2" charset="2"/>
                  </a:rPr>
                  <a:t></a:t>
                </a:r>
              </a:p>
              <a:p>
                <a:pPr lvl="1"/>
                <a:r>
                  <a:rPr lang="en-US" sz="2000" dirty="0">
                    <a:sym typeface="Wingdings" panose="05000000000000000000" pitchFamily="2" charset="2"/>
                  </a:rPr>
                  <a:t>Dagum-Karp-Luby-Ross</a:t>
                </a:r>
                <a:r>
                  <a:rPr lang="en-US" sz="2000" baseline="30000" dirty="0">
                    <a:sym typeface="Wingdings" panose="05000000000000000000" pitchFamily="2" charset="2"/>
                  </a:rPr>
                  <a:t>1 </a:t>
                </a:r>
                <a:r>
                  <a:rPr lang="en-US" sz="2000" dirty="0">
                    <a:sym typeface="Wingdings" panose="05000000000000000000" pitchFamily="2" charset="2"/>
                  </a:rPr>
                  <a:t>convert this into an optimal algorithm where small pilot estimates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</m:oMath>
                </a14:m>
                <a:r>
                  <a:rPr lang="en-US" sz="2000" b="0" dirty="0"/>
                  <a:t>, uses that to get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b="0" dirty="0"/>
                  <a:t>…</a:t>
                </a:r>
              </a:p>
              <a:p>
                <a:pPr lvl="1"/>
                <a:endParaRPr lang="en-US" sz="2000" b="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AACE401-D178-F768-2B02-6787D49572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8" t="-1299" b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BD8E25-F087-C7F4-EF2B-65A2F2FB6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21E956-1BA6-F290-2AED-615FB553F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Chernoff bounds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2DCA8-24FE-2DC1-918D-F211695C56F8}"/>
              </a:ext>
            </a:extLst>
          </p:cNvPr>
          <p:cNvSpPr txBox="1"/>
          <p:nvPr/>
        </p:nvSpPr>
        <p:spPr>
          <a:xfrm>
            <a:off x="2424701" y="5830584"/>
            <a:ext cx="582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https://epubs.siam.org/doi/10.1137/S0097539797315306</a:t>
            </a:r>
          </a:p>
        </p:txBody>
      </p:sp>
    </p:spTree>
    <p:extLst>
      <p:ext uri="{BB962C8B-B14F-4D97-AF65-F5344CB8AC3E}">
        <p14:creationId xmlns:p14="http://schemas.microsoft.com/office/powerpoint/2010/main" val="596969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1231F4-A0FD-5061-A1EE-B4C411B5D6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≤2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⇒</m:t>
                    </m:r>
                  </m:oMath>
                </a14:m>
                <a:r>
                  <a:rPr lang="en-US" b="0" dirty="0"/>
                  <a:t>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den>
                            </m:f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Run exactly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simulations, compute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Report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dirty="0"/>
                  <a:t> with confidence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Guarantee: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Issues:</a:t>
                </a:r>
              </a:p>
              <a:p>
                <a:r>
                  <a:rPr lang="en-US" dirty="0"/>
                  <a:t>Assumes worst-case variance, which for Bernoulli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Variance is highest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, but if actual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r>
                  <a:rPr lang="en-US" dirty="0"/>
                  <a:t>, then actual var is tiny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1231F4-A0FD-5061-A1EE-B4C411B5D6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272DB2-1D12-8F6E-5C76-D69873109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F90560-3AA4-5DEA-77CF-433EDB35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Hoeffding</a:t>
            </a:r>
            <a:r>
              <a:rPr lang="en-US" dirty="0"/>
              <a:t>/Okamoto	</a:t>
            </a:r>
          </a:p>
        </p:txBody>
      </p:sp>
    </p:spTree>
    <p:extLst>
      <p:ext uri="{BB962C8B-B14F-4D97-AF65-F5344CB8AC3E}">
        <p14:creationId xmlns:p14="http://schemas.microsoft.com/office/powerpoint/2010/main" val="3574036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8CDDD4B-AEE8-F477-139C-6C1A9180E5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Clopper-Pearson has the opposite philosophy</a:t>
                </a:r>
              </a:p>
              <a:p>
                <a:r>
                  <a:rPr lang="en-US" dirty="0"/>
                  <a:t>If you have already observed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successes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trials, for what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this plausible? </a:t>
                </a:r>
              </a:p>
              <a:p>
                <a:r>
                  <a:rPr lang="en-US" dirty="0"/>
                  <a:t>Find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that covers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with probability at least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Total failure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, so we put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in each tail, and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dirty="0"/>
                  <a:t>, s</a:t>
                </a:r>
                <a:r>
                  <a:rPr lang="en-US" dirty="0" err="1"/>
                  <a:t>.t.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𝐵𝑖𝑛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𝐵𝑖𝑛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Above equations have closed-form solutions: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endParaRPr lang="mr-IN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 is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quantile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𝐵𝑒𝑡𝑎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8CDDD4B-AEE8-F477-139C-6C1A9180E5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857" r="-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C9CA39-EB9B-D4EA-B10F-5E043AB62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AD8B10-A225-84A4-C2F4-123F7042A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Clopper-Pearson bounds</a:t>
            </a:r>
          </a:p>
        </p:txBody>
      </p:sp>
    </p:spTree>
    <p:extLst>
      <p:ext uri="{BB962C8B-B14F-4D97-AF65-F5344CB8AC3E}">
        <p14:creationId xmlns:p14="http://schemas.microsoft.com/office/powerpoint/2010/main" val="3879946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0F28811-2171-E8B3-56E7-0C8CC81691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859622"/>
                <a:ext cx="11699087" cy="3824418"/>
              </a:xfrm>
            </p:spPr>
            <p:txBody>
              <a:bodyPr/>
              <a:lstStyle/>
              <a:p>
                <a:r>
                  <a:rPr lang="en-US" dirty="0"/>
                  <a:t>Repeatedly generate sample points until enough information has been obtained to return answer with required confidence</a:t>
                </a:r>
              </a:p>
              <a:p>
                <a:pPr lvl="1"/>
                <a:r>
                  <a:rPr lang="en-US" dirty="0"/>
                  <a:t>Number of observations may not be known </a:t>
                </a:r>
                <a:r>
                  <a:rPr lang="en-US" i="1" dirty="0"/>
                  <a:t>a priori</a:t>
                </a:r>
              </a:p>
              <a:p>
                <a:endParaRPr lang="en-US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𝑇𝑟𝑎𝑐𝑒𝑠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i="1" dirty="0"/>
                  <a:t>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nor/>
                      </m:rPr>
                      <a:rPr lang="en-US" i="1" dirty="0"/>
                      <m:t> </m:t>
                    </m:r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𝑇𝑟𝑎𝑐𝑒𝑠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⊨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i="1" dirty="0"/>
                  <a:t>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nor/>
                      </m:rPr>
                      <a:rPr lang="en-US" i="1" dirty="0"/>
                      <m:t> </m:t>
                    </m:r>
                  </m:oMath>
                </a14:m>
                <a:endParaRPr lang="en-US" i="1" dirty="0"/>
              </a:p>
              <a:p>
                <a:endParaRPr lang="en-US" i="1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0F28811-2171-E8B3-56E7-0C8CC81691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859622"/>
                <a:ext cx="11699087" cy="3824418"/>
              </a:xfrm>
              <a:blipFill>
                <a:blip r:embed="rId2"/>
                <a:stretch>
                  <a:fillRect l="-521" t="-2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68608D-A569-5E7B-A603-2D549A6D7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889155-C8C5-DEA1-0745-63520B950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Testing</a:t>
            </a:r>
          </a:p>
        </p:txBody>
      </p:sp>
    </p:spTree>
    <p:extLst>
      <p:ext uri="{BB962C8B-B14F-4D97-AF65-F5344CB8AC3E}">
        <p14:creationId xmlns:p14="http://schemas.microsoft.com/office/powerpoint/2010/main" val="563172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F60610E-14FF-8961-339D-EFFB4E3B51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11699087" cy="4695899"/>
              </a:xfrm>
            </p:spPr>
            <p:txBody>
              <a:bodyPr/>
              <a:lstStyle/>
              <a:p>
                <a:r>
                  <a:rPr lang="en-US" dirty="0"/>
                  <a:t>AKA Wald’s test</a:t>
                </a:r>
              </a:p>
              <a:p>
                <a:r>
                  <a:rPr lang="en-US" dirty="0"/>
                  <a:t>Maintains Bayesian likelihood ratio expressing how hypothesis fare against each other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sup>
                              </m:sSubSup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sup>
                              </m:sSub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SPRT accepts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den>
                    </m:f>
                  </m:oMath>
                </a14:m>
                <a:r>
                  <a:rPr lang="en-US" dirty="0"/>
                  <a:t> and accepts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If neither condition holds, it samples one more point (increasing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F60610E-14FF-8961-339D-EFFB4E3B51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11699087" cy="4695899"/>
              </a:xfrm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F62002-BF84-7A81-43AA-E401FA262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3F5795-CE62-47DE-C4C4-2470A0BCE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Probability Ratio Test (SPRT)</a:t>
            </a:r>
          </a:p>
        </p:txBody>
      </p:sp>
    </p:spTree>
    <p:extLst>
      <p:ext uri="{BB962C8B-B14F-4D97-AF65-F5344CB8AC3E}">
        <p14:creationId xmlns:p14="http://schemas.microsoft.com/office/powerpoint/2010/main" val="527793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069AFBB-225B-6850-AF14-262668623D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The Mori-Zwanzig (MZ) method</a:t>
                </a:r>
              </a:p>
              <a:p>
                <a:r>
                  <a:rPr lang="en-US" sz="2000" dirty="0"/>
                  <a:t>Full system lives in a high-dimensional space and is expensive to simulate</a:t>
                </a:r>
              </a:p>
              <a:p>
                <a:r>
                  <a:rPr lang="en-US" sz="2000" dirty="0"/>
                  <a:t>Apply MZ to obtain a reduced model for variables that appear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Reduced model captures relevant dynamics </a:t>
                </a:r>
              </a:p>
              <a:p>
                <a:r>
                  <a:rPr lang="en-US" sz="2000" dirty="0"/>
                  <a:t>Run SMC on the reduced model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sz="2000" dirty="0"/>
                  <a:t>Key formal guarantee:</a:t>
                </a:r>
              </a:p>
              <a:p>
                <a:r>
                  <a:rPr lang="en-US" sz="2000" dirty="0"/>
                  <a:t>Probability measure on paths is preserved; SMC estimates on reduced model are valid for the original</a:t>
                </a:r>
              </a:p>
              <a:p>
                <a:r>
                  <a:rPr lang="en-US" sz="2000" dirty="0"/>
                  <a:t>Main idea: dynamics of variables of interest coupled to variables of disinterest take form of:</a:t>
                </a:r>
              </a:p>
              <a:p>
                <a:pPr lvl="1"/>
                <a:r>
                  <a:rPr lang="en-US" sz="1800" dirty="0"/>
                  <a:t>Markovian drift + memory integral + noise</a:t>
                </a:r>
              </a:p>
              <a:p>
                <a:pPr lvl="1"/>
                <a:endParaRPr lang="en-US" sz="18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069AFBB-225B-6850-AF14-262668623D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FAE665-8398-EF46-47C0-881012275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D51682-0A3C-767C-6CA1-C7E73D0D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SMC + model reduction</a:t>
            </a:r>
            <a:r>
              <a:rPr lang="en-US" baseline="30000" dirty="0"/>
              <a:t>1</a:t>
            </a:r>
            <a:r>
              <a:rPr lang="en-US" dirty="0"/>
              <a:t>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4A9514-3C68-6D6F-B50F-E1569DD835A0}"/>
              </a:ext>
            </a:extLst>
          </p:cNvPr>
          <p:cNvSpPr txBox="1"/>
          <p:nvPr/>
        </p:nvSpPr>
        <p:spPr>
          <a:xfrm>
            <a:off x="326232" y="5276295"/>
            <a:ext cx="10566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1. Wang, Yu, Nima Roohi, Matthew West, Mahesh Viswanathan, and Geir E. </a:t>
            </a:r>
            <a:r>
              <a:rPr lang="en-US" sz="1400" dirty="0" err="1">
                <a:solidFill>
                  <a:srgbClr val="FF0000"/>
                </a:solidFill>
              </a:rPr>
              <a:t>Dullerud</a:t>
            </a:r>
            <a:r>
              <a:rPr lang="en-US" sz="1400" dirty="0">
                <a:solidFill>
                  <a:srgbClr val="FF0000"/>
                </a:solidFill>
              </a:rPr>
              <a:t>. "Verifying continuous-time stochastic hybrid systems via Mori-Zwanzig model reduction." In </a:t>
            </a:r>
            <a:r>
              <a:rPr lang="en-US" sz="1400" i="1" dirty="0">
                <a:solidFill>
                  <a:srgbClr val="FF0000"/>
                </a:solidFill>
              </a:rPr>
              <a:t>2016 IEEE 55th conference on decision and control (CDC)</a:t>
            </a:r>
            <a:r>
              <a:rPr lang="en-US" sz="1400" dirty="0">
                <a:solidFill>
                  <a:srgbClr val="FF0000"/>
                </a:solidFill>
              </a:rPr>
              <a:t>, pp. 3012-3017. IEEE, 2016.</a:t>
            </a:r>
          </a:p>
        </p:txBody>
      </p:sp>
    </p:spTree>
    <p:extLst>
      <p:ext uri="{BB962C8B-B14F-4D97-AF65-F5344CB8AC3E}">
        <p14:creationId xmlns:p14="http://schemas.microsoft.com/office/powerpoint/2010/main" val="801825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ABC40A0-541B-AB77-CFD0-A372A1FE25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456" y="1320229"/>
                <a:ext cx="11699087" cy="438979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Bayesian SMC places a prior distribution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r>
                  <a:rPr lang="en-US" dirty="0"/>
                  <a:t>: prior probability density function over unknown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-US" dirty="0"/>
                  <a:t> : because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is a density</a:t>
                </a:r>
              </a:p>
              <a:p>
                <a:r>
                  <a:rPr lang="en-US" dirty="0"/>
                  <a:t>Bayes’ theorem: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sepChr m:val="∣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groupCh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𝑝𝑜𝑠𝑡𝑒𝑟𝑖𝑜𝑟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sepChr m:val="∣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groupCh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𝑙𝑖𝑘𝑒𝑙𝑖h𝑜𝑜𝑑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e>
                        </m:groupCh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𝑝𝑟𝑖𝑜𝑟</m:t>
                        </m:r>
                      </m:lim>
                    </m:limLow>
                  </m:oMath>
                </a14:m>
                <a:endParaRPr lang="en-US" dirty="0"/>
              </a:p>
              <a:p>
                <a:r>
                  <a:rPr lang="en-US" dirty="0"/>
                  <a:t>In general posterior can be a complicated function</a:t>
                </a:r>
              </a:p>
              <a:p>
                <a:r>
                  <a:rPr lang="en-US" dirty="0"/>
                  <a:t>Conjugate prior: special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posterior belongs to same family as prior</a:t>
                </a:r>
              </a:p>
              <a:p>
                <a:pPr lvl="1"/>
                <a:r>
                  <a:rPr lang="en-US" dirty="0"/>
                  <a:t>E.g. Beta distribution is a conjugate prior for a Binomial distribution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ABC40A0-541B-AB77-CFD0-A372A1FE25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456" y="1320229"/>
                <a:ext cx="11699087" cy="4389790"/>
              </a:xfrm>
              <a:blipFill>
                <a:blip r:embed="rId2"/>
                <a:stretch>
                  <a:fillRect l="-521" t="-2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554BAA-76E2-DCE5-8DBD-7B6B089A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A56A0A-0F62-6763-CF71-1CEC5C5A2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SMC [1,2]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DA942A-7724-BDDB-B492-982B5E22F02F}"/>
              </a:ext>
            </a:extLst>
          </p:cNvPr>
          <p:cNvSpPr txBox="1"/>
          <p:nvPr/>
        </p:nvSpPr>
        <p:spPr>
          <a:xfrm>
            <a:off x="166680" y="5710019"/>
            <a:ext cx="9260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200" dirty="0">
                <a:solidFill>
                  <a:srgbClr val="FF0000"/>
                </a:solidFill>
              </a:rPr>
              <a:t>"A Bayesian Approach to Model Checking Biological Systems" (CMSB 2009) </a:t>
            </a:r>
            <a:r>
              <a:rPr lang="en-US" sz="1200" i="1" dirty="0">
                <a:solidFill>
                  <a:srgbClr val="FF0000"/>
                </a:solidFill>
              </a:rPr>
              <a:t>Jha, Clarke, Langmead, Legay, Platzer, Zuliani</a:t>
            </a:r>
          </a:p>
          <a:p>
            <a:pPr marL="342900" indent="-342900">
              <a:buAutoNum type="arabicPeriod"/>
            </a:pPr>
            <a:r>
              <a:rPr lang="en-US" sz="1200" dirty="0">
                <a:solidFill>
                  <a:srgbClr val="FF0000"/>
                </a:solidFill>
              </a:rPr>
              <a:t>Bayesian Statistical Model Checking with Application to </a:t>
            </a:r>
            <a:r>
              <a:rPr lang="en-US" sz="1200" dirty="0" err="1">
                <a:solidFill>
                  <a:srgbClr val="FF0000"/>
                </a:solidFill>
              </a:rPr>
              <a:t>Stateflow</a:t>
            </a:r>
            <a:r>
              <a:rPr lang="en-US" sz="1200" dirty="0">
                <a:solidFill>
                  <a:srgbClr val="FF0000"/>
                </a:solidFill>
              </a:rPr>
              <a:t>/Simulink Verification" (HSCC 2010 / FMSD 2013) </a:t>
            </a:r>
            <a:r>
              <a:rPr lang="en-US" sz="1200" i="1" dirty="0">
                <a:solidFill>
                  <a:srgbClr val="FF0000"/>
                </a:solidFill>
              </a:rPr>
              <a:t>Zuliani, Platzer, Clarke</a:t>
            </a:r>
          </a:p>
          <a:p>
            <a:pPr marL="342900" indent="-342900">
              <a:buAutoNum type="arabicPeriod"/>
            </a:pP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6451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38F8F-AD6F-66FE-0CF2-8ABEF80BC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AD7E71C-62D1-3CB5-AEEB-8BF5E534D3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456" y="1320229"/>
                <a:ext cx="11699087" cy="438979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</a:rPr>
                  <a:t>Beta distribution:</a:t>
                </a:r>
              </a:p>
              <a:p>
                <a:r>
                  <a:rPr lang="en-US" sz="2000" dirty="0">
                    <a:latin typeface="Cambria Math" panose="02040503050406030204" pitchFamily="18" charset="0"/>
                  </a:rPr>
                  <a:t>Random variable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Beta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has density: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den>
                    </m:f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Beta function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: normalizing constant of Beta dist.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Beta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​,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l-GR" i="1" dirty="0">
                        <a:latin typeface="Cambria Math" panose="02040503050406030204" pitchFamily="18" charset="0"/>
                      </a:rPr>
                      <m:t>​)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Jeffrey’s prior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Beta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is the canonical uninformative prior</a:t>
                </a:r>
              </a:p>
              <a:p>
                <a:r>
                  <a:rPr lang="en-US" dirty="0"/>
                  <a:t>After observing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, the posterior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Beta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AD7E71C-62D1-3CB5-AEEB-8BF5E534D3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456" y="1320229"/>
                <a:ext cx="11699087" cy="4389790"/>
              </a:xfrm>
              <a:blipFill>
                <a:blip r:embed="rId2"/>
                <a:stretch>
                  <a:fillRect l="-521" t="-1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F73B94-C42E-BE7E-9DD3-FB9224E4F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8CB1A5-363D-87B7-BC01-5E179BBE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SMC [1,2]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AA5634-1CCD-B2E7-C39E-EBBC7E66C4D6}"/>
              </a:ext>
            </a:extLst>
          </p:cNvPr>
          <p:cNvSpPr txBox="1"/>
          <p:nvPr/>
        </p:nvSpPr>
        <p:spPr>
          <a:xfrm>
            <a:off x="166680" y="5710019"/>
            <a:ext cx="9260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200" dirty="0">
                <a:solidFill>
                  <a:srgbClr val="FF0000"/>
                </a:solidFill>
              </a:rPr>
              <a:t>"A Bayesian Approach to Model Checking Biological Systems" (CMSB 2009) </a:t>
            </a:r>
            <a:r>
              <a:rPr lang="en-US" sz="1200" i="1" dirty="0">
                <a:solidFill>
                  <a:srgbClr val="FF0000"/>
                </a:solidFill>
              </a:rPr>
              <a:t>Jha, Clarke, Langmead, Legay, Platzer, Zuliani</a:t>
            </a:r>
          </a:p>
          <a:p>
            <a:pPr marL="342900" indent="-342900">
              <a:buAutoNum type="arabicPeriod"/>
            </a:pPr>
            <a:r>
              <a:rPr lang="en-US" sz="1200" dirty="0">
                <a:solidFill>
                  <a:srgbClr val="FF0000"/>
                </a:solidFill>
              </a:rPr>
              <a:t>Bayesian Statistical Model Checking with Application to </a:t>
            </a:r>
            <a:r>
              <a:rPr lang="en-US" sz="1200" dirty="0" err="1">
                <a:solidFill>
                  <a:srgbClr val="FF0000"/>
                </a:solidFill>
              </a:rPr>
              <a:t>Stateflow</a:t>
            </a:r>
            <a:r>
              <a:rPr lang="en-US" sz="1200" dirty="0">
                <a:solidFill>
                  <a:srgbClr val="FF0000"/>
                </a:solidFill>
              </a:rPr>
              <a:t>/Simulink Verification" (HSCC 2010 / FMSD 2013) </a:t>
            </a:r>
            <a:r>
              <a:rPr lang="en-US" sz="1200" i="1" dirty="0">
                <a:solidFill>
                  <a:srgbClr val="FF0000"/>
                </a:solidFill>
              </a:rPr>
              <a:t>Zuliani, Platzer, Clarke</a:t>
            </a:r>
          </a:p>
          <a:p>
            <a:pPr marL="342900" indent="-342900">
              <a:buAutoNum type="arabicPeriod"/>
            </a:pP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3547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6EB746E-8AB9-F35E-7F46-75A5AD6EE1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Decision rule: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𝑑𝑝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𝑑𝑝</m:t>
                              </m:r>
                            </m:e>
                          </m:nary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: Regularized incomplete Beta function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𝐵𝐹</m:t>
                    </m:r>
                  </m:oMath>
                </a14:m>
                <a:r>
                  <a:rPr lang="en-US" dirty="0"/>
                  <a:t>: Bayes Factor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Accept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Accept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Draw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more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samples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6EB746E-8AB9-F35E-7F46-75A5AD6EE1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2AFAC1-4C0D-9FDA-2512-09A5A44F7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Automata Theory, Logic and Formal Verification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22F7D1-7B72-70EE-131C-40FD8599A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Rule for Bayesian SMC</a:t>
            </a:r>
          </a:p>
        </p:txBody>
      </p:sp>
    </p:spTree>
    <p:extLst>
      <p:ext uri="{BB962C8B-B14F-4D97-AF65-F5344CB8AC3E}">
        <p14:creationId xmlns:p14="http://schemas.microsoft.com/office/powerpoint/2010/main" val="3184848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50353</TotalTime>
  <Words>1793</Words>
  <Application>Microsoft Office PowerPoint</Application>
  <PresentationFormat>Widescreen</PresentationFormat>
  <Paragraphs>197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Calibri Light</vt:lpstr>
      <vt:lpstr>Cambria</vt:lpstr>
      <vt:lpstr>Cambria Math</vt:lpstr>
      <vt:lpstr>Wingdings</vt:lpstr>
      <vt:lpstr>Wingdings 3</vt:lpstr>
      <vt:lpstr>Office Theme</vt:lpstr>
      <vt:lpstr>Automata Theory, Logic and Formal Verification  Statistical Verification</vt:lpstr>
      <vt:lpstr>Outline</vt:lpstr>
      <vt:lpstr>SMC</vt:lpstr>
      <vt:lpstr>SMC: main idea</vt:lpstr>
      <vt:lpstr>SMC based on Hypothesis Testing</vt:lpstr>
      <vt:lpstr>Hypothesis Testing</vt:lpstr>
      <vt:lpstr>Type I and II errors</vt:lpstr>
      <vt:lpstr>Motivating Indifference regions</vt:lpstr>
      <vt:lpstr>Error control for hypothesis testing</vt:lpstr>
      <vt:lpstr>Binomial distribution</vt:lpstr>
      <vt:lpstr>Fixed-size sample testing [Sen, Agha, Vishwanathan: CAV ’05]</vt:lpstr>
      <vt:lpstr>How does it work?</vt:lpstr>
      <vt:lpstr>Interesting aspects:</vt:lpstr>
      <vt:lpstr>Error estimation in SMC</vt:lpstr>
      <vt:lpstr>Chernoff bounds</vt:lpstr>
      <vt:lpstr>Hoeffding/Okamoto </vt:lpstr>
      <vt:lpstr>Clopper-Pearson bounds</vt:lpstr>
      <vt:lpstr>Sequential Testing</vt:lpstr>
      <vt:lpstr>Sequential Probability Ratio Test (SPRT)</vt:lpstr>
      <vt:lpstr>SMC + model reduction1 </vt:lpstr>
      <vt:lpstr>Bayesian SMC [1,2]</vt:lpstr>
      <vt:lpstr>Bayesian SMC [1,2]</vt:lpstr>
      <vt:lpstr>Decision Rule for Bayesian SMC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Jyotirmoy Vinay Deshmukh</cp:lastModifiedBy>
  <cp:revision>159</cp:revision>
  <dcterms:created xsi:type="dcterms:W3CDTF">2018-01-04T23:14:16Z</dcterms:created>
  <dcterms:modified xsi:type="dcterms:W3CDTF">2026-04-14T05:04:17Z</dcterms:modified>
</cp:coreProperties>
</file>