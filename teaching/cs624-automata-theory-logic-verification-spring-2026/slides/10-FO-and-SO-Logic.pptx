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3" r:id="rId3"/>
    <p:sldId id="264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7" r:id="rId16"/>
    <p:sldId id="334" r:id="rId17"/>
    <p:sldId id="335" r:id="rId18"/>
    <p:sldId id="336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2" r:id="rId33"/>
    <p:sldId id="353" r:id="rId34"/>
    <p:sldId id="354" r:id="rId35"/>
    <p:sldId id="356" r:id="rId36"/>
    <p:sldId id="351" r:id="rId37"/>
    <p:sldId id="355" r:id="rId38"/>
    <p:sldId id="35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7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Automata Theory, Logic and Formal Verification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/>
              <a:t>Automata Theory, Logic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Basics of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Order Logic</a:t>
            </a:r>
          </a:p>
          <a:p>
            <a:r>
              <a:rPr lang="en-US" dirty="0"/>
              <a:t>Monadic Second Order Logic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C663F-7EA8-4D64-8AF1-3C27305532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186962"/>
                <a:ext cx="11699087" cy="449707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Vocabulary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Collection of:</a:t>
                </a:r>
              </a:p>
              <a:p>
                <a:pPr lvl="1"/>
                <a:r>
                  <a:rPr lang="en-US" sz="1800" dirty="0"/>
                  <a:t>Constant Symbols: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1800" b="0" dirty="0"/>
              </a:p>
              <a:p>
                <a:pPr lvl="1"/>
                <a:r>
                  <a:rPr lang="en-US" sz="1800" dirty="0"/>
                  <a:t>Relation Symbols (also called Predicates):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Function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-structure or a </a:t>
                </a:r>
                <a:r>
                  <a:rPr lang="en-US" b="1" dirty="0"/>
                  <a:t>model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universe</a:t>
                </a:r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think of it as just a collection of concrete things about which we are reasoning,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etc.</a:t>
                </a:r>
              </a:p>
              <a:p>
                <a:pPr lvl="1"/>
                <a:r>
                  <a:rPr lang="en-US" dirty="0"/>
                  <a:t>Symbols have </a:t>
                </a:r>
                <a:r>
                  <a:rPr lang="en-US" i="1" dirty="0"/>
                  <a:t>interpretations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dirty="0"/>
                  <a:t>:</a:t>
                </a:r>
              </a:p>
              <a:p>
                <a:pPr lvl="2"/>
                <a:r>
                  <a:rPr lang="en-US" dirty="0"/>
                  <a:t>Each constant symbol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predicate is interpreted 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relation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function symbol is a 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C663F-7EA8-4D64-8AF1-3C2730553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186962"/>
                <a:ext cx="11699087" cy="4497078"/>
              </a:xfrm>
              <a:blipFill>
                <a:blip r:embed="rId2"/>
                <a:stretch>
                  <a:fillRect l="-521" t="-3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8E4C6-04A8-4B22-A657-898ED401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BDBD5D-296B-483F-9BD9-07467102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Vocabularies</a:t>
            </a:r>
          </a:p>
        </p:txBody>
      </p:sp>
    </p:spTree>
    <p:extLst>
      <p:ext uri="{BB962C8B-B14F-4D97-AF65-F5344CB8AC3E}">
        <p14:creationId xmlns:p14="http://schemas.microsoft.com/office/powerpoint/2010/main" val="360410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1D93AF-17D9-5D08-29AB-25A5D3DDC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Structure is called finite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(universe) is finite</a:t>
                </a:r>
              </a:p>
              <a:p>
                <a:r>
                  <a:rPr lang="en-US" dirty="0"/>
                  <a:t>Example: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structure defines the real field</a:t>
                </a:r>
              </a:p>
              <a:p>
                <a:pPr lvl="1"/>
                <a:r>
                  <a:rPr lang="en-US" dirty="0"/>
                  <a:t>Can omit superscript if the interpretation is fixed</a:t>
                </a:r>
              </a:p>
              <a:p>
                <a:pPr lvl="1"/>
                <a:r>
                  <a:rPr lang="en-US" b="0" dirty="0"/>
                  <a:t>Constant symbols: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is zero,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one,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is a binary predicate symbol that relates all numbers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binary function symbol that maps all numbers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binary function symbol mapping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1D93AF-17D9-5D08-29AB-25A5D3DDC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A762A-74D2-A81D-3BC2-0CD202A6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9DCB10-7196-9412-811E-BBF316B8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45449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3D8B74-74FD-2DCE-8D85-A845B22C7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Don’t explicitly need constants	</a:t>
                </a:r>
              </a:p>
              <a:p>
                <a:pPr lvl="1"/>
                <a:r>
                  <a:rPr lang="en-US" dirty="0"/>
                  <a:t>Constants are just functions of arity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Don’t explicitly need functions</a:t>
                </a:r>
              </a:p>
              <a:p>
                <a:pPr lvl="1"/>
                <a:r>
                  <a:rPr lang="en-US" dirty="0"/>
                  <a:t>The graph of a function defines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Relational vocabulary: one that contains no constants or function symbols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3D8B74-74FD-2DCE-8D85-A845B22C7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2E6F4-181E-8BF1-5337-AE9EBCDF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872AD1-8410-5625-76D6-9DCD95D1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Vocabularies</a:t>
            </a:r>
          </a:p>
        </p:txBody>
      </p:sp>
    </p:spTree>
    <p:extLst>
      <p:ext uri="{BB962C8B-B14F-4D97-AF65-F5344CB8AC3E}">
        <p14:creationId xmlns:p14="http://schemas.microsoft.com/office/powerpoint/2010/main" val="8407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C3ED09F-0420-A9F8-E6A0-38BCA7D6CE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Countably infinite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Each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term</a:t>
                </a:r>
              </a:p>
              <a:p>
                <a:r>
                  <a:rPr lang="en-US" dirty="0"/>
                  <a:t>Each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a term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terms,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function symbol,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a term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terms,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atomic formula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terms,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predicate symbol,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atomic formula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are formulas,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formulae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formula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formulae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C3ED09F-0420-A9F8-E6A0-38BCA7D6CE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FF033-C0CE-3493-D49D-C99F1159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02BE14-CA65-C915-A099-640708E1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Predicate Calculus</a:t>
            </a:r>
          </a:p>
        </p:txBody>
      </p:sp>
    </p:spTree>
    <p:extLst>
      <p:ext uri="{BB962C8B-B14F-4D97-AF65-F5344CB8AC3E}">
        <p14:creationId xmlns:p14="http://schemas.microsoft.com/office/powerpoint/2010/main" val="135167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F6CBE74-DF96-2785-4CB9-A9BA948333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Free variable of a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Constant terms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={∅}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Variables not free are called bound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F6CBE74-DF96-2785-4CB9-A9BA94833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6025F-1A5A-95C6-3EC3-8E2D1AF55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8E550F-1B45-54B5-7460-B5C66B24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Variables, Bound Variables</a:t>
            </a:r>
          </a:p>
        </p:txBody>
      </p:sp>
    </p:spTree>
    <p:extLst>
      <p:ext uri="{BB962C8B-B14F-4D97-AF65-F5344CB8AC3E}">
        <p14:creationId xmlns:p14="http://schemas.microsoft.com/office/powerpoint/2010/main" val="188692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A1F90B-28EB-F012-3D19-5D94825DC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we define the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constant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: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variable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then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A1F90B-28EB-F012-3D19-5D94825DC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1A4BB-6A32-4759-163B-D38DE003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97FCA3-3CE7-59AC-91CF-E5AF9063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of terms</a:t>
            </a:r>
          </a:p>
        </p:txBody>
      </p:sp>
    </p:spTree>
    <p:extLst>
      <p:ext uri="{BB962C8B-B14F-4D97-AF65-F5344CB8AC3E}">
        <p14:creationId xmlns:p14="http://schemas.microsoft.com/office/powerpoint/2010/main" val="98560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A1FFABE-2A43-44C7-B64D-3B0AA77B9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latin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bSup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𝒜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𝒜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does not hold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if either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[similar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]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A1FFABE-2A43-44C7-B64D-3B0AA77B9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FC454-C27B-FF68-A692-F07932CBE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6DA947A-46D5-196F-B5C6-8D6942A8B3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Notion of models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6DA947A-46D5-196F-B5C6-8D6942A8B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20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670E879-DEAE-7BFB-A7DB-EEB8AAE20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Sentence: a formula with no free variables</a:t>
                </a:r>
              </a:p>
              <a:p>
                <a:r>
                  <a:rPr lang="en-US" dirty="0"/>
                  <a:t>A theory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is a set of sentences.</a:t>
                </a:r>
              </a:p>
              <a:p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-structure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is a model of a theory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iff</a:t>
                </a:r>
                <a:r>
                  <a:rPr lang="en-US" dirty="0"/>
                  <a:t> for every sentence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 theory is called </a:t>
                </a:r>
                <a:r>
                  <a:rPr lang="en-US" b="1" dirty="0"/>
                  <a:t>consistent </a:t>
                </a:r>
                <a:r>
                  <a:rPr lang="en-US" dirty="0"/>
                  <a:t>if it has a model</a:t>
                </a:r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Compactness: A theory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consistent </a:t>
                </a:r>
                <a:r>
                  <a:rPr lang="en-US" dirty="0" err="1"/>
                  <a:t>iff</a:t>
                </a:r>
                <a:r>
                  <a:rPr lang="en-US" dirty="0"/>
                  <a:t> every finite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consistent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670E879-DEAE-7BFB-A7DB-EEB8AAE20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8213A-9147-CF27-1EF2-01D3C409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65707C-BCA2-2FC2-E68C-EF2F1818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098189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1B2D9B-10EC-7FA3-F207-249EE8D2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every finite subset of first-order sentences has a model, then the entire set has a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Uses:</a:t>
            </a:r>
          </a:p>
          <a:p>
            <a:pPr marL="514350" indent="-514350">
              <a:buAutoNum type="arabicPeriod"/>
            </a:pPr>
            <a:r>
              <a:rPr lang="en-US" dirty="0"/>
              <a:t>Turn local consistency into global existence</a:t>
            </a:r>
          </a:p>
          <a:p>
            <a:pPr marL="514350" indent="-514350">
              <a:buAutoNum type="arabicPeriod"/>
            </a:pPr>
            <a:r>
              <a:rPr lang="en-US" dirty="0"/>
              <a:t>Understanding the limits of FO logic</a:t>
            </a:r>
          </a:p>
          <a:p>
            <a:pPr marL="514350" indent="-514350">
              <a:buAutoNum type="arabicPeriod"/>
            </a:pPr>
            <a:r>
              <a:rPr lang="en-US" dirty="0"/>
              <a:t>Equivalent to Gödel’s completeness</a:t>
            </a:r>
          </a:p>
          <a:p>
            <a:pPr lvl="1"/>
            <a:r>
              <a:rPr lang="en-US" dirty="0"/>
              <a:t>If a FO sentence is true in every model of a theory, then there is a formal proof of it from that theory</a:t>
            </a:r>
          </a:p>
          <a:p>
            <a:pPr marL="514350" indent="-514350">
              <a:buAutoNum type="arabicPeriod"/>
            </a:pPr>
            <a:r>
              <a:rPr lang="en-US" dirty="0"/>
              <a:t>Parallels compactness in topology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7B673-3EF0-83FF-95B7-AE20AF5F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DB6580-9258-E1DB-3BC6-277BBE68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compactness</a:t>
            </a:r>
          </a:p>
        </p:txBody>
      </p:sp>
    </p:spTree>
    <p:extLst>
      <p:ext uri="{BB962C8B-B14F-4D97-AF65-F5344CB8AC3E}">
        <p14:creationId xmlns:p14="http://schemas.microsoft.com/office/powerpoint/2010/main" val="183138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AC8BB7-03DD-A363-9F68-E567E2325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exists an infinite graph in which each vertex has a finite degree</a:t>
                </a:r>
              </a:p>
              <a:p>
                <a:pPr lvl="1"/>
                <a:r>
                  <a:rPr lang="en-US" dirty="0"/>
                  <a:t>Challenge: </a:t>
                </a:r>
                <a:r>
                  <a:rPr lang="en-US" i="1" dirty="0"/>
                  <a:t>Finite degree </a:t>
                </a:r>
                <a:r>
                  <a:rPr lang="en-US" dirty="0"/>
                  <a:t>cannot be expressed in FOL</a:t>
                </a:r>
              </a:p>
              <a:p>
                <a:r>
                  <a:rPr lang="en-US" dirty="0"/>
                  <a:t>Build up the theory: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 is an undirected graph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¬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800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 has infinite vertices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2"/>
                <a:r>
                  <a:rPr lang="en-US" sz="1800" dirty="0"/>
                  <a:t>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 ∃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</m:t>
                    </m:r>
                    <m:nary>
                      <m:naryPr>
                        <m:chr m:val="⋀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1600" dirty="0"/>
              </a:p>
              <a:p>
                <a:pPr lvl="1"/>
                <a:r>
                  <a:rPr lang="en-US" sz="2000" dirty="0"/>
                  <a:t>No vertex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distinct neighbors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¬∃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…∃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8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limLoc m:val="subSu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=1 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nary>
                          <m:naryPr>
                            <m:chr m:val="⋀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AC8BB7-03DD-A363-9F68-E567E2325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8F894-DFDD-691A-624C-61097109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89F3F44-839B-B8BA-9B63-7EF27365A8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 of local consistency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global existence </a:t>
                </a: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89F3F44-839B-B8BA-9B63-7EF27365A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319493F-67C4-0F89-B743-D2C43BD24A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Take any finite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Only finitely many “infinite vertices” axioms appear (say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Only finitely many degree bounds appear (say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Now build a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trivially satisfy graph axioms with the right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distinct vertices axiom if there are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vertices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(because in any finite model, there is a maximum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we can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appropriately)</a:t>
                </a:r>
              </a:p>
              <a:p>
                <a:endParaRPr lang="en-US" dirty="0"/>
              </a:p>
              <a:p>
                <a:r>
                  <a:rPr lang="en-US" dirty="0"/>
                  <a:t>By compactness: because every finite model is satisfiable,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/>
                  <a:t> is satisfiable!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319493F-67C4-0F89-B743-D2C43BD24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E8F6A-9D68-5BC2-CBDE-9054C955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D8D9CC9E-53B0-FACB-B4D0-CC77A9CAABD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 of local consistency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global existence </a:t>
                </a:r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D8D9CC9E-53B0-FACB-B4D0-CC77A9CAA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55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689C656-AC7C-D0DB-3A87-B6F4A0C9BB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you want to axiomatize a property like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-structure is finite</a:t>
                </a:r>
              </a:p>
              <a:p>
                <a:r>
                  <a:rPr lang="en-US" dirty="0"/>
                  <a:t>If it is possible, then by compactness, you can force an infinite model </a:t>
                </a:r>
              </a:p>
              <a:p>
                <a:endParaRPr lang="en-US" dirty="0"/>
              </a:p>
              <a:p>
                <a:r>
                  <a:rPr lang="en-US" dirty="0"/>
                  <a:t>Following properties are not FO-definable:</a:t>
                </a:r>
              </a:p>
              <a:p>
                <a:pPr lvl="1"/>
                <a:r>
                  <a:rPr lang="en-US" dirty="0"/>
                  <a:t>Finiteness</a:t>
                </a:r>
              </a:p>
              <a:p>
                <a:pPr lvl="1"/>
                <a:r>
                  <a:rPr lang="en-US" dirty="0"/>
                  <a:t>Well-ordering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,&lt;</m:t>
                        </m:r>
                      </m:e>
                    </m:d>
                  </m:oMath>
                </a14:m>
                <a:r>
                  <a:rPr lang="en-US" dirty="0"/>
                  <a:t> is well-ordered if every nonempty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has a least element</a:t>
                </a:r>
              </a:p>
              <a:p>
                <a:pPr lvl="2"/>
                <a:r>
                  <a:rPr lang="en-US" dirty="0"/>
                  <a:t>In any finite subset, there are only finitely many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Every finite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a well order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(i.e. an infinite descending chain)</a:t>
                </a:r>
              </a:p>
              <a:p>
                <a:pPr lvl="2"/>
                <a:r>
                  <a:rPr lang="en-US" dirty="0"/>
                  <a:t>This contradicts being well-ordered</a:t>
                </a:r>
              </a:p>
              <a:p>
                <a:pPr lvl="1"/>
                <a:r>
                  <a:rPr lang="en-US" dirty="0"/>
                  <a:t>Connectedness in graphs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689C656-AC7C-D0DB-3A87-B6F4A0C9BB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3B91B-6E2F-3AE0-9501-006648BE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3078CD-89A5-E695-5D6F-D6C66359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FO Logic through compactness</a:t>
            </a:r>
          </a:p>
        </p:txBody>
      </p:sp>
    </p:spTree>
    <p:extLst>
      <p:ext uri="{BB962C8B-B14F-4D97-AF65-F5344CB8AC3E}">
        <p14:creationId xmlns:p14="http://schemas.microsoft.com/office/powerpoint/2010/main" val="2100238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4DB4D3-D5BA-1DC9-39C0-26A733E83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Transitive closure (reachability in a graph)</a:t>
            </a:r>
          </a:p>
          <a:p>
            <a:r>
              <a:rPr lang="en-US" dirty="0"/>
              <a:t>Fixed points</a:t>
            </a:r>
          </a:p>
          <a:p>
            <a:r>
              <a:rPr lang="en-US" dirty="0"/>
              <a:t>3-colorability of a graph</a:t>
            </a:r>
          </a:p>
          <a:p>
            <a:r>
              <a:rPr lang="en-US" dirty="0" err="1"/>
              <a:t>Hamiltonicity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graph is Hamiltonian if it has a Hamiltonian circuit (simple cycle that visits every graph node exactly once)</a:t>
            </a:r>
          </a:p>
          <a:p>
            <a:r>
              <a:rPr lang="en-US" dirty="0"/>
              <a:t>Many types of regular languages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0F8AE-9BB5-8E8B-0C78-3B0018A2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0CF6A9-A041-10FE-041D-9C2FAC6E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useful properties are NOT expressible in FOL</a:t>
            </a:r>
          </a:p>
        </p:txBody>
      </p:sp>
    </p:spTree>
    <p:extLst>
      <p:ext uri="{BB962C8B-B14F-4D97-AF65-F5344CB8AC3E}">
        <p14:creationId xmlns:p14="http://schemas.microsoft.com/office/powerpoint/2010/main" val="3013278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6E4BEDF-1347-1213-CE2D-74221BA314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Theorem</a:t>
                </a:r>
                <a:r>
                  <a:rPr lang="en-US" dirty="0"/>
                  <a:t>: If a FO theory has an infinite model, then it has a countable model</a:t>
                </a:r>
              </a:p>
              <a:p>
                <a:pPr marL="0" indent="0">
                  <a:buNone/>
                </a:pPr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+,×,&lt;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200" dirty="0"/>
                  <a:t>Would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200" dirty="0"/>
                  <a:t> work? (It’s countable)</a:t>
                </a:r>
              </a:p>
              <a:p>
                <a:pPr lvl="1"/>
                <a:r>
                  <a:rPr lang="en-US" sz="2200" dirty="0"/>
                  <a:t>Closure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200" dirty="0"/>
                  <a:t> under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+,×</m:t>
                        </m:r>
                      </m:e>
                    </m:d>
                  </m:oMath>
                </a14:m>
                <a:r>
                  <a:rPr lang="en-US" sz="2200" dirty="0"/>
                  <a:t> yields back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But: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&gt;0∃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200" dirty="0"/>
                  <a:t> is true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200" dirty="0"/>
                  <a:t>, but the model of above formula is not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We could add all algebraic numbers (root of a polynomial with integer coefficients)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200" dirty="0"/>
                  <a:t>What about 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s.t.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are algebraic numbers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, but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is not algebraic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200" dirty="0"/>
                  <a:t>We keep adding some transcendental numbers, various limits and combinations [but only one witness per statement]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200" dirty="0"/>
                  <a:t>The kicker: there are only countably many FO formulas </a:t>
                </a:r>
              </a:p>
              <a:p>
                <a:pPr marL="0" indent="0">
                  <a:buNone/>
                </a:pPr>
                <a:r>
                  <a:rPr lang="en-US" sz="2200" dirty="0"/>
                  <a:t>We get :</a:t>
                </a:r>
              </a:p>
              <a:p>
                <a:r>
                  <a:rPr lang="en-US" sz="2200" dirty="0"/>
                  <a:t>countable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200" dirty="0"/>
                  <a:t>closed under all required operations (if there is a FO-sentence saying something,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/>
                  <a:t> already has it)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6E4BEDF-1347-1213-CE2D-74221BA31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t="-2597" b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C22F-8420-3516-8E21-2239BCA6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44EB76-E582-4C0A-18F8-FDC7A813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Löwenheim-</a:t>
            </a:r>
            <a:r>
              <a:rPr lang="en-US" dirty="0" err="1"/>
              <a:t>Skolem</a:t>
            </a:r>
            <a:r>
              <a:rPr lang="en-US" dirty="0"/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2024227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0AE2EF0-F9FE-4109-5F9B-718385666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Whenever a formula says : “for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</a:t>
                </a:r>
              </a:p>
              <a:p>
                <a:pPr lvl="1"/>
                <a:r>
                  <a:rPr lang="en-US" dirty="0"/>
                  <a:t>We replace this statement with a function that chooses such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called “Skolemization”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 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becomes: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𝑠𝑞𝑟𝑡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We added a new function symbol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𝑠𝑞𝑟𝑡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Skolem</a:t>
                </a:r>
                <a:r>
                  <a:rPr lang="en-US" dirty="0"/>
                  <a:t> functions are a systematic way of constructing countable models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0AE2EF0-F9FE-4109-5F9B-718385666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C4745-220C-FE6B-5B88-6EF04833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72B3FB-8CEF-B501-185B-F66B11DB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Skolem</a:t>
            </a:r>
            <a:r>
              <a:rPr lang="en-US" dirty="0"/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2725763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EFD543-76AD-9EDA-1940-C5D0E06E2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Used to measure how well FOL can distinguish between two structures</a:t>
                </a:r>
              </a:p>
              <a:p>
                <a:r>
                  <a:rPr lang="en-US" dirty="0"/>
                  <a:t>Number of rounds corresponds to logical complexity</a:t>
                </a:r>
              </a:p>
              <a:p>
                <a:r>
                  <a:rPr lang="en-US" dirty="0"/>
                  <a:t>Game has two players : spoiler and duplicator; Each round:</a:t>
                </a:r>
              </a:p>
              <a:p>
                <a:pPr lvl="1"/>
                <a:r>
                  <a:rPr lang="en-US" dirty="0"/>
                  <a:t>Spoiler picks an element from either structure </a:t>
                </a:r>
              </a:p>
              <a:p>
                <a:pPr lvl="1"/>
                <a:r>
                  <a:rPr lang="en-US" dirty="0"/>
                  <a:t>Duplicator responds by picking an element from the other structure</a:t>
                </a:r>
              </a:p>
              <a:p>
                <a:pPr lvl="1"/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rounds, we have two sequences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Duplicator wins if the map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preserves structure, i.e.,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Same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, functions etc.</a:t>
                </a:r>
              </a:p>
              <a:p>
                <a:pPr lvl="1"/>
                <a:r>
                  <a:rPr lang="en-US" dirty="0"/>
                  <a:t>Spoiler wins otherwise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EFD543-76AD-9EDA-1940-C5D0E06E2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48ACB-8D9A-0D3B-DFF5-ACD42D2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70E0B1-E67A-87C1-F43D-88D520E54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Ehrenfeucht-</a:t>
            </a:r>
            <a:r>
              <a:rPr lang="en-US" dirty="0" err="1"/>
              <a:t>Fraïsse</a:t>
            </a:r>
            <a:r>
              <a:rPr lang="en-US" dirty="0"/>
              <a:t> (EF) Games</a:t>
            </a:r>
          </a:p>
        </p:txBody>
      </p:sp>
    </p:spTree>
    <p:extLst>
      <p:ext uri="{BB962C8B-B14F-4D97-AF65-F5344CB8AC3E}">
        <p14:creationId xmlns:p14="http://schemas.microsoft.com/office/powerpoint/2010/main" val="2936360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BF23F2-A351-C9CF-B203-689BC5F46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,&lt;)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,&lt;)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there an FO formula with quantifier rank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that can distinguish these?</a:t>
                </a:r>
              </a:p>
              <a:p>
                <a:pPr lvl="1"/>
                <a:r>
                  <a:rPr lang="en-US" sz="2000" dirty="0"/>
                  <a:t>Round 1: </a:t>
                </a:r>
              </a:p>
              <a:p>
                <a:pPr lvl="2"/>
                <a:r>
                  <a:rPr lang="en-US" sz="1800" dirty="0"/>
                  <a:t>Spoiler plays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1800" dirty="0"/>
                  <a:t> and picks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sz="1800" dirty="0"/>
              </a:p>
              <a:p>
                <a:pPr lvl="2"/>
                <a:r>
                  <a:rPr lang="en-US" sz="1800" dirty="0"/>
                  <a:t>Duplicator picks some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2000" dirty="0"/>
                  <a:t>Round 2:</a:t>
                </a:r>
              </a:p>
              <a:p>
                <a:pPr lvl="2"/>
                <a:r>
                  <a:rPr lang="en-US" sz="1800" dirty="0"/>
                  <a:t>Spoiler plays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800" dirty="0"/>
                  <a:t> and picks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1800" b="0" dirty="0"/>
              </a:p>
              <a:p>
                <a:pPr lvl="2"/>
                <a:r>
                  <a:rPr lang="en-US" sz="1800" dirty="0"/>
                  <a:t>Duplicator now must pick some number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1800" dirty="0"/>
                  <a:t> corresponding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1800" dirty="0"/>
              </a:p>
              <a:p>
                <a:pPr lvl="3"/>
                <a:r>
                  <a:rPr lang="en-US" sz="1600" b="0" dirty="0"/>
                  <a:t>Because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, duplicator is forced to 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s.t.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lvl="3"/>
                <a:r>
                  <a:rPr lang="en-US" sz="1600" dirty="0"/>
                  <a:t>But there is no such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!</a:t>
                </a:r>
              </a:p>
              <a:p>
                <a:pPr lvl="2"/>
                <a:r>
                  <a:rPr lang="en-US" sz="1800" dirty="0"/>
                  <a:t>Duplicator loses in round 2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400" dirty="0"/>
                  <a:t>there is a formula of </a:t>
                </a:r>
                <a:r>
                  <a:rPr lang="en-US" sz="2400" b="1" i="1" dirty="0"/>
                  <a:t>quantifier rank </a:t>
                </a:r>
                <a:r>
                  <a:rPr lang="en-US" sz="2400" dirty="0"/>
                  <a:t>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distinguishing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,&lt;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,&lt;)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: true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&lt;)</m:t>
                    </m:r>
                  </m:oMath>
                </a14:m>
                <a:r>
                  <a:rPr lang="en-US" dirty="0"/>
                  <a:t> but not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,&lt;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BF23F2-A351-C9CF-B203-689BC5F46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b="-3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89459-58F7-11C8-B2FA-52C791B0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C4E77D-2909-5052-967E-7344825B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Game Example</a:t>
            </a:r>
          </a:p>
        </p:txBody>
      </p:sp>
    </p:spTree>
    <p:extLst>
      <p:ext uri="{BB962C8B-B14F-4D97-AF65-F5344CB8AC3E}">
        <p14:creationId xmlns:p14="http://schemas.microsoft.com/office/powerpoint/2010/main" val="2189749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4B852E-41EC-8F42-1A26-331F114FB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3044466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dirty="0"/>
                  <a:t> be two structures in a relational vocabulary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dirty="0"/>
                  <a:t> agree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  : FOL with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quantifier rank,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dirty="0"/>
                  <a:t>, i.e. Duplicator has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-round winning strategy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4B852E-41EC-8F42-1A26-331F114FB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3044466"/>
              </a:xfrm>
              <a:blipFill>
                <a:blip r:embed="rId2"/>
                <a:stretch>
                  <a:fillRect l="-521" r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DCED0-83F5-9E55-D180-207F607F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969817-5539-0F1A-663F-66F310BE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Ehrenfeucht-</a:t>
            </a:r>
            <a:r>
              <a:rPr lang="en-US" dirty="0" err="1"/>
              <a:t>Fraïsse</a:t>
            </a:r>
            <a:r>
              <a:rPr lang="en-US" dirty="0"/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550671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88DEFD-2EEA-33F4-5883-65089A0CF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250040"/>
                <a:ext cx="11699087" cy="3434000"/>
              </a:xfrm>
            </p:spPr>
            <p:txBody>
              <a:bodyPr/>
              <a:lstStyle/>
              <a:p>
                <a:r>
                  <a:rPr lang="en-US" dirty="0"/>
                  <a:t>No FO sentence can be used to check if a graph is a tree</a:t>
                </a:r>
              </a:p>
              <a:p>
                <a:r>
                  <a:rPr lang="en-US" dirty="0"/>
                  <a:t>Connectivity of finite graphs is not FO-definable</a:t>
                </a:r>
              </a:p>
              <a:p>
                <a:r>
                  <a:rPr lang="en-US" dirty="0"/>
                  <a:t>Not FO-definable:</a:t>
                </a:r>
              </a:p>
              <a:p>
                <a:pPr lvl="1"/>
                <a:r>
                  <a:rPr lang="en-US" dirty="0"/>
                  <a:t>Acyclicity, Planarity, </a:t>
                </a:r>
                <a:r>
                  <a:rPr lang="en-US" dirty="0" err="1"/>
                  <a:t>Hamiltonicity</a:t>
                </a:r>
                <a:r>
                  <a:rPr lang="en-US" dirty="0"/>
                  <a:t>, Existence of a clique of size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88DEFD-2EEA-33F4-5883-65089A0CF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250040"/>
                <a:ext cx="11699087" cy="3434000"/>
              </a:xfrm>
              <a:blipFill>
                <a:blip r:embed="rId2"/>
                <a:stretch>
                  <a:fillRect l="-521" t="-2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8A4B4-37DB-4219-F7FD-9AB271C8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F8F8EF-F8FF-1EF5-7521-089174A3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game uses</a:t>
            </a:r>
          </a:p>
        </p:txBody>
      </p:sp>
    </p:spTree>
    <p:extLst>
      <p:ext uri="{BB962C8B-B14F-4D97-AF65-F5344CB8AC3E}">
        <p14:creationId xmlns:p14="http://schemas.microsoft.com/office/powerpoint/2010/main" val="2707893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75C79D-0544-1459-F5D5-27116E35D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Validity: given a sentence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decide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true in </a:t>
                </a:r>
                <a:r>
                  <a:rPr lang="en-US" i="1" dirty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-structures/models</a:t>
                </a:r>
              </a:p>
              <a:p>
                <a:r>
                  <a:rPr lang="en-US" dirty="0"/>
                  <a:t>Satisfiability: does a given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does it have a </a:t>
                </a:r>
                <a:r>
                  <a:rPr lang="en-US" b="1" dirty="0"/>
                  <a:t>model 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Going back to Church and Turing: FO validity/satisfiability is </a:t>
                </a:r>
                <a:r>
                  <a:rPr lang="en-US" b="1" dirty="0"/>
                  <a:t>undecidable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FO is semi-decidable: halts on YES, may run forever on NO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valid, proof search will find it</a:t>
                </a:r>
              </a:p>
              <a:p>
                <a:pPr lvl="2"/>
                <a:r>
                  <a:rPr lang="en-US" dirty="0"/>
                  <a:t>Enumerate all possible finite strings over the language</a:t>
                </a:r>
              </a:p>
              <a:p>
                <a:pPr lvl="2"/>
                <a:r>
                  <a:rPr lang="en-US" dirty="0"/>
                  <a:t>Filter those that are valid proofs</a:t>
                </a:r>
              </a:p>
              <a:p>
                <a:pPr lvl="2"/>
                <a:r>
                  <a:rPr lang="en-US" dirty="0"/>
                  <a:t>Check if any 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satisfiable, model search will eventually find it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75C79D-0544-1459-F5D5-27116E35D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59C86-7C46-C670-82EA-2A72BF23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8C514B-C4DB-5B9C-4507-91940C1E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 complexity</a:t>
            </a:r>
          </a:p>
        </p:txBody>
      </p:sp>
    </p:spTree>
    <p:extLst>
      <p:ext uri="{BB962C8B-B14F-4D97-AF65-F5344CB8AC3E}">
        <p14:creationId xmlns:p14="http://schemas.microsoft.com/office/powerpoint/2010/main" val="1423945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878240-EA37-811D-9F24-18BFE8466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556535"/>
                <a:ext cx="11699087" cy="4127505"/>
              </a:xfrm>
            </p:spPr>
            <p:txBody>
              <a:bodyPr/>
              <a:lstStyle/>
              <a:p>
                <a:r>
                  <a:rPr lang="en-US" dirty="0"/>
                  <a:t>Fix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-structure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For some FO sentence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Model checking is deciding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checking decidable, but complexity depends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E878240-EA37-811D-9F24-18BFE8466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556535"/>
                <a:ext cx="11699087" cy="4127505"/>
              </a:xfrm>
              <a:blipFill>
                <a:blip r:embed="rId2"/>
                <a:stretch>
                  <a:fillRect l="-521" t="-2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22CF1-CFCF-94DF-9C85-8ED100EC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EF398C-9F45-ABBB-2929-B26A2A69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	</a:t>
            </a:r>
          </a:p>
        </p:txBody>
      </p:sp>
    </p:spTree>
    <p:extLst>
      <p:ext uri="{BB962C8B-B14F-4D97-AF65-F5344CB8AC3E}">
        <p14:creationId xmlns:p14="http://schemas.microsoft.com/office/powerpoint/2010/main" val="30983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55F1593-7A16-5C0F-2703-D8352BD1F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Two-variable logic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Surprisingly expressive</a:t>
                </a:r>
              </a:p>
              <a:p>
                <a:pPr lvl="1"/>
                <a:r>
                  <a:rPr lang="en-US" dirty="0"/>
                  <a:t>Decidable, </a:t>
                </a:r>
                <a:r>
                  <a:rPr lang="en-US" i="0" dirty="0"/>
                  <a:t>NEXPTIME-complete </a:t>
                </a:r>
              </a:p>
              <a:p>
                <a:endParaRPr lang="en-US" dirty="0"/>
              </a:p>
              <a:p>
                <a:r>
                  <a:rPr lang="en-US" dirty="0"/>
                  <a:t>Presburger Arithmetic: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,+,=)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Decidable, Exact complexity depends on kind of quantification</a:t>
                </a:r>
              </a:p>
              <a:p>
                <a:pPr lvl="1"/>
                <a:r>
                  <a:rPr lang="en-US" dirty="0"/>
                  <a:t>QF fragment: NP-complete</a:t>
                </a:r>
              </a:p>
              <a:p>
                <a:pPr lvl="1"/>
                <a:r>
                  <a:rPr lang="en-US" dirty="0"/>
                  <a:t>General quantifiers: between 2-NEXPTIME and 2-EXPSPACE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55F1593-7A16-5C0F-2703-D8352BD1F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BC384-7639-F753-E738-07FB186A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C02B31-5AF1-2A3D-6D7F-FD8D4EB6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Fragments of FOL (theories)</a:t>
            </a:r>
          </a:p>
        </p:txBody>
      </p:sp>
    </p:spTree>
    <p:extLst>
      <p:ext uri="{BB962C8B-B14F-4D97-AF65-F5344CB8AC3E}">
        <p14:creationId xmlns:p14="http://schemas.microsoft.com/office/powerpoint/2010/main" val="2192934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F06663-A5EF-292D-D9CC-0164E1981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Real Closed Fields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+,×, &lt;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Decidable!</a:t>
                </a:r>
              </a:p>
              <a:p>
                <a:pPr lvl="1"/>
                <a:r>
                  <a:rPr lang="en-US" dirty="0"/>
                  <a:t>Time &amp; Space Complexity believed to be doubly exponential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Purely existential formulas: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product of the degrees of polynomials,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: number of quantified vars</a:t>
                </a:r>
              </a:p>
              <a:p>
                <a:endParaRPr lang="en-US" dirty="0"/>
              </a:p>
              <a:p>
                <a:r>
                  <a:rPr lang="en-US" dirty="0"/>
                  <a:t>Guarded Fragment</a:t>
                </a:r>
              </a:p>
              <a:p>
                <a:pPr lvl="1"/>
                <a:r>
                  <a:rPr lang="en-US" sz="2000" dirty="0" err="1"/>
                  <a:t>Quantifers</a:t>
                </a:r>
                <a:r>
                  <a:rPr lang="en-US" sz="2000" dirty="0"/>
                  <a:t> are guarded by relations: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F06663-A5EF-292D-D9CC-0164E1981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93F32-839D-B119-0308-21CDEFE4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40462F-5B0C-1598-849C-A93E7D60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Theories</a:t>
            </a:r>
          </a:p>
        </p:txBody>
      </p:sp>
    </p:spTree>
    <p:extLst>
      <p:ext uri="{BB962C8B-B14F-4D97-AF65-F5344CB8AC3E}">
        <p14:creationId xmlns:p14="http://schemas.microsoft.com/office/powerpoint/2010/main" val="1874779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B7CD8-F0F1-4FE6-2CA8-E53D67DDE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 + Second-order Variables</a:t>
                </a:r>
              </a:p>
              <a:p>
                <a:r>
                  <a:rPr lang="en-US" dirty="0"/>
                  <a:t>Second-order Variables: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infinitely many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ranges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relations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“There exists a binary relation that is a linear order”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∀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</m:e>
                              </m:groupCh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𝑟𝑒𝑓𝑙𝑒𝑥𝑖𝑣𝑖𝑡𝑦</m:t>
                              </m:r>
                            </m:lim>
                          </m:limLow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∀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 </m:t>
                                  </m:r>
                                </m:e>
                              </m:groupCh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𝑡𝑟𝑎𝑛𝑠𝑖𝑡𝑖𝑣𝑖𝑡𝑦</m:t>
                              </m:r>
                            </m:lim>
                          </m:limLow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∀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𝑜𝑟𝑑𝑒𝑟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B7CD8-F0F1-4FE6-2CA8-E53D67DDE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1B949-80DD-9344-C458-F2EE5CE5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0B4D86-0950-7EA3-3E05-927585CE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Order Logic</a:t>
            </a:r>
          </a:p>
        </p:txBody>
      </p:sp>
    </p:spTree>
    <p:extLst>
      <p:ext uri="{BB962C8B-B14F-4D97-AF65-F5344CB8AC3E}">
        <p14:creationId xmlns:p14="http://schemas.microsoft.com/office/powerpoint/2010/main" val="411229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8C8EC1-996D-2766-5A60-996AE96DC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second-order variables range over relations of arity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Predicate of arity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: a property true/false for any constant in the universe</a:t>
                </a:r>
              </a:p>
              <a:p>
                <a:pPr lvl="1"/>
                <a:r>
                  <a:rPr lang="en-US" dirty="0"/>
                  <a:t>Arity 1 predicate maps some subset of the set of constants to 1, others to 0</a:t>
                </a:r>
              </a:p>
              <a:p>
                <a:r>
                  <a:rPr lang="en-US" dirty="0"/>
                  <a:t>Arity 1 second order-variable : variable that ranges over any such predicate</a:t>
                </a:r>
              </a:p>
              <a:p>
                <a:r>
                  <a:rPr lang="en-US" dirty="0"/>
                  <a:t>In other words, all SO variables range over subsets of the universe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SO: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 FO formula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MSO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s have arity 1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8C8EC1-996D-2766-5A60-996AE96DC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6B06B-472A-5864-4193-1CA524A2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EF257B-6DAE-2806-A29E-219A72D8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Monadic Second Order Logic (MSO)</a:t>
            </a:r>
          </a:p>
        </p:txBody>
      </p:sp>
    </p:spTree>
    <p:extLst>
      <p:ext uri="{BB962C8B-B14F-4D97-AF65-F5344CB8AC3E}">
        <p14:creationId xmlns:p14="http://schemas.microsoft.com/office/powerpoint/2010/main" val="444310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50466F-34B0-818A-1921-9B6B1E593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MSO formula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50466F-34B0-818A-1921-9B6B1E593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6652F7-3CE4-C208-6877-C53CE0CD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93C73E-7365-E528-117D-F80932C7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3-colorability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0F369-E949-81F2-9902-13C235D8E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76" t="9203"/>
          <a:stretch>
            <a:fillRect/>
          </a:stretch>
        </p:blipFill>
        <p:spPr>
          <a:xfrm>
            <a:off x="2301411" y="2075380"/>
            <a:ext cx="8246723" cy="31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40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0FB33-7A5A-FE4E-CF68-03F00F0F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788F17-4EC2-157D-7A47-D276F438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of a clique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0B02D-83A9-9E30-BE20-9A63CB90E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55" y="2201863"/>
            <a:ext cx="10239375" cy="28670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828BC2C3-7806-E216-774D-047863A23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469589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SO formula: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828BC2C3-7806-E216-774D-047863A23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4695899"/>
              </a:xfrm>
              <a:blipFill>
                <a:blip r:embed="rId3"/>
                <a:stretch>
                  <a:fillRect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351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258B3E-7208-5681-62F0-7145DECA2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Graph connectivity expressible in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but not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𝑀𝑆𝑂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Main idea: Graph is not connected if its nodes can be partitioned into two nonempty sets with no edges between them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Graph is connected if there is no such disconnection</a:t>
                </a:r>
              </a:p>
              <a:p>
                <a:r>
                  <a:rPr lang="en-US" dirty="0"/>
                  <a:t>Since above sentence is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𝑀𝑆𝑂</m:t>
                    </m:r>
                  </m:oMath>
                </a14:m>
                <a:r>
                  <a:rPr lang="en-US" dirty="0"/>
                  <a:t>, its negation is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𝑀𝑆𝑂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Converse proof is a bit harder </a:t>
                </a:r>
                <a:r>
                  <a:rPr lang="en-US" dirty="0">
                    <a:sym typeface="Wingdings" panose="05000000000000000000" pitchFamily="2" charset="2"/>
                  </a:rPr>
                  <a:t>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Also, reachability in directed graphs: cannot be expressed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𝑀𝑆𝑂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F258B3E-7208-5681-62F0-7145DECA2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04F9-FF49-4C41-19CF-C8F7E545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690127CE-6C08-C602-5E92-ED40740FB3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𝑀𝑆𝑂</m:t>
                    </m:r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𝑀𝑆𝑂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690127CE-6C08-C602-5E92-ED40740FB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9B912D2-8A52-34AC-F38B-3786824F1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573" y="2792114"/>
            <a:ext cx="6936258" cy="101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72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8E490FF-AEA5-0F2A-DBEF-D28EC0E90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do we represent strings?</a:t>
                </a:r>
              </a:p>
              <a:p>
                <a:r>
                  <a:rPr lang="en-US" dirty="0"/>
                  <a:t>String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𝑎𝑏𝑎𝑎𝑏</m:t>
                    </m:r>
                  </m:oMath>
                </a14:m>
                <a:r>
                  <a:rPr lang="en-US" dirty="0"/>
                  <a:t> can be represented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1,2,3,4,5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,&lt;,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is the usual ordering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={1,3,4}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={2,5}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Strings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 structure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integers,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Vocabulary for strings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{0,…,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},&lt;,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some logic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be some sentence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/>
                  <a:t> in the above vocabulary, then such a sentence defines a language: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Language is definable in logic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/>
                  <a:t> if there exists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/>
                  <a:t>-sentence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8E490FF-AEA5-0F2A-DBEF-D28EC0E90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CF1F5-187F-0860-309B-7E3E9252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D33416-8475-51E9-13BF-B24DFC1E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languages using logic</a:t>
            </a:r>
          </a:p>
        </p:txBody>
      </p:sp>
    </p:spTree>
    <p:extLst>
      <p:ext uri="{BB962C8B-B14F-4D97-AF65-F5344CB8AC3E}">
        <p14:creationId xmlns:p14="http://schemas.microsoft.com/office/powerpoint/2010/main" val="3712669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7A010A-03A9-2931-45EE-5D762DB477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language is definable in MSO </a:t>
                </a:r>
                <a:r>
                  <a:rPr lang="en-US" dirty="0" err="1"/>
                  <a:t>iff</a:t>
                </a:r>
                <a:r>
                  <a:rPr lang="en-US" dirty="0"/>
                  <a:t> it is regular</a:t>
                </a:r>
              </a:p>
              <a:p>
                <a:r>
                  <a:rPr lang="en-US" dirty="0"/>
                  <a:t>Proof:</a:t>
                </a:r>
              </a:p>
              <a:p>
                <a:pPr lvl="1"/>
                <a:r>
                  <a:rPr lang="en-US" dirty="0"/>
                  <a:t>Regular to MSO	</a:t>
                </a:r>
              </a:p>
              <a:p>
                <a:pPr lvl="2"/>
                <a:r>
                  <a:rPr lang="en-US" dirty="0"/>
                  <a:t>Every regular language can be accepted by a DFA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</m:t>
                        </m:r>
                      </m:sub>
                    </m:sSub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partition the set of positions (how to express in FO?)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n-US" dirty="0"/>
                  <a:t>: Asserts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starts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∧∀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</m:oMath>
                </a14:m>
                <a:r>
                  <a:rPr lang="en-US" dirty="0"/>
                  <a:t>: Transitions are simulated correctly: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At end of string,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enters an accept state 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7A010A-03A9-2931-45EE-5D762DB47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51B58-58DC-A119-26C1-7A41FBBA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A95402-3E7B-D034-2D57-29C6EED6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Büchi’s</a:t>
            </a:r>
            <a:r>
              <a:rPr lang="en-US" dirty="0"/>
              <a:t> Theorem (aka </a:t>
            </a:r>
            <a:r>
              <a:rPr lang="en-US" dirty="0" err="1"/>
              <a:t>Büchi-Elgot</a:t>
            </a:r>
            <a:r>
              <a:rPr lang="en-US" dirty="0"/>
              <a:t>–</a:t>
            </a:r>
            <a:r>
              <a:rPr lang="en-US" dirty="0" err="1"/>
              <a:t>Trakhtenbrot</a:t>
            </a:r>
            <a:r>
              <a:rPr lang="en-US" dirty="0"/>
              <a:t> theorem)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FE523-4767-D26B-9E6A-12A9C42C4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43"/>
          <a:stretch>
            <a:fillRect/>
          </a:stretch>
        </p:blipFill>
        <p:spPr>
          <a:xfrm>
            <a:off x="7160741" y="3760693"/>
            <a:ext cx="4705026" cy="77080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9341A0-AE06-497D-F499-53137F98B66F}"/>
              </a:ext>
            </a:extLst>
          </p:cNvPr>
          <p:cNvCxnSpPr>
            <a:cxnSpLocks/>
          </p:cNvCxnSpPr>
          <p:nvPr/>
        </p:nvCxnSpPr>
        <p:spPr>
          <a:xfrm>
            <a:off x="6096000" y="3997411"/>
            <a:ext cx="1163595" cy="67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699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1D647A-4098-060E-283B-BDC5BC088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language is definable in MSO </a:t>
                </a:r>
                <a:r>
                  <a:rPr lang="en-US" dirty="0" err="1"/>
                  <a:t>iff</a:t>
                </a:r>
                <a:r>
                  <a:rPr lang="en-US" dirty="0"/>
                  <a:t> it is regular</a:t>
                </a:r>
              </a:p>
              <a:p>
                <a:r>
                  <a:rPr lang="en-US" dirty="0"/>
                  <a:t>Proof:</a:t>
                </a:r>
              </a:p>
              <a:p>
                <a:pPr lvl="1"/>
                <a:r>
                  <a:rPr lang="en-US" dirty="0"/>
                  <a:t>MSO to Regular</a:t>
                </a:r>
              </a:p>
              <a:p>
                <a:pPr lvl="2"/>
                <a:r>
                  <a:rPr lang="en-US" dirty="0"/>
                  <a:t>Structural Induction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:=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3"/>
                <a:r>
                  <a:rPr lang="en-US" dirty="0"/>
                  <a:t>Build a new alphabet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×{0,1}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3"/>
                <a:r>
                  <a:rPr lang="en-US" dirty="0"/>
                  <a:t>Each position in a word over this alphabet contains the letter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and a guess whether this position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encoded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words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true } </a:t>
                </a:r>
              </a:p>
              <a:p>
                <a:pPr lvl="3"/>
                <a:r>
                  <a:rPr lang="en-US" dirty="0"/>
                  <a:t>Turns formula + assignment of positions to position-variables into a word over a bigger alphabet</a:t>
                </a:r>
              </a:p>
              <a:p>
                <a:pPr lvl="2"/>
                <a:r>
                  <a:rPr lang="en-US" dirty="0"/>
                  <a:t>Conjunctions: Intersection of Automata, Negations: Complement, Disjunctions: Union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: guess a random assignment of positions to position-variables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1D647A-4098-060E-283B-BDC5BC088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73227-4331-40D3-7089-2A9D4181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DCC0B6-B5EB-D5E0-693E-17B5B0CD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Büchi’s</a:t>
            </a:r>
            <a:r>
              <a:rPr lang="en-US" dirty="0"/>
              <a:t> Theorem (aka </a:t>
            </a:r>
            <a:r>
              <a:rPr lang="en-US" dirty="0" err="1"/>
              <a:t>Büchi-Elgot</a:t>
            </a:r>
            <a:r>
              <a:rPr lang="en-US" dirty="0"/>
              <a:t>–</a:t>
            </a:r>
            <a:r>
              <a:rPr lang="en-US" dirty="0" err="1"/>
              <a:t>Trakhtenbrot</a:t>
            </a:r>
            <a:r>
              <a:rPr lang="en-US" dirty="0"/>
              <a:t> theorem)</a:t>
            </a:r>
          </a:p>
        </p:txBody>
      </p:sp>
    </p:spTree>
    <p:extLst>
      <p:ext uri="{BB962C8B-B14F-4D97-AF65-F5344CB8AC3E}">
        <p14:creationId xmlns:p14="http://schemas.microsoft.com/office/powerpoint/2010/main" val="1032636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EBE1CD-1A1B-84E1-6F1F-D5EE69262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Star-free regular language: No Kleene Star in the regex, but union, complementation, concatenation allowed</a:t>
                </a:r>
              </a:p>
              <a:p>
                <a:pPr marL="0" indent="0">
                  <a:buNone/>
                </a:pPr>
                <a:r>
                  <a:rPr lang="en-US" dirty="0"/>
                  <a:t>(Many regular languages that use Kleene star are star-free)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dirty="0"/>
                  <a:t>  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acc>
                  </m:oMath>
                </a14:m>
                <a:r>
                  <a:rPr lang="en-US" dirty="0"/>
                  <a:t> is basically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language is FO-definable if it is star-free</a:t>
                </a:r>
              </a:p>
              <a:p>
                <a:endParaRPr lang="en-US" dirty="0"/>
              </a:p>
              <a:p>
                <a:r>
                  <a:rPr lang="en-US" dirty="0"/>
                  <a:t>There are regular languages that are not star-free!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EBE1CD-1A1B-84E1-6F1F-D5EE69262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34E5D-5D12-E6DD-9FBD-3D2ED68B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30766C-D05A-3881-592E-42BDCC60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languages and FOL</a:t>
            </a:r>
          </a:p>
        </p:txBody>
      </p:sp>
    </p:spTree>
    <p:extLst>
      <p:ext uri="{BB962C8B-B14F-4D97-AF65-F5344CB8AC3E}">
        <p14:creationId xmlns:p14="http://schemas.microsoft.com/office/powerpoint/2010/main" val="27171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14FFB25-E5DF-B8D7-2C71-12F7C4F19B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FOL over structures: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,&lt;,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Also called FOL of Linear Order (FOLLO)</a:t>
                </a:r>
              </a:p>
              <a:p>
                <a:endParaRPr lang="en-US" dirty="0"/>
              </a:p>
              <a:p>
                <a:r>
                  <a:rPr lang="en-US" dirty="0"/>
                  <a:t>Same expressive power as LTL!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14FFB25-E5DF-B8D7-2C71-12F7C4F19B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5C44A-A918-7B47-0665-53283E76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0591DE-2BCE-93B6-B296-2752C99A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FOL[&lt;] and LTL</a:t>
            </a:r>
          </a:p>
        </p:txBody>
      </p:sp>
    </p:spTree>
    <p:extLst>
      <p:ext uri="{BB962C8B-B14F-4D97-AF65-F5344CB8AC3E}">
        <p14:creationId xmlns:p14="http://schemas.microsoft.com/office/powerpoint/2010/main" val="2614625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27EAC7F-4792-0C9A-705A-0EEE1B233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MSkS : Monadic Second Order Logic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successors</a:t>
                </a:r>
              </a:p>
              <a:p>
                <a:r>
                  <a:rPr lang="en-US" dirty="0"/>
                  <a:t>A set of trees is definable in MSO </a:t>
                </a:r>
                <a:r>
                  <a:rPr lang="en-US" dirty="0" err="1"/>
                  <a:t>iff</a:t>
                </a:r>
                <a:r>
                  <a:rPr lang="en-US" dirty="0"/>
                  <a:t> it is regular</a:t>
                </a:r>
              </a:p>
              <a:p>
                <a:endParaRPr lang="en-US" dirty="0"/>
              </a:p>
              <a:p>
                <a:r>
                  <a:rPr lang="en-US" dirty="0"/>
                  <a:t>Structure for infinite strings: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,&lt;,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language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dirty="0"/>
                  <a:t> is MSO-definable </a:t>
                </a:r>
                <a:r>
                  <a:rPr lang="en-US" dirty="0" err="1"/>
                  <a:t>iff</a:t>
                </a:r>
                <a:r>
                  <a:rPr lang="en-US" dirty="0"/>
                  <a:t> it is recognized by a </a:t>
                </a:r>
                <a:r>
                  <a:rPr lang="en-US" dirty="0" err="1"/>
                  <a:t>Büchi</a:t>
                </a:r>
                <a:r>
                  <a:rPr lang="en-US" dirty="0"/>
                  <a:t> automaton</a:t>
                </a:r>
              </a:p>
              <a:p>
                <a:endParaRPr lang="en-US" dirty="0"/>
              </a:p>
              <a:p>
                <a:r>
                  <a:rPr lang="en-US" dirty="0"/>
                  <a:t>Rabin’s Theorem: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infinite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-labelled trees is definable in MSO </a:t>
                </a:r>
                <a:r>
                  <a:rPr lang="en-US" dirty="0" err="1"/>
                  <a:t>iff</a:t>
                </a:r>
                <a:r>
                  <a:rPr lang="en-US" dirty="0"/>
                  <a:t> there exists a Rabin tree automaton whose language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27EAC7F-4792-0C9A-705A-0EEE1B233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7F189-0ED3-6BE0-27E6-6735D594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148497-03F8-FCC3-A501-3FD2C0C0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Automata, </a:t>
            </a:r>
            <a:r>
              <a:rPr lang="en-US" dirty="0" err="1"/>
              <a:t>MSkS</a:t>
            </a:r>
            <a:r>
              <a:rPr lang="en-US" dirty="0"/>
              <a:t>, and Infinite Strings/Trees</a:t>
            </a:r>
          </a:p>
        </p:txBody>
      </p:sp>
    </p:spTree>
    <p:extLst>
      <p:ext uri="{BB962C8B-B14F-4D97-AF65-F5344CB8AC3E}">
        <p14:creationId xmlns:p14="http://schemas.microsoft.com/office/powerpoint/2010/main" val="1092607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EB4959-AEFC-4681-23D9-A1C9E4986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MSO over (finite/infinite) words: decidable with nonelementary complexity</a:t>
            </a:r>
          </a:p>
          <a:p>
            <a:pPr lvl="1"/>
            <a:r>
              <a:rPr lang="en-US" dirty="0"/>
              <a:t>Worse than any fixed tower of exponentials</a:t>
            </a:r>
          </a:p>
          <a:p>
            <a:endParaRPr lang="en-US" dirty="0"/>
          </a:p>
          <a:p>
            <a:r>
              <a:rPr lang="en-US" dirty="0"/>
              <a:t>In general, obviously undecidable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41EAE-4974-BAE8-740D-451D61C7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B265A4-B1BE-38FF-B96E-9A45F272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MSO</a:t>
            </a:r>
          </a:p>
        </p:txBody>
      </p:sp>
    </p:spTree>
    <p:extLst>
      <p:ext uri="{BB962C8B-B14F-4D97-AF65-F5344CB8AC3E}">
        <p14:creationId xmlns:p14="http://schemas.microsoft.com/office/powerpoint/2010/main" val="1661799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4D0BB4-8222-2692-4194-668A639B9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Modal Logic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⋄,□</m:t>
                    </m:r>
                  </m:oMath>
                </a14:m>
                <a:r>
                  <a:rPr lang="en-US" dirty="0"/>
                  <a:t>  : think of it as one stop may and must</a:t>
                </a:r>
              </a:p>
              <a:p>
                <a:r>
                  <a:rPr lang="en-US" dirty="0"/>
                  <a:t>Dynamic Logic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There is a way to execute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reach a state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holds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For all executions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you reach a state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holds</a:t>
                </a:r>
              </a:p>
              <a:p>
                <a:r>
                  <a:rPr lang="en-US" dirty="0"/>
                  <a:t>Epistemic Logic(s)</a:t>
                </a:r>
              </a:p>
              <a:p>
                <a:r>
                  <a:rPr lang="en-US" dirty="0"/>
                  <a:t>Tense Logic</a:t>
                </a:r>
              </a:p>
              <a:p>
                <a:r>
                  <a:rPr lang="en-US" dirty="0"/>
                  <a:t>…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4D0BB4-8222-2692-4194-668A639B9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FE959-BD31-B3E6-DE79-665C9DA7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086790-1277-831B-88E3-2DFDDAD3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logics</a:t>
            </a:r>
          </a:p>
        </p:txBody>
      </p:sp>
    </p:spTree>
    <p:extLst>
      <p:ext uri="{BB962C8B-B14F-4D97-AF65-F5344CB8AC3E}">
        <p14:creationId xmlns:p14="http://schemas.microsoft.com/office/powerpoint/2010/main" val="314101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52319</TotalTime>
  <Words>3056</Words>
  <Application>Microsoft Office PowerPoint</Application>
  <PresentationFormat>Widescreen</PresentationFormat>
  <Paragraphs>366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Cambria</vt:lpstr>
      <vt:lpstr>Cambria Math</vt:lpstr>
      <vt:lpstr>Wingdings</vt:lpstr>
      <vt:lpstr>Wingdings 3</vt:lpstr>
      <vt:lpstr>Office Theme</vt:lpstr>
      <vt:lpstr>Automata Theory, Logic and Formal Verification  Basics of Logic</vt:lpstr>
      <vt:lpstr>Outline</vt:lpstr>
      <vt:lpstr>Models and Vocabularies</vt:lpstr>
      <vt:lpstr>Models</vt:lpstr>
      <vt:lpstr>Vocabularies</vt:lpstr>
      <vt:lpstr>First Order Predicate Calculus</vt:lpstr>
      <vt:lpstr>Free Variables, Bound Variables</vt:lpstr>
      <vt:lpstr>Values of terms</vt:lpstr>
      <vt:lpstr>Notion of models (⊨)</vt:lpstr>
      <vt:lpstr>Theory</vt:lpstr>
      <vt:lpstr>Understanding compactness</vt:lpstr>
      <vt:lpstr>Example of local consistency → global existence </vt:lpstr>
      <vt:lpstr>Example of local consistency → global existence </vt:lpstr>
      <vt:lpstr>Limits of FO Logic through compactness</vt:lpstr>
      <vt:lpstr>Many useful properties are NOT expressible in FOL</vt:lpstr>
      <vt:lpstr>Löwenheim-Skolem Theorem</vt:lpstr>
      <vt:lpstr>Skolem Functions</vt:lpstr>
      <vt:lpstr>Ehrenfeucht-Fraïsse (EF) Games</vt:lpstr>
      <vt:lpstr>EF Game Example</vt:lpstr>
      <vt:lpstr>Ehrenfeucht-Fraïsse Theorem</vt:lpstr>
      <vt:lpstr>EF game uses</vt:lpstr>
      <vt:lpstr>FO complexity</vt:lpstr>
      <vt:lpstr>Model checking </vt:lpstr>
      <vt:lpstr>Fragments of FOL (theories)</vt:lpstr>
      <vt:lpstr>First Order Theories</vt:lpstr>
      <vt:lpstr>Second Order Logic</vt:lpstr>
      <vt:lpstr>Monadic Second Order Logic (MSO)</vt:lpstr>
      <vt:lpstr>3-colorability </vt:lpstr>
      <vt:lpstr>Existence of a clique</vt:lpstr>
      <vt:lpstr>∃MSO vs ∀MSO </vt:lpstr>
      <vt:lpstr>Expressing languages using logic</vt:lpstr>
      <vt:lpstr>Büchi’s Theorem (aka Büchi-Elgot–Trakhtenbrot theorem)</vt:lpstr>
      <vt:lpstr>Büchi’s Theorem (aka Büchi-Elgot–Trakhtenbrot theorem)</vt:lpstr>
      <vt:lpstr>Regular languages and FOL</vt:lpstr>
      <vt:lpstr>FOL[&lt;] and LTL</vt:lpstr>
      <vt:lpstr>Tree Automata, MSkS, and Infinite Strings/Trees</vt:lpstr>
      <vt:lpstr>Complexity of MSO</vt:lpstr>
      <vt:lpstr>Some other logics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168</cp:revision>
  <dcterms:created xsi:type="dcterms:W3CDTF">2018-01-04T23:14:16Z</dcterms:created>
  <dcterms:modified xsi:type="dcterms:W3CDTF">2026-04-21T04:56:20Z</dcterms:modified>
</cp:coreProperties>
</file>